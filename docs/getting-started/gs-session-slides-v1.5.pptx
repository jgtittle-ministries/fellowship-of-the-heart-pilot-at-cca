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57" r:id="rId3"/>
    <p:sldId id="258" r:id="rId4"/>
    <p:sldId id="259" r:id="rId5"/>
    <p:sldId id="334" r:id="rId6"/>
    <p:sldId id="552" r:id="rId7"/>
    <p:sldId id="333" r:id="rId8"/>
    <p:sldId id="332" r:id="rId9"/>
    <p:sldId id="553" r:id="rId10"/>
    <p:sldId id="331" r:id="rId11"/>
    <p:sldId id="546" r:id="rId12"/>
    <p:sldId id="521" r:id="rId13"/>
    <p:sldId id="520" r:id="rId14"/>
    <p:sldId id="554" r:id="rId15"/>
    <p:sldId id="519" r:id="rId16"/>
    <p:sldId id="330" r:id="rId17"/>
    <p:sldId id="547" r:id="rId18"/>
    <p:sldId id="524" r:id="rId19"/>
    <p:sldId id="329" r:id="rId20"/>
    <p:sldId id="328" r:id="rId21"/>
    <p:sldId id="261" r:id="rId22"/>
    <p:sldId id="262" r:id="rId23"/>
    <p:sldId id="335" r:id="rId24"/>
    <p:sldId id="336" r:id="rId25"/>
    <p:sldId id="337" r:id="rId26"/>
    <p:sldId id="523" r:id="rId27"/>
    <p:sldId id="522" r:id="rId28"/>
    <p:sldId id="338" r:id="rId29"/>
    <p:sldId id="339" r:id="rId30"/>
    <p:sldId id="340" r:id="rId31"/>
    <p:sldId id="525" r:id="rId32"/>
    <p:sldId id="341" r:id="rId33"/>
    <p:sldId id="342" r:id="rId34"/>
    <p:sldId id="264" r:id="rId35"/>
    <p:sldId id="265" r:id="rId36"/>
    <p:sldId id="343" r:id="rId37"/>
    <p:sldId id="344" r:id="rId38"/>
    <p:sldId id="345" r:id="rId39"/>
    <p:sldId id="346" r:id="rId40"/>
    <p:sldId id="347" r:id="rId41"/>
    <p:sldId id="348" r:id="rId42"/>
    <p:sldId id="349" r:id="rId43"/>
    <p:sldId id="350" r:id="rId44"/>
    <p:sldId id="526" r:id="rId45"/>
    <p:sldId id="351" r:id="rId46"/>
    <p:sldId id="352" r:id="rId47"/>
    <p:sldId id="267" r:id="rId48"/>
    <p:sldId id="268" r:id="rId49"/>
    <p:sldId id="353" r:id="rId50"/>
    <p:sldId id="354" r:id="rId51"/>
    <p:sldId id="355" r:id="rId52"/>
    <p:sldId id="356" r:id="rId53"/>
    <p:sldId id="357" r:id="rId54"/>
    <p:sldId id="358" r:id="rId55"/>
    <p:sldId id="359" r:id="rId56"/>
    <p:sldId id="527" r:id="rId57"/>
    <p:sldId id="360" r:id="rId58"/>
    <p:sldId id="361" r:id="rId59"/>
    <p:sldId id="270" r:id="rId60"/>
    <p:sldId id="271" r:id="rId61"/>
    <p:sldId id="362" r:id="rId62"/>
    <p:sldId id="363" r:id="rId63"/>
    <p:sldId id="364" r:id="rId64"/>
    <p:sldId id="365" r:id="rId65"/>
    <p:sldId id="366" r:id="rId66"/>
    <p:sldId id="367" r:id="rId67"/>
    <p:sldId id="368" r:id="rId68"/>
    <p:sldId id="528" r:id="rId69"/>
    <p:sldId id="369" r:id="rId70"/>
    <p:sldId id="370" r:id="rId71"/>
    <p:sldId id="273" r:id="rId72"/>
    <p:sldId id="274" r:id="rId73"/>
    <p:sldId id="371" r:id="rId74"/>
    <p:sldId id="372" r:id="rId75"/>
    <p:sldId id="373" r:id="rId76"/>
    <p:sldId id="374" r:id="rId77"/>
    <p:sldId id="375" r:id="rId78"/>
    <p:sldId id="376" r:id="rId79"/>
    <p:sldId id="377" r:id="rId80"/>
    <p:sldId id="378" r:id="rId81"/>
    <p:sldId id="529" r:id="rId82"/>
    <p:sldId id="549" r:id="rId83"/>
    <p:sldId id="379" r:id="rId84"/>
    <p:sldId id="380" r:id="rId85"/>
    <p:sldId id="276" r:id="rId86"/>
    <p:sldId id="277" r:id="rId87"/>
    <p:sldId id="278" r:id="rId88"/>
    <p:sldId id="279" r:id="rId89"/>
    <p:sldId id="381" r:id="rId90"/>
    <p:sldId id="382" r:id="rId91"/>
    <p:sldId id="550" r:id="rId92"/>
    <p:sldId id="383" r:id="rId93"/>
    <p:sldId id="384" r:id="rId94"/>
    <p:sldId id="385" r:id="rId95"/>
    <p:sldId id="386" r:id="rId96"/>
    <p:sldId id="387" r:id="rId97"/>
    <p:sldId id="388" r:id="rId98"/>
    <p:sldId id="530" r:id="rId99"/>
    <p:sldId id="389" r:id="rId100"/>
    <p:sldId id="390" r:id="rId101"/>
    <p:sldId id="281" r:id="rId102"/>
    <p:sldId id="282" r:id="rId103"/>
    <p:sldId id="391" r:id="rId104"/>
    <p:sldId id="392" r:id="rId105"/>
    <p:sldId id="393" r:id="rId106"/>
    <p:sldId id="394" r:id="rId107"/>
    <p:sldId id="395" r:id="rId108"/>
    <p:sldId id="396" r:id="rId109"/>
    <p:sldId id="397" r:id="rId110"/>
    <p:sldId id="398" r:id="rId111"/>
    <p:sldId id="531" r:id="rId112"/>
    <p:sldId id="399" r:id="rId113"/>
    <p:sldId id="400" r:id="rId114"/>
    <p:sldId id="284" r:id="rId115"/>
    <p:sldId id="285" r:id="rId116"/>
    <p:sldId id="401" r:id="rId117"/>
    <p:sldId id="402" r:id="rId118"/>
    <p:sldId id="403" r:id="rId119"/>
    <p:sldId id="404" r:id="rId120"/>
    <p:sldId id="405" r:id="rId121"/>
    <p:sldId id="406" r:id="rId122"/>
    <p:sldId id="407" r:id="rId123"/>
    <p:sldId id="532" r:id="rId124"/>
    <p:sldId id="408" r:id="rId125"/>
    <p:sldId id="409" r:id="rId126"/>
    <p:sldId id="287" r:id="rId127"/>
    <p:sldId id="288" r:id="rId128"/>
    <p:sldId id="410" r:id="rId129"/>
    <p:sldId id="411" r:id="rId130"/>
    <p:sldId id="412" r:id="rId131"/>
    <p:sldId id="413" r:id="rId132"/>
    <p:sldId id="414" r:id="rId133"/>
    <p:sldId id="415" r:id="rId134"/>
    <p:sldId id="416" r:id="rId135"/>
    <p:sldId id="533" r:id="rId136"/>
    <p:sldId id="417" r:id="rId137"/>
    <p:sldId id="418" r:id="rId138"/>
    <p:sldId id="290" r:id="rId139"/>
    <p:sldId id="291" r:id="rId140"/>
    <p:sldId id="419" r:id="rId141"/>
    <p:sldId id="420" r:id="rId142"/>
    <p:sldId id="421" r:id="rId143"/>
    <p:sldId id="422" r:id="rId144"/>
    <p:sldId id="423" r:id="rId145"/>
    <p:sldId id="424" r:id="rId146"/>
    <p:sldId id="425" r:id="rId147"/>
    <p:sldId id="426" r:id="rId148"/>
    <p:sldId id="534" r:id="rId149"/>
    <p:sldId id="427" r:id="rId150"/>
    <p:sldId id="428" r:id="rId151"/>
    <p:sldId id="293" r:id="rId152"/>
    <p:sldId id="294" r:id="rId153"/>
    <p:sldId id="295" r:id="rId154"/>
    <p:sldId id="429" r:id="rId155"/>
    <p:sldId id="430" r:id="rId156"/>
    <p:sldId id="431" r:id="rId157"/>
    <p:sldId id="432" r:id="rId158"/>
    <p:sldId id="433" r:id="rId159"/>
    <p:sldId id="551" r:id="rId160"/>
    <p:sldId id="434" r:id="rId161"/>
    <p:sldId id="535" r:id="rId162"/>
    <p:sldId id="435" r:id="rId163"/>
    <p:sldId id="436" r:id="rId164"/>
    <p:sldId id="297" r:id="rId165"/>
    <p:sldId id="298" r:id="rId166"/>
    <p:sldId id="437" r:id="rId167"/>
    <p:sldId id="438" r:id="rId168"/>
    <p:sldId id="439" r:id="rId169"/>
    <p:sldId id="548" r:id="rId170"/>
    <p:sldId id="440" r:id="rId171"/>
    <p:sldId id="441" r:id="rId172"/>
    <p:sldId id="442" r:id="rId173"/>
    <p:sldId id="443" r:id="rId174"/>
    <p:sldId id="536" r:id="rId175"/>
    <p:sldId id="444" r:id="rId176"/>
    <p:sldId id="445" r:id="rId177"/>
    <p:sldId id="300" r:id="rId178"/>
    <p:sldId id="301" r:id="rId179"/>
    <p:sldId id="446" r:id="rId180"/>
    <p:sldId id="447" r:id="rId181"/>
    <p:sldId id="448" r:id="rId182"/>
    <p:sldId id="537" r:id="rId183"/>
    <p:sldId id="449" r:id="rId184"/>
    <p:sldId id="450" r:id="rId185"/>
    <p:sldId id="303" r:id="rId186"/>
    <p:sldId id="304" r:id="rId187"/>
    <p:sldId id="451" r:id="rId188"/>
    <p:sldId id="452" r:id="rId189"/>
    <p:sldId id="453" r:id="rId190"/>
    <p:sldId id="454" r:id="rId191"/>
    <p:sldId id="518" r:id="rId192"/>
    <p:sldId id="455" r:id="rId193"/>
    <p:sldId id="456" r:id="rId194"/>
    <p:sldId id="457" r:id="rId195"/>
    <p:sldId id="458" r:id="rId196"/>
    <p:sldId id="459" r:id="rId197"/>
    <p:sldId id="538" r:id="rId198"/>
    <p:sldId id="306" r:id="rId199"/>
    <p:sldId id="307" r:id="rId200"/>
    <p:sldId id="460" r:id="rId201"/>
    <p:sldId id="461" r:id="rId202"/>
    <p:sldId id="462" r:id="rId203"/>
    <p:sldId id="463" r:id="rId204"/>
    <p:sldId id="464" r:id="rId205"/>
    <p:sldId id="465" r:id="rId206"/>
    <p:sldId id="539" r:id="rId207"/>
    <p:sldId id="466" r:id="rId208"/>
    <p:sldId id="467" r:id="rId209"/>
    <p:sldId id="309" r:id="rId210"/>
    <p:sldId id="310" r:id="rId211"/>
    <p:sldId id="468" r:id="rId212"/>
    <p:sldId id="469" r:id="rId213"/>
    <p:sldId id="470" r:id="rId214"/>
    <p:sldId id="471" r:id="rId215"/>
    <p:sldId id="472" r:id="rId216"/>
    <p:sldId id="540" r:id="rId217"/>
    <p:sldId id="473" r:id="rId218"/>
    <p:sldId id="474" r:id="rId219"/>
    <p:sldId id="312" r:id="rId220"/>
    <p:sldId id="313" r:id="rId221"/>
    <p:sldId id="314" r:id="rId222"/>
    <p:sldId id="475" r:id="rId223"/>
    <p:sldId id="476" r:id="rId224"/>
    <p:sldId id="477" r:id="rId225"/>
    <p:sldId id="478" r:id="rId226"/>
    <p:sldId id="479" r:id="rId227"/>
    <p:sldId id="541" r:id="rId228"/>
    <p:sldId id="480" r:id="rId229"/>
    <p:sldId id="481" r:id="rId230"/>
    <p:sldId id="482" r:id="rId231"/>
    <p:sldId id="316" r:id="rId232"/>
    <p:sldId id="317" r:id="rId233"/>
    <p:sldId id="483" r:id="rId234"/>
    <p:sldId id="484" r:id="rId235"/>
    <p:sldId id="485" r:id="rId236"/>
    <p:sldId id="486" r:id="rId237"/>
    <p:sldId id="487" r:id="rId238"/>
    <p:sldId id="488" r:id="rId239"/>
    <p:sldId id="489" r:id="rId240"/>
    <p:sldId id="490" r:id="rId241"/>
    <p:sldId id="542" r:id="rId242"/>
    <p:sldId id="491" r:id="rId243"/>
    <p:sldId id="492" r:id="rId244"/>
    <p:sldId id="319" r:id="rId245"/>
    <p:sldId id="320" r:id="rId246"/>
    <p:sldId id="493" r:id="rId247"/>
    <p:sldId id="494" r:id="rId248"/>
    <p:sldId id="495" r:id="rId249"/>
    <p:sldId id="496" r:id="rId250"/>
    <p:sldId id="497" r:id="rId251"/>
    <p:sldId id="498" r:id="rId252"/>
    <p:sldId id="499" r:id="rId253"/>
    <p:sldId id="543" r:id="rId254"/>
    <p:sldId id="500" r:id="rId255"/>
    <p:sldId id="501" r:id="rId256"/>
    <p:sldId id="322" r:id="rId257"/>
    <p:sldId id="323" r:id="rId258"/>
    <p:sldId id="502" r:id="rId259"/>
    <p:sldId id="503" r:id="rId260"/>
    <p:sldId id="504" r:id="rId261"/>
    <p:sldId id="505" r:id="rId262"/>
    <p:sldId id="506" r:id="rId263"/>
    <p:sldId id="507" r:id="rId264"/>
    <p:sldId id="544" r:id="rId265"/>
    <p:sldId id="508" r:id="rId266"/>
    <p:sldId id="325" r:id="rId267"/>
    <p:sldId id="326" r:id="rId268"/>
    <p:sldId id="509" r:id="rId269"/>
    <p:sldId id="510" r:id="rId270"/>
    <p:sldId id="511" r:id="rId271"/>
    <p:sldId id="512" r:id="rId272"/>
    <p:sldId id="513" r:id="rId273"/>
    <p:sldId id="514" r:id="rId274"/>
    <p:sldId id="515" r:id="rId275"/>
    <p:sldId id="545" r:id="rId276"/>
    <p:sldId id="516" r:id="rId277"/>
    <p:sldId id="517" r:id="rId2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notesMaster" Target="notesMasters/notesMaster1.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presProps" Target="presProp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viewProps" Target="viewProp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theme" Target="theme/theme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tableStyles" Target="tableStyle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microsoft.com/office/2016/11/relationships/changesInfo" Target="changesInfos/changesInfo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microsoft.com/office/2015/10/relationships/revisionInfo" Target="revisionInfo.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QUARTER 1 · pre-session · DIVIDER</a:t>
            </a:r>
          </a:p>
          <a:p>
            <a:r>
              <a:rPr lang="en-US" sz="1200"/>
              <a:t>On screen as families arrive.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pre-session · DIVIDER</a:t>
            </a:r>
          </a:p>
          <a:p>
            <a:r>
              <a:rPr lang="en-US" sz="1200"/>
              <a:t>On screen as families arrive. Greet at the door — the slide holds the room.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4:15–5:30 · SHARED</a:t>
            </a:r>
          </a:p>
          <a:p>
            <a:r>
              <a:rPr lang="en-US" sz="1200"/>
              <a:t>BEATS:</a:t>
            </a:r>
          </a:p>
          <a:p>
            <a:r>
              <a:rPr lang="en-US" sz="1200"/>
              <a:t>1. Thirty-second walk of the night: welcome, Four Connects, first container, One True Sentence, John 10:10, the saved question, practice, close.</a:t>
            </a:r>
          </a:p>
          <a:p>
            <a:r>
              <a:rPr lang="en-US" sz="1200"/>
              <a:t>2. Start on time at 4:15.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4:15–4:22 · SHARED</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At 4:19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4:22–4:30 · SHARED</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4:30–4:42 · SHARED</a:t>
            </a:r>
          </a:p>
          <a:p>
            <a:r>
              <a:rPr lang="en-US" sz="1200"/>
              <a:t>BEATS:</a:t>
            </a:r>
          </a:p>
          <a:p>
            <a:r>
              <a:rPr lang="en-US" sz="1200"/>
              <a:t>1. Most important block of Week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rPr lang="en-US" sz="1200"/>
              <a:t>W2 · 4:15–4:22 · SHARED</a:t>
            </a:r>
          </a:p>
          <a:p>
            <a:r>
              <a:rPr lang="en-US" sz="1200"/>
              <a:t>BEATS:</a:t>
            </a:r>
          </a:p>
          <a:p>
            <a:r>
              <a:rPr lang="en-US" sz="1200"/>
              <a:t>1. Full eight-step opening protocol — the cohort knows the form; hold the rhythm, do not over-explain.</a:t>
            </a:r>
          </a:p>
          <a:p>
            <a:r>
              <a:rPr lang="en-US" sz="1200"/>
              <a:t>2. Four conditions: name them once; nods or a quiet yes are enough. Re-teach only if Week 1 felt unsafe.</a:t>
            </a:r>
          </a:p>
          <a:p>
            <a:r>
              <a:rPr lang="en-US" sz="1200"/>
              <a:t>3. Close the opening with brief prayer naming the Holy Spirit — ask Him to teach us through Jesus' own words today.</a:t>
            </a:r>
          </a:p>
          <a:p>
            <a:r>
              <a:rPr lang="en-US" sz="1200"/>
              <a:t>CUES: At the one-word check-in, listen for heavy words ('angry', 'numb', 'scared') — note them; the diagnostic may pull from there.</a:t>
            </a:r>
          </a:p>
        </p:txBody>
      </p:sp>
    </p:spTree>
    <p:extLst>
      <p:ext uri="{BB962C8B-B14F-4D97-AF65-F5344CB8AC3E}">
        <p14:creationId xmlns:p14="http://schemas.microsoft.com/office/powerpoint/2010/main" val="1101322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4:42–4:55 · SHARED</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4:55–5:04 · SHARED</a:t>
            </a:r>
          </a:p>
          <a:p>
            <a:r>
              <a:rPr lang="en-US" sz="1200"/>
              <a:t>BEATS:</a:t>
            </a:r>
          </a:p>
          <a:p>
            <a:r>
              <a:rPr lang="en-US" sz="1200"/>
              <a:t>1. 'Tonight's scripture. Listen for one word.' Read John 10:10 in full from the physical Bible — slowly, once. The screen holds the words; the Bible carries the reading.</a:t>
            </a:r>
          </a:p>
          <a:p>
            <a:r>
              <a:rPr lang="en-US" sz="1200"/>
              <a:t>2. Abundantly — the word the year hangs on. The thief's purpose against His purpose; the more is real and it cost Him everything (John 10:11). Point to the carry-home question on the slide: not to answer tonight — to carry.</a:t>
            </a:r>
          </a:p>
          <a:p>
            <a:r>
              <a:rPr lang="en-US" sz="1200"/>
              <a:t>3. Close the Bible. One beat of quiet. The seed, stated plainly (2–3 min) — full script in the plan, Block 6. The year's proclamation: do not rush it; do not decorate it.</a:t>
            </a:r>
          </a:p>
          <a:p>
            <a:r>
              <a:rPr lang="en-US" sz="1200"/>
              <a:t>ADVANCE CUE: next slide exactly at the seed's last line — 'which raises a question worth sitting with on our very first night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5:04–5:07 · SHARED</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5:07–5:15 · SHARED</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Week 1, inside the saved discussion, straight after the definition.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5:04–5:15 · SHARED</a:t>
            </a:r>
          </a:p>
          <a:p>
            <a:r>
              <a:rPr lang="en-US" sz="1200"/>
              <a:t>BEATS:</a:t>
            </a:r>
          </a:p>
          <a:p>
            <a:r>
              <a:rPr lang="en-US" sz="1200"/>
              <a:t>1. Tail of the saved block. Journals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One practice only.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Hold up the check-off card (H1.3) — fridge, mirror, or journal pocket; one check per completed practice.</a:t>
            </a:r>
          </a:p>
          <a:p>
            <a:r>
              <a:rPr lang="en-US" sz="1200"/>
              <a:t>2. Say the card's grace note aloud: a missed box is never a failure; it is an invitation to return.</a:t>
            </a:r>
          </a:p>
          <a:p>
            <a:r>
              <a:rPr lang="en-US" sz="1200"/>
              <a:t>CUES: Rides inside the practice block — keep the two slides to four minutes together.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5:24–5:27 · SHARED</a:t>
            </a:r>
          </a:p>
          <a:p>
            <a:r>
              <a:rPr lang="en-US" sz="1200"/>
              <a:t>BEATS:</a:t>
            </a:r>
          </a:p>
          <a:p>
            <a:r>
              <a:rPr lang="en-US" sz="1200"/>
              <a:t>1. Debut today; you model it on yourself.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W1 · 5:18–5:30 · SHARED</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pre-session · DIVIDER</a:t>
            </a:r>
          </a:p>
          <a:p>
            <a:r>
              <a:rPr lang="en-US" sz="1200"/>
              <a:t>On screen as families arrive. Greet at the door — the slide holds the room.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4:15–5:30 · SHARED</a:t>
            </a:r>
          </a:p>
          <a:p>
            <a:r>
              <a:rPr lang="en-US" sz="1200"/>
              <a:t>BEATS:</a:t>
            </a:r>
          </a:p>
          <a:p>
            <a:r>
              <a:rPr lang="en-US" sz="1200"/>
              <a:t>1. Shape: full eight-step open, practice check-in, Mark 4 teaching, first move into FAMILY CLUSTERS for the Heart Soil diagnostic, merge, practice, close.</a:t>
            </a:r>
          </a:p>
          <a:p>
            <a:r>
              <a:rPr lang="en-US" sz="1200"/>
              <a:t>2. First cluster night — frame it confidently: your family stays together, a parent goes first every time, you choose your own depth.</a:t>
            </a:r>
          </a:p>
          <a:p>
            <a:r>
              <a:rPr lang="en-US" sz="1200"/>
              <a:t>3. If the room is about ten or fewer, skip the clusters entirely — one circle all night.</a:t>
            </a:r>
          </a:p>
          <a:p>
            <a:r>
              <a:rPr lang="en-US" sz="1200"/>
              <a:t>CUES: Cluster spaces set before doors open; every Cluster Companion has done the diagnostic on themselves; the opening parent for each cluster is arranged in advance.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4:15–4:22 · SHARED</a:t>
            </a:r>
          </a:p>
          <a:p>
            <a:r>
              <a:rPr lang="en-US" sz="1200"/>
              <a:t>BEATS:</a:t>
            </a:r>
          </a:p>
          <a:p>
            <a:r>
              <a:rPr lang="en-US" sz="1200"/>
              <a:t>1. Full eight-step opening protocol — the cohort knows the form; hold the rhythm, do not over-explain.</a:t>
            </a:r>
          </a:p>
          <a:p>
            <a:r>
              <a:rPr lang="en-US" sz="1200"/>
              <a:t>2. Four conditions: name them once; nods or a quiet yes are enough. Re-teach only if Week 1 felt unsafe.</a:t>
            </a:r>
          </a:p>
          <a:p>
            <a:r>
              <a:rPr lang="en-US" sz="1200"/>
              <a:t>3. Close the opening with brief prayer naming the Holy Spirit — ask Him to teach us through Jesus' own words today.</a:t>
            </a:r>
          </a:p>
          <a:p>
            <a:r>
              <a:rPr lang="en-US" sz="1200"/>
              <a:t>CUES: At the one-word check-in, listen for heavy words ('angry', 'numb', 'scared') — note them; the diagnostic may pull from there.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4:22–4:27 · SHARED</a:t>
            </a:r>
          </a:p>
          <a:p>
            <a:r>
              <a:rPr lang="en-US" sz="1200"/>
              <a:t>BEATS:</a:t>
            </a:r>
          </a:p>
          <a:p>
            <a:r>
              <a:rPr lang="en-US" sz="1200"/>
              <a:t>1. Parent Co-Companion leads and models first with one true sentence ('I checked my phone before the question most days').</a:t>
            </a:r>
          </a:p>
          <a:p>
            <a:r>
              <a:rPr lang="en-US" sz="1200"/>
              <a:t>2. One quick sentence each around the circle — what I noticed, or what I noticed about the practice. Honor passes without ceremony.</a:t>
            </a:r>
          </a:p>
          <a:p>
            <a:r>
              <a:rPr lang="en-US" sz="1200"/>
              <a:t>3. Teach the anchor once, thirty seconds: Joshua 4 — twelve stones from the Jordan. Every week this check-in adds a stone.</a:t>
            </a:r>
          </a:p>
          <a:p>
            <a:r>
              <a:rPr lang="en-US" sz="1200"/>
              <a:t>GUARD: No grading, no lecture on consistency. 'I didn't do it' gets 'Thanks for the honesty. Pick it back up tomorrow.'</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4:27–4:40 · SHARED</a:t>
            </a:r>
          </a:p>
          <a:p>
            <a:r>
              <a:rPr lang="en-US" sz="1200"/>
              <a:t>BEATS:</a:t>
            </a:r>
          </a:p>
          <a:p>
            <a:r>
              <a:rPr lang="en-US" sz="1200"/>
              <a:t>1. Read Mark 4:1–20 in full from the physical Bible — slowly, all 20 verses, no stopping to comment.</a:t>
            </a:r>
          </a:p>
          <a:p>
            <a:r>
              <a:rPr lang="en-US" sz="1200"/>
              <a:t>2. Recall the seed, 60 seconds: 'the sower sows the word' — today is about the ground it lands on, yours and mine.</a:t>
            </a:r>
          </a:p>
          <a:p>
            <a:r>
              <a:rPr lang="en-US" sz="1200"/>
              <a:t>3. Walk the four soils in six minutes max: path (hard, taken), rocky (fast, rootless), thorny (choked, fruitless), good (hears, accepts, produces — fruit, not perfection).</a:t>
            </a:r>
          </a:p>
          <a:p>
            <a:r>
              <a:rPr lang="en-US" sz="1200"/>
              <a:t>GUARD: At path soil, name the enemy plainly — no dramatizing, no denying. Save the back of the block for Paul.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4:27–4:40 · SHARED</a:t>
            </a:r>
          </a:p>
          <a:p>
            <a:r>
              <a:rPr lang="en-US" sz="1200"/>
              <a:t>BEATS:</a:t>
            </a:r>
          </a:p>
          <a:p>
            <a:r>
              <a:rPr lang="en-US" sz="1200"/>
              <a:t>1. Paul's mixed ground, 3 min: read Romans 7:15, 18–19 — an apostle with all four soils at once.</a:t>
            </a:r>
          </a:p>
          <a:p>
            <a:r>
              <a:rPr lang="en-US" sz="1200"/>
              <a:t>2. Land where Paul lands, 7:24–25: rescue, not despair. Finding rocks and thorns is apostolic company.</a:t>
            </a:r>
          </a:p>
          <a:p>
            <a:r>
              <a:rPr lang="en-US" sz="1200"/>
              <a:t>3. Pivot: the wrong question is 'which soil are you?' — the right one is 'where does each show up, specifically, this week?'</a:t>
            </a:r>
          </a:p>
          <a:p>
            <a:r>
              <a:rPr lang="en-US" sz="1200"/>
              <a:t>CUES: Bridge before the 4:40 move: restate the container for the clusters — what your family says today is a gift, not ammunition; it does not come up in the car. Wait for nods from each family before anyone moves.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4:41–5:09 · CLUSTERS</a:t>
            </a:r>
          </a:p>
          <a:p>
            <a:r>
              <a:rPr lang="en-US" sz="1200"/>
              <a:t>BEATS:</a:t>
            </a:r>
          </a:p>
          <a:p>
            <a:r>
              <a:rPr lang="en-US" sz="1200"/>
              <a:t>1. First three minutes of cluster time. Journals open to the Question Zero page; scripture asks it — 2 Corinthians 13:5.</a:t>
            </a:r>
          </a:p>
          <a:p>
            <a:r>
              <a:rPr lang="en-US" sz="1200"/>
              <a:t>2. Read it once: has the seed itself ever gone into your ground — your yes, not your family's? Write yes, no, or not sure. The road is short; the thief walked it in one sentence.</a:t>
            </a:r>
          </a:p>
          <a:p>
            <a:r>
              <a:rPr lang="en-US" sz="1200"/>
              <a:t>3. Three quiet minutes. Do not walk the circle; do not glance at pages.</a:t>
            </a:r>
          </a:p>
          <a:p>
            <a:r>
              <a:rPr lang="en-US" sz="1200"/>
              <a:t>GUARD: Question zero is PRIVATE and journal-only — never shared, never referenced again, today or ever. No 'anyone want to say anything about the first one.' The quiet seeker who finds a Companion afterward is the year's best outcome, not a crisis.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4:41–5:09 · CLUSTERS</a:t>
            </a:r>
          </a:p>
          <a:p>
            <a:r>
              <a:rPr lang="en-US" sz="1200"/>
              <a:t>BEATS:</a:t>
            </a:r>
          </a:p>
          <a:p>
            <a:r>
              <a:rPr lang="en-US" sz="1200"/>
              <a:t>1. Four questions, one at a time: path, rocky, thorny, good. About two minutes journaling each, then share around — 'I'd rather not share that one' is a complete answer.</a:t>
            </a:r>
          </a:p>
          <a:p>
            <a:r>
              <a:rPr lang="en-US" sz="1200"/>
              <a:t>2. Push for one specific incident, not a category — 'my phone' becomes one moment this week.</a:t>
            </a:r>
          </a:p>
          <a:p>
            <a:r>
              <a:rPr lang="en-US" sz="1200"/>
              <a:t>3. Nobody fixes anybody across the family line: 'Just receive it. We're noticing today, not fixing.'</a:t>
            </a:r>
          </a:p>
          <a:p>
            <a:r>
              <a:rPr lang="en-US" sz="1200"/>
              <a:t>CUES: The arranged parent opens the first round — never a cold call, never on a teen. Watch the clock privately: question zero plus four questions in 28 minutes. Ten or fewer today — run it as one whole circle.</a:t>
            </a:r>
          </a:p>
          <a:p>
            <a:r>
              <a:rPr lang="en-US" sz="1200"/>
              <a:t>GUARD: Heavy material ('rocky is when we fight at home') — acknowledge, hold, move on; follow up per Handbook Section 6. Watch a teen's face while their parent shares.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5:10–5:18 · SHARED</a:t>
            </a:r>
          </a:p>
          <a:p>
            <a:r>
              <a:rPr lang="en-US" sz="1200"/>
              <a:t>BEATS:</a:t>
            </a:r>
          </a:p>
          <a:p>
            <a:r>
              <a:rPr lang="en-US" sz="1200"/>
              <a:t>1. Re-merge starts at 5:09 — three minutes to move; let the circle settle.</a:t>
            </a:r>
          </a:p>
          <a:p>
            <a:r>
              <a:rPr lang="en-US" sz="1200"/>
              <a:t>2. One word each on what today surfaced — 'thorny', 'seen', 'tired'. Hold each word a beat.</a:t>
            </a:r>
          </a:p>
          <a:p>
            <a:r>
              <a:rPr lang="en-US" sz="1200"/>
              <a:t>3. Re-read Mark 4:20 slowly; land it: good soil is not soil without rocks — it hears, accepts, produces. The noticing IS what good soil does.</a:t>
            </a:r>
          </a:p>
          <a:p>
            <a:r>
              <a:rPr lang="en-US" sz="1200"/>
              <a:t>GUARD: No specifics from the clusters — the diagnostic stays in the cluster; the merge is for landing, not repeating.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W2 · 5:18–5:21 · SHARED</a:t>
            </a:r>
          </a:p>
          <a:p>
            <a:r>
              <a:rPr lang="en-US" sz="1200" dirty="0"/>
              <a:t>BEATS:</a:t>
            </a:r>
          </a:p>
          <a:p>
            <a:r>
              <a:rPr lang="en-US" sz="1200" dirty="0"/>
              <a:t>1. Parent Co-Companion leads. Three times this week — not daily — five minutes: one sentence per soil, where did each show up today? Specific, not general.</a:t>
            </a:r>
          </a:p>
          <a:p>
            <a:r>
              <a:rPr lang="en-US" sz="1200" dirty="0"/>
              <a:t>2. Rule stands: no fixing. The Spirit fixes; our job is to pay attention.</a:t>
            </a:r>
          </a:p>
          <a:p>
            <a:r>
              <a:rPr lang="en-US" sz="1200" dirty="0"/>
              <a:t>3. Keep last week's morning question going — the two practices stack.</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5:18–5:21 · SHARED</a:t>
            </a:r>
          </a:p>
          <a:p>
            <a:r>
              <a:rPr lang="en-US" sz="1200"/>
              <a:t>BEATS:</a:t>
            </a:r>
          </a:p>
          <a:p>
            <a:r>
              <a:rPr lang="en-US" sz="1200"/>
              <a:t>1. Hold up the check-off card (H2.4): daily morning question and evening sentence, plus three soil-journal boxes.</a:t>
            </a:r>
          </a:p>
          <a:p>
            <a:r>
              <a:rPr lang="en-US" sz="1200"/>
              <a:t>2. A missed box is never a failure — it is an invitation to return.</a:t>
            </a:r>
          </a:p>
          <a:p>
            <a:r>
              <a:rPr lang="en-US" sz="1200"/>
              <a:t>CUES: Rides inside the practice block — keep both slides to five minutes together.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5:21–5:25 · SHARED</a:t>
            </a:r>
          </a:p>
          <a:p>
            <a:r>
              <a:rPr lang="en-US" sz="1200"/>
              <a:t>BEATS:</a:t>
            </a:r>
          </a:p>
          <a:p>
            <a:r>
              <a:rPr lang="en-US" sz="1200"/>
              <a:t>1. Your three things first: what went well; what I'd do differently; what I'd tell someone teaching today's process.</a:t>
            </a:r>
          </a:p>
          <a:p>
            <a:r>
              <a:rPr lang="en-US" sz="1200"/>
              <a:t>2. Room's two questions; two or three voices is plenty.</a:t>
            </a:r>
          </a:p>
          <a:p>
            <a:r>
              <a:rPr lang="en-US" sz="1200"/>
              <a:t>3. Receive without defending — 'thank you' is the whole response.</a:t>
            </a:r>
          </a:p>
          <a:p>
            <a:r>
              <a:rPr lang="en-US" sz="1200"/>
              <a:t>CUES: May be dropped if the room's energy needs something else; dropping it twice running goes to the team debrief.</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5:25–5:30 · SHARED</a:t>
            </a:r>
          </a:p>
          <a:p>
            <a:r>
              <a:rPr lang="en-US" sz="1200"/>
              <a:t>BEATS:</a:t>
            </a:r>
          </a:p>
          <a:p>
            <a:r>
              <a:rPr lang="en-US" sz="1200"/>
              <a:t>1. Abbreviated six-step close: one-word landing, one thing I'm taking, one practice (the three soil journals).</a:t>
            </a:r>
          </a:p>
          <a:p>
            <a:r>
              <a:rPr lang="en-US" sz="1200"/>
              <a:t>2. Aaronic blessing parent-to-teen, teen-to-parent — the cohort knows the form now.</a:t>
            </a:r>
          </a:p>
          <a:p>
            <a:r>
              <a:rPr lang="en-US" sz="1200"/>
              <a:t>3. Brief closing prayer naming, without details, what surfaced: 'Father, You saw the rocks and the thorns we named today.'</a:t>
            </a:r>
          </a:p>
          <a:p>
            <a:r>
              <a:rPr lang="en-US" sz="1200"/>
              <a:t>GUARD: If the merge ran heavy, give the prayer 60–90 seconds; do not lighten the room.</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pre-session · DIVIDER</a:t>
            </a:r>
          </a:p>
          <a:p>
            <a:r>
              <a:rPr lang="en-US" sz="1200"/>
              <a:t>On screen as families arrive. Greet at the door — the slide holds the room.</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4:15–5:30 · SHARED</a:t>
            </a:r>
          </a:p>
          <a:p>
            <a:r>
              <a:rPr lang="en-US" sz="1200"/>
              <a:t>BEATS:</a:t>
            </a:r>
          </a:p>
          <a:p>
            <a:r>
              <a:rPr lang="en-US" sz="1200"/>
              <a:t>1. Highest-risk session of the series — Handbook Section 6 re-read within 48 hours before; crisis card in every Companion pocket; pastoral/clinical backup on call 6:30–11:00.</a:t>
            </a:r>
          </a:p>
          <a:p>
            <a:r>
              <a:rPr lang="en-US" sz="1200"/>
              <a:t>2. Shape: open, check-in, Psalm 139, YOUR five-minute demo story, bridge, 35-minute cluster storytelling (parents tell; teens witness and bless), merge, Joint Footprints, feedback, close.</a:t>
            </a:r>
          </a:p>
          <a:p>
            <a:r>
              <a:rPr lang="en-US" sz="1200"/>
              <a:t>3. The clock is a guide — if a block runs sixty seconds long because something true is being said, let it.</a:t>
            </a:r>
          </a:p>
          <a:p>
            <a:r>
              <a:rPr lang="en-US" sz="1200"/>
              <a:t>CUES: First-teller parent arranged per cluster. Any parent whose story carries news their teen has not been handed talked with the Lead Companion beforehand — hold that plan.</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4:15–4:22 · SHARED</a:t>
            </a:r>
          </a:p>
          <a:p>
            <a:r>
              <a:rPr lang="en-US" sz="1200"/>
              <a:t>BEATS:</a:t>
            </a:r>
          </a:p>
          <a:p>
            <a:r>
              <a:rPr lang="en-US" sz="1200"/>
              <a:t>1. 'Find a seat. We'll start in ninety seconds.' The settling is part of the work.</a:t>
            </a:r>
          </a:p>
          <a:p>
            <a:r>
              <a:rPr lang="en-US" sz="1200"/>
              <a:t>2. Speak the Aaronic blessing over the room first.</a:t>
            </a:r>
          </a:p>
          <a:p>
            <a:r>
              <a:rPr lang="en-US" sz="1200"/>
              <a:t>3. Frame: today the parents tell; teens, your night is next week — your work today is listening and blessing, and that is not the small half.</a:t>
            </a:r>
          </a:p>
          <a:p>
            <a:r>
              <a:rPr lang="en-US" sz="1200"/>
              <a:t>4. Container reminders: Safe, Present, Clear, Intentional; nothing is required; we listen and bless, we do not fix.</a:t>
            </a:r>
          </a:p>
          <a:p>
            <a:r>
              <a:rPr lang="en-US" sz="1200"/>
              <a:t>CUES: Spot anyone who arrived heavy — eye contact, smile, no singling out. They will know you saw them.</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W3 · 4:22–4:26 · SHARED</a:t>
            </a:r>
          </a:p>
          <a:p>
            <a:r>
              <a:rPr lang="en-US" sz="1200" dirty="0"/>
              <a:t>BEATS:</a:t>
            </a:r>
          </a:p>
          <a:p>
            <a:r>
              <a:rPr lang="en-US" sz="1200" dirty="0"/>
              <a:t>1. Ninety seconds, optional: one sentence on what the soil journaling surfaced — 'path soil at school' is enough.</a:t>
            </a:r>
          </a:p>
          <a:p>
            <a:r>
              <a:rPr lang="en-US" sz="1200" dirty="0"/>
              <a:t>2. Take 3–4 voluntary contributions; call on no one.</a:t>
            </a:r>
          </a:p>
          <a:p>
            <a:r>
              <a:rPr lang="en-US" sz="1200" dirty="0"/>
              <a:t>3. If silence: wait ten seconds, then 'Good. The work is happening, whether or not we name it today.'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4:26–4:33 · SHARED</a:t>
            </a:r>
          </a:p>
          <a:p>
            <a:r>
              <a:rPr lang="en-US" sz="1200"/>
              <a:t>BEATS:</a:t>
            </a:r>
          </a:p>
          <a:p>
            <a:r>
              <a:rPr lang="en-US" sz="1200"/>
              <a:t>1. Read Psalm 139:1–6, then 23–24, from the physical Bible. Slowly. Do not preach over the reading.</a:t>
            </a:r>
          </a:p>
          <a:p>
            <a:r>
              <a:rPr lang="en-US" sz="1200"/>
              <a:t>2. The psalmist is completely known and not running — his response is wonder, and he invites more: 'Search me.'</a:t>
            </a:r>
          </a:p>
          <a:p>
            <a:r>
              <a:rPr lang="en-US" sz="1200"/>
              <a:t>3. Land the one idea: the opposite of hidden is not exposed — it is seen and safe at the same time. That is what the circle is.</a:t>
            </a:r>
          </a:p>
          <a:p>
            <a:r>
              <a:rPr lang="en-US" sz="1200"/>
              <a:t>4. Today is a small practice of it: parents answer one question at the depth they choose; the circle blesses, never fixes.</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4:33–4:38 · SHARED</a:t>
            </a:r>
          </a:p>
          <a:p>
            <a:r>
              <a:rPr lang="en-US" sz="1200"/>
              <a:t>BEATS:</a:t>
            </a:r>
          </a:p>
          <a:p>
            <a:r>
              <a:rPr lang="en-US" sz="1200"/>
              <a:t>1. Tell your own five-minute story answering the one question: how you got here, and what has shaped you.</a:t>
            </a:r>
          </a:p>
          <a:p>
            <a:r>
              <a:rPr lang="en-US" sz="1200"/>
              <a:t>2. Be specific ('I learned to read a slammed cabinet door'), honest about one real hard place, neither hero nor victim; say where you see God in it now.</a:t>
            </a:r>
          </a:p>
          <a:p>
            <a:r>
              <a:rPr lang="en-US" sz="1200"/>
              <a:t>3. Close: 'That is the form. Parents, today in your cluster. Teens, yours is next week. Yours doesn't have to look like mine.'</a:t>
            </a:r>
          </a:p>
          <a:p>
            <a:r>
              <a:rPr lang="en-US" sz="1200"/>
              <a:t>GUARD: Time it — five minutes, practiced in advance. The whole room calibrates against this demo; vague gives permission to be evasive.</a:t>
            </a:r>
          </a:p>
          <a:p>
            <a:r>
              <a:rPr lang="en-US" sz="1200"/>
              <a:t>SUB: The printed kitchen-table story in the plan is the founder's own. Tell YOUR story, written out this week per the pre-work — never perform John's testimony.</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4:38–4:39 · TRANSITION</a:t>
            </a:r>
          </a:p>
          <a:p>
            <a:r>
              <a:rPr lang="en-US" sz="1200"/>
              <a:t>BEATS:</a:t>
            </a:r>
          </a:p>
          <a:p>
            <a:r>
              <a:rPr lang="en-US" sz="1200"/>
              <a:t>1. Hold up the cards. Three things: one question, depth is the teller's; listeners receive and bless — no fixing, advising, or 'me too'; nothing leaves the circle.</a:t>
            </a:r>
          </a:p>
          <a:p>
            <a:r>
              <a:rPr lang="en-US" sz="1200"/>
              <a:t>2. Pray the bridge prayer: 'Make this circle a small place where we can be known and safe at the same time.'</a:t>
            </a:r>
          </a:p>
          <a:p>
            <a:r>
              <a:rPr lang="en-US" sz="1200"/>
              <a:t>3. Send: families stay together; back in the main room at 5:14.</a:t>
            </a:r>
          </a:p>
          <a:p>
            <a:r>
              <a:rPr lang="en-US" sz="1200"/>
              <a:t>CUES: Teen storytelling cards (H3.2) go home today for Week 4. Ten or fewer — stay one circle; the arranged parent tells after the Companion.</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4:39–5:14 · CLUSTERS</a:t>
            </a:r>
          </a:p>
          <a:p>
            <a:r>
              <a:rPr lang="en-US" sz="1200"/>
              <a:t>BEATS:</a:t>
            </a:r>
          </a:p>
          <a:p>
            <a:r>
              <a:rPr lang="en-US" sz="1200"/>
              <a:t>1. In each cluster: the Companion tells first, then the arranged parent, then the remaining parents. 5–7 minutes per story, 10 seconds of silence, 1–2 minute blessing round.</a:t>
            </a:r>
          </a:p>
          <a:p>
            <a:r>
              <a:rPr lang="en-US" sz="1200"/>
              <a:t>2. Nobody interrupts a teller, even through silence. At six minutes, gentle eye contact; at seven, 'Let's land it together.'</a:t>
            </a:r>
          </a:p>
          <a:p>
            <a:r>
              <a:rPr lang="en-US" sz="1200"/>
              <a:t>3. Blessing starters are on the listener card; invite the teller's own teen to bless — invite, never force.</a:t>
            </a:r>
          </a:p>
          <a:p>
            <a:r>
              <a:rPr lang="en-US" sz="1200"/>
              <a:t>4. Short on time: compress blessings to one sentence each. Never send a parent home untold.</a:t>
            </a:r>
          </a:p>
          <a:p>
            <a:r>
              <a:rPr lang="en-US" sz="1200"/>
              <a:t>GUARD: Watch each teen's face during their parent's telling — weight received is a Settle Protocol matter (Handbook Section 6); quiet check-in at the next pause, and nobody leaves activated. Heavy disclosures: receive, bless, do not rush; two adults step aside after; Section 6 timelines apply.</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5:14–5:18 · SHARED</a:t>
            </a:r>
          </a:p>
          <a:p>
            <a:r>
              <a:rPr lang="en-US" sz="1200"/>
              <a:t>BEATS:</a:t>
            </a:r>
          </a:p>
          <a:p>
            <a:r>
              <a:rPr lang="en-US" sz="1200"/>
              <a:t>1. Reconvene; the room's texture will be different than at 4:38 — honor it, do not break it with energy.</a:t>
            </a:r>
          </a:p>
          <a:p>
            <a:r>
              <a:rPr lang="en-US" sz="1200"/>
              <a:t>2. One word each on what today was like; pass allowed. Receive with eye contact and a small nod — no 'great', no commentary.</a:t>
            </a:r>
          </a:p>
          <a:p>
            <a:r>
              <a:rPr lang="en-US" sz="1200"/>
              <a:t>3. Close: 'Each of you brought something true and received something true. That's rare. It's also the kind of room God shows up in.'</a:t>
            </a:r>
          </a:p>
          <a:p>
            <a:r>
              <a:rPr lang="en-US" sz="1200"/>
              <a:t>GUARD: Do not ask anyone to share what was said — cluster content stays in the cluster.</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5:18–5:21 · SHARED</a:t>
            </a:r>
          </a:p>
          <a:p>
            <a:r>
              <a:rPr lang="en-US" sz="1200"/>
              <a:t>BEATS:</a:t>
            </a:r>
          </a:p>
          <a:p>
            <a:r>
              <a:rPr lang="en-US" sz="1200"/>
              <a:t>1. Parent Co-Companion leads. One handout per family (H3.5).</a:t>
            </a:r>
          </a:p>
          <a:p>
            <a:r>
              <a:rPr lang="en-US" sz="1200"/>
              <a:t>2. The practice: parent and teen sit together twenty minutes this week — not the car, not the TV, phones away. Five minutes of footprints each way; listener asks one or two follow-ups, then one sentence: 'What I love about your footprints is...'</a:t>
            </a:r>
          </a:p>
          <a:p>
            <a:r>
              <a:rPr lang="en-US" sz="1200"/>
              <a:t>3. Two rules: the teen discloses only what they are ready to (their telling night is next week); the parent does not turn it into a lecture.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5:18–5:21 · SHARED</a:t>
            </a:r>
          </a:p>
          <a:p>
            <a:r>
              <a:rPr lang="en-US" sz="1200"/>
              <a:t>BEATS:</a:t>
            </a:r>
          </a:p>
          <a:p>
            <a:r>
              <a:rPr lang="en-US" sz="1200"/>
              <a:t>1. Check-off card (H3.6): morning question and evening note daily; Joint Footprints once.</a:t>
            </a:r>
          </a:p>
          <a:p>
            <a:r>
              <a:rPr lang="en-US" sz="1200"/>
              <a:t>2. Confirm every teen leaves with their storytelling card (H3.2) — the writing for next week starts today.</a:t>
            </a:r>
          </a:p>
          <a:p>
            <a:r>
              <a:rPr lang="en-US" sz="1200"/>
              <a:t>CUES: Rides inside the practice block.</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5:21–5:25 · SHARED</a:t>
            </a:r>
          </a:p>
          <a:p>
            <a:r>
              <a:rPr lang="en-US" sz="1200"/>
              <a:t>BEATS:</a:t>
            </a:r>
          </a:p>
          <a:p>
            <a:r>
              <a:rPr lang="en-US" sz="1200"/>
              <a:t>1. Your three things first: went well; do differently; what I'd tell someone teaching today's process.</a:t>
            </a:r>
          </a:p>
          <a:p>
            <a:r>
              <a:rPr lang="en-US" sz="1200"/>
              <a:t>2. Then the room's two questions; two or three voices is plenty.</a:t>
            </a:r>
          </a:p>
          <a:p>
            <a:r>
              <a:rPr lang="en-US" sz="1200"/>
              <a:t>3. Receive without defending — 'thank you' is the whole response.</a:t>
            </a:r>
          </a:p>
          <a:p>
            <a:r>
              <a:rPr lang="en-US" sz="1200"/>
              <a:t>CUES: May be dropped if the room's energy needs something else; twice running goes to the team debrief.</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5:25–5:30 · SHARED</a:t>
            </a:r>
          </a:p>
          <a:p>
            <a:r>
              <a:rPr lang="en-US" sz="1200"/>
              <a:t>BEATS:</a:t>
            </a:r>
          </a:p>
          <a:p>
            <a:r>
              <a:rPr lang="en-US" sz="1200"/>
              <a:t>1. Restate the container hard: your own story goes home with you; nobody else's does — not to a sibling, a friend, or a spouse not in this room.</a:t>
            </a:r>
          </a:p>
          <a:p>
            <a:r>
              <a:rPr lang="en-US" sz="1200"/>
              <a:t>2. Name the help: reach out if today sits heavy — email, text, knock; the Crisis Quick-Reference Card is real and someone is there.</a:t>
            </a:r>
          </a:p>
          <a:p>
            <a:r>
              <a:rPr lang="en-US" sz="1200"/>
              <a:t>3. Aaronic blessing. 'Go gently this week.'</a:t>
            </a:r>
          </a:p>
          <a:p>
            <a:r>
              <a:rPr lang="en-US" sz="1200"/>
              <a:t>CUES: Do not pack up — stay accessible ten minutes; the work after the closing is sometimes the work.</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pre-session · DIVIDER</a:t>
            </a:r>
          </a:p>
          <a:p>
            <a:r>
              <a:rPr lang="en-US" sz="1200"/>
              <a:t>On screen as families arrive. Greet at the door — the slide holds the room.</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4:15–5:30 · SHARED</a:t>
            </a:r>
          </a:p>
          <a:p>
            <a:r>
              <a:rPr lang="en-US" sz="1200"/>
              <a:t>BEATS:</a:t>
            </a:r>
          </a:p>
          <a:p>
            <a:r>
              <a:rPr lang="en-US" sz="1200"/>
              <a:t>1. The teens tell today — same question, same clusters, nothing new taught; the completion is the point.</a:t>
            </a:r>
          </a:p>
          <a:p>
            <a:r>
              <a:rPr lang="en-US" sz="1200"/>
              <a:t>2. A Companion-in-Formation (senior teen) leads the open, the bridge, their own cluster, and the close — protocol card in hand, adult across the circle.</a:t>
            </a:r>
          </a:p>
          <a:p>
            <a:r>
              <a:rPr lang="en-US" sz="1200"/>
              <a:t>3. Same Section 6 preparation as Week 3: re-read within 48 hours; crisis card in pocket; backup on call.</a:t>
            </a:r>
          </a:p>
          <a:p>
            <a:r>
              <a:rPr lang="en-US" sz="1200"/>
              <a:t>GUARD: The bright line governs everything — the senior leads process; the adult holds care. If the FC1 gate has not cleared, adults lead exactly as Week 3.</a:t>
            </a:r>
          </a:p>
          <a:p>
            <a:r>
              <a:rPr lang="en-US" sz="1200"/>
              <a:t>CUES: If you are covering: the senior still leads their blocks — receive their leadership as the room does; do not hover, do not re-lead.</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4:15–4:22 · SHARED</a:t>
            </a:r>
          </a:p>
          <a:p>
            <a:r>
              <a:rPr lang="en-US" sz="1200"/>
              <a:t>BEATS:</a:t>
            </a:r>
          </a:p>
          <a:p>
            <a:r>
              <a:rPr lang="en-US" sz="1200"/>
              <a:t>1. The Companion-in-Formation opens the night: blessing, container, Week 4 frame — the pieces are required, their own words are fine (card H4.1).</a:t>
            </a:r>
          </a:p>
          <a:p>
            <a:r>
              <a:rPr lang="en-US" sz="1200"/>
              <a:t>2. You sit in the circle as a participant and do not hover.</a:t>
            </a:r>
          </a:p>
          <a:p>
            <a:r>
              <a:rPr lang="en-US" sz="1200"/>
              <a:t>CUES: The room registers a teen leading within ten seconds. Let it — no introduction, no explanation, no applause. Receive the opening exactly as the room received it from the Lead Companion in Weeks 1–3.</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4:22–4:26 · SHARED</a:t>
            </a:r>
          </a:p>
          <a:p>
            <a:r>
              <a:rPr lang="en-US" sz="1200"/>
              <a:t>BEATS:</a:t>
            </a:r>
          </a:p>
          <a:p>
            <a:r>
              <a:rPr lang="en-US" sz="1200"/>
              <a:t>1. Lead Companion takes this block. 'Some of you got to it, some didn't — both are fine; honest is what we do here.'</a:t>
            </a:r>
          </a:p>
          <a:p>
            <a:r>
              <a:rPr lang="en-US" sz="1200"/>
              <a:t>2. One sentence on what it was LIKE, not what was said. The arranged parent starts; then open, and optional.</a:t>
            </a:r>
          </a:p>
          <a:p>
            <a:r>
              <a:rPr lang="en-US" sz="1200"/>
              <a:t>3. Silence after the opener: wait ten seconds, move on — 'The work is happening, whether or not we name it today.'</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4:26–4:31 · SHARED</a:t>
            </a:r>
          </a:p>
          <a:p>
            <a:r>
              <a:rPr lang="en-US" sz="1200"/>
              <a:t>BEATS:</a:t>
            </a:r>
          </a:p>
          <a:p>
            <a:r>
              <a:rPr lang="en-US" sz="1200"/>
              <a:t>1. Re-read Psalm 139:23–24 only. Nothing new taught — repetition is how it becomes ours: seen and safe at the same time.</a:t>
            </a:r>
          </a:p>
          <a:p>
            <a:r>
              <a:rPr lang="en-US" sz="1200"/>
              <a:t>2. Say the comparison word out loud: put down measuring your story against your mom's or dad's. Every story is its own; the parents went first so you would never have to guess, not so you would have a bar to clear.</a:t>
            </a:r>
          </a:p>
          <a:p>
            <a:r>
              <a:rPr lang="en-US" sz="1200"/>
              <a:t>3. If Week 3 flagged fixing: one gentle sentence — 'listening to receive is its own discipline.'</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4:31–4:32 · TRANSITION</a:t>
            </a:r>
          </a:p>
          <a:p>
            <a:r>
              <a:rPr lang="en-US" sz="1200"/>
              <a:t>BEATS:</a:t>
            </a:r>
          </a:p>
          <a:p>
            <a:r>
              <a:rPr lang="en-US" sz="1200"/>
              <a:t>1. The senior takes the bridge from the card: one question; listeners receive and bless — no fixing, no advising, no relating back; nothing leaves the cluster.</a:t>
            </a:r>
          </a:p>
          <a:p>
            <a:r>
              <a:rPr lang="en-US" sz="1200"/>
              <a:t>2. The senior prays, then sends: same clusters, same rooms as last week, families together; back at 5:12.</a:t>
            </a:r>
          </a:p>
          <a:p>
            <a:r>
              <a:rPr lang="en-US" sz="1200"/>
              <a:t>CUES: Ten or fewer — 'We're staying right here, one circle, same rules,' and flow straight into the telling.</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4:32–5:12 · CLUSTERS</a:t>
            </a:r>
          </a:p>
          <a:p>
            <a:r>
              <a:rPr lang="en-US" sz="1200"/>
              <a:t>BEATS:</a:t>
            </a:r>
          </a:p>
          <a:p>
            <a:r>
              <a:rPr lang="en-US" sz="1200"/>
              <a:t>1. The teens tell — 5–7 minutes each, ten seconds of silence, then blessing; the arranged parent speaks the first blessing after every story.</a:t>
            </a:r>
          </a:p>
          <a:p>
            <a:r>
              <a:rPr lang="en-US" sz="1200"/>
              <a:t>2. In the senior's cluster: the senior tells FIRST (the adult steers their blessing round), then facilitates the rest, card in hand; the adult sits directly across, silent through mechanics, holding care.</a:t>
            </a:r>
          </a:p>
          <a:p>
            <a:r>
              <a:rPr lang="en-US" sz="1200"/>
              <a:t>3. Parents receive without correcting the record, filling silences, or bracing — the teen's telling stands today.</a:t>
            </a:r>
          </a:p>
          <a:p>
            <a:r>
              <a:rPr lang="en-US" sz="1200"/>
              <a:t>4. Out of time: compress blessings to one sentence each; every teen gets told.</a:t>
            </a:r>
          </a:p>
          <a:p>
            <a:r>
              <a:rPr lang="en-US" sz="1200"/>
              <a:t>GUARD: The handoff rule never bends — anything heavy, the senior says '[Adult's name], I'd like you to take this' and holds the container in silence; the adult takes it instantly and completely, then hands the process back. The senior never counts as one of the two adults; the adult runs any Settle Protocol.</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5:12–5:16 · SHARED</a:t>
            </a:r>
          </a:p>
          <a:p>
            <a:r>
              <a:rPr lang="en-US" sz="1200"/>
              <a:t>BEATS:</a:t>
            </a:r>
          </a:p>
          <a:p>
            <a:r>
              <a:rPr lang="en-US" sz="1200"/>
              <a:t>1. Lead Companion takes the merge. Let the room settle; do not break the texture with energy.</a:t>
            </a:r>
          </a:p>
          <a:p>
            <a:r>
              <a:rPr lang="en-US" sz="1200"/>
              <a:t>2. One word each; the arranged parent starts; pass allowed. Receive — eye contact, small nod, no comment.</a:t>
            </a:r>
          </a:p>
          <a:p>
            <a:r>
              <a:rPr lang="en-US" sz="1200"/>
              <a:t>3. Name the completion: every person in the room, parent and teen, has now told and been blessed. 'Rooms like this are rare. They're the kind of room God shows up in.'</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5:16–5:19 · SHARED</a:t>
            </a:r>
          </a:p>
          <a:p>
            <a:r>
              <a:rPr lang="en-US" sz="1200"/>
              <a:t>BEATS:</a:t>
            </a:r>
          </a:p>
          <a:p>
            <a:r>
              <a:rPr lang="en-US" sz="1200"/>
              <a:t>1. Parent Co-Companion leads. Joint Footprints (H3.5) for every family that has not yet done it — twenty minutes, not the car, not a screen.</a:t>
            </a:r>
          </a:p>
          <a:p>
            <a:r>
              <a:rPr lang="en-US" sz="1200"/>
              <a:t>2. Families who already did it are done — do not force a repeat.</a:t>
            </a:r>
          </a:p>
          <a:p>
            <a:r>
              <a:rPr lang="en-US" sz="1200"/>
              <a:t>3. Everyone keeps the morning question and evening note going: 'that rhythm is quietly doing more than any single Wednesday.'</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5:16–5:19 · SHARED</a:t>
            </a:r>
          </a:p>
          <a:p>
            <a:r>
              <a:rPr lang="en-US" sz="1200"/>
              <a:t>BEATS:</a:t>
            </a:r>
          </a:p>
          <a:p>
            <a:r>
              <a:rPr lang="en-US" sz="1200"/>
              <a:t>1. Check-off card (H4.2): daily morning question and evening note; the Joint Footprints box is only for families not yet done.</a:t>
            </a:r>
          </a:p>
          <a:p>
            <a:r>
              <a:rPr lang="en-US" sz="1200"/>
              <a:t>CUES: Rides inside the practice block.</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5:19–5:23 · SHARED</a:t>
            </a:r>
          </a:p>
          <a:p>
            <a:r>
              <a:rPr lang="en-US" sz="1200"/>
              <a:t>BEATS:</a:t>
            </a:r>
          </a:p>
          <a:p>
            <a:r>
              <a:rPr lang="en-US" sz="1200"/>
              <a:t>1. You frame it; the senior answers the three things FIRST, you answer the first two second; the room's feedback covers both.</a:t>
            </a:r>
          </a:p>
          <a:p>
            <a:r>
              <a:rPr lang="en-US" sz="1200"/>
              <a:t>2. Keep the room's words specific and for-you-shaped: 'the way you waited out the silence' is gold; 'you did great' is not.</a:t>
            </a:r>
          </a:p>
          <a:p>
            <a:r>
              <a:rPr lang="en-US" sz="1200"/>
              <a:t>3. Both leaders receive without defending — 'thank you.'</a:t>
            </a:r>
          </a:p>
          <a:p>
            <a:r>
              <a:rPr lang="en-US" sz="1200"/>
              <a:t>CUES: The team's one growth item was agreed in a ten-second sidebar during the merge — never improvised in front of the room; affirmations outweigh it in number and specificity. Think hard before dropping this round on a night a senior led — it is part of their formation.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5:23–5:30 · SHARED</a:t>
            </a:r>
          </a:p>
          <a:p>
            <a:r>
              <a:rPr lang="en-US" sz="1200"/>
              <a:t>BEATS:</a:t>
            </a:r>
          </a:p>
          <a:p>
            <a:r>
              <a:rPr lang="en-US" sz="1200"/>
              <a:t>1. The senior closes from the card: your story goes home with you, nobody else's; help named; Aaronic blessing; 'Go gently this week.'</a:t>
            </a:r>
          </a:p>
          <a:p>
            <a:r>
              <a:rPr lang="en-US" sz="1200"/>
              <a:t>2. Adults stay accessible ten minutes after, as always.</a:t>
            </a:r>
          </a:p>
          <a:p>
            <a:r>
              <a:rPr lang="en-US" sz="1200"/>
              <a:t>CUES: Find the senior privately before they leave: one sentence of thanks, one question — 'How are you, after that?' — and a listen. No coaching today; that waits for the debrief and the Lab.</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pre-session · DIVIDER</a:t>
            </a:r>
          </a:p>
          <a:p>
            <a:r>
              <a:rPr lang="en-US" sz="1200"/>
              <a:t>On screen as families arrive. Greet at the door — the slide holds the room.</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4:15–5:30 · SHARED</a:t>
            </a:r>
          </a:p>
          <a:p>
            <a:r>
              <a:rPr lang="en-US" sz="1200"/>
              <a:t>BEATS:</a:t>
            </a:r>
          </a:p>
          <a:p>
            <a:r>
              <a:rPr lang="en-US" sz="1200"/>
              <a:t>1. Movement two begins: Connect with Others. Today names the four conditions that have been holding this room — Safe, Present, Clear, Intentional — then maps them onto real friendships in clusters.</a:t>
            </a:r>
          </a:p>
          <a:p>
            <a:r>
              <a:rPr lang="en-US" sz="1200"/>
              <a:t>2. Shape: open, check-in, 15-minute whiteboard teaching, bridge, 28-minute friendship-mapping, merge patterns, practice, feedback, close.</a:t>
            </a:r>
          </a:p>
          <a:p>
            <a:r>
              <a:rPr lang="en-US" sz="1200"/>
              <a:t>3. Risk profile is nearer Week 2 than Week 3 — but 'I don't have a single friend who knows me' from a teen is its own quiet emergency; receive it and follow up within 48 hours.</a:t>
            </a:r>
          </a:p>
          <a:p>
            <a:r>
              <a:rPr lang="en-US" sz="1200"/>
              <a:t>CUES: Whiteboard pre-written vertically: SAFE / PRESENT / CLEAR / INTENTIONAL. Opening parent arranged per cluster.</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4:15–4:23 · SHARED</a:t>
            </a:r>
          </a:p>
          <a:p>
            <a:r>
              <a:rPr lang="en-US" sz="1200"/>
              <a:t>BEATS:</a:t>
            </a:r>
          </a:p>
          <a:p>
            <a:r>
              <a:rPr lang="en-US" sz="1200"/>
              <a:t>1. Blessing over the room; let it settle first.</a:t>
            </a:r>
          </a:p>
          <a:p>
            <a:r>
              <a:rPr lang="en-US" sz="1200"/>
              <a:t>2. Frame: the first four weeks were Connect with Self — the soil, then the story told all the way around, parents first. Today begins Others; two weeks here.</a:t>
            </a:r>
          </a:p>
          <a:p>
            <a:r>
              <a:rPr lang="en-US" sz="1200"/>
              <a:t>3. Today we make visible the four conditions that have been quietly holding our work — then ask where else each is present in our lives, and where missing.</a:t>
            </a:r>
          </a:p>
          <a:p>
            <a:r>
              <a:rPr lang="en-US" sz="1200"/>
              <a:t>4. Container reminders, briefly: what is said here stays here; nothing required; we listen to receive, not to fix.</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4:23–4:28 · SHARED</a:t>
            </a:r>
          </a:p>
          <a:p>
            <a:r>
              <a:rPr lang="en-US" sz="1200"/>
              <a:t>BEATS:</a:t>
            </a:r>
          </a:p>
          <a:p>
            <a:r>
              <a:rPr lang="en-US" sz="1200"/>
              <a:t>1. Brief check on Joint Footprints across both runnings: one sentence on how it landed; the arranged parent starts.</a:t>
            </a:r>
          </a:p>
          <a:p>
            <a:r>
              <a:rPr lang="en-US" sz="1200"/>
              <a:t>2. Take 3–4 voluntary contributions; receive without commentary.</a:t>
            </a:r>
          </a:p>
          <a:p>
            <a:r>
              <a:rPr lang="en-US" sz="1200"/>
              <a:t>3. Move on: 'Some of that work continues whether or not we got to it this week.'</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4:28–4:42 · SHARED</a:t>
            </a:r>
          </a:p>
          <a:p>
            <a:r>
              <a:rPr lang="en-US" sz="1200"/>
              <a:t>BEATS:</a:t>
            </a:r>
          </a:p>
          <a:p>
            <a:r>
              <a:rPr lang="en-US" sz="1200"/>
              <a:t>1. Read Ecclesiastes 4:9–12 — the threefold cord's strength is in the holding.</a:t>
            </a:r>
          </a:p>
          <a:p>
            <a:r>
              <a:rPr lang="en-US" sz="1200"/>
              <a:t>2. Walk each condition 2–3 minutes at the whiteboard: SAFE, the hearing condition (not judged while doing my work — Rom 14:3–4); PRESENT, the attention condition (actually here — Rev 1:8); CLEAR, the channel condition (nothing unaddressed — Matt 7:5); INTENTIONAL, the obedience condition (willing to do what He shows — John 5:19).</a:t>
            </a:r>
          </a:p>
          <a:p>
            <a:r>
              <a:rPr lang="en-US" sz="1200"/>
              <a:t>3. Teach lightly — the cluster exercise does the depth work.</a:t>
            </a:r>
          </a:p>
          <a:p>
            <a:r>
              <a:rPr lang="en-US" sz="1200"/>
              <a:t>GUARD: This is not friendship tips. Stay with the four conditions as defined, and do not run long — the mapping block needs its full 28 minutes.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4:42–4:43 · TRANSITION</a:t>
            </a:r>
          </a:p>
          <a:p>
            <a:r>
              <a:rPr lang="en-US" sz="1200"/>
              <a:t>BEATS:</a:t>
            </a:r>
          </a:p>
          <a:p>
            <a:r>
              <a:rPr lang="en-US" sz="1200"/>
              <a:t>1. Frame the exercise: for each condition — where does it show up in my actual friendships, and where is it missing? Worksheets are on the chairs.</a:t>
            </a:r>
          </a:p>
          <a:p>
            <a:r>
              <a:rPr lang="en-US" sz="1200"/>
              <a:t>2. Name the language rule: no names — 'one of my friendships,' 'one adult relationship in my life.'</a:t>
            </a:r>
          </a:p>
          <a:p>
            <a:r>
              <a:rPr lang="en-US" sz="1200"/>
              <a:t>3. Pray and send: same rooms; back at 5:11. Ten or fewer — stay one circle.</a:t>
            </a:r>
          </a:p>
          <a:p>
            <a:r>
              <a:rPr lang="en-US" sz="1200"/>
              <a:t>CUES: In each cluster the Companion goes first on every condition, then the arranged parent opens; teens choose their own depth after; pass anytime.</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4:43–5:11 · CLUSTERS</a:t>
            </a:r>
          </a:p>
          <a:p>
            <a:r>
              <a:rPr lang="en-US" sz="1200"/>
              <a:t>BEATS:</a:t>
            </a:r>
          </a:p>
          <a:p>
            <a:r>
              <a:rPr lang="en-US" sz="1200"/>
              <a:t>1. About six minutes per condition: Companion models 30–60 seconds (one friendship where it is present, one where missing — specific), the arranged parent opens, then around; pass allowed.</a:t>
            </a:r>
          </a:p>
          <a:p>
            <a:r>
              <a:rPr lang="en-US" sz="1200"/>
              <a:t>2. After each round the Companion names one observation and moves on — no summarizing, no evaluating.</a:t>
            </a:r>
          </a:p>
          <a:p>
            <a:r>
              <a:rPr lang="en-US" sz="1200"/>
              <a:t>3. Finish early: the harder question, silent, two minutes — which condition am I hardest at OFFERING?</a:t>
            </a:r>
          </a:p>
          <a:p>
            <a:r>
              <a:rPr lang="en-US" sz="1200"/>
              <a:t>CUES: Minute four with three unspoken — compress: 'Two minutes left on this one, quick rounds.'</a:t>
            </a:r>
          </a:p>
          <a:p>
            <a:r>
              <a:rPr lang="en-US" sz="1200"/>
              <a:t>GUARD: Real names get gently re-framed. The relationship a teen maps may be the parent beside them — hold the anonymous frame both ways: nobody asks who was meant, in the circle or afterward. A teen with no friendship in any condition: receive, do not rescue, flag for the Lead Companion. Parents map their OWN friendships, not their teen's.</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5:11–5:18 · SHARED</a:t>
            </a:r>
          </a:p>
          <a:p>
            <a:r>
              <a:rPr lang="en-US" sz="1200"/>
              <a:t>BEATS:</a:t>
            </a:r>
          </a:p>
          <a:p>
            <a:r>
              <a:rPr lang="en-US" sz="1200"/>
              <a:t>1. Patterns only, no people: each Cluster Companion takes ninety seconds — 'many of us noticed Safety is the rarest condition.'</a:t>
            </a:r>
          </a:p>
          <a:p>
            <a:r>
              <a:rPr lang="en-US" sz="1200"/>
              <a:t>2. You close with one true cross-cluster observation, briefly — the actual one, e.g. 'most of us name what is missing from our friendships faster than what we ourselves don't offer.'</a:t>
            </a:r>
          </a:p>
          <a:p>
            <a:r>
              <a:rPr lang="en-US" sz="1200"/>
              <a:t>GUARD: Pattern-level means pattern-level — nothing from any individual's mapping crosses cluster lines.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5:18–5:21 · SHARED</a:t>
            </a:r>
          </a:p>
          <a:p>
            <a:r>
              <a:rPr lang="en-US" sz="1200"/>
              <a:t>BEATS:</a:t>
            </a:r>
          </a:p>
          <a:p>
            <a:r>
              <a:rPr lang="en-US" sz="1200"/>
              <a:t>1. Pick one friendship — yours alone, told to no one. Pick one condition: the most missing, or the hardest to offer.</a:t>
            </a:r>
          </a:p>
          <a:p>
            <a:r>
              <a:rPr lang="en-US" sz="1200"/>
              <a:t>2. Practice it more intentionally than usual this week — give the concrete versions: phone in another room for Present; receive without judging for Safe; name a carried thing for Clear; come in watching for what God is doing for Intentional.</a:t>
            </a:r>
          </a:p>
          <a:p>
            <a:r>
              <a:rPr lang="en-US" sz="1200"/>
              <a:t>3. Journal what happens — the Week 5 pages have prompts; H5.5 has the practice in writing.</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5:18–5:21 · SHARED</a:t>
            </a:r>
          </a:p>
          <a:p>
            <a:r>
              <a:rPr lang="en-US" sz="1200"/>
              <a:t>BEATS:</a:t>
            </a:r>
          </a:p>
          <a:p>
            <a:r>
              <a:rPr lang="en-US" sz="1200"/>
              <a:t>1. Check-off card (H5.6): daily morning question, evening note, and the one-condition practice; two one-time boxes.</a:t>
            </a:r>
          </a:p>
          <a:p>
            <a:r>
              <a:rPr lang="en-US" sz="1200"/>
              <a:t>2. A missed box is never a failure — it is an invitation to return.</a:t>
            </a:r>
          </a:p>
          <a:p>
            <a:r>
              <a:rPr lang="en-US" sz="1200"/>
              <a:t>CUES: Rides inside the practice block.</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5:21–5:25 · SHARED</a:t>
            </a:r>
          </a:p>
          <a:p>
            <a:r>
              <a:rPr lang="en-US" sz="1200"/>
              <a:t>BEATS:</a:t>
            </a:r>
          </a:p>
          <a:p>
            <a:r>
              <a:rPr lang="en-US" sz="1200"/>
              <a:t>1. Your three things first: went well; do differently; what I'd tell someone teaching today's process.</a:t>
            </a:r>
          </a:p>
          <a:p>
            <a:r>
              <a:rPr lang="en-US" sz="1200"/>
              <a:t>2. Then the room's two questions; two or three voices is plenty.</a:t>
            </a:r>
          </a:p>
          <a:p>
            <a:r>
              <a:rPr lang="en-US" sz="1200"/>
              <a:t>3. Receive without defending — 'thank you' is the whole response.</a:t>
            </a:r>
          </a:p>
          <a:p>
            <a:r>
              <a:rPr lang="en-US" sz="1200"/>
              <a:t>CUES: May be dropped if the room needs something else; twice running goes to the team debrief.</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5:25–5:30 · SHARED</a:t>
            </a:r>
          </a:p>
          <a:p>
            <a:r>
              <a:rPr lang="en-US" sz="1200"/>
              <a:t>BEATS:</a:t>
            </a:r>
          </a:p>
          <a:p>
            <a:r>
              <a:rPr lang="en-US" sz="1200"/>
              <a:t>1. 'What was named today is yours. The friendships you mapped are yours. Carry it gently this week.'</a:t>
            </a:r>
          </a:p>
          <a:p>
            <a:r>
              <a:rPr lang="en-US" sz="1200"/>
              <a:t>2. Name the open door: anyone who noticed they have no friendships with these conditions — reach out to the team; that is real, and not a problem to solve in five seconds.</a:t>
            </a:r>
          </a:p>
          <a:p>
            <a:r>
              <a:rPr lang="en-US" sz="1200"/>
              <a:t>3. Aaronic blessing. 'See you Wednesday.'</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pre-session · DIVIDER</a:t>
            </a:r>
          </a:p>
          <a:p>
            <a:r>
              <a:rPr lang="en-US" sz="1200"/>
              <a:t>On screen as families arrive. Greet at the door — the slide holds the room.</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4:15–5:30 · SHARED</a:t>
            </a:r>
          </a:p>
          <a:p>
            <a:r>
              <a:rPr lang="en-US" sz="1200"/>
              <a:t>BEATS:</a:t>
            </a:r>
          </a:p>
          <a:p>
            <a:r>
              <a:rPr lang="en-US" sz="1200"/>
              <a:t>1. Confession-and-restoration night — second-highest-risk after Weeks 3–4. Section 6 re-read beforehand; backup on call 6:30–11:00; tissues in every space.</a:t>
            </a:r>
          </a:p>
          <a:p>
            <a:r>
              <a:rPr lang="en-US" sz="1200"/>
              <a:t>2. Shape: open, check-in, 13-minute teaching, YOUR demo, bridge, 33-minute cluster practice (Companion, then parents, then teens), merge and shared blessing, Examen plus Quarterly Pulse, feedback, close. Quarter 1 ends today.</a:t>
            </a:r>
          </a:p>
          <a:p>
            <a:r>
              <a:rPr lang="en-US" sz="1200"/>
              <a:t>3. Every parent was pre-briefed this week: own struggles, yes; the marriage's raw material, no; anything about the teen, never without asking the teen privately first.</a:t>
            </a:r>
          </a:p>
          <a:p>
            <a:r>
              <a:rPr lang="en-US" sz="1200"/>
              <a:t>GUARD: Frame it three times before the split: not specific sins — the place, the pattern, the pull.</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4:15–4:21 · SHARED</a:t>
            </a:r>
          </a:p>
          <a:p>
            <a:r>
              <a:rPr lang="en-US" sz="1200"/>
              <a:t>BEATS:</a:t>
            </a:r>
          </a:p>
          <a:p>
            <a:r>
              <a:rPr lang="en-US" sz="1200"/>
              <a:t>1. Blessing; container reminder; nothing is required.</a:t>
            </a:r>
          </a:p>
          <a:p>
            <a:r>
              <a:rPr lang="en-US" sz="1200"/>
              <a:t>2. Say what today is NOT: we will not confess specific sins to each other in detail — scripture does not ask it, and neither do we.</a:t>
            </a:r>
          </a:p>
          <a:p>
            <a:r>
              <a:rPr lang="en-US" sz="1200"/>
              <a:t>3. Say what it IS: each of us names one place where we want to walk in greater honesty; the circle speaks a blessing of restoration; about three minutes per person; parents first, on purpose.</a:t>
            </a:r>
          </a:p>
          <a:p>
            <a:r>
              <a:rPr lang="en-US" sz="1200"/>
              <a:t>4. 'Teens, you choose your depth, and the pass is always real. The Spirit does the work; we hold the space.'</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4:21–4:25 · SHARED</a:t>
            </a:r>
          </a:p>
          <a:p>
            <a:r>
              <a:rPr lang="en-US" sz="1200"/>
              <a:t>BEATS:</a:t>
            </a:r>
          </a:p>
          <a:p>
            <a:r>
              <a:rPr lang="en-US" sz="1200"/>
              <a:t>1. Ninety seconds: one sentence on how the one-friendship, one-condition practice landed; the arranged parent starts.</a:t>
            </a:r>
          </a:p>
          <a:p>
            <a:r>
              <a:rPr lang="en-US" sz="1200"/>
              <a:t>2. Take 2–3 voluntary contributions. Do not ask for more; move on.</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4:25–4:32 · SHARED</a:t>
            </a:r>
          </a:p>
          <a:p>
            <a:r>
              <a:rPr lang="en-US" sz="1200"/>
              <a:t>BEATS:</a:t>
            </a:r>
          </a:p>
          <a:p>
            <a:r>
              <a:rPr lang="en-US" sz="1200"/>
              <a:t>1. Read James 5:16 and 1 John 1:9 aloud, slowly, from the physical Bible.</a:t>
            </a:r>
          </a:p>
          <a:p>
            <a:r>
              <a:rPr lang="en-US" sz="1200"/>
              <a:t>2. Two angles: 1 John is vertical, with full assurance — the cross secured it (1 John 1:7); James is horizontal, in community, for healing. Most Christians never enter James 5:16; today we do, carefully and at age.</a:t>
            </a:r>
          </a:p>
          <a:p>
            <a:r>
              <a:rPr lang="en-US" sz="1200"/>
              <a:t>3. Give the examples of a 'place': the fear-over-trust pattern, the way I treat my brother, the performed faith, the resentment I keep feeding.</a:t>
            </a:r>
          </a:p>
          <a:p>
            <a:r>
              <a:rPr lang="en-US" sz="1200"/>
              <a:t>4. Say the parents-first rationale plainly: the older generation owes the younger the demonstration — a teen should never be asked to be braver than their parents were three minutes earlier.</a:t>
            </a:r>
          </a:p>
          <a:p>
            <a:r>
              <a:rPr lang="en-US" sz="1200"/>
              <a:t>GUARD: Not Catholic-sacramental confession — a Protestant small group doing what James 5:16 says. 'The place, not the details' — this is one of the three required framings; keep count.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4:32–4:37 · SHARED</a:t>
            </a:r>
          </a:p>
          <a:p>
            <a:r>
              <a:rPr lang="en-US" sz="1200"/>
              <a:t>BEATS:</a:t>
            </a:r>
          </a:p>
          <a:p>
            <a:r>
              <a:rPr lang="en-US" sz="1200"/>
              <a:t>1. Stand; eye contact across the room. 'The place where I want to walk in greater honesty is ___.' One place, specific, real but not graphic.</a:t>
            </a:r>
          </a:p>
          <a:p>
            <a:r>
              <a:rPr lang="en-US" sz="1200"/>
              <a:t>2. Pause; a PRE-ARRANGED Co-Companion speaks the three-sentence blessing back.</a:t>
            </a:r>
          </a:p>
          <a:p>
            <a:r>
              <a:rPr lang="en-US" sz="1200"/>
              <a:t>3. Receive it — no deflecting, no joking, no minimizing. 'Thank you.' Sit down.</a:t>
            </a:r>
          </a:p>
          <a:p>
            <a:r>
              <a:rPr lang="en-US" sz="1200"/>
              <a:t>4. Close: 'That is the practice. Parents first, then teens. Yours doesn't have to look like mine. Three minutes per person.'</a:t>
            </a:r>
          </a:p>
          <a:p>
            <a:r>
              <a:rPr lang="en-US" sz="1200"/>
              <a:t>SUB: The demo is the leader's own material. Name YOUR one real place, written and rehearsed this week — never borrow the founder's — and arrange your blessing-giver before the session.</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4:37–4:38 · TRANSITION</a:t>
            </a:r>
          </a:p>
          <a:p>
            <a:r>
              <a:rPr lang="en-US" sz="1200"/>
              <a:t>BEATS:</a:t>
            </a:r>
          </a:p>
          <a:p>
            <a:r>
              <a:rPr lang="en-US" sz="1200"/>
              <a:t>1. Three things: the prompts are scaffolding — use or ignore; the blessing card has the form — specific, short, witnessed; the container holds — nothing leaves the cluster, especially this week.</a:t>
            </a:r>
          </a:p>
          <a:p>
            <a:r>
              <a:rPr lang="en-US" sz="1200"/>
              <a:t>2. Restate the order: Companion first, then the parents, then the teens — teens' depth is theirs; pass always allowed.</a:t>
            </a:r>
          </a:p>
          <a:p>
            <a:r>
              <a:rPr lang="en-US" sz="1200"/>
              <a:t>3. Pray and send. Ten or fewer: 'We're staying right here — one circle, same order, same rules.'</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4:38–5:11 · CLUSTERS</a:t>
            </a:r>
          </a:p>
          <a:p>
            <a:r>
              <a:rPr lang="en-US" sz="1200"/>
              <a:t>BEATS:</a:t>
            </a:r>
          </a:p>
          <a:p>
            <a:r>
              <a:rPr lang="en-US" sz="1200"/>
              <a:t>1. The Companion opens with ninety seconds of silence, then goes first (3 min) and receives the pre-assigned blessing.</a:t>
            </a:r>
          </a:p>
          <a:p>
            <a:r>
              <a:rPr lang="en-US" sz="1200"/>
              <a:t>2. Parents next, arranged parent opening, within the rails; then the teens at their own depth — pass honored without a flicker. A teen blessing their own parent is one of the best things this night produces.</a:t>
            </a:r>
          </a:p>
          <a:p>
            <a:r>
              <a:rPr lang="en-US" sz="1200"/>
              <a:t>3. Pace: three minutes per person; a three-family cluster runs 2.5 from the start, not discovered at 5:03. Never skip anyone — compress before you cut.</a:t>
            </a:r>
          </a:p>
          <a:p>
            <a:r>
              <a:rPr lang="en-US" sz="1200"/>
              <a:t>4. Close with one to two minutes of held silence.</a:t>
            </a:r>
          </a:p>
          <a:p>
            <a:r>
              <a:rPr lang="en-US" sz="1200"/>
              <a:t>GUARD: Detailed sin disclosure gets the gentle redirect — 'the practice is the place, not the details.' A parent drifting past the rails: 'The rest belongs to the 1:1.' Watch the teens' faces during the parents' turns, not the confessing parent — weight received is a Settle Protocol matter; check in before anyone leaves the building.</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5:11–5:15 · SHARED</a:t>
            </a:r>
          </a:p>
          <a:p>
            <a:r>
              <a:rPr lang="en-US" sz="1200"/>
              <a:t>BEATS:</a:t>
            </a:r>
          </a:p>
          <a:p>
            <a:r>
              <a:rPr lang="en-US" sz="1200"/>
              <a:t>1. Settle the room. One word each on what today was like IN YOUR BODY — 'heavy', 'lighter', 'held', 'tender'; the arranged parent starts.</a:t>
            </a:r>
          </a:p>
          <a:p>
            <a:r>
              <a:rPr lang="en-US" sz="1200"/>
              <a:t>2. Speak the one corporate blessing of restoration over the whole room (script in the plan): real places named, restoration prayed into each, courage carried to Wednesday morning when the place will still be the place.</a:t>
            </a:r>
          </a:p>
          <a:p>
            <a:r>
              <a:rPr lang="en-US" sz="1200"/>
              <a:t>GUARD: Nothing from any cluster is asked for or repeated.</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5:15–5:21 · SHARED</a:t>
            </a:r>
          </a:p>
          <a:p>
            <a:r>
              <a:rPr lang="en-US" sz="1200"/>
              <a:t>BEATS:</a:t>
            </a:r>
          </a:p>
          <a:p>
            <a:r>
              <a:rPr lang="en-US" sz="1200"/>
              <a:t>1. Parent Co-Companion leads. Five-Minute Examen each evening: thank Him for one specific thing; notice one place you saw God moving; ask Him about one place you walked in less honesty than you wanted today.</a:t>
            </a:r>
          </a:p>
          <a:p>
            <a:r>
              <a:rPr lang="en-US" sz="1200"/>
              <a:t>2. No fixing — just notice; the Spirit does the work. Carried through the quarter break.</a:t>
            </a:r>
          </a:p>
          <a:p>
            <a:r>
              <a:rPr lang="en-US" sz="1200"/>
              <a:t>3. Quarterly Pulse (H6.3) goes home today: three questions, five minutes, signed or anonymous — back in the bin at the Week 7 door.</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5:15–5:21 · SHARED</a:t>
            </a:r>
          </a:p>
          <a:p>
            <a:r>
              <a:rPr lang="en-US" sz="1200"/>
              <a:t>BEATS:</a:t>
            </a:r>
          </a:p>
          <a:p>
            <a:r>
              <a:rPr lang="en-US" sz="1200"/>
              <a:t>1. Check-off card (H6.4): morning question, evening note, nightly Examen; one-time box for the Pulse.</a:t>
            </a:r>
          </a:p>
          <a:p>
            <a:r>
              <a:rPr lang="en-US" sz="1200"/>
              <a:t>2. 'Filled or half-filled, bring yourself back when we gather again.'</a:t>
            </a:r>
          </a:p>
          <a:p>
            <a:r>
              <a:rPr lang="en-US" sz="1200"/>
              <a:t>CUES: Rides inside the practice block — make sure every family leaves with a Pulse page.</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5:15–5:21 · SHARED</a:t>
            </a:r>
          </a:p>
          <a:p>
            <a:r>
              <a:rPr lang="en-US" sz="1200"/>
              <a:t>BEATS:</a:t>
            </a:r>
          </a:p>
          <a:p>
            <a:r>
              <a:rPr lang="en-US" sz="1200"/>
              <a:t>1. After the Examen and the Pulse: 'three questions go home tonight — no paper, no deadline, nothing to prepare.' Frame it as the round the room already knows, grown one size: the leader's questions, asked of all of us.</a:t>
            </a:r>
          </a:p>
          <a:p>
            <a:r>
              <a:rPr lang="en-US" sz="1200"/>
              <a:t>2. Read the three slowly. Then the runway for the quiet ones: 'some of you think best in the quiet — that's why they go home two weeks early.'</a:t>
            </a:r>
          </a:p>
          <a:p>
            <a:r>
              <a:rPr lang="en-US" sz="1200"/>
              <a:t>GUARD: the group, never any one person — said warmly, once. An offer, never an assignment; the journal's Week 6 page carries the questions for anyone who wants to write toward them.</a:t>
            </a:r>
          </a:p>
          <a:p>
            <a:r>
              <a:rPr lang="en-US" sz="1200"/>
              <a:t>ADVANCE CUE: after 'first night back, we talk.'</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5:21–5:24 · SHARED</a:t>
            </a:r>
          </a:p>
          <a:p>
            <a:r>
              <a:rPr lang="en-US" sz="1200"/>
              <a:t>BEATS:</a:t>
            </a:r>
          </a:p>
          <a:p>
            <a:r>
              <a:rPr lang="en-US" sz="1200"/>
              <a:t>1. Your three things first; then the room's two questions; receive without defending — 'thank you.'</a:t>
            </a:r>
          </a:p>
          <a:p>
            <a:r>
              <a:rPr lang="en-US" sz="1200"/>
              <a:t>2. On a night this heavy, read the room — a quiet, brief running usually lands better than skipping: the leader asking 'what would you do differently?' minutes after everyone confessed is the same muscle the room just practiced.</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5:24–5:30 · SHARED</a:t>
            </a:r>
          </a:p>
          <a:p>
            <a:r>
              <a:rPr lang="en-US" sz="1200"/>
              <a:t>BEATS:</a:t>
            </a:r>
          </a:p>
          <a:p>
            <a:r>
              <a:rPr lang="en-US" sz="1200"/>
              <a:t>1. 'Today's container is heavier than usual. We hold it tighter than usual.' Nothing leaves the cluster.</a:t>
            </a:r>
          </a:p>
          <a:p>
            <a:r>
              <a:rPr lang="en-US" sz="1200"/>
              <a:t>2. Name the follow-up door: email, text, knock — the team is here.</a:t>
            </a:r>
          </a:p>
          <a:p>
            <a:r>
              <a:rPr lang="en-US" sz="1200"/>
              <a:t>3. Aaronic blessing. 'Go gently. Today closes the quarter — carry the Examen through the break; bring the Pulse back to the Week 7 door.'</a:t>
            </a:r>
          </a:p>
          <a:p>
            <a:r>
              <a:rPr lang="en-US" sz="1200"/>
              <a:t>CUES: Do not pack up — stay accessible at least ten minutes; this night produces door conversations more than any other.</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QUARTER 2 · pre-session · DIVIDER</a:t>
            </a:r>
          </a:p>
          <a:p>
            <a:r>
              <a:rPr lang="en-US" sz="1200"/>
              <a:t>On screen as families arrive for the quarter's first Wednesday. Greet at the door — the slide holds the room.</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pre-session · DIVIDER</a:t>
            </a:r>
          </a:p>
          <a:p>
            <a:r>
              <a:rPr lang="en-US" sz="1200"/>
              <a:t>On screen as families arrive. Greet at the door — the slide holds the room.</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4:15–4:21 · SHARED</a:t>
            </a:r>
          </a:p>
          <a:p>
            <a:r>
              <a:rPr lang="en-US" sz="1200"/>
              <a:t>BEATS: 1. This is John's personal eye-test story — his own testimony of learning to hear God, framing today's turn from Self and Others toward God. 2. Keep it to about one minute; the story serves the practice, not the reverse. 3. Land it and move to Today's Road.</a:t>
            </a:r>
          </a:p>
          <a:p>
            <a:r>
              <a:rPr lang="en-US" sz="1200"/>
              <a:t>SUB: Never perform someone else's testimony. Tell your own hearing-growth story in one minute — or skip straight to the pull-quote on the slide, read it, and move.</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4:15–4:21 · SHARED</a:t>
            </a:r>
          </a:p>
          <a:p>
            <a:r>
              <a:rPr lang="en-US" sz="1200"/>
              <a:t>BEATS: 1. Walk the road briefly: re-entry check-in, Romans 10:17, PROAPT walked together, then family pairs and the Tell step. 2. Frame the turn: six weeks of Self and Others behind us; today the channel goes vertical — hearing God in scripture. 3. Name it now: PROAPT is a hearing practice, not a Bible study technique.</a:t>
            </a:r>
          </a:p>
          <a:p>
            <a:r>
              <a:rPr lang="en-US" sz="1200"/>
              <a:t>CUES: First night back after the quarter break — Pulse 1 returns go in the bin at the door.</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4:15–4:21 · SHARED</a:t>
            </a:r>
          </a:p>
          <a:p>
            <a:r>
              <a:rPr lang="en-US" sz="1200"/>
              <a:t>BEATS: 1. Aaronic blessing first. 2. Container restated SLOWLY — Safe, Present, Clear, Intentional; a container that sat empty over a break needs a minute to hold again. 3. Frame Week 7 as a turn: the interior work prepared us; today hearing God becomes a learnable skill — six steps, a practice that works.</a:t>
            </a:r>
          </a:p>
          <a:p>
            <a:r>
              <a:rPr lang="en-US" sz="1200"/>
              <a:t>CUES: Run the re-entry gently; let the room land before moving on.</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4:21–4:31 · SHARED</a:t>
            </a:r>
          </a:p>
          <a:p>
            <a:r>
              <a:rPr lang="en-US" sz="1200"/>
              <a:t>BEATS: 1. Ninety seconds each: one sentence on the Examen, how the break treated the practice, or anything shifted. 2. Say it: 'thinned out over the break' is a completely normal answer — the practice picks up where you are. 3. Take 2–3 contributions, then move. 4. Open door: anyone still carrying Week 6, find a Companion before leaving today.</a:t>
            </a:r>
          </a:p>
          <a:p>
            <a:r>
              <a:rPr lang="en-US" sz="1200"/>
              <a:t>CUES: Arranged parent opens (check the Run Card) — never cold-call a teen; pass-anytime holds.</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4:21–4:31 · SHARED</a:t>
            </a:r>
          </a:p>
          <a:p>
            <a:r>
              <a:rPr lang="en-US" sz="1200"/>
              <a:t>BEATS:</a:t>
            </a:r>
          </a:p>
          <a:p>
            <a:r>
              <a:rPr lang="en-US" sz="1200"/>
              <a:t>1. After the break check-in: 'the three questions that went home two weeks ago — let's apply the process we use for the leader reflection to ourselves, as a group.' One rule, warmly: the group, never any one person.</a:t>
            </a:r>
          </a:p>
          <a:p>
            <a:r>
              <a:rPr lang="en-US" sz="1200"/>
              <a:t>2. The leader answers FIRST — all three, briefly, a story or moment attached to each. Modeling that answers come with what you saw is the whole teaching.</a:t>
            </a:r>
          </a:p>
          <a:p>
            <a:r>
              <a:rPr lang="en-US" sz="1200"/>
              <a:t>3. The room answers, any question, any order; the Co-Companion scribes keep · change · tell for tonight's debrief sheet. Thursday's Call maps their answers to the three signs — the team's side of the paper, never the room's.</a:t>
            </a:r>
          </a:p>
          <a:p>
            <a:r>
              <a:rPr lang="en-US" sz="1200"/>
              <a:t>CUES: a bare verdict → 'say more — what did that look like?' · drifts toward a person → 'the group, never any one person — if something needs a name, bring it to one of us after.'</a:t>
            </a:r>
          </a:p>
          <a:p>
            <a:r>
              <a:rPr lang="en-US" sz="1200"/>
              <a:t>POCKET (only if a gap matters): 'when hard things landed this quarter, how did we do?' · 'what would a brand-new family feel in their first ten minutes with us?'</a:t>
            </a:r>
          </a:p>
          <a:p>
            <a:r>
              <a:rPr lang="en-US" sz="1200"/>
              <a:t>GUARD: receive everything without correcting — glowing or grim, it is data, not a draft the team edits. Close: 'a group that knows what it has can choose to keep it.'</a:t>
            </a:r>
          </a:p>
          <a:p>
            <a:r>
              <a:rPr lang="en-US" sz="1200"/>
              <a:t>SUB: the answers modeled first are the leader's own — a substitute answers honestly for themselves.</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4:31–4:37 · SHARED</a:t>
            </a:r>
          </a:p>
          <a:p>
            <a:r>
              <a:rPr lang="en-US" sz="1200"/>
              <a:t>BEATS: 1. Read Romans 10:17 aloud, slow. 2. Teach the chain: Word, Hearing, Faith — faith is the fruit of a practice, not of trying harder. 3. John 10:27 — the sheep hear because they are His; the quiet road is still open, any Wednesday, any Companion. 4. Hearing is a skill; write PROAPT on the board: Pray, Read, Observe, Apply, Pray again, Tell. 5. Preview: whole room works Mark 1:14–20 together, then family pairs work the same passage.</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4:37–4:47 · SHARED</a:t>
            </a:r>
          </a:p>
          <a:p>
            <a:r>
              <a:rPr lang="en-US" sz="1200"/>
              <a:t>BEATS: 1. The most important teaching block of the night — walk all six steps on Mark 1:14–20, everyone on handout H7.2. 2. PRAY 90s (silence, then invite the Spirit aloud). READ 90s. OBSERVE 3 min — data first, then what surprises; take 3–4 shares, receive without evaluating. 3. APPLY 3 min — for YOU, today, specifically; 2–3 shares. 4. PRAY AGAIN 90s silence. TELL 60s — happens in the clusters later. 5. Hold the silences; do not rush.</a:t>
            </a:r>
          </a:p>
          <a:p>
            <a:r>
              <a:rPr lang="en-US" sz="1200"/>
              <a:t>CUES: If an Apply goes vague or grand, push gently for one specific concrete application.</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4:47–4:48 · TRANSITION</a:t>
            </a:r>
          </a:p>
          <a:p>
            <a:r>
              <a:rPr lang="en-US" sz="1200"/>
              <a:t>BEATS: 1. Explain the pair shape: parent with your own teen by default; one Reader, one Listener; switch at twelve minutes. 2. Name it: pairing inside your own family is the design working, not the consolation prize. 3. Pray and send.</a:t>
            </a:r>
          </a:p>
          <a:p>
            <a:r>
              <a:rPr lang="en-US" sz="1200"/>
              <a:t>CUES: Cluster Companions settle odd numbers across families. If the room is about ten or fewer, skip the clustering — one circle, pair up in place.</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4:48–5:13 · PAIRS</a:t>
            </a:r>
          </a:p>
          <a:p>
            <a:r>
              <a:rPr lang="en-US" sz="1200"/>
              <a:t>BEATS: 1. First pass 12 min: Reader leads the six steps, Listener works alongside without interrupting; Reader's Tell goes to the Listener, one sentence. 2. Switch roles; second pass 12 min, same or new passage. 3. Companions float: stuck on Observe — 'one word or phrase that caught you'; stuck on Apply — 'one specific situation right now'; rushing — 'the Spirit isn't in a hurry'; finished early — another passage, get reps.</a:t>
            </a:r>
          </a:p>
          <a:p>
            <a:r>
              <a:rPr lang="en-US" sz="1200"/>
              <a:t>CUES: If something heavy surfaces, honor it briefly and follow up after the close — do not process it in the pair.</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5:13–5:19 · CLUSTERS</a:t>
            </a:r>
          </a:p>
          <a:p>
            <a:r>
              <a:rPr lang="en-US" sz="1200"/>
              <a:t>BEATS: 1. Re-form clusters out of pairs. 2. Each person tells ONE specific thing they heard today — one sentence, witnessed. 3. Receive each with 'We hear that' or 'Thank you for naming that' — no preaching, no interpreting. 4. Close the cluster: what we heard is given to be walked out this week.</a:t>
            </a:r>
          </a:p>
          <a:p>
            <a:r>
              <a:rPr lang="en-US" sz="1200"/>
              <a:t>CUES: Arranged parent opens the round (check the Run Card) — never cold-call a teen; teens choose their own depth; pass-anytime holds.</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5:19–5:21 · SHARED</a:t>
            </a:r>
          </a:p>
          <a:p>
            <a:r>
              <a:rPr lang="en-US" sz="1200"/>
              <a:t>BEATS: 1. One word each — not what you heard (that is yours), but what the practice was like. 2. Introduce daily PROAPT: one short passage, five to ten minutes, every day — the journal Week 7 pages have the template. 3. Hold up H7.3: passage paths for teens and parents. 4. 'The chain only works if we work it.'</a:t>
            </a:r>
          </a:p>
          <a:p>
            <a:r>
              <a:rPr lang="en-US" sz="1200"/>
              <a:t>CUES: Arranged parent begins the word round; anyone may pass.</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5:19–5:21 · SHARED</a:t>
            </a:r>
          </a:p>
          <a:p>
            <a:r>
              <a:rPr lang="en-US" sz="1200"/>
              <a:t>BEATS: 1. Send the check-off card home — fridge, mirror, journal pocket. 2. Four rows this week: daily PROAPT (the new anchor practice), morning question, evening note, Five-Minute Examen. 3. A missed box is never a failure — it is an invitation to return. 4. Ask each person to name a specific time of day for their PROAPT aloud — the spoken commitment makes the practice happen.</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5:21–5:24 · SHARED</a:t>
            </a:r>
          </a:p>
          <a:p>
            <a:r>
              <a:rPr lang="en-US" sz="1200"/>
              <a:t>BEATS: 1. Same round every week, leader first: what went well today; what I'd do differently; what I'd tell someone teaching this process. 2. Then the room, same two questions — two or three voices is plenty. 3. Receive without defending — 'thank you' is the whole response.</a:t>
            </a:r>
          </a:p>
          <a:p>
            <a:r>
              <a:rPr lang="en-US" sz="1200"/>
              <a:t>CUES: May be dropped if the room's energy needs something else; dropping it twice running goes to the team debrief.</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5:24–5:30 · SHARED</a:t>
            </a:r>
          </a:p>
          <a:p>
            <a:r>
              <a:rPr lang="en-US" sz="1200"/>
              <a:t>BEATS: 1. Bridge the weeks: last week we named hard places, today we practiced hearing — both are real, both are how the Father walks us home; the place named last week is the place PROAPT will keep speaking into. 2. Aaronic blessing, hands up. 3. Send: 'PROAPT one passage tomorrow. See you Wednesday.'</a:t>
            </a:r>
          </a:p>
          <a:p>
            <a:r>
              <a:rPr lang="en-US" sz="1200"/>
              <a:t>CUES: Stay accessible after the close for anyone still carrying Week 6.</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pre-session · DIVIDER</a:t>
            </a:r>
          </a:p>
          <a:p>
            <a:r>
              <a:rPr lang="en-US" sz="1200"/>
              <a:t>On screen as families arrive.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4:15–4:22 · SHARED</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4:15–4:22 · SHARED</a:t>
            </a:r>
          </a:p>
          <a:p>
            <a:r>
              <a:rPr lang="en-US" sz="1200"/>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rPr lang="en-US" sz="1200"/>
              <a:t>CUES: Adults sit back from the senior's first word. A ten-second stumble the senior recovers from is worth more than a smooth block an adult saved.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4:22–4:26 · SHARED</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4:26–4:29 · SHARED</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4:29–4:43 · SHARED</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clusters).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4:43–4:44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Cluster Companions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4:44–5:12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5:12–5:18 · CLUSTERS</a:t>
            </a:r>
          </a:p>
          <a:p>
            <a:r>
              <a:rPr lang="en-US" sz="1200"/>
              <a:t>BEATS: 1. Back into clusters. One specific thing you heard today, one sentence — second time in the cluster,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5:18–5:21 · SHARED</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5:18–5:21 · SHARED</a:t>
            </a:r>
          </a:p>
          <a:p>
            <a:r>
              <a:rPr lang="en-US" sz="1200"/>
              <a:t>BEATS: 1. Check-off card home: daily PROAPT, morning question, evening note, Five-Minute Examen. 2. A missed box is an invitation to return, never a failure. 3. Keep this brief — the card explains itself; today's message was the senior's lead.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5:21–5:25 · SHARED</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5:25–5:30 · SHARED</a:t>
            </a:r>
          </a:p>
          <a:p>
            <a:r>
              <a:rPr lang="en-US" sz="1200"/>
              <a:t>BEATS: 1. The senior closes: seven weeks ago none of us had done this; next Wednesday we go deeper, into the Garden — today's skill of hearing Him is what the Garden depends on. 2. 'Keep the daily practice alive this week. It's the hinge.' 3. Aaronic blessing, spoken by the senior — its own quiet milestone. 4. 'PROAPT one passage tomorrow. See you Wednesday.'</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pre-session · DIVIDER</a:t>
            </a:r>
          </a:p>
          <a:p>
            <a:r>
              <a:rPr lang="en-US" sz="1200"/>
              <a:t>On screen as families arrive. Greet at the door — the slide holds the room.</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4:15–4:22 · SHARED</a:t>
            </a:r>
          </a:p>
          <a:p>
            <a:r>
              <a:rPr lang="en-US" sz="1200"/>
              <a:t>BEATS: 1. Today is the quietest deep work of the series: the Garden of Your Heart — a guided imaginative prayer with the whole room, then sharing in clusters by invitation only. 2. Frame gently and do not over-explain — of all the sessions, this one has produced the most lasting fruit. 3. Nothing is required today — not even doing the exercise.</a:t>
            </a:r>
          </a:p>
          <a:p>
            <a:r>
              <a:rPr lang="en-US" sz="1200"/>
              <a:t>CUES: Arrival runs quieter than usual; match the tone from the door.</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4:15–4:22 · SHARED</a:t>
            </a:r>
          </a:p>
          <a:p>
            <a:r>
              <a:rPr lang="en-US" sz="1200"/>
              <a:t>BEATS: 1. 'Welcome back. Find a seat.' Wait — take a longer breath than usual before the blessing. 2. Aaronic blessing. 3. Frame: today is quiet, mostly interior; deeply familiar for some, brand new for others — both are fine. 4. Container: what is said here stays here; nothing is required; listen to receive.</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4:22–4:27 · SHARED</a:t>
            </a:r>
          </a:p>
          <a:p>
            <a:r>
              <a:rPr lang="en-US" sz="1200"/>
              <a:t>BEATS: 1. One sentence each on how the daily PROAPT practice has been. 2. Take 2–3 voluntary contributions and keep it brief — today's arc needs the time later.</a:t>
            </a:r>
          </a:p>
          <a:p>
            <a:r>
              <a:rPr lang="en-US" sz="1200"/>
              <a:t>CUES: Arranged parent opens (check the Run Card) — never cold-call a teen; pass-anytime holds.</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4:27–4:41 · SHARED</a:t>
            </a:r>
          </a:p>
          <a:p>
            <a:r>
              <a:rPr lang="en-US" sz="1200"/>
              <a:t>BEATS: 1. Read Psalm 23 and John 15:1–11 slowly — 'listen as if you have not heard it.' 2. Teach: scripture pictures the heart as cultivated ground; today we walk into that image and invite Jesus in to walk it with us. 3. Name the lineage — imaginative prayer: Ignatius, Bonaventure, the Puritans — and the two nots: not visualization-as-self-help, not emptying the mind. 4. 'Vivid experience or nothing at all — both fine. The turning toward Him is the practice.' 5. If you sense resistance, read the skepticism paragraph — the frame IS the work; do not skip it.</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4:41–4:43 · TRANSITION</a:t>
            </a:r>
          </a:p>
          <a:p>
            <a:r>
              <a:rPr lang="en-US" sz="1200"/>
              <a:t>BEATS: 1. Preview the shape: guided prayer 12–15 min, whole room, eyes open or closed, your own family beside you; then 5 min silent journaling; then family clusters for sharing by invitation only — silence is a complete answer. 2. Room about ten or fewer: name it now — sharing happens right in this circle, no moving. 3. Pray the bridge prayer: where it is hard, be tender; where it is closed, be patient; where it is opening, be present.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4:43–5:13 · SHARED</a:t>
            </a:r>
          </a:p>
          <a:p>
            <a:r>
              <a:rPr lang="en-US" sz="1200"/>
              <a:t>BEATS: 1. Settle 2 min. Guided prayer 12–15 min: read H9.1 slowly — two words per second, not three; every (pause) is a full 30 seconds, every (longer pause) 60. The pauses are where the work happens. 2. Silent journaling 5 min. 3. Then clusters for sharing by invitation, 8–10 min: the Companion models two plain sentences first, the arranged parent opens — receive without interpreting; never 'God was telling you...'.</a:t>
            </a:r>
          </a:p>
          <a:p>
            <a:r>
              <a:rPr lang="en-US" sz="1200"/>
              <a:t>CUES: Soft tears — do not stop; the tears are often the work. Never cold-call a teen; pass-anytime holds.</a:t>
            </a:r>
          </a:p>
          <a:p>
            <a:r>
              <a:rPr lang="en-US" sz="1200"/>
              <a:t>GUARD: If overwhelm goes past quiet reassurance, run the Settle Protocol — stop for THEM, not for the circle: plain directive words, back to the room, breathe and anchor, no return to the exercise today; nobody leaves activated.</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5:13–5:18 · SHARED</a:t>
            </a:r>
          </a:p>
          <a:p>
            <a:r>
              <a:rPr lang="en-US" sz="1200"/>
              <a:t>BEATS: 1. The room will be quieter than usual — honor it; wait before speaking. 2. What happened in the clusters stays there; ask only one word about today — 'surprised', 'tender', 'empty', 'found', 'quiet'. 3. Receive each word with eye contact and a slight nod; say nothing else. 4. Close: whatever happened today is yours; some of it will quietly do its work for a long time.</a:t>
            </a:r>
          </a:p>
          <a:p>
            <a:r>
              <a:rPr lang="en-US" sz="1200"/>
              <a:t>CUES: Arranged parent begins; anyone may pass.</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5:18–5:21 · SHARED</a:t>
            </a:r>
          </a:p>
          <a:p>
            <a:r>
              <a:rPr lang="en-US" sz="1200"/>
              <a:t>BEATS: 1. Co-Companion (Parent) leads. Three brief returns to the garden this week, 5–10 min each — no script needed, you have the place now; journal each visit (H9.2). 2. Gentle warning: a return can surface something heavy — you can stop, open your eyes, come back another day; and tell a trusted adult. You are not meant to carry the heavy things alone. 3. For the uneasy: H9.3, the Note for the Skeptic — adapting the practice or sitting it out is honored.</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5:18–5:21 · SHARED</a:t>
            </a:r>
          </a:p>
          <a:p>
            <a:r>
              <a:rPr lang="en-US" sz="1200"/>
              <a:t>BEATS: 1. Card home: morning question, evening note, daily PROAPT — plus three garden returns as one-time checks. 2. Be honest with the room: this is the most demanding between-session week of the series. Two visits is fine. One is fine. The practice is the turning toward, not the metric.</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5:21–5:25 · SHARED</a:t>
            </a:r>
          </a:p>
          <a:p>
            <a:r>
              <a:rPr lang="en-US" sz="1200"/>
              <a:t>BEATS: 1. Same round: leader's three answers first, then the room's two questions; 'thank you' is the whole response. 2. Today is the likeliest night of the series to DROP the round: if the room is still deep in the garden's quiet, five minutes of process talk can break what the Spirit is holding. Drop it, and say so at the debrief.</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5:25–5:30 · SHARED</a:t>
            </a:r>
          </a:p>
          <a:p>
            <a:r>
              <a:rPr lang="en-US" sz="1200"/>
              <a:t>BEATS: 1. 'What happened in your cluster is yours. Carry it gently — don't debrief it on the way home unless your heart is fully ready.' 2. If something heavy surfaced, reach out — the team is walking with you. 3. Aaronic blessing; see you Wednesday.</a:t>
            </a:r>
          </a:p>
          <a:p>
            <a:r>
              <a:rPr lang="en-US" sz="1200"/>
              <a:t>CUES: Stay accessible for fifteen minutes after the close — today more than most, people will want to talk; the two-adult rule holds for any teen.</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pre-session · DIVIDER</a:t>
            </a:r>
          </a:p>
          <a:p>
            <a:r>
              <a:rPr lang="en-US" sz="1200"/>
              <a:t>On screen as families arrive. Greet at the door — the slide holds the room.</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4:15–4:22 · SHARED</a:t>
            </a:r>
          </a:p>
          <a:p>
            <a:r>
              <a:rPr lang="en-US" sz="1200"/>
              <a:t>BEATS: 1. Second garden run: nothing new is taught — today completes what Week 9 began, and a senior reads the walk-through for the whole room. 2. The bright line on display: the teen leads the scripted walk-through; the adults hold the sharing and anything that surfaces. 3. The first visit finds the garden; the second visit begins the tending.</a:t>
            </a:r>
          </a:p>
          <a:p>
            <a:r>
              <a:rPr lang="en-US" sz="1200"/>
              <a:t>CUES: Pre-session check-ins with anyone whose Week 9 garden was dark or empty — going back in is optional; sitting and praying instead is fully honored, no explanation owed.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4:15–4:22 · SHARED</a:t>
            </a:r>
          </a:p>
          <a:p>
            <a:r>
              <a:rPr lang="en-US" sz="1200"/>
              <a:t>BEATS: 1. Open even quieter than Week 9 — lights low if the room allows. Aaronic blessing. 2. Frame the second run: not a rerun — deeper. 3. Name the senior once, warmly, and move on: 'the words are the same words; they will read from the card, slowly, the same way I did.' No build-up — a spotlight distorts what the slot is meant to form. 4. Container unchanged: cluster talk stays in the cluster; nothing required — not even the exercise.</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4:22–4:27 · SHARED</a:t>
            </a:r>
          </a:p>
          <a:p>
            <a:r>
              <a:rPr lang="en-US" sz="1200"/>
              <a:t>BEATS: 1. One sentence on how the going was this week — not what happened in the garden. 'I meant to and didn't' counts. 2. Receive each identically. 3. Land the line if comparison language surfaced: there is no junior varsity garden — Jesus meets each person in the garden they actually have, and the backyard He walks into is holy ground.</a:t>
            </a:r>
          </a:p>
          <a:p>
            <a:r>
              <a:rPr lang="en-US" sz="1200"/>
              <a:t>CUES: Arranged parent offers the first sentence (check the Run Card) — never cold-call a teen; pass-anytime holds.</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4:27–4:35 · SHARED</a:t>
            </a:r>
          </a:p>
          <a:p>
            <a:r>
              <a:rPr lang="en-US" sz="1200"/>
              <a:t>BEATS: 1. Re-read Psalm 23 and John 15:1–11, slowly — same anchors on purpose; the room hears them differently now. 2. Keep the framing SHORT — the theology was laid last week. 3. The second-visit frame: the garden is a living place; going back changes things. 4. The open door, said clearly: anyone whose garden was hard may sit with eyes open and simply pray while the others walk — a faithful way to spend the half hour; nobody will ask why. 5. Today the guide talks less and the silences run longer — on purpose. You know the way now.</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4:35–4:37 · TRANSITION</a:t>
            </a:r>
          </a:p>
          <a:p>
            <a:r>
              <a:rPr lang="en-US" sz="1200"/>
              <a:t>BEATS: 1. Same shape as last week: walk-through 12–15 min, all together in this room, longer quiet than last time; then journaling; then clusters for sharing by invitation — silence is a complete answer. 2. Pray: 'Tend what You want to tend.' 3. No move yet — the room stays as one circle for the walk-through; the clusters come after the journaling.</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4:37–5:10 · SHARED</a:t>
            </a:r>
          </a:p>
          <a:p>
            <a:r>
              <a:rPr lang="en-US" sz="1200"/>
              <a:t>BEATS: 1. Settle 2 min, then the senior reads the walk-through from H10.1 — two words per second; (pause) = 30 full seconds, (longer pause) = 60, longer than Week 9 on purpose. Reading from the card IS the design. 2. Mid-read distress: the senior keeps reading, same pace, same volume; the pre-named adult moves to the person. Neither covers for the other. 3. The visible handoff when it ends: senior — '[Name], the room is yours.' Adult — 'Thank you. That was well led.' From there the adults carry everything. 4. Journaling 5 min, then clusters: arranged parent opens; receive without interpreting.</a:t>
            </a:r>
          </a:p>
          <a:p>
            <a:r>
              <a:rPr lang="en-US" sz="1200"/>
              <a:t>GUARD: Settle Protocol if overwhelm exceeds the two-role hold — stop for them, not the circle; no return to the exercise today. The senior never takes a disclosure, even a fragment — hand it to the adult immediately.</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5:10–5:16 · SHARED</a:t>
            </a:r>
          </a:p>
          <a:p>
            <a:r>
              <a:rPr lang="en-US" sz="1200"/>
              <a:t>BEATS: 1. Quieter than last week — honor it; wait. 2. One word each, optional: 'deeper', 'same', 'tender', 'harder', 'found'. Receive with eye contact and a slight nod; say nothing else. 3. Close: a garden visited twice is a garden being tended — whatever He is doing in yours, He will keep doing this week.</a:t>
            </a:r>
          </a:p>
          <a:p>
            <a:r>
              <a:rPr lang="en-US" sz="1200"/>
              <a:t>CUES: Arranged parent offers the first word; pass-anytime holds.</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5:16–5:19 · SHARED</a:t>
            </a:r>
          </a:p>
          <a:p>
            <a:r>
              <a:rPr lang="en-US" sz="1200"/>
              <a:t>BEATS: 1. Co-Companion (Parent) leads. Two garden returns this week, 5–10 min each — the load drops from three on purpose; a rhythm that survives beats a sprint that impresses. 2. Journal each visit, even two sentences — the garden speaks slowly; the journal is how you hear it across weeks. 3. Same gentle word: if a return surfaces something heavy, stop, and tell a trusted adult. Fresh Garden Journal pages at the door.</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5:16–5:19 · SHARED</a:t>
            </a:r>
          </a:p>
          <a:p>
            <a:r>
              <a:rPr lang="en-US" sz="1200"/>
              <a:t>BEATS: 1. Card home: morning question, evening note, daily PROAPT, plus two garden-return checks. 2. A missed box is an invitation to return, never a failure. 3. Keep this brief — the room is full; do not try to empty it with more words.</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5:19–5:23 · SHARED</a:t>
            </a:r>
          </a:p>
          <a:p>
            <a:r>
              <a:rPr lang="en-US" sz="1200"/>
              <a:t>BEATS: 1. Merged round — a teen led the deepest practice: the senior answers first, the adult second, the room by consent, covering both. 2. For a first-time guide, pace and the held silences are the honest headline; ONE thing to try differently — one, not a list. 3. If the debrief ran heavy — something still visibly in the room — DROP the round entirely; it moves to the team debrief, and the senior is told why in these words: protecting the room came first today. That sentence is the lesson, not a consolation. The blessing still closes either way.</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5:23–5:30 · SHARED</a:t>
            </a:r>
          </a:p>
          <a:p>
            <a:r>
              <a:rPr lang="en-US" sz="1200"/>
              <a:t>BEATS: 1. What happened in your cluster is yours; carry it gently — no car-ride debrief unless the heart is fully ready. 2. If something heavy surfaced, reach out — the team is walking with you. 3. Aaronic blessing, hands up.</a:t>
            </a:r>
          </a:p>
          <a:p>
            <a:r>
              <a:rPr lang="en-US" sz="1200"/>
              <a:t>CUES: Stay accessible fifteen minutes after; two-adult rule for any teen. Afterward, a brief specific word of thanks to the senior, separate from the feedback round — leading deep water for the first time costs something; name that it was seen.</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pre-session · DIVIDER</a:t>
            </a:r>
          </a:p>
          <a:p>
            <a:r>
              <a:rPr lang="en-US" sz="1200"/>
              <a:t>On screen as families arrive.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4:15–4:22 · SHARED</a:t>
            </a:r>
          </a:p>
          <a:p>
            <a:r>
              <a:rPr lang="en-US" sz="1200"/>
              <a:t>BEATS: 1. Week 11 — last gathering of the quarter and the exact midpoint of the year: eleven Wednesdays behind, eleven ahead.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4:15–4:22 · SHARED</a:t>
            </a:r>
          </a:p>
          <a:p>
            <a:r>
              <a:rPr lang="en-US" sz="1200"/>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4:22–4:27 · SHARED</a:t>
            </a:r>
          </a:p>
          <a:p>
            <a:r>
              <a:rPr lang="en-US" sz="1200"/>
              <a:t>BEATS: 1. One sentence on the garden returns — how it went, what surfaced, or that you didn't get to it. 2. Take 2–3 voluntary contributions; receive without commentary. 3. Move on with: 'Good. The garden is still there. You can return any time. We continue.'</a:t>
            </a:r>
          </a:p>
          <a:p>
            <a:r>
              <a:rPr lang="en-US" sz="1200"/>
              <a:t>CUES: Arranged parent opens (check the Run Card) —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4:27–4:35 · SHARED</a:t>
            </a:r>
          </a:p>
          <a:p>
            <a:r>
              <a:rPr lang="en-US" sz="1200"/>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4:35–4:43 · SHARED</a:t>
            </a:r>
          </a:p>
          <a:p>
            <a:r>
              <a:rPr lang="en-US" sz="1200"/>
              <a:t>BEATS: 1. Callback, 30s: journals open to the first-night question — naming a doubt takes the same courage. 2. The seat for the skeptic, named ALOUD: a doubt bigger than today's list is welcome and has its own standing door — any Companion, any week, for as long as it takes. 3. Whiteboard walk: NAME (specific, not abstract) / EXAGGERATE (expose the brake, not endorse it) / SIT (feel it, 10–15s) / RE-READ (the Spirit works; you notice). 4. Demo with a Co-Companion, 3 min — real scripture, real small doubt; do NOT resolve it at the end. The pairs calibrate everything against this demo.</a:t>
            </a:r>
          </a:p>
          <a:p>
            <a:r>
              <a:rPr lang="en-US" sz="1200"/>
              <a:t>CUES: Keep the demo brief — do not let teaching eat the pair time.</a:t>
            </a:r>
          </a:p>
          <a:p>
            <a:r>
              <a:rPr lang="en-US" sz="1200"/>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4:43–4:45 · TRANSITION</a:t>
            </a:r>
          </a:p>
          <a:p>
            <a:r>
              <a:rPr lang="en-US" sz="1200"/>
              <a:t>BEATS: 1. Practice card H11.1 goes with them. Pairs are announced by the Cluster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4:45–5:15 · PAIRS</a:t>
            </a:r>
          </a:p>
          <a:p>
            <a:r>
              <a:rPr lang="en-US" sz="1200"/>
              <a:t>BEATS: 1. Thirty minutes: one full cycle each direction, about 7 min per turn, parent's turn first; partial second cycle if time allows.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rPr lang="en-US" sz="1200"/>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5:15–5:20 · SHARED</a:t>
            </a:r>
          </a:p>
          <a:p>
            <a:r>
              <a:rPr lang="en-US" sz="1200"/>
              <a:t>BEATS: 1. What happened in your pair stays in your pair — not back to the cluster, not around the dinner table, unless the one who named it brings it up first. 2. One word about the practice, not the doubt: 'surprising', 'heavy', 'honest', 'lighter'. Receive with a nod; no commentary. 3. Two closers: this practice takes five minutes alone, for the rest of your life; and the naming is ours — the resolution is the Spirit's work.</a:t>
            </a:r>
          </a:p>
          <a:p>
            <a:r>
              <a:rPr lang="en-US" sz="1200"/>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5:20–5:23 · SHARED</a:t>
            </a:r>
          </a:p>
          <a:p>
            <a:r>
              <a:rPr lang="en-US" sz="1200"/>
              <a:t>BEATS: 1. Personal Doubts Inventory (H11.2): twenty minutes once this week — list 5–10 scriptures you say you believe, rate your honest trust in each, and write one specific sentence on the 2–3 lowest. No shame, just data; nobody ever sees it. 2. Hand out the Quarterly Pulse (H11.4): three questions, five minutes at home, honest — back in the bin at The Return's door in January. 3. 'Body in the room, mind on the mortgage' is exactly the kind of answer the page is for.</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5:20–5:23 · SHARED</a:t>
            </a:r>
          </a:p>
          <a:p>
            <a:r>
              <a:rPr lang="en-US" sz="1200"/>
              <a:t>BEATS: 1. Card home: morning question, evening note, PROAPT (optional, encouraged), plus two one-time checks — the Doubts Inventory and the Pulse. 2. Over the break: keep ONE chosen daily practice alive — just one, their choice. 3. A missed box is an invitation to return, never a failure.</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5:23–5:27 · SHARED</a:t>
            </a:r>
          </a:p>
          <a:p>
            <a:r>
              <a:rPr lang="en-US" sz="1200"/>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5:27–5:30 · SHARED</a:t>
            </a:r>
          </a:p>
          <a:p>
            <a:r>
              <a:rPr lang="en-US" sz="1200"/>
              <a:t>BEATS: 1. What was named in your pair is yours — some doubts quietly resolve, some deepen before they release; both are normal. If anything is heavier than today could hold, reach out. 2. Announce the road: quarter break now; The Return in January; then Week 13 turns outward to Mission, on toward the Rhythm week and the two commissionings. 3. Aaronic blessing. 'Keep one practice alive over the break — just one. See you in January, at The Return. Merry Christmas to every house in this room.'</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QUARTER 3 · pre-session · DIVIDER</a:t>
            </a:r>
          </a:p>
          <a:p>
            <a:r>
              <a:rPr lang="en-US" sz="1200"/>
              <a:t>On screen as families arrive — first Wednesday back after the Christmas break. Today is The Return: the open runs slow on purpose. Greet warmly at the door; nobody owes an explanation for the break.</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pre-session · DIVIDER</a:t>
            </a:r>
          </a:p>
          <a:p>
            <a:r>
              <a:rPr lang="en-US" sz="1200"/>
              <a:t>On screen as families arrive.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4:15–4:26 · SHARED</a:t>
            </a:r>
          </a:p>
          <a:p>
            <a:r>
              <a:rPr lang="en-US" sz="1200"/>
              <a:t>BEATS: 1. First Wednesday back after Christmas — nothing new is taught today; the whole evening rebuilds what the break interrupted. 2. Three movements: 'What held?' in clusters;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4:15–4:26 · SHARED</a:t>
            </a:r>
          </a:p>
          <a:p>
            <a:r>
              <a:rPr lang="en-US" sz="1200"/>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rPr lang="en-US" sz="1200"/>
              <a:t>GUARD: The slow open runs about 12 minutes and IS the session's first teaching — do not rush it back to the usual clip. If the room will not settle, run it slower, not louder; contain the room, don't fight it.</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4:26–4:34 · SHARED</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clusters.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4:34–4:54 · CLUSTERS</a:t>
            </a:r>
          </a:p>
          <a:p>
            <a:r>
              <a:rPr lang="en-US" sz="1200"/>
              <a:t>BEATS: 1. Bridge from the front: a reading, not a report card — every break is a natural test of the practices, not of you. Then split. 2. In clusters,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4:54–5:09 · SHARED</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5:09–5:13 · SHARED</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5:13–5:16 · SHARED</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5:13–5:16 · SHARED</a:t>
            </a:r>
          </a:p>
          <a:p>
            <a:r>
              <a:rPr lang="en-US" sz="1200"/>
              <a:t>BEATS: 1. One row only this week: my one practice, with its when and where. 2. A missed box is never a failure — it is an invitation to return. 3. The rest of the rhythm comes back a piece at a time in the coming weeks.</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5:16–5:30 · SHARED</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Wednesday back is the right night for the room to bless itself. 2. Then the Leader Feedback Round interposes, 5:23–5:27 (next slide). 3. Return here 5:27–5:30: 'His mercies did not run out over the break, and they will not run out over this quarter.' Aaronic blessing, hands up. 'Welcome home. See you Wednesday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5:23–5:27 · SHARED</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pre-session · DIVIDER</a:t>
            </a:r>
          </a:p>
          <a:p>
            <a:r>
              <a:rPr lang="en-US" sz="1200"/>
              <a:t>On screen as families arrive. Greet at the door — the slide holds the room.</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4:15–4:22 · SHARED CIRCLE</a:t>
            </a:r>
          </a:p>
          <a:p>
            <a:r>
              <a:rPr lang="en-US" sz="1200"/>
              <a:t>BEATS: 1. Aaronic blessing first. 2. Container reminder: what is said here stays here; nothing is required. 3. Frame the turn: eleven weeks looked inward and upward — today we turn outward to Mission: what was prepared for us to do, and to be. 4. Walk today's road briefly: teaching, two cluster exercises, merge, practice, blessing.</a:t>
            </a:r>
          </a:p>
          <a:p>
            <a:r>
              <a:rPr lang="en-US" sz="1200"/>
              <a:t>GUARD: Mission is bigger than career — say it early; today is not a what-will-you-do-for-a-living night.</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4:15–4:22 · SHARED CIRCLE</a:t>
            </a:r>
          </a:p>
          <a:p>
            <a:r>
              <a:rPr lang="en-US" sz="1200"/>
              <a:t>BEATS: 1. Run the familiar open, unhurried: blessing; the four conditions — Safe, Present, Clear, Intentional; phones away. 2. Keep the container reminder brief today: what is said here stays here; nothing is required. 3. Settle the room before moving on — settled beats punctual.</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4:22–4:26 · SHARED CIRCLE</a:t>
            </a:r>
          </a:p>
          <a:p>
            <a:r>
              <a:rPr lang="en-US" sz="1200"/>
              <a:t>BEATS: 1. Name the thread: Any Doubts? and the Personal Doubts Inventory carried since the break. 2. Invite one sentence on how it landed — 'I didn't get to it' counts. 3. Take two or three voluntary contributions; receive without commentary.</a:t>
            </a:r>
          </a:p>
          <a:p>
            <a:r>
              <a:rPr lang="en-US" sz="1200"/>
              <a:t>CUES: The arranged parent (Run Card) offers the first sentence — never a cold call on a teen; pass anytime.</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4:26–4:36 · SHARED CIRCLE</a:t>
            </a:r>
          </a:p>
          <a:p>
            <a:r>
              <a:rPr lang="en-US" sz="1200"/>
              <a:t>BEATS: 1. Read Ephesians 2:10 slowly — the works were prepared; our job is to walk in them. 2. Whiteboard both columns: UPHILL = what I do (goal, plan, effort); DOWNHILL = what I am — what the room gets when I am most myself and most aligned with the Spirit. 3. The test: when I am not performing, what do the people around me get to be? 4. End with your OWN downhill answer — 90 seconds, specific, unpolished; the teens calibrate against your honesty. Give the version a spouse would recognize, not the resume.</a:t>
            </a:r>
          </a:p>
          <a:p>
            <a:r>
              <a:rPr lang="en-US" sz="1200"/>
              <a:t>GUARD: Mission is not career — reframe career drift on the spot.</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4:26–4:36 · SHARED</a:t>
            </a:r>
          </a:p>
          <a:p>
            <a:r>
              <a:rPr lang="en-US" sz="1200"/>
              <a:t>SUB: the founder's own diagram — his life drawn as a sailing chart. A substitute may teach it simply from the slide, or let it stand while running the plan's Block 3 script.</a:t>
            </a:r>
          </a:p>
          <a:p>
            <a:r>
              <a:rPr lang="en-US" sz="1200"/>
              <a:t>BEATS:</a:t>
            </a:r>
          </a:p>
          <a:p>
            <a:r>
              <a:rPr lang="en-US" sz="1200"/>
              <a:t>1. After uphill/downhill lands, show the chart: the straight line to God's goal is unsailable — headwinds, direct opposition.</a:t>
            </a:r>
          </a:p>
          <a:p>
            <a:r>
              <a:rPr lang="en-US" sz="1200"/>
              <a:t>2. A sailor gains against a headwind by tacking, leg by leg at forty-five degrees. Each leg IS God's direction — and each is a transformative learning path (Ephesians 2:10: works prepared beforehand, walked into leg by leg).</a:t>
            </a:r>
          </a:p>
          <a:p>
            <a:r>
              <a:rPr lang="en-US" sz="1200"/>
              <a:t>3. The turns are heard, not seen. Stop listening mid-leg and you don't crash — you drift past the turn, competent and off-course.</a:t>
            </a:r>
          </a:p>
          <a:p>
            <a:r>
              <a:rPr lang="en-US" sz="1200"/>
              <a:t>4. The threads: what leg A taught, leg C needed. Nobody sees that forward; everybody sees it looking back. Invite one backward look — name a past leg that trained you for a later one.</a:t>
            </a:r>
          </a:p>
          <a:p>
            <a:r>
              <a:rPr lang="en-US" sz="1200"/>
              <a:t>GUARD: testimony architecture, not a demand for a tidy life-map — some in the room are mid-leg and cannot see any pattern yet; say so.</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4:36–4:37 · SHARED CIRCLE</a:t>
            </a:r>
          </a:p>
          <a:p>
            <a:r>
              <a:rPr lang="en-US" sz="1200"/>
              <a:t>BEATS: 1. Frame the two exercises: Gifts and Passions (~20 min, H13.1), then Downhill Mission (~20 min, H13.2) — each person ends by naming one downhill sentence to the cluster. 2. Pray the sending prayer. 3. Name each cluster's families and its Companion; send them for forty minutes.</a:t>
            </a:r>
          </a:p>
          <a:p>
            <a:r>
              <a:rPr lang="en-US" sz="1200"/>
              <a:t>CUES: A parent opens each sharing round — arranged this week (Run Card), never a cold call on a teen; teens choose their own depth; pass holds. About ten or fewer today? Skip the split — one circle.</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4:37–5:17 · FAMILY CLUSTERS</a:t>
            </a:r>
          </a:p>
          <a:p>
            <a:r>
              <a:rPr lang="en-US" sz="1200"/>
              <a:t>BEATS: 1. Phase 1 — Gifts (~20): ten quiet minutes on H13.1, then 60-second shares; the cluster affirms briefly and specifically. 2. Phase 2 — Downhill (~20): five minutes on H13.2, then 90-second rounds: the person names their answer, the cluster adds what it has actually seen; family speaking to family lands deepest. 3. If time compresses, compress the gifts, never the downhill.</a:t>
            </a:r>
          </a:p>
          <a:p>
            <a:r>
              <a:rPr lang="en-US" sz="1200"/>
              <a:t>CUES: The arranged parent goes first in each round (Run Card); never cold-call a teen; pass anytime.</a:t>
            </a:r>
          </a:p>
          <a:p>
            <a:r>
              <a:rPr lang="en-US" sz="1200"/>
              <a:t>GUARD: Push generic to specific — what does the person you're helping get to be? Witness means concrete moments, not flattery. If grief surfaces ('I haven't been doing this for years'), receive without rushing — it is part of the recognition.</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5:17–5:19 · SHARED CIRCLE</a:t>
            </a:r>
          </a:p>
          <a:p>
            <a:r>
              <a:rPr lang="en-US" sz="1200"/>
              <a:t>BEATS: 1. Ask no one to repeat their downhill answer — what was named in the cluster stays there. 2. One sentence per Cluster Companion: a general observation, no names. 3. One brief observation from you across the room. 4. Land it: today's answer is a working draft — closer to true than the resume version, and it will deepen.</a:t>
            </a:r>
          </a:p>
          <a:p>
            <a:r>
              <a:rPr lang="en-US" sz="1200"/>
              <a:t>GUARD: Five minutes only — this block gave its other five to the feedback round; a sentence each.</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5:19–5:22 · SHARED CIRCLE (Parent Co-Companion leads if present)</a:t>
            </a:r>
          </a:p>
          <a:p>
            <a:r>
              <a:rPr lang="en-US" sz="1200"/>
              <a:t>BEATS: 1. The practice: ONE small action this week aligned with your downhill answer — specific, small, not a campaign; journal what happens (H13.3). 2. The road ahead: Week 15 is the Rhythm night and finishes today's mission work; Week 21 is the family commissioning — bring the whole family, 6:30 start, light food at 6:00, details by email; Week 22 commissions the Companions-in-Formation — come to witness.</a:t>
            </a:r>
          </a:p>
          <a:p>
            <a:r>
              <a:rPr lang="en-US" sz="1200"/>
              <a:t>GUARD: Be explicit and warm about Week 21 — people leave today deciding who to bring. Adjust specifics to the actual closing-weeks plan.</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5:19–5:22 · SHARED CIRCLE</a:t>
            </a:r>
          </a:p>
          <a:p>
            <a:r>
              <a:rPr lang="en-US" sz="1200"/>
              <a:t>BEATS: 1. Point to the check-off card: the morning question and the session journal note, daily, carried forward. 2. One-time boxes: the one small downhill action, and the Doubts Inventory kept alive. 3. Say the card's spirit: a missed box is never failure — it is an invitation to return; filled or half-filled, come back Wednesday.</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5:22–5:26 · SHARED CIRCLE</a:t>
            </a:r>
          </a:p>
          <a:p>
            <a:r>
              <a:rPr lang="en-US" sz="1200"/>
              <a:t>BEATS: 1. The leader's three, same as every week: what went well; what I'd do differently; what I'd tell someone teaching today's process. 2. Then the room, same two questions — two or three voices each is plenty. 3. Receive without defending — 'thank you' is the whole response.</a:t>
            </a:r>
          </a:p>
          <a:p>
            <a:r>
              <a:rPr lang="en-US" sz="1200"/>
              <a:t>CUES: If a teen led today, they answer first, the adult second; the room's feedback covers both. The round may be dropped if the room needs something else — dropping it twice running goes to the team debrief.</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5:26–5:30 · SHARED CIRCLE</a:t>
            </a:r>
          </a:p>
          <a:p>
            <a:r>
              <a:rPr lang="en-US" sz="1200"/>
              <a:t>BEATS: 1. What was named in your cluster is yours — carry it gently; the downhill answer keeps deepening across the week. 2. Open the door for the heavy: shadow-mission recognition or mid-life vocational grief — reach out; the team is walking with you, especially before next Wednesday. 3. Aaronic blessing, hands up if you want; send them warmly.</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pre-session · DIVIDER</a:t>
            </a:r>
          </a:p>
          <a:p>
            <a:r>
              <a:rPr lang="en-US" sz="1200"/>
              <a:t>On screen as families arrive.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4:15–4:22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4:15–4:22 · TEEN-LED</a:t>
            </a:r>
          </a:p>
          <a:p>
            <a:r>
              <a:rPr lang="en-US" sz="1200"/>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rPr lang="en-US" sz="1200"/>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4:22–4:26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4:26–4:28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~5:12–5:19 · TEEN-LED (the merge block)</a:t>
            </a:r>
          </a:p>
          <a:p>
            <a:r>
              <a:rPr lang="en-US" sz="1200"/>
              <a:t>BEATS: 1. The daily rhythm continues: the morning question, the session note, PROAPT one short passage. 2. Option 1 nights: the Tell you gave your cluster, said once more at your own table this week. Option 2 nights: the family deck comes off the shelf once — one card, ten minutes; the car works, the table works. 3. A missed box is never failure — an invitation to return.</a:t>
            </a:r>
          </a:p>
          <a:p>
            <a:r>
              <a:rPr lang="en-US" sz="1200"/>
              <a:t>CUES: This lands in the teen's merge block (5:16 in Option 1, 5:12 in Option 2) — the teen says it, not you.</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next Wednesday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5:23–5:27 · SHARED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pre-session · DIVIDER</a:t>
            </a:r>
          </a:p>
          <a:p>
            <a:r>
              <a:rPr lang="en-US" sz="1200"/>
              <a:t>On screen as families arrive. Greet at the door — the slide holds the room.</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4:15–4:22 · TEEN-LED (CiF)</a:t>
            </a:r>
          </a:p>
          <a:p>
            <a:r>
              <a:rPr lang="en-US" sz="1200"/>
              <a:t>BEATS: 1. The Companion-in-Formation carries today's rhythm arc — their fourth and final lead before Week 22; the Four Questions block belongs to the Lead Companion by design. 2. Frame the night: fourteen weeks of practices stop being something we come to and become something we carry — build your own rhythm in your own handwriting; then the parents receive the bravest homework of the series. 3. Name the gap warmly: the break is coming; momentum does not survive gaps — a rhythm does.</a:t>
            </a:r>
          </a:p>
          <a:p>
            <a:r>
              <a:rPr lang="en-US" sz="1200"/>
              <a:t>CUES: The Lead Companion sits where the senior can find their eyes all night.</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4:15–4:22 · TEEN-LED (CiF, from memory)</a:t>
            </a:r>
          </a:p>
          <a:p>
            <a:r>
              <a:rPr lang="en-US" sz="1200"/>
              <a:t>BEATS: 1. The senior opens from memory: blessing first, then the container — Safe, Present, Clear, Intentional, same as every week. 2. Two things today: your rhythm, your handwriting; then four questions for the parents. 3. Unhurried — this is their ninth or tenth container rep, and Week 22 will ask for it in public.</a:t>
            </a:r>
          </a:p>
          <a:p>
            <a:r>
              <a:rPr lang="en-US" sz="1200"/>
              <a:t>CUES: Lead Companion in the senior's eyeline. Anything heavy is the adults' to hold — the senior never carries it.</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4:22–4:26 · SHARED (Lead Companion)</a:t>
            </a:r>
          </a:p>
          <a:p>
            <a:r>
              <a:rPr lang="en-US" sz="1200"/>
              <a:t>BEATS: 1. Finish the Mission week: anyone whose downhill answer was unfinished, or has changed shape since — one sentence, now, to the room. 2. Receive each without commentary; the answers carry forward to the Week 21 commissioning. 3. Then the practice check, ninety seconds: one sentence on the one small action.</a:t>
            </a:r>
          </a:p>
          <a:p>
            <a:r>
              <a:rPr lang="en-US" sz="1200"/>
              <a:t>CUES: The arranged parent starts the round (Run Card) — never a cold call on a teen; teens choose their depth; pass anytime.</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4:26–4:33 · TEEN-LED (CiF)</a:t>
            </a:r>
          </a:p>
          <a:p>
            <a:r>
              <a:rPr lang="en-US" sz="1200"/>
              <a:t>BEATS: 1. Read Galatians 6:9 slowly. 2. Teach it: Paul assumes the weariness; the condition is not giving up; the season is His — the not-giving-up is ours. Nobody white-knuckles through years; people with a rhythm walk through years. 3. Name the break plainly: for twelve weeks the room carried the practices; over the break there is no Wednesday. What crosses a gap is not momentum — it is a rhythm built on purpose, today, before the gap.</a:t>
            </a:r>
          </a:p>
          <a:p>
            <a:r>
              <a:rPr lang="en-US" sz="1200"/>
              <a:t>GUARD: For some families the breaks ARE the dry season — name that warmly from the front; Cluster Companions watch who flinches when it is named.</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4:33–4:36 · TEEN-LED (CiF)</a:t>
            </a:r>
          </a:p>
          <a:p>
            <a:r>
              <a:rPr lang="en-US" sz="1200"/>
              <a:t>BEATS: 1. Rhythm Cards out of the folders: Daily (morning question, evening note, PROAPT if the season allows), Weekly (one named person, a sabbath rhythm), Monthly (clearing time, Four-Connects review), Seasonally. Nothing new — you are choosing what you actually take with you. 2. State the honesty rule; it is the whole exercise: write the rhythm you will actually keep, not the one that impresses you. 3. The starter floor is two practices, six minutes a day — six honest minutes is a real rhythm. 4. After the founder's morning-flow moment (next slide), send the clusters: families together, own handwriting. Go.</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4:33–4:36 · SHARED (90 seconds inside the card intro)</a:t>
            </a:r>
          </a:p>
          <a:p>
            <a:r>
              <a:rPr lang="en-US" sz="1200"/>
              <a:t>BEATS: 1. Show where a kept card can go — four images, prayed in the same order every morning for years. 2. Walk them: a bench above an evening valley — drawn into God, grounded; a quiet chair with an open Bible — listening for His voice today; rings widening on still water — being changed, ripples reaching people never traced; a hiker mid-leap rock to rock — into the day, certain at each point. Grounding. Hearing. Changing. Leaping. 3. The invitation — never an assignment: as you keep your card, watch for your own four images; the journal has a page waiting.</a:t>
            </a:r>
          </a:p>
          <a:p>
            <a:r>
              <a:rPr lang="en-US" sz="1200"/>
              <a:t>SUB: These are John's images and John's morning flow, kept for years — present them AS his: this is our founder's rhythm; nobody assigned him these pictures — they became his by keeping them. Do not claim it as yours. Then the invitation stands unchanged.</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4:36–4:56 · FAMILY CLUSTERS</a:t>
            </a:r>
          </a:p>
          <a:p>
            <a:r>
              <a:rPr lang="en-US" sz="1200"/>
              <a:t>BEATS: 1. Everyone builds H15.2 in their own handwriting — never typed, never filled in for anyone; families build side by side. 2. Coach specificity: 'morning question, 6:50, kitchen table, before my phone' is a rhythm; a wish is not. 3. Coach DOWN, not up: which two survive exam season? Start there — the card lets you add later. 4. The weekly-partner line is the most important line on the sheet: an actual name. 5. Close with each person reading their daily line aloud to the cluster.</a:t>
            </a:r>
          </a:p>
          <a:p>
            <a:r>
              <a:rPr lang="en-US" sz="1200"/>
              <a:t>CUES: A parent reads first — arranged ahead (Run Card), never a cold call on a teen; pass anytime.</a:t>
            </a:r>
          </a:p>
          <a:p>
            <a:r>
              <a:rPr lang="en-US" sz="1200"/>
              <a:t>GUARD: A blank weekly line usually means 'nobody would want the job' — don't fix it in the cluster; note it for follow-up. Anything heavy goes to the adult after the cluster closes.</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4:56–5:19 · LEAD COMPANION (senior sits as a member)</a:t>
            </a:r>
          </a:p>
          <a:p>
            <a:r>
              <a:rPr lang="en-US" sz="1200"/>
              <a:t>BEATS: 1. Four questions on the board, in order, aloud — H15.3 has them exact. 2. Name the rehearsal: the weekly feedback round trained this posture. 3. The story (SUB). 4. Commission the willing; the card home in a parent's hand.</a:t>
            </a:r>
          </a:p>
          <a:p>
            <a:r>
              <a:rPr lang="en-US" sz="1200"/>
              <a:t>GUARD: Willing-only BOTH directions — pass is a full answer at home; alarm on a teen's face = repeat the guard 1:1 before they leave. Receive without defending; never punish an answer later; not ready means wait. Invisible by default — no audits. A letter counts; 'not yet' counts. Abuse or self-harm = Section 6. If it lands on someone mid-block, the second adult moves to them; keep presenting.</a:t>
            </a:r>
          </a:p>
          <a:p>
            <a:r>
              <a:rPr lang="en-US" sz="1200"/>
              <a:t>SUB: The block ends in the founder's own story of asking these at home. Summarize that John has done this himself — he never once regretted asking — or tell your own if you truly have one. Never claim his.</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5:19–5:23 · SHARED</a:t>
            </a:r>
          </a:p>
          <a:p>
            <a:r>
              <a:rPr lang="en-US" sz="1200"/>
              <a:t>BEATS: 1. The senior answers first — went well, do differently, what I'd tell someone teaching this. 2. The Lead Companion answers the two questions for the parts they carried. 3. The room, same two questions — two or three voices each. 4. Close by naming one thing the team watched grow across all four of the senior's leads — and say aloud that the room just heard what this round has been rehearsing all along. It sets the table for Week 22.</a:t>
            </a:r>
          </a:p>
          <a:p>
            <a:r>
              <a:rPr lang="en-US" sz="1200"/>
              <a:t>GUARD: Receive without defending — 'thank you' is the whole response.</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5:23–5:30 · SHARED (CiF opens, Lead Companion closes)</a:t>
            </a:r>
          </a:p>
          <a:p>
            <a:r>
              <a:rPr lang="en-US" sz="1200"/>
              <a:t>BEATS: 1. Practice, two pieces: for the willing, the four questions at home — the guards are on the card in their hand; for everyone, run the Rhythm Card as built and journal where it held and slipped — no guilt-engine. 2. The returning rule: miss a day, begin again on the next available day; returning, not streaks. 3. Name what happened today: a rhythm built by your own hand, and some houses about to have their most honest conversation in years. 4. Aaronic blessing — the senior speaks it, their last as a Companion-in-Formation.</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5:23–5:30 · SHARED</a:t>
            </a:r>
          </a:p>
          <a:p>
            <a:r>
              <a:rPr lang="en-US" sz="1200"/>
              <a:t>BEATS: 1. The Four Questions, willing only: unhurried, no audience, phone away, one person at a time; married parents also ask their spouse, separately. 2. Run the Rhythm Card as built — the break is its first field test. 3. One journal line a day: where it held, where it slipped — slips are data, not verdicts; nobody collects the journal. 4. The returning rule: begin again on the next available day.</a:t>
            </a:r>
          </a:p>
          <a:p>
            <a:r>
              <a:rPr lang="en-US" sz="1200"/>
              <a:t>GUARD: 'Not yet' is a full answer for everyone, and next week's check-in audits nothing.</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5:23–5:30 · SHARED</a:t>
            </a:r>
          </a:p>
          <a:p>
            <a:r>
              <a:rPr lang="en-US" sz="1200"/>
              <a:t>BEATS: 1. The check card rows: your own Rhythm Card dailies, plus one journal line on holds and slips. 2. The one-time boxes are willing-only: the four questions asked of your teen, and separately of your spouse — only if both willing; 'not yet' counts. 3. A missed box is never failure — an invitation to return; come back Wednesday either way.</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pre-session · DIVIDER</a:t>
            </a:r>
          </a:p>
          <a:p>
            <a:r>
              <a:rPr lang="en-US" sz="1200"/>
              <a:t>On screen as families arrive. Greet at the door — the slide holds the room.</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4:15–4:22 · STANDING CIRCLE</a:t>
            </a:r>
          </a:p>
          <a:p>
            <a:r>
              <a:rPr lang="en-US" sz="1200"/>
              <a:t>BEATS: 1. Tell them the whole plan up front so nobody waits for the catch: we are going to eat together — that IS the session. A short round before food, a few good questions at dessert, one page at the end. 2. Tables today, not the circle — the one night of the year. 3. Nothing new is taught; the meal is the point.</a:t>
            </a:r>
          </a:p>
          <a:p>
            <a:r>
              <a:rPr lang="en-US" sz="1200"/>
              <a:t>GUARD: Do not program the meal — no devotional between courses, no teaching moment. Withholding content is today's team discipline.</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4:15–4:22 · STANDING CIRCLE</a:t>
            </a:r>
          </a:p>
          <a:p>
            <a:r>
              <a:rPr lang="en-US" sz="1200"/>
              <a:t>BEATS: 1. Blessing first. 2. Container, briefly — Safe, Present, Clear, Intentional; it holds at a dinner table too. Phones silenced and away. 3. One word for how you actually are, around the circle; receive without commentary.</a:t>
            </a:r>
          </a:p>
          <a:p>
            <a:r>
              <a:rPr lang="en-US" sz="1200"/>
              <a:t>GUARD: Keep the open genuinely short — the room is smelling the food. A long preamble teaches the room the team cannot help itself.</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4:22–4:26 · STANDING CIRCLE</a:t>
            </a:r>
          </a:p>
          <a:p>
            <a:r>
              <a:rPr lang="en-US" sz="1200"/>
              <a:t>BEATS: 1. One sentence each: where the Rhythm Card held, or where it slipped — both welcome; a noticed slip is the practice working. 2. No fixing, no advice, from anyone; if troubleshooting starts: good noticing — hold the fixing. 3. Close it: sixteen days in, everyone in this circle is still on the long walk.</a:t>
            </a:r>
          </a:p>
          <a:p>
            <a:r>
              <a:rPr lang="en-US" sz="1200"/>
              <a:t>CUES: The arranged parent opens (Run Card) — never a cold call on a teen; pass anytime.</a:t>
            </a:r>
          </a:p>
          <a:p>
            <a:r>
              <a:rPr lang="en-US" sz="1200"/>
              <a:t>GUARD: Watch quietly — whoever reports a slip with shame gets a warm follow-up this week; note it for the debrief, not the circle.</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4:26–4:28 · STANDING CIRCLE</a:t>
            </a:r>
          </a:p>
          <a:p>
            <a:r>
              <a:rPr lang="en-US" sz="1200"/>
              <a:t>BEATS: 1. Read Acts 2:46 — the first church, glad and generous hearts. 2. Thirty seconds of frame: the first church ran on three rails — the teaching, the table, the prayers; today is the table, and it IS the formation, not the break from it. 3. Pray the grace. 4. Send them to eat.</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4:28–4:59 · TABLES</a:t>
            </a:r>
          </a:p>
          <a:p>
            <a:r>
              <a:rPr lang="en-US" sz="1200"/>
              <a:t>BEATS: 1. No agenda — Companions sit and eat as members of their tables; the cohort needs to see its Companions laugh at dinner. 2. Watch faces gently, especially the Week 15 watch-list: a family sitting close and quiet, a parent with full eyes, a teen who won't look up — nobody names it today; offline contact within 48 hours. 3. Keep the food moving; note who is missing for the Sought Stray line.</a:t>
            </a:r>
          </a:p>
          <a:p>
            <a:r>
              <a:rPr lang="en-US" sz="1200"/>
              <a:t>GUARD: The allergy list is law — posted, current, every dish labeled with its allergens; the food-safety lead owns the serving table. Never ask, at a table or from the front, whether the Four Questions happened — invisible by default.</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4:59–5:19 · TABLES</a:t>
            </a:r>
          </a:p>
          <a:p>
            <a:r>
              <a:rPr lang="en-US" sz="1200"/>
              <a:t>BEATS: 1. Dessert lands and the card stack comes out — frame it from your seat; standing up breaks the spell. 2. How it works: read the card aloud; a parent answers first, every table, every card; anyone who wants answers; nobody has to; next card when it feels done. 3. Two rules said aloud: no report-out — what is said at your table stays there; and there is no wrong way for this to go.</a:t>
            </a:r>
          </a:p>
          <a:p>
            <a:r>
              <a:rPr lang="en-US" sz="1200"/>
              <a:t>GUARD: Laughter is a fully valid outcome — ten minutes laughing at dad's answer IS the exercise. Two cards done well beats three done fast. A card that finds a tender place: warmth, no working it at the table; a Companion follows up offline.</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5:19–5:22 · WHOLE ROOM (seated)</a:t>
            </a:r>
          </a:p>
          <a:p>
            <a:r>
              <a:rPr lang="en-US" sz="1200"/>
              <a:t>BEATS: 1. One unhurried minute, no apology: this is the Quarterly Pulse, third of the year — one page, three questions, about five minutes at home. 2. Say the deal plainly: this room steers by these pages; the final quarter is built from what you write. 3. Back in the bin at next Wednesday's door — nobody watches the bin; signed or unsigned, your choice.</a:t>
            </a:r>
          </a:p>
          <a:p>
            <a:r>
              <a:rPr lang="en-US" sz="1200"/>
              <a:t>GUARD: 'Sorry to end a fun night with paperwork' undoes the instrument — frame it as steering, never homework.</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5:19–5:22 · WHOLE ROOM</a:t>
            </a:r>
          </a:p>
          <a:p>
            <a:r>
              <a:rPr lang="en-US" sz="1200"/>
              <a:t>BEATS: 1. One daily row: your Rhythm Card dailies as built — the morning question and evening note live on the card now. 2. One-time boxes: the Pulse, five minutes, back in the bin next Wednesday; optional — one Family Conversation Card at home, ten minutes. 3. A missed box is never failure — an invitation to return.</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5:22–5:26 · WHOLE ROOM</a:t>
            </a:r>
          </a:p>
          <a:p>
            <a:r>
              <a:rPr lang="en-US" sz="1200"/>
              <a:t>BEATS: 1. Same round, even on a dinner night — especially today; the round on an easy evening is what keeps it ordinary. 2. The leader's three, then the room's two questions — two or three voices each. 3. Receive without defending — 'thank you' is the whole response.</a:t>
            </a:r>
          </a:p>
          <a:p>
            <a:r>
              <a:rPr lang="en-US" sz="1200"/>
              <a:t>CUES: Expect food commentary; take it seriously — next year's family night is built from today's answers.</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5:26–5:30 · STANDING CIRCLE</a:t>
            </a:r>
          </a:p>
          <a:p>
            <a:r>
              <a:rPr lang="en-US" sz="1200"/>
              <a:t>BEATS: 1. Same circle as the start; one word for what is happening in you as we close. 2. Two thank-yous: every hand that cooked and served, and the cleanup crew by name; everyone clears their own place. 3. The week: five minutes with the Pulse, bin at the door next Wednesday; keep walking your card, slips and all. 4. Aaronic blessing. Go home glad.</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pre-session · DIVIDER</a:t>
            </a:r>
          </a:p>
          <a:p>
            <a:r>
              <a:rPr lang="en-US" sz="1200"/>
              <a:t>On screen as families arrive. Greet at the door — the slide holds the room.</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4:15–5:30 · DUAL MODE — confirm A or B before the night</a:t>
            </a:r>
          </a:p>
          <a:p>
            <a:r>
              <a:rPr lang="en-US" sz="1200"/>
              <a:t>BEATS: 1. Today is the Float, the quarter's shock absorber, and it runs ONE of two modes, decided by what the quarter needs: an evening was lost (snow, assembly, illness) = Mode A, that session runs whole; the quarter ran clean = Mode B, the room walks its Rhythm Cards together. 2. The call was made at the team prep meeting, 48 hours out — never game-day — and families were told by the weekend before. Confirm with the team which mode was called, and prepare from that mode's plan. 3. Either mode: the Pulse bin sits at the door, one break practice is commissioned, and the feedback round and blessing close the quarter.</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4:15–5:13 · MODE A — THE LIFTED SESSION</a:t>
            </a:r>
          </a:p>
          <a:p>
            <a:r>
              <a:rPr lang="en-US" sz="1200"/>
              <a:t>BEATS: 1. Bless, then say the reframe once, warmly: we lost [date] to [cause]; this afternoon exists in the calendar for exactly this — today IS [session name], whole, not a make-up. Nothing was skipped; it just moved. 2. At 4:20 hand the room to the lifted plan — its blocks, scripts, splits, and watch-fors run from its own run sheet, prepped via the lift checklist at the prep meeting. 3. Today's constants resume at 5:13: the break practice, the feedback round, the close.</a:t>
            </a:r>
          </a:p>
          <a:p>
            <a:r>
              <a:rPr lang="en-US" sz="1200"/>
              <a:t>GUARD: Trim the lifted plan's closing, never its center. If the lifted session is teen-led, its leadership spec applies, re-rehearsed. Its crisis contingencies travel with it — re-read at prep.</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4:15–5:13 · MODE B — THE RHYTHM WALK</a:t>
            </a:r>
          </a:p>
          <a:p>
            <a:r>
              <a:rPr lang="en-US" sz="1200"/>
              <a:t>BEATS: 1. Open: container, one word — we lost nothing this quarter; today we walk the real cards, not the ideal ones. 2. Proverbs 16:9, short: we planned the way; the LORD established the steps. 3. Leaders walk FIRST (4:28–4:38), genuinely slipped cards — the session stands on this; open with the slip. 4. The room walks (4:38–5:13): 2–3 min each, daily/weekly/monthly as lived; troubleshoot one minute only when invited; listen like a thief.</a:t>
            </a:r>
          </a:p>
          <a:p>
            <a:r>
              <a:rPr lang="en-US" sz="1200"/>
              <a:t>CUES: The arranged parent opens the room's round (Run Card) — never cold-call a teen; pass anytime.</a:t>
            </a:r>
          </a:p>
          <a:p>
            <a:r>
              <a:rPr lang="en-US" sz="1200"/>
              <a:t>GUARD: A noticed slip is the practice working — quote the Returning Rule from the front. Parents walk their OWN card, never their teen's. Perfect cards and eyes-down passes get a warm word after, not a spotlight. A slip that is really a household in trouble: bless it, don't troubleshoot, follow up in 48 hours.</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5:13–5:20 · MODE B, SHARED CIRCLE</a:t>
            </a:r>
          </a:p>
          <a:p>
            <a:r>
              <a:rPr lang="en-US" sz="1200"/>
              <a:t>BEATS: 1. Fast and light: one sentence each — one idea you heard today that you are stealing, and who you stole it from. 2. Stealing is the point — that is what a fellowship is for. 3. Then move straight into the break-practice commissioning; it shares this window.</a:t>
            </a:r>
          </a:p>
          <a:p>
            <a:r>
              <a:rPr lang="en-US" sz="1200"/>
              <a:t>CUES: Pass anytime; keep the round quick — the commissioning needs its minutes.</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6:45–4:15 arrival · EITHER MODE</a:t>
            </a:r>
          </a:p>
          <a:p>
            <a:r>
              <a:rPr lang="en-US" sz="1200"/>
              <a:t>BEATS: 1. The return bin sits by the door, labeled, spare Pulse pages beside it. 2. Pages drop in as families arrive — greeted, never checked. 3. Nobody watches the bin; nobody is asked whether they dropped a page; a page next week is as welcome as a page today.</a:t>
            </a:r>
          </a:p>
          <a:p>
            <a:r>
              <a:rPr lang="en-US" sz="1200"/>
              <a:t>GUARD: The bin is never a checkpoint. The team collects and reads every page this week — Quarter 4 is planned from them, and that promise is kept visibly.</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5:13–5:20 (Mode B) / 5:13–5:19 (Mode A) · EITHER MODE</a:t>
            </a:r>
          </a:p>
          <a:p>
            <a:r>
              <a:rPr lang="en-US" sz="1200"/>
              <a:t>BEATS: 1. Name the precedent: this same move carried the cohort across Christmas, and it worked. 2. Choose ONE practice from your card — just one — carried deliberately through the break; the rest of the card is allowed to rest. Sabbath, not failure. 3. Write it in the journal NOW — the practice, when, where; give the room the full quiet minute. 4. One sentence around the circle: the practice you are carrying — speaking it is part of carrying it. 5. The Return II opens with the kind question: what held?</a:t>
            </a:r>
          </a:p>
          <a:p>
            <a:r>
              <a:rPr lang="en-US" sz="1200"/>
              <a:t>GUARD: Never minimize the break from the front — 'see you in a couple weeks' is how practices die. The Returning Rule travels: begin again on the next available day.</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5:23–5:30 (B) / 5:25–5:30 (A) · EITHER MODE</a:t>
            </a:r>
          </a:p>
          <a:p>
            <a:r>
              <a:rPr lang="en-US" sz="1200"/>
              <a:t>BEATS: 1. One row on the card: your one break practice, the one written in your journal — daily row if daily, weekly box if weekly. 2. Everything else rests on purpose — a card suspended on purpose beats a card half-kept in guilt. 3. A missed box is never failure — begin again on the next available day; see you at The Return II.</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5:20–5:23 (B) / 5:19–5:25 (A) · EITHER MODE</a:t>
            </a:r>
          </a:p>
          <a:p>
            <a:r>
              <a:rPr lang="en-US" sz="1200"/>
              <a:t>BEATS: 1. The session's leader answers the three first — in Mode A that is the lifted session's leader, per its plan. 2. Then the room, same two questions — two or three voices each. 3. Receive without defending — 'thank you' is the whole response.</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5:23–5:30 (B) / 5:25–5:30 (A) · EITHER MODE</a:t>
            </a:r>
          </a:p>
          <a:p>
            <a:r>
              <a:rPr lang="en-US" sz="1200"/>
              <a:t>BEATS: 1. Standing circle, one word each. 2. Name the quarter closed: three walked, one to go — consolidation and the two commissionings; dates come in the break communication. 3. The send: one practice on purpose, everything else rests; if even the one goes down, begin again on the next available day. The Return II asks the kind question first: what held? 4. Aaronic blessing. Go rest — see you on the other side.</a:t>
            </a:r>
          </a:p>
          <a:p>
            <a:r>
              <a:rPr lang="en-US" sz="1200"/>
              <a:t>CUES: Every family leaves knowing which Companion is reachable over the break, and how.</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Q4 · pre-session · DIVIDER</a:t>
            </a:r>
          </a:p>
          <a:p>
            <a:r>
              <a:rPr lang="en-US" sz="1200"/>
              <a:t>On screen as families arrive. Greet at the door — the slide holds the room.</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pre-session · DIVIDER</a:t>
            </a:r>
          </a:p>
          <a:p>
            <a:r>
              <a:rPr lang="en-US" sz="1200"/>
              <a:t>On screen as families arrive. Greet at the door — the slide holds the room. Name tags out one more time; the year's last re-entry gets the same welcome as its first. Doors close at 4:15 and a Companion-in-Formation opens.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4:15–5:30 · SHARED CIRCLE</a:t>
            </a:r>
          </a:p>
          <a:p>
            <a:r>
              <a:rPr lang="en-US" sz="1200"/>
              <a:t>BEATS:</a:t>
            </a:r>
          </a:p>
          <a:p>
            <a:r>
              <a:rPr lang="en-US" sz="1200"/>
              <a:t>1. Frame the night light: Return II, not Return I — the room knows how to come back now; say it out loud and let the session prove it.</a:t>
            </a:r>
          </a:p>
          <a:p>
            <a:r>
              <a:rPr lang="en-US" sz="1200"/>
              <a:t>2. Walk the road: teen-led open, two verses, a one-sentence what-held round, the final-stretch map, practice, close.</a:t>
            </a:r>
          </a:p>
          <a:p>
            <a:r>
              <a:rPr lang="en-US" sz="1200"/>
              <a:t>3. One circle all night — no clustering.</a:t>
            </a:r>
          </a:p>
          <a:p>
            <a:r>
              <a:rPr lang="en-US" sz="1200"/>
              <a:t>GUARD: A light night still gets a full listening — read every check-in word closely; the break may have been hard in some house. Section 6 and the two-adult rule hold today as every night.</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4:15–4:22 · SHARED CIRCLE</a:t>
            </a:r>
          </a:p>
          <a:p>
            <a:r>
              <a:rPr lang="en-US" sz="1200"/>
              <a:t>BEATS:</a:t>
            </a:r>
          </a:p>
          <a:p>
            <a:r>
              <a:rPr lang="en-US" sz="1200"/>
              <a:t>1. The Companion-in-Formation runs the full eight steps from memory, normal pace — nothing changes because a teen holds it; that is the point.</a:t>
            </a:r>
          </a:p>
          <a:p>
            <a:r>
              <a:rPr lang="en-US" sz="1200"/>
              <a:t>2. Sit where the teen can find your eyes; otherwise stay out of the way.</a:t>
            </a:r>
          </a:p>
          <a:p>
            <a:r>
              <a:rPr lang="en-US" sz="1200"/>
              <a:t>3. Receive every check-in word; the adults read them as closely as ever.</a:t>
            </a:r>
          </a:p>
          <a:p>
            <a:r>
              <a:rPr lang="en-US" sz="1200"/>
              <a:t>CUES: Timing Companion starts discreetly at 4:15 and notes the minute the room is truly present — expect it fast; the speed is the year's work showing, and it goes in the log.</a:t>
            </a:r>
          </a:p>
          <a:p>
            <a:r>
              <a:rPr lang="en-US" sz="1200"/>
              <a:t>GUARD: Do not shadow the open or add a welcome on top of the teen's — over-carrying teaches the room it still needs carrying.</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4:22–4:29 · SHARED CIRCLE</a:t>
            </a:r>
          </a:p>
          <a:p>
            <a:r>
              <a:rPr lang="en-US" sz="1200"/>
              <a:t>BEATS:</a:t>
            </a:r>
          </a:p>
          <a:p>
            <a:r>
              <a:rPr lang="en-US" sz="1200"/>
              <a:t>1. Read Galatians 6:9 then Philippians 1:6 aloud from the physical Bible. Brief — the room already owns the first verse.</a:t>
            </a:r>
          </a:p>
          <a:p>
            <a:r>
              <a:rPr lang="en-US" sz="1200"/>
              <a:t>2. Teach: at the Rhythm week the verse was a warning; today it is a receipt — the chair they are sitting in is the not-giving-up it asks for.</a:t>
            </a:r>
          </a:p>
          <a:p>
            <a:r>
              <a:rPr lang="en-US" sz="1200"/>
              <a:t>3. Phil 1:6 names why it is not white-knuckling: He began the work; He finishes it; the rhythm just keeps us where the engine runs.</a:t>
            </a:r>
          </a:p>
          <a:p>
            <a:r>
              <a:rPr lang="en-US" sz="1200"/>
              <a:t>4. Land the observation: last re-entry of the year — look how fast the room came back; the practices belong to them now.</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4:29–4:54 · SHARED CIRCLE</a:t>
            </a:r>
          </a:p>
          <a:p>
            <a:r>
              <a:rPr lang="en-US" sz="1200"/>
              <a:t>BEATS:</a:t>
            </a:r>
          </a:p>
          <a:p>
            <a:r>
              <a:rPr lang="en-US" sz="1200"/>
              <a:t>1. One sentence each, full circle: what held from your Rhythm Card across the break — or what slipped and got begun again.</a:t>
            </a:r>
          </a:p>
          <a:p>
            <a:r>
              <a:rPr lang="en-US" sz="1200"/>
              <a:t>2. Keep it brisk and celebratory — a harvest reading, not an examination; holds and slips are both good news; laughter is allowed and likely.</a:t>
            </a:r>
          </a:p>
          <a:p>
            <a:r>
              <a:rPr lang="en-US" sz="1200"/>
              <a:t>3. If a sentence becomes a story, receive warmly and keep the circle turning.</a:t>
            </a:r>
          </a:p>
          <a:p>
            <a:r>
              <a:rPr lang="en-US" sz="1200"/>
              <a:t>4. Close: the room just read itself in one pass, nobody coaxed — best finding of the year; and Joshua's question is about to change hands.</a:t>
            </a:r>
          </a:p>
          <a:p>
            <a:r>
              <a:rPr lang="en-US" sz="1200"/>
              <a:t>CUES: The arranged parent (Run Card) gives the first sentence — never a cold call on a teen. A Companion quietly tallies how many reported a daily practice holding — numbers only, no names.</a:t>
            </a:r>
          </a:p>
          <a:p>
            <a:r>
              <a:rPr lang="en-US" sz="1200"/>
              <a:t>GUARD: A slip that sounds like a hard break, not a busy one — nearest Companion notes it and follows up at the door; the round does not stop.</a:t>
            </a: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4:54–5:12 · SHARED CIRCLE</a:t>
            </a:r>
          </a:p>
          <a:p>
            <a:r>
              <a:rPr lang="en-US" sz="1200"/>
              <a:t>BEATS:</a:t>
            </a:r>
          </a:p>
          <a:p>
            <a:r>
              <a:rPr lang="en-US" sz="1200"/>
              <a:t>1. Write the five lines live on the whiteboard, saying each: Wk 19 the teens teach the two mercy cards in clusters; Wk 20 The Long Walk — the seniors teach the whole room, journals come; Wk 21 Sending and Blessing — whole families, a TWO-HOUR night; Wk 22 the Commissioning of the Companions.</a:t>
            </a:r>
          </a:p>
          <a:p>
            <a:r>
              <a:rPr lang="en-US" sz="1200"/>
              <a:t>2. Land the frame sentence: the year now begins to hand itself over — that was always the plan.</a:t>
            </a:r>
          </a:p>
          <a:p>
            <a:r>
              <a:rPr lang="en-US" sz="1200"/>
              <a:t>3. Three asks: come, bring your journal, bring the whole family to Week 21 — calendar it today, date visible on the board.</a:t>
            </a:r>
          </a:p>
          <a:p>
            <a:r>
              <a:rPr lang="en-US" sz="1200"/>
              <a:t>CUES: This script says 4:15–6:00 for Week 21, but the Week 21 plan runs food 6:00, session 6:30–5:30 — confirm the times in the family email before announcing.</a:t>
            </a:r>
          </a:p>
          <a:p>
            <a:r>
              <a:rPr lang="en-US" sz="1200"/>
              <a:t>GUARD: Watch the teens both ways — seniors hearing their commissioning named get a word of honor at the door; the teen who feels the ending gets warmth this week, not correction today.</a:t>
            </a:r>
          </a:p>
        </p:txBody>
      </p:sp>
    </p:spTree>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5:12–5:15 · SHARED CIRCLE</a:t>
            </a:r>
          </a:p>
          <a:p>
            <a:r>
              <a:rPr lang="en-US" sz="1200"/>
              <a:t>BEATS:</a:t>
            </a:r>
          </a:p>
          <a:p>
            <a:r>
              <a:rPr lang="en-US" sz="1200"/>
              <a:t>1. Co-Companion (Parent) leads: run the Rhythm Card as built — nothing new; if the break knocked a piece loose, begin again on the next available day.</a:t>
            </a:r>
          </a:p>
          <a:p>
            <a:r>
              <a:rPr lang="en-US" sz="1200"/>
              <a:t>2. Evening-note flavor this week: note where you see God already handing pieces of the year over to you.</a:t>
            </a:r>
          </a:p>
          <a:p>
            <a:r>
              <a:rPr lang="en-US" sz="1200"/>
              <a:t>3. The Four Questions word to parents — one paragraph, spoken to the middle distance, moved past without pausing for reaction: willing-only, not-yet counts, nobody checks.</a:t>
            </a:r>
          </a:p>
          <a:p>
            <a:r>
              <a:rPr lang="en-US" sz="1200"/>
              <a:t>GUARD: It is a door left ajar, not a knock. If any parent looks cornered, repeat the guards 1:1 before they leave; whatever they say afterward, receive, encourage, audit nothing.</a:t>
            </a:r>
          </a:p>
        </p:txBody>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5:12–5:15 · SHARED CIRCLE</a:t>
            </a:r>
          </a:p>
          <a:p>
            <a:r>
              <a:rPr lang="en-US" sz="1200"/>
              <a:t>BEATS:</a:t>
            </a:r>
          </a:p>
          <a:p>
            <a:r>
              <a:rPr lang="en-US" sz="1200"/>
              <a:t>1. Hold up the check-off card (H18.1): one daily row — the Rhythm Card dailies as built, with this week's evening-note question.</a:t>
            </a:r>
          </a:p>
          <a:p>
            <a:r>
              <a:rPr lang="en-US" sz="1200"/>
              <a:t>2. One one-time box: the Four Questions door, willing parents only.</a:t>
            </a:r>
          </a:p>
          <a:p>
            <a:r>
              <a:rPr lang="en-US" sz="1200"/>
              <a:t>3. Say the card's own rule: a missed box is never a failure; it is an invitation to return.</a:t>
            </a: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5:15–5:21 · SHARED CIRCLE</a:t>
            </a:r>
          </a:p>
          <a:p>
            <a:r>
              <a:rPr lang="en-US" sz="1200"/>
              <a:t>BEATS:</a:t>
            </a:r>
          </a:p>
          <a:p>
            <a:r>
              <a:rPr lang="en-US" sz="1200"/>
              <a:t>1. The Companion-in-Formation runs closing steps 1–5: stand; one-word landing (compare to the opening word — the contrast is data); the one thing; the one practice (the card, as built); the blessings.</a:t>
            </a:r>
          </a:p>
          <a:p>
            <a:r>
              <a:rPr lang="en-US" sz="1200"/>
              <a:t>2. Expect the blessings step to lean toward the seniors today — let it.</a:t>
            </a:r>
          </a:p>
          <a:p>
            <a:r>
              <a:rPr lang="en-US" sz="1200"/>
              <a:t>3. Hold the Aaronic blessing — today it comes AFTER the feedback round, on the final slide.</a:t>
            </a:r>
          </a:p>
          <a:p>
            <a:r>
              <a:rPr lang="en-US" sz="1200"/>
              <a:t>CUES: Blessing form = one short, specific, witnessed sentence of what someone saw the Father doing in another person today — not a speech.</a:t>
            </a:r>
          </a:p>
        </p:txBody>
      </p:sp>
    </p:spTree>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5:21–5:26 · SHARED CIRCLE</a:t>
            </a:r>
          </a:p>
          <a:p>
            <a:r>
              <a:rPr lang="en-US" sz="1200"/>
              <a:t>BEATS:</a:t>
            </a:r>
          </a:p>
          <a:p>
            <a:r>
              <a:rPr lang="en-US" sz="1200"/>
              <a:t>1. The teen who led answers first: what went well, what I'd do differently, what I'd tell someone teaching today's process.</a:t>
            </a:r>
          </a:p>
          <a:p>
            <a:r>
              <a:rPr lang="en-US" sz="1200"/>
              <a:t>2. The Lead Companion answers the first two, briefly, for the blocks they carried.</a:t>
            </a:r>
          </a:p>
          <a:p>
            <a:r>
              <a:rPr lang="en-US" sz="1200"/>
              <a:t>3. Then the room — same two questions; two or three voices each; leaders receive without defending — 'thank you' is the whole response.</a:t>
            </a:r>
          </a:p>
          <a:p>
            <a:r>
              <a:rPr lang="en-US" sz="1200"/>
              <a:t>CUES: The round may be dropped if the room's energy needs something else; dropping it twice running goes to the team debrief.</a:t>
            </a:r>
          </a:p>
        </p:txBody>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5:26–5:30 · SHARED CIRCLE</a:t>
            </a:r>
          </a:p>
          <a:p>
            <a:r>
              <a:rPr lang="en-US" sz="1200"/>
              <a:t>BEATS:</a:t>
            </a:r>
          </a:p>
          <a:p>
            <a:r>
              <a:rPr lang="en-US" sz="1200"/>
              <a:t>1. One sentence for the road: you came back like people who know the way — five weeks to the sending; the season is His, and it is nearly harvest.</a:t>
            </a:r>
          </a:p>
          <a:p>
            <a:r>
              <a:rPr lang="en-US" sz="1200"/>
              <a:t>2. Speak the Aaronic blessing (Numbers 6:24–26), hands up if you want.</a:t>
            </a:r>
          </a:p>
          <a:p>
            <a:r>
              <a:rPr lang="en-US" sz="1200"/>
              <a:t>3. Send them glad: see you Wednesday — Week 19, the teens have the cards.</a:t>
            </a:r>
          </a:p>
        </p:txBody>
      </p:sp>
    </p:spTree>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pre-session · DIVIDER</a:t>
            </a:r>
          </a:p>
          <a:p>
            <a:r>
              <a:rPr lang="en-US" sz="1200"/>
              <a:t>On screen as families arrive. Greet at the door — the slide holds the room. Folders at each seat with both mercy cards in them; the CiFs set their first cluster spaces; tissues in every cluster space. Doors close at 4:15.</a:t>
            </a:r>
          </a:p>
        </p:txBody>
      </p:sp>
    </p:spTree>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4:15–5:30 · SHARED CIRCLE</a:t>
            </a:r>
          </a:p>
          <a:p>
            <a:r>
              <a:rPr lang="en-US" sz="1200"/>
              <a:t>BEATS:</a:t>
            </a:r>
          </a:p>
          <a:p>
            <a:r>
              <a:rPr lang="en-US" sz="1200"/>
              <a:t>1. Today is the rehearsal: the Companions-in-Formation teach the Signs Card and the Path Home Card in family clusters — twice each, coached — one week before they teach the whole room.</a:t>
            </a:r>
          </a:p>
          <a:p>
            <a:r>
              <a:rPr lang="en-US" sz="1200"/>
              <a:t>2. Shape: frame, split, first rep, keep-and-adjust feedback, rotation, tightened second rep, second feedback, merge, close.</a:t>
            </a:r>
          </a:p>
          <a:p>
            <a:r>
              <a:rPr lang="en-US" sz="1200"/>
              <a:t>3. Adults coach from inside the cluster, light touch — at most one whispered cue per rep; the rehearsal is the CiF's room.</a:t>
            </a:r>
          </a:p>
          <a:p>
            <a:r>
              <a:rPr lang="en-US" sz="1200"/>
              <a:t>GUARD: Teach the card, never probe the person — 'take out the card,' never 'which column are you in.' Any live disclosure passes to the cluster adult at once, and the handoff is honored publicly as leadership, not failure.</a:t>
            </a: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4:15–4:22 · SHARED CIRCLE</a:t>
            </a:r>
          </a:p>
          <a:p>
            <a:r>
              <a:rPr lang="en-US" sz="1200"/>
              <a:t>BEATS:</a:t>
            </a:r>
          </a:p>
          <a:p>
            <a:r>
              <a:rPr lang="en-US" sz="1200"/>
              <a:t>1. A Companion-in-Formation opens with the full protocol from memory — the weekly free rep.</a:t>
            </a:r>
          </a:p>
          <a:p>
            <a:r>
              <a:rPr lang="en-US" sz="1200"/>
              <a:t>2. The open goes to a CiF who is NOT teaching first-round in their strongest cluster, so the session's reps spread rather than stack.</a:t>
            </a:r>
          </a:p>
          <a:p>
            <a:r>
              <a:rPr lang="en-US" sz="1200"/>
              <a:t>3. Receive every check-in word; read the room — today's subject is dryness, and somebody is statistically in it right now.</a:t>
            </a: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4:22–4:28 · SHARED CIRCLE</a:t>
            </a:r>
          </a:p>
          <a:p>
            <a:r>
              <a:rPr lang="en-US" sz="1200"/>
              <a:t>BEATS:</a:t>
            </a:r>
          </a:p>
          <a:p>
            <a:r>
              <a:rPr lang="en-US" sz="1200"/>
              <a:t>1. Everyone takes out both cards. Why they exist: the danger of a dry season is the wrong diagnosis, and the way back must be written down — the father runs.</a:t>
            </a:r>
          </a:p>
          <a:p>
            <a:r>
              <a:rPr lang="en-US" sz="1200"/>
              <a:t>2. Read 2 Timothy 2:2 — four generations in one sentence; today the room watches the third handoff happen.</a:t>
            </a:r>
          </a:p>
          <a:p>
            <a:r>
              <a:rPr lang="en-US" sz="1200"/>
              <a:t>3. Name the rehearsal plainly and warmly: small room before the large one; your cluster is their first congregation, and at the end it gives its teacher two gifts — one keep, one adjust.</a:t>
            </a:r>
          </a:p>
          <a:p>
            <a:r>
              <a:rPr lang="en-US" sz="1200"/>
              <a:t>4. End gently: today is about the cards, not anyone's current season — but if a column has your name on it, the adult in your cluster is there for exactly that.</a:t>
            </a:r>
          </a:p>
          <a:p>
            <a:r>
              <a:rPr lang="en-US" sz="1200"/>
              <a:t>GUARD: Say from the front that nobody will be asked where they are — it keeps the promise true in the clusters.</a:t>
            </a: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4:28–4:29 · SHARED CIRCLE</a:t>
            </a:r>
          </a:p>
          <a:p>
            <a:r>
              <a:rPr lang="en-US" sz="1200"/>
              <a:t>BEATS:</a:t>
            </a:r>
          </a:p>
          <a:p>
            <a:r>
              <a:rPr lang="en-US" sz="1200"/>
              <a:t>1. Name each cluster: its families, its adult coach-and-catch, its first-round teacher.</a:t>
            </a:r>
          </a:p>
          <a:p>
            <a:r>
              <a:rPr lang="en-US" sz="1200"/>
              <a:t>2. Pray briefly — for the teachers by name, and for any dry ground in the room, unnamed.</a:t>
            </a:r>
          </a:p>
          <a:p>
            <a:r>
              <a:rPr lang="en-US" sz="1200"/>
              <a:t>3. Split fast — the teaching minutes are protected.</a:t>
            </a:r>
          </a:p>
          <a:p>
            <a:r>
              <a:rPr lang="en-US" sz="1200"/>
              <a:t>CUES: About ten or fewer in the room? Small-room variation: one circle, two CiFs split the cards, feedback after each, then a compressed second pass with the cards swapped — everyone still teaches twice.</a:t>
            </a:r>
          </a:p>
        </p:txBody>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4:29–4:51 · FAMILY CLUSTERS</a:t>
            </a:r>
          </a:p>
          <a:p>
            <a:r>
              <a:rPr lang="en-US" sz="1200"/>
              <a:t>BEATS:</a:t>
            </a:r>
          </a:p>
          <a:p>
            <a:r>
              <a:rPr lang="en-US" sz="1200"/>
              <a:t>1. The CiF teaches both cards: Signs ~13 min — the sorting question (which way does the desire point?), the four kinds of dry, cases 3 and 4 command OPPOSITE motions (resist vs receive; when unsure, do not decide alone), the four rules; Path Home ~10 — five steps, the father runs, the door is not locked; close ~2 — the findable spot.</a:t>
            </a:r>
          </a:p>
          <a:p>
            <a:r>
              <a:rPr lang="en-US" sz="1200"/>
              <a:t>2. Adult sits inside the circle, coaching light — one whispered cue at most ('desire question' is usually the only one needed); everything else to the note sheet.</a:t>
            </a:r>
          </a:p>
          <a:p>
            <a:r>
              <a:rPr lang="en-US" sz="1200"/>
              <a:t>CUES: Teen-taught block — the adult sits where the teacher can find their eyes. If anything live surfaces the adult receives it at once while the CiF keeps teaching; a stumble is never the story of the night.</a:t>
            </a:r>
          </a:p>
          <a:p>
            <a:r>
              <a:rPr lang="en-US" sz="1200"/>
              <a:t>GUARD: Redirect probing and diagnosing gently and immediately — quote the card's own rule so the correction lands on the card, not the person.</a:t>
            </a: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4:51–4:58 · FAMILY CLUSTERS</a:t>
            </a:r>
          </a:p>
          <a:p>
            <a:r>
              <a:rPr lang="en-US" sz="1200"/>
              <a:t>BEATS:</a:t>
            </a:r>
          </a:p>
          <a:p>
            <a:r>
              <a:rPr lang="en-US" sz="1200"/>
              <a:t>1. The adult models first — one specific keep, one specific adjust; quotable, never 'you did great.'</a:t>
            </a:r>
          </a:p>
          <a:p>
            <a:r>
              <a:rPr lang="en-US" sz="1200"/>
              <a:t>2. The arranged parent adds next (Run Card); one or two brief voices more, teens welcome.</a:t>
            </a:r>
          </a:p>
          <a:p>
            <a:r>
              <a:rPr lang="en-US" sz="1200"/>
              <a:t>3. The CiF receives without defending — 'thank you' is the whole response; the adult writes both gifts down.</a:t>
            </a:r>
          </a:p>
          <a:p>
            <a:r>
              <a:rPr lang="en-US" sz="1200"/>
              <a:t>4. Rotation at 4:56: 'Teachers, travel' — each CiF one cluster clockwise, adjust in hand; the new cluster does not hear the old feedback.</a:t>
            </a:r>
          </a:p>
          <a:p>
            <a:r>
              <a:rPr lang="en-US" sz="1200"/>
              <a:t>CUES: The adjust is the point of the rehearsal — a rehearsal with no adjusts was wasted. Keeps and adjusts are per-teacher coaching, never a leaderboard.</a:t>
            </a: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4:58–5:15 · FAMILY CLUSTERS</a:t>
            </a:r>
          </a:p>
          <a:p>
            <a:r>
              <a:rPr lang="en-US" sz="1200"/>
              <a:t>BEATS:</a:t>
            </a:r>
          </a:p>
          <a:p>
            <a:r>
              <a:rPr lang="en-US" sz="1200"/>
              <a:t>1. Same arc, tightened: Signs ~11, Path Home ~8, close ~1 — same spine, fewer words; the load-bearing minutes untouched (the desire question, resist-versus-receive, the father runs).</a:t>
            </a:r>
          </a:p>
          <a:p>
            <a:r>
              <a:rPr lang="en-US" sz="1200"/>
              <a:t>2. Watch specifically for the Round-1 adjust being tried while warm — that is what this rep is for.</a:t>
            </a:r>
          </a:p>
          <a:p>
            <a:r>
              <a:rPr lang="en-US" sz="1200"/>
              <a:t>3. Against the clock? The agreed fallback: Signs Card in full; Path Home in its two sentences — the father runs; the door is not locked — with the card in every hand. Next week restores the whole.</a:t>
            </a:r>
          </a:p>
          <a:p>
            <a:r>
              <a:rPr lang="en-US" sz="1200"/>
              <a:t>CUES: Same posture as Rep 1 — anything live goes to the adult instantly and the teaching continues.</a:t>
            </a:r>
          </a:p>
        </p:txBody>
      </p:sp>
    </p:spTree>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5:15–5:19 · FAMILY CLUSTERS</a:t>
            </a:r>
          </a:p>
          <a:p>
            <a:r>
              <a:rPr lang="en-US" sz="1200"/>
              <a:t>BEATS:</a:t>
            </a:r>
          </a:p>
          <a:p>
            <a:r>
              <a:rPr lang="en-US" sz="1200"/>
              <a:t>1. Same shape, briefer: the adult's keep and adjust — the keep, where honest, naming the adjust that got tried — then one cluster voice.</a:t>
            </a:r>
          </a:p>
          <a:p>
            <a:r>
              <a:rPr lang="en-US" sz="1200"/>
              <a:t>2. Record both per CiF; these notes travel in writing to The Long Walk prep meeting.</a:t>
            </a:r>
          </a:p>
          <a:p>
            <a:r>
              <a:rPr lang="en-US" sz="1200"/>
              <a:t>3. Hold it to four minutes — the merge is waiting.</a:t>
            </a:r>
          </a:p>
        </p:txBody>
      </p:sp>
    </p:spTree>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5:19–5:22 · SHARED CIRCLE</a:t>
            </a:r>
          </a:p>
          <a:p>
            <a:r>
              <a:rPr lang="en-US" sz="1200"/>
              <a:t>BEATS:</a:t>
            </a:r>
          </a:p>
          <a:p>
            <a:r>
              <a:rPr lang="en-US" sz="1200"/>
              <a:t>1. One practice, the easiest of the year: both cards go home and get a findable spot — a drawer everyone knows, the cabinet door, the family Bible — decided together, in the car today if you like.</a:t>
            </a:r>
          </a:p>
          <a:p>
            <a:r>
              <a:rPr lang="en-US" sz="1200"/>
              <a:t>2. Say the strange truth: if all goes well the cards gather dust for years; the person who someday needs them will not be in a room like this when they do. The cards wait.</a:t>
            </a:r>
          </a:p>
          <a:p>
            <a:r>
              <a:rPr lang="en-US" sz="1200"/>
              <a:t>3. Name next week: The Long Walk — whole room, whole teaching, these same teachers. Come ready to receive them again.</a:t>
            </a: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5:19–5:22 · SHARED CIRCLE</a:t>
            </a:r>
          </a:p>
          <a:p>
            <a:r>
              <a:rPr lang="en-US" sz="1200"/>
              <a:t>BEATS:</a:t>
            </a:r>
          </a:p>
          <a:p>
            <a:r>
              <a:rPr lang="en-US" sz="1200"/>
              <a:t>1. Check-off card H19.1: the Rhythm Card dailies as built — the standing rhythm, nothing new this week.</a:t>
            </a:r>
          </a:p>
          <a:p>
            <a:r>
              <a:rPr lang="en-US" sz="1200"/>
              <a:t>2. One one-time box: the two mercy cards given a findable spot at home, decided together as a family.</a:t>
            </a:r>
          </a:p>
          <a:p>
            <a:r>
              <a:rPr lang="en-US" sz="1200"/>
              <a:t>3. A missed box is never a failure; it is an invitation to return.</a:t>
            </a:r>
          </a:p>
        </p:txBody>
      </p:sp>
    </p:spTree>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5:22–5:24 · SHARED CIRCLE</a:t>
            </a:r>
          </a:p>
          <a:p>
            <a:r>
              <a:rPr lang="en-US" sz="1200"/>
              <a:t>BEATS:</a:t>
            </a:r>
          </a:p>
          <a:p>
            <a:r>
              <a:rPr lang="en-US" sz="1200"/>
              <a:t>1. A CiF runs the close, brief today: standing circle, one-word landing, the one thing, the one practice.</a:t>
            </a:r>
          </a:p>
          <a:p>
            <a:r>
              <a:rPr lang="en-US" sz="1200"/>
              <a:t>2. The one practice is the findable spot — committed aloud by a voice from each family.</a:t>
            </a:r>
          </a:p>
          <a:p>
            <a:r>
              <a:rPr lang="en-US" sz="1200"/>
              <a:t>3. Hold the Aaronic blessing — today it comes after the feedback round; a CiF speaks it at the very end.</a:t>
            </a:r>
          </a:p>
        </p:txBody>
      </p:sp>
    </p:spTree>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5:24–5:30 · SHARED CIRCLE</a:t>
            </a:r>
          </a:p>
          <a:p>
            <a:r>
              <a:rPr lang="en-US" sz="1200"/>
              <a:t>BEATS:</a:t>
            </a:r>
          </a:p>
          <a:p>
            <a:r>
              <a:rPr lang="en-US" sz="1200"/>
              <a:t>1. The CiFs answer first, together: what went well, what they'd do differently — next week IS the next time — and one sentence on what they'd tell someone teaching this.</a:t>
            </a:r>
          </a:p>
          <a:p>
            <a:r>
              <a:rPr lang="en-US" sz="1200"/>
              <a:t>2. The Lead Companion answers second for the whole evening, plus one specific affirmation of the teachers AS A GROUP; individual coaching stays in the cluster notes.</a:t>
            </a:r>
          </a:p>
          <a:p>
            <a:r>
              <a:rPr lang="en-US" sz="1200"/>
              <a:t>3. Room feedback only by the CiFs' consent — any one of them may decline for all; two or three voices, received undefended.</a:t>
            </a:r>
          </a:p>
          <a:p>
            <a:r>
              <a:rPr lang="en-US" sz="1200"/>
              <a:t>4. Then a CiF sends the room (5:27): Aaronic blessing, hands up — cards to their spot this week; see you at The Long Walk.</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pre-session · DIVIDER</a:t>
            </a:r>
          </a:p>
          <a:p>
            <a:r>
              <a:rPr lang="en-US" sz="1200"/>
              <a:t>On screen as families arrive. Greet at the door — the slide holds the room. Journals spotted at the door — quiet paper to anyone without one, no fuss, no spotlight. Folders each hold a fresh Signs Card and Path Home Card; survey stack and return bin visible by the door. Doors close at 4:15.</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4:15–5:30 · SHARED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clusters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4:15–4:22 · SHARED CIRCLE</a:t>
            </a:r>
          </a:p>
          <a:p>
            <a:r>
              <a:rPr lang="en-US" sz="1200"/>
              <a:t>BEATS:</a:t>
            </a:r>
          </a:p>
          <a:p>
            <a:r>
              <a:rPr lang="en-US" sz="1200"/>
              <a:t>1. The senior opens from memory: blessing first, phones away, the container reminder, the shape of the night, then the standard protocol whole.</a:t>
            </a:r>
          </a:p>
          <a:p>
            <a:r>
              <a:rPr lang="en-US" sz="1200"/>
              <a:t>2. Sit where the senior can find your eyes and otherwise do nothing.</a:t>
            </a:r>
          </a:p>
          <a:p>
            <a:r>
              <a:rPr lang="en-US" sz="1200"/>
              <a:t>3. Resist adding a welcome on top of the senior's welcome — this is one of the last container reps before Week 22 asks for it in public.</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4:22–4:28 · SHARED CIRCLE</a:t>
            </a:r>
          </a:p>
          <a:p>
            <a:r>
              <a:rPr lang="en-US" sz="1200"/>
              <a:t>BEATS:</a:t>
            </a:r>
          </a:p>
          <a:p>
            <a:r>
              <a:rPr lang="en-US" sz="1200"/>
              <a:t>1. Name the threshold honestly: in two weeks the room stops meeting; on the other side of the sending is a summer with no Wednesday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4:28–4:44 · SHARED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4:44–4:54 · SHARED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4:54–5:08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cluster,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5:08–5:19 · FAMILY CLUSTERS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cluster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5:19–5:22 · SHARED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5:19–5:22 · SHARED CIRCLE</a:t>
            </a:r>
          </a:p>
          <a:p>
            <a:r>
              <a:rPr lang="en-US" sz="1200"/>
              <a:t>BEATS:</a:t>
            </a:r>
          </a:p>
          <a:p>
            <a:r>
              <a:rPr lang="en-US" sz="1200"/>
              <a:t>1. Check-off card H20.2: the Rhythm Card dailies, as built.</a:t>
            </a:r>
          </a:p>
          <a:p>
            <a:r>
              <a:rPr lang="en-US" sz="1200"/>
              <a:t>2. Two one-time boxes: the survey — twenty honest minutes, back in the Week 21 bin — and finding both mercy cards at home and showing one other family member where they live.</a:t>
            </a:r>
          </a:p>
          <a:p>
            <a:r>
              <a:rPr lang="en-US" sz="1200"/>
              <a:t>3. The cards gathering dust is the hope; everyone knowing the drawer is the point.</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5:22–5:25 · SHARED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5:25–5:30 · SHARED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pre-session · DIVIDER</a:t>
            </a:r>
          </a:p>
          <a:p>
            <a:r>
              <a:rPr lang="en-US" sz="1200"/>
              <a:t>On screen as families arrive. Greet at the door — the slide holds the room. TONIGHT IS 120 MINUTES: light food at 4:00, session at 4:15, close at 6:15. Visiting family without the twenty weeks of context get a warm brief at the door and a familiar Companion beside them. Survey return bin visible at the door.</a:t>
            </a:r>
          </a:p>
        </p:txBody>
      </p:sp>
    </p:spTree>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4:15–6:15 · SHARED CIRCLE</a:t>
            </a:r>
          </a:p>
          <a:p>
            <a:r>
              <a:rPr lang="en-US" sz="1200"/>
              <a:t>BEATS:</a:t>
            </a:r>
          </a:p>
          <a:p>
            <a:r>
              <a:rPr lang="en-US" sz="1200"/>
              <a:t>1. Name the night: the Family Commissioning — a 120-minute night, extended on purpose; everything serves the hour in the middle.</a:t>
            </a:r>
          </a:p>
          <a:p>
            <a:r>
              <a:rPr lang="en-US" sz="1200"/>
              <a:t>2. Shape: integration teaching, blessing rehearsal, reading and prayer, the family commissionings (~55 min, the heart), reflection circle, Rhythm Card and Going Deeper bridge, feedback (droppable today), final blessing.</a:t>
            </a:r>
          </a:p>
          <a:p>
            <a:r>
              <a:rPr lang="en-US" sz="1200"/>
              <a:t>3. Hold the schedule — the time-keeper has real authority; 120 minutes must not become 150; the closing matters more than running long.</a:t>
            </a:r>
          </a:p>
          <a:p>
            <a:r>
              <a:rPr lang="en-US" sz="1200"/>
              <a:t>GUARD: Every absent-parent situation was pre-planned with the family — stand-in, cohort standing, or community blessing only. Decided in advance, never improvised on the night.</a:t>
            </a:r>
          </a:p>
        </p:txBody>
      </p:sp>
    </p:spTree>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4:15–4:30 · SHARED CIRCLE</a:t>
            </a:r>
          </a:p>
          <a:p>
            <a:r>
              <a:rPr lang="en-US" sz="1200"/>
              <a:t>BEATS:</a:t>
            </a:r>
          </a:p>
          <a:p>
            <a:r>
              <a:rPr lang="en-US" sz="1200"/>
              <a:t>1. Welcome the new alongside the old — 'find a seat with your family' — and speak the Aaronic blessing over the room first, as every week.</a:t>
            </a:r>
          </a:p>
          <a:p>
            <a:r>
              <a:rPr lang="en-US" sz="1200"/>
              <a:t>2. Walk the year in one paragraph: the four Connects — Self, Others, God, Mission — a sequence and a way of life, done piece by piece across twenty Wednesdays.</a:t>
            </a:r>
          </a:p>
          <a:p>
            <a:r>
              <a:rPr lang="en-US" sz="1200"/>
              <a:t>3. Name today's specific act: each parent-and-teen pair stands center; each speaks a specific witnessed blessing over the other; the community seals each family with the Aaronic blessing.</a:t>
            </a:r>
          </a:p>
          <a:p>
            <a:r>
              <a:rPr lang="en-US" sz="1200"/>
              <a:t>4. To the visitors: you may not have words for what was done here — that is fine; your presence is the gift; today you bear witness.</a:t>
            </a:r>
          </a:p>
        </p:txBody>
      </p:sp>
    </p:spTree>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4:30–4:40 · SHARED CIRCLE</a:t>
            </a:r>
          </a:p>
          <a:p>
            <a:r>
              <a:rPr lang="en-US" sz="1200"/>
              <a:t>BEATS:</a:t>
            </a:r>
          </a:p>
          <a:p>
            <a:r>
              <a:rPr lang="en-US" sz="1200"/>
              <a:t>1. Walk the three-sentence form aloud: what I have specifically seen God doing in you; what I bless in you today; what I commit to you moving forward.</a:t>
            </a:r>
          </a:p>
          <a:p>
            <a:r>
              <a:rPr lang="en-US" sz="1200"/>
              <a:t>2. Two Companions demo a real blessing — brief, specific, honest, never theatrical; the parents calibrate against this demo.</a:t>
            </a:r>
          </a:p>
          <a:p>
            <a:r>
              <a:rPr lang="en-US" sz="1200"/>
              <a:t>3. Brief Q&amp;A, one or two questions; do not over-explain — the worksheet and the demo already taught it. Trust the room.</a:t>
            </a:r>
          </a:p>
          <a:p>
            <a:r>
              <a:rPr lang="en-US" sz="1200"/>
              <a:t>CUES: Blessing form = one specific witnessed sentence per line, not a speech — the brevity is the discipline; say it twice before the commissionings begin.</a:t>
            </a:r>
          </a:p>
          <a:p>
            <a:r>
              <a:rPr lang="en-US" sz="1200"/>
              <a:t>SUB: The demo blessing must be the speakers' own — real words about a real person they know. A covering leader never performs a borrowed blessing; if you are new to this room, demo with a Companion you genuinely know, or let two Cluster Companions carry the demo.</a:t>
            </a:r>
          </a:p>
        </p:txBody>
      </p:sp>
    </p:spTree>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4:40–4:50 · SHARED CIRCLE</a:t>
            </a:r>
          </a:p>
          <a:p>
            <a:r>
              <a:rPr lang="en-US" sz="1200"/>
              <a:t>BEATS:</a:t>
            </a:r>
          </a:p>
          <a:p>
            <a:r>
              <a:rPr lang="en-US" sz="1200"/>
              <a:t>1. Read Numbers 6:24–26, then Philippians 1:6, from the physical Bible.</a:t>
            </a:r>
          </a:p>
          <a:p>
            <a:r>
              <a:rPr lang="en-US" sz="1200"/>
              <a:t>2. Two framings, 90 seconds total: the Aaronic blessing is covenantal — the words God specifically authorized, not improvisation; and Getting Started is part of the beginning — the work is His to finish.</a:t>
            </a:r>
          </a:p>
          <a:p>
            <a:r>
              <a:rPr lang="en-US" sz="1200"/>
              <a:t>3. Pray over the commissioning to come, then move — the families are ready.</a:t>
            </a:r>
          </a:p>
        </p:txBody>
      </p:sp>
    </p:spTree>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4:50–5:45 · SHARED CIRCLE</a:t>
            </a:r>
          </a:p>
          <a:p>
            <a:r>
              <a:rPr lang="en-US" sz="1200"/>
              <a:t>BEATS:</a:t>
            </a:r>
          </a:p>
          <a:p>
            <a:r>
              <a:rPr lang="en-US" sz="1200"/>
              <a:t>1. Per family (~5–7 min): call them center, family standing behind; ONE framing sentence per member; teen blesses parent FIRST; parent blesses teen; the room speaks the Aaronic over them; 30 seconds of breath between families.</a:t>
            </a:r>
          </a:p>
          <a:p>
            <a:r>
              <a:rPr lang="en-US" sz="1200"/>
              <a:t>2. Running long? Compress the framing — never the blessings.</a:t>
            </a:r>
          </a:p>
          <a:p>
            <a:r>
              <a:rPr lang="en-US" sz="1200"/>
              <a:t>3. A frozen teen: 'Take your time — or your mom can read it for you.' An overwhelmed parent: wait; most recover; if not, name the worksheet's heart with permission.</a:t>
            </a:r>
          </a:p>
          <a:p>
            <a:r>
              <a:rPr lang="en-US" sz="1200"/>
              <a:t>CUES: Blessing form = one specific witnessed sentence per line, not a speech.</a:t>
            </a:r>
          </a:p>
          <a:p>
            <a:r>
              <a:rPr lang="en-US" sz="1200"/>
              <a:t>GUARD: Absent-parent plans were pre-decided — stick to them. Real conflict surfacing: stop, step aside with the family, no interpreting in the room; Section 6, backup within the hour.</a:t>
            </a:r>
          </a:p>
          <a:p>
            <a:r>
              <a:rPr lang="en-US" sz="1200"/>
              <a:t>SUB: The framing must be witnessed truth — speak the team's prepared line per family (Run Card) as theirs; never invent a witness you did not see.</a:t>
            </a:r>
          </a:p>
        </p:txBody>
      </p:sp>
    </p:spTree>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5:45–5:55 · SHARED CIRCLE</a:t>
            </a:r>
          </a:p>
          <a:p>
            <a:r>
              <a:rPr lang="en-US" sz="1200"/>
              <a:t>BEATS:</a:t>
            </a:r>
          </a:p>
          <a:p>
            <a:r>
              <a:rPr lang="en-US" sz="1200"/>
              <a:t>1. Around the circle: one specific takeaway, one specific next commitment — about thirty seconds each, brisk. Small counts: 'I will keep the morning question' is a real commitment.</a:t>
            </a:r>
          </a:p>
          <a:p>
            <a:r>
              <a:rPr lang="en-US" sz="1200"/>
              <a:t>2. Cluster Companions go first to model; then the arranged parent opens for the families (Run Card) — never a cold call on a teen; pass-anytime holds; visitors may pass or share.</a:t>
            </a:r>
          </a:p>
          <a:p>
            <a:r>
              <a:rPr lang="en-US" sz="1200"/>
              <a:t>3. Receive without commentary — eye contact, slight nod; do not summarize anyone's sentence.</a:t>
            </a:r>
          </a:p>
        </p:txBody>
      </p:sp>
    </p:spTree>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5:55–6:05 · SHARED CIRCLE</a:t>
            </a:r>
          </a:p>
          <a:p>
            <a:r>
              <a:rPr lang="en-US" sz="1200"/>
              <a:t>BEATS:</a:t>
            </a:r>
          </a:p>
          <a:p>
            <a:r>
              <a:rPr lang="en-US" sz="1200"/>
              <a:t>1. Three practical things, warm and brief: the Daily/Weekly/Monthly Rhythm Card (H21.3 is a fresh copy — it is their card, in their handwriting); the Going Deeper bridge (H21.4 — dates, details, registration; decide on your own time); the Post-Series Survey — bin at the door today, or email this week.</a:t>
            </a:r>
          </a:p>
          <a:p>
            <a:r>
              <a:rPr lang="en-US" sz="1200"/>
              <a:t>2. Today is a sending, not a recruiting pitch — some families will continue, some will not, and both are good. Say it plainly and leave it there.</a:t>
            </a:r>
          </a:p>
        </p:txBody>
      </p:sp>
    </p:spTree>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5:55–6:05 · SHARED CIRCLE</a:t>
            </a:r>
          </a:p>
          <a:p>
            <a:r>
              <a:rPr lang="en-US" sz="1200"/>
              <a:t>BEATS:</a:t>
            </a:r>
          </a:p>
          <a:p>
            <a:r>
              <a:rPr lang="en-US" sz="1200"/>
              <a:t>1. Check-off card H21.6: the morning question (5 min) and the session journal note (1–2 min), daily through the interlude.</a:t>
            </a:r>
          </a:p>
          <a:p>
            <a:r>
              <a:rPr lang="en-US" sz="1200"/>
              <a:t>2. One-time boxes: the weekly person who knows what you are working on; the monthly clearing time; the survey if not already back.</a:t>
            </a:r>
          </a:p>
          <a:p>
            <a:r>
              <a:rPr lang="en-US" sz="1200"/>
              <a:t>3. A missed box is never a failure; it is an invitation to return — streaks are not the point, returning is.</a:t>
            </a: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6:05–6:15 · SHARED CIRCLE</a:t>
            </a:r>
          </a:p>
          <a:p>
            <a:r>
              <a:rPr lang="en-US" sz="1200"/>
              <a:t>BEATS:</a:t>
            </a:r>
          </a:p>
          <a:p>
            <a:r>
              <a:rPr lang="en-US" sz="1200"/>
              <a:t>1. Feedback round, standard shape — the leader's three answers, then the room, received undefended. On a commissioning night it may well be dropped: the ceremony is often the something-else the energy needs; dropping it twice running goes to the debrief.</a:t>
            </a:r>
          </a:p>
          <a:p>
            <a:r>
              <a:rPr lang="en-US" sz="1200"/>
              <a:t>2. Final blessing (6:10): the whole community speaks the Aaronic over the whole community — hands up, together, slowly. Pause; let the silence land.</a:t>
            </a:r>
          </a:p>
          <a:p>
            <a:r>
              <a:rPr lang="en-US" sz="1200"/>
              <a:t>3. 'You are sent. Walk gently.' Then announce Week 22 — the commissioning of the Companions; it is their night, and everyone is wanted in the room for it.</a:t>
            </a:r>
          </a:p>
          <a:p>
            <a:r>
              <a:rPr lang="en-US" sz="1200"/>
              <a:t>4. After the sending, do not pack up. Stay — some will not leave for an hour; the work after the closing is sometimes the work.</a:t>
            </a:r>
          </a:p>
        </p:txBody>
      </p:sp>
    </p:spTree>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pre-session · DIVIDER</a:t>
            </a:r>
          </a:p>
          <a:p>
            <a:r>
              <a:rPr lang="en-US" sz="1200"/>
              <a:t>On screen as families arrive. Greet at the door — the slide holds the room. Note the early times today: 4:15 open, 5:30 close, dessert after. Single wide circle, open center, no table; keepsake sheets and pens staged on the side table; the physical Lab-date card in the Lead's pocket.</a:t>
            </a:r>
          </a:p>
        </p:txBody>
      </p:sp>
    </p:spTree>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4:15–5:30 · SHARED CIRCLE</a:t>
            </a:r>
          </a:p>
          <a:p>
            <a:r>
              <a:rPr lang="en-US" sz="1200"/>
              <a:t>BEATS:</a:t>
            </a:r>
          </a:p>
          <a:p>
            <a:r>
              <a:rPr lang="en-US" sz="1200"/>
              <a:t>1. Name the night: the seniors are commissioned FC1 — an exit gate run as a witnessed rite, not a graduation; nobody is leaving — the gate opens inward, onto a serving place in this body.</a:t>
            </a:r>
          </a:p>
          <a:p>
            <a:r>
              <a:rPr lang="en-US" sz="1200"/>
              <a:t>2. Four movements: the final rep (container opened and closed from memory), the three rules read aloud, the covering named, the commissioning — with Lab 1 on the calendar before anyone leaves.</a:t>
            </a:r>
          </a:p>
          <a:p>
            <a:r>
              <a:rPr lang="en-US" sz="1200"/>
              <a:t>3. The seniors lead; the adults confirm and bless; the cohort witnesses.</a:t>
            </a:r>
          </a:p>
          <a:p>
            <a:r>
              <a:rPr lang="en-US" sz="1200"/>
              <a:t>GUARD: Any unconfirmed sign-off was settled privately weeks ago — NEVER discovered today. If the team somehow arrives unsettled, stop and settle before the session, even at the cost of a delay. Section 6 protocols stand.</a:t>
            </a:r>
          </a:p>
        </p:txBody>
      </p:sp>
    </p:spTree>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4:15–4:18 · SHARED CIRCLE</a:t>
            </a:r>
          </a:p>
          <a:p>
            <a:r>
              <a:rPr lang="en-US" sz="1200"/>
              <a:t>BEATS:</a:t>
            </a:r>
          </a:p>
          <a:p>
            <a:r>
              <a:rPr lang="en-US" sz="1200"/>
              <a:t>1. Five minutes total — the small budget is the point; the night is handed over fast.</a:t>
            </a:r>
          </a:p>
          <a:p>
            <a:r>
              <a:rPr lang="en-US" sz="1200"/>
              <a:t>2. Say the distinction plainly: a graduation sends you out of a room; today opens a door further in — FC1 means a serving place in this body, beginning, not finishing.</a:t>
            </a:r>
          </a:p>
          <a:p>
            <a:r>
              <a:rPr lang="en-US" sz="1200"/>
              <a:t>3. Name the four movements so the room can follow the architecture — and flag the last one: the Lab date before anyone leaves is the proof today is a beginning.</a:t>
            </a:r>
          </a:p>
          <a:p>
            <a:r>
              <a:rPr lang="en-US" sz="1200"/>
              <a:t>4. Close: 'Seniors, the room is yours' — lean in one more time, because true things deserve witnesses.</a:t>
            </a:r>
          </a:p>
        </p:txBody>
      </p:sp>
    </p:spTree>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4:18–4:31 · SHARED CIRCLE</a:t>
            </a:r>
          </a:p>
          <a:p>
            <a:r>
              <a:rPr lang="en-US" sz="1200"/>
              <a:t>BEATS:</a:t>
            </a:r>
          </a:p>
          <a:p>
            <a:r>
              <a:rPr lang="en-US" sz="1200"/>
              <a:t>1. One senior opens the full protocol from memory — no script, no cards; the whole room participates as every week.</a:t>
            </a:r>
          </a:p>
          <a:p>
            <a:r>
              <a:rPr lang="en-US" sz="1200"/>
              <a:t>2. Every other senior speaks one container condition — Safe, Present, Clear, Intentional — in their own words with one true story of holding it while leading, 60–90 seconds each. The closing senior is held in reserve for Block 9.</a:t>
            </a:r>
          </a:p>
          <a:p>
            <a:r>
              <a:rPr lang="en-US" sz="1200"/>
              <a:t>3. Your whole job: sit still and let them.</a:t>
            </a:r>
          </a:p>
          <a:p>
            <a:r>
              <a:rPr lang="en-US" sz="1200"/>
              <a:t>CUES: Grace protocol, decided in advance. A freeze: calm, from your seat — 'Take a breath. You have opened this container more times than anyone in this room but me. Start with Safe.' If they cannot continue: stand with them, hand on shoulder, tell the room the truth of their year, and finish it TOGETHER. The gate was passed weeks ago; today is the witness. A stumble is never the story of the night — never mentioned again in any tone but tenderness.</a:t>
            </a:r>
          </a:p>
        </p:txBody>
      </p:sp>
    </p:spTree>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4:31–4:38 · SHARED CIRCLE</a:t>
            </a:r>
          </a:p>
          <a:p>
            <a:r>
              <a:rPr lang="en-US" sz="1200"/>
              <a:t>BEATS:</a:t>
            </a:r>
          </a:p>
          <a:p>
            <a:r>
              <a:rPr lang="en-US" sz="1200"/>
              <a:t>1. Read 2 Timothy 2:2 and 1 Timothy 4:12 from the physical Bible.</a:t>
            </a:r>
          </a:p>
          <a:p>
            <a:r>
              <a:rPr lang="en-US" sz="1200"/>
              <a:t>2. Frame briefly: count the generations — Paul, Timothy, the faithful, the others also — and notice where the handing happens: in the presence of many witnesses, in a room like this one. Today the third generation stands up, and the fourth is already sitting here.</a:t>
            </a:r>
          </a:p>
          <a:p>
            <a:r>
              <a:rPr lang="en-US" sz="1200"/>
              <a:t>3. 1 Timothy 4:12: written to a young leader wondering if he was too young — today this room does the opposite of despising.</a:t>
            </a:r>
          </a:p>
          <a:p>
            <a:r>
              <a:rPr lang="en-US" sz="1200"/>
              <a:t>4. Pray, then move — the movements are waiting.</a:t>
            </a:r>
          </a:p>
        </p:txBody>
      </p:sp>
    </p:spTree>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4:38–4:46 · SHARED CIRCLE</a:t>
            </a:r>
          </a:p>
          <a:p>
            <a:r>
              <a:rPr lang="en-US" sz="1200"/>
              <a:t>BEATS:</a:t>
            </a:r>
          </a:p>
          <a:p>
            <a:r>
              <a:rPr lang="en-US" sz="1200"/>
              <a:t>1. Frame: the whole room hears the boundaries its young leaders keep — not a leash, the frame that lets a sixteen-year-old lead this room and every parent sleep at night.</a:t>
            </a:r>
          </a:p>
          <a:p>
            <a:r>
              <a:rPr lang="en-US" sz="1200"/>
              <a:t>2. Read the three rules VERBATIM from the handbook: a CiF never counts as one of the two adults; a CiF never takes a disclosure — hands it to the adult immediately; lead only a block you have first received.</a:t>
            </a:r>
          </a:p>
          <a:p>
            <a:r>
              <a:rPr lang="en-US" sz="1200"/>
              <a:t>3. Optional (team's pre-decided call): the Lead reads each first line and the seniors read them back together.</a:t>
            </a:r>
          </a:p>
          <a:p>
            <a:r>
              <a:rPr lang="en-US" sz="1200"/>
              <a:t>4. Close the movement: these rules never bend — not for talent, not for a short-handed night; handing the heavy thing over is the strong, faithful move, never a failure.</a:t>
            </a:r>
          </a:p>
        </p:txBody>
      </p:sp>
    </p:spTree>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4:46–4:55 · SHARED CIRCLE</a:t>
            </a:r>
          </a:p>
          <a:p>
            <a:r>
              <a:rPr lang="en-US" sz="1200"/>
              <a:t>BEATS:</a:t>
            </a:r>
          </a:p>
          <a:p>
            <a:r>
              <a:rPr lang="en-US" sz="1200"/>
              <a:t>1. Frame: an FC1 never leads uncovered; a covering that is public is a covering that holds.</a:t>
            </a:r>
          </a:p>
          <a:p>
            <a:r>
              <a:rPr lang="en-US" sz="1200"/>
              <a:t>2. Per senior (~90 sec): each stands and says plainly 'When I am over my head, I call ___' — name and relationship; a covering person present stands where they are.</a:t>
            </a:r>
          </a:p>
          <a:p>
            <a:r>
              <a:rPr lang="en-US" sz="1200"/>
              <a:t>3. Confirm the sign-off aloud: the parent — 'I confirm it' — then the Lead Companion.</a:t>
            </a:r>
          </a:p>
          <a:p>
            <a:r>
              <a:rPr lang="en-US" sz="1200"/>
              <a:t>4. The senior writes the covering name on their Commissioning Card in the circle — ink, not intention.</a:t>
            </a:r>
          </a:p>
          <a:p>
            <a:r>
              <a:rPr lang="en-US" sz="1200"/>
              <a:t>GUARD: A deferred sign-off was handled privately in Week 15's week, with a hopeful path — it NEVER surfaces as news today; that senior is honored by name in the blessing block, no explanation to the room.</a:t>
            </a:r>
          </a:p>
          <a:p>
            <a:r>
              <a:rPr lang="en-US" sz="1200"/>
              <a:t>SUB: The confirmation belongs to those who did the discernment. Covering for the founder, relay his word by name — 'John confirmed it before today; I carry that confirmation' — never as your own judgment.</a:t>
            </a:r>
          </a:p>
        </p:txBody>
      </p:sp>
    </p:spTree>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4:55–5:15 · SHARED CIRCLE</a:t>
            </a:r>
          </a:p>
          <a:p>
            <a:r>
              <a:rPr lang="en-US" sz="1200"/>
              <a:t>BEATS:</a:t>
            </a:r>
          </a:p>
          <a:p>
            <a:r>
              <a:rPr lang="en-US" sz="1200"/>
              <a:t>1. Per senior (~4–5 min): stand center, family behind; two Companions speak prepared blessings from specific leading moments, 1–3 sentences; the parent adds ONE; the cohort speaks the Aaronic; hand them the Commissioning and Limits Cards — serve the body, keep the rules, call your covering, watch the signs.</a:t>
            </a:r>
          </a:p>
          <a:p>
            <a:r>
              <a:rPr lang="en-US" sz="1200"/>
              <a:t>2. The senior returns to the circle, not a seat apart.</a:t>
            </a:r>
          </a:p>
          <a:p>
            <a:r>
              <a:rPr lang="en-US" sz="1200"/>
              <a:t>3. Then the charge over them all, brief: own walk first; the rules when no one is checking; covering early, not late; the three signs; FC1 is a real and honorable place to stand.</a:t>
            </a:r>
          </a:p>
          <a:p>
            <a:r>
              <a:rPr lang="en-US" sz="1200"/>
              <a:t>CUES: Blessing form = one specific witnessed sentence, not a speech. Tears under blessing are the night working — do not rush or rescue.</a:t>
            </a:r>
          </a:p>
          <a:p>
            <a:r>
              <a:rPr lang="en-US" sz="1200"/>
              <a:t>SUB: Blessings must be their authors' own; the charge is the founder's — read it named as his or speak your own. A covering leader never reads the founder's blessing as their own.</a:t>
            </a:r>
          </a:p>
        </p:txBody>
      </p:sp>
    </p:spTree>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5:15–5:19 · SHARED CIRCLE</a:t>
            </a:r>
          </a:p>
          <a:p>
            <a:r>
              <a:rPr lang="en-US" sz="1200"/>
              <a:t>BEATS:</a:t>
            </a:r>
          </a:p>
          <a:p>
            <a:r>
              <a:rPr lang="en-US" sz="1200"/>
              <a:t>1. Before anyone reaches for a coat: hold up the physical date card and announce Lab 1 of the spring serving cycle — day, date, time, place; new FC1s write it down now.</a:t>
            </a:r>
          </a:p>
          <a:p>
            <a:r>
              <a:rPr lang="en-US" sz="1200"/>
              <a:t>2. Name their Lab 1 assignment: bring one vital-signs observation from this room today, seen with the lens from the charge.</a:t>
            </a:r>
          </a:p>
          <a:p>
            <a:r>
              <a:rPr lang="en-US" sz="1200"/>
              <a:t>3. Say the why out loud: anyone can hold a beautiful ceremony — a date on a calendar is the proof today was a gate. These leaders begin in days.</a:t>
            </a:r>
          </a:p>
          <a:p>
            <a:r>
              <a:rPr lang="en-US" sz="1200"/>
              <a:t>4. One sentence to the younger teens: in a year or two, some of you will stand where these seniors stand — watch how they begin. No promises, no selection talk; just the door left visibly open.</a:t>
            </a:r>
          </a:p>
        </p:txBody>
      </p:sp>
    </p:spTree>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5:15–5:19 · SHARED CIRCLE</a:t>
            </a:r>
          </a:p>
          <a:p>
            <a:r>
              <a:rPr lang="en-US" sz="1200"/>
              <a:t>BEATS:</a:t>
            </a:r>
          </a:p>
          <a:p>
            <a:r>
              <a:rPr lang="en-US" sz="1200"/>
              <a:t>1. Check-off card H22.4: the morning question and the session journal note continue from the Rhythm Card, through the interlude.</a:t>
            </a:r>
          </a:p>
          <a:p>
            <a:r>
              <a:rPr lang="en-US" sz="1200"/>
              <a:t>2. One-time boxes: the weekly person; one Family Conversation Card at home; the monthly clearing time — and for the new FC1s, the vital-signs observation written down and carried to Lab 1.</a:t>
            </a:r>
          </a:p>
          <a:p>
            <a:r>
              <a:rPr lang="en-US" sz="1200"/>
              <a:t>3. Keep beginning again — the room goes with you now.</a:t>
            </a:r>
          </a:p>
        </p:txBody>
      </p:sp>
    </p:spTree>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5:19–5:22 · SHARED CIRCLE</a:t>
            </a:r>
          </a:p>
          <a:p>
            <a:r>
              <a:rPr lang="en-US" sz="1200"/>
              <a:t>BEATS:</a:t>
            </a:r>
          </a:p>
          <a:p>
            <a:r>
              <a:rPr lang="en-US" sz="1200"/>
              <a:t>1. The new FC1s answer first: what went well, what they'd do differently — and one last time before it becomes their question to carry: what would you tell whoever teaches this. A sentence or two each.</a:t>
            </a:r>
          </a:p>
          <a:p>
            <a:r>
              <a:rPr lang="en-US" sz="1200"/>
              <a:t>2. The adult answers for the parts the adults carried; then the room, two or three voices; received undefended — 'thank you' is the whole response.</a:t>
            </a:r>
          </a:p>
          <a:p>
            <a:r>
              <a:rPr lang="en-US" sz="1200"/>
              <a:t>3. May well be dropped today — the rite itself is often what the energy needs; dropping it twice running goes to the debrief.</a:t>
            </a:r>
          </a:p>
        </p:txBody>
      </p:sp>
    </p:spTree>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5:22–5:30 · SHARED CIRCLE</a:t>
            </a:r>
          </a:p>
          <a:p>
            <a:r>
              <a:rPr lang="en-US" sz="1200"/>
              <a:t>BEATS:</a:t>
            </a:r>
          </a:p>
          <a:p>
            <a:r>
              <a:rPr lang="en-US" sz="1200"/>
              <a:t>1. The reserved senior closes the full protocol from memory: standing circle, one-word landing, the one thing, the one practice, the blessing round, closing prayer and sending.</a:t>
            </a:r>
          </a:p>
          <a:p>
            <a:r>
              <a:rPr lang="en-US" sz="1200"/>
              <a:t>2. Expect the blessing round to lean hard toward the FC1s — give it room; the closing senior was told beforehand: receive it, then finish. Ending well under a full heart is the most FC1 thing they will do all night.</a:t>
            </a:r>
          </a:p>
          <a:p>
            <a:r>
              <a:rPr lang="en-US" sz="1200"/>
              <a:t>3. Resist adding ANYTHING after the senior's sending — the last words of the series belong to the generation it raised; the team's silence is the loudest confirmation in the room.</a:t>
            </a:r>
          </a:p>
          <a:p>
            <a:r>
              <a:rPr lang="en-US" sz="1200"/>
              <a:t>4. After: keepsake signing at the side table — names as witnesses; nobody leaves without signing. Dessert, lingering; stay — the younger teens near the seniors are the pipeline forming in real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jgtittle-ministries.github.io/fellowship-of-the-heart-pilot-at-cca/"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86.xml"/><Relationship Id="rId1" Type="http://schemas.openxmlformats.org/officeDocument/2006/relationships/slideLayout" Target="../slideLayouts/slideLayout7.xml"/><Relationship Id="rId4" Type="http://schemas.openxmlformats.org/officeDocument/2006/relationships/image" Target="../media/image30.jpg"/></Relationships>
</file>

<file path=ppt/slides/_rels/slide8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2.xml"/><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3.xml"/><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65.xml"/><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167.xml"/><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71.xml"/><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72.xml"/><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73.xml"/><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75.xml"/><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6.xml"/><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2.xml"/><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3" Type="http://schemas.openxmlformats.org/officeDocument/2006/relationships/image" Target="../media/image51.jpg"/><Relationship Id="rId2" Type="http://schemas.openxmlformats.org/officeDocument/2006/relationships/notesSlide" Target="../notesSlides/notesSlide183.xml"/><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4.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89.xml"/><Relationship Id="rId1" Type="http://schemas.openxmlformats.org/officeDocument/2006/relationships/slideLayout" Target="../slideLayouts/slideLayout7.xml"/><Relationship Id="rId6" Type="http://schemas.openxmlformats.org/officeDocument/2006/relationships/image" Target="../media/image55.jpg"/><Relationship Id="rId5" Type="http://schemas.openxmlformats.org/officeDocument/2006/relationships/image" Target="../media/image54.jpg"/><Relationship Id="rId4" Type="http://schemas.openxmlformats.org/officeDocument/2006/relationships/image" Target="../media/image53.jp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94.xml"/><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95.xml"/><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196.xml"/><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7.xml"/><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04.xml"/><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5.xml"/><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07.xml"/><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8.xml"/><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13.xml"/><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14.xml"/><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15.xml"/><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notesSlide" Target="../notesSlides/notesSlide218.xml"/><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9.xml"/><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22.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24.xml"/><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25.xml"/><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27.xml"/><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229.xml"/><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0.xml"/><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9.xml"/><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41.xml"/><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2.xml"/><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3.xml"/><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4.xml"/><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5.xml"/><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4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48.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49.xml"/><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51.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52.xml"/><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53.xml"/><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254.xml"/><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5.xml"/><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56.xml"/><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57.xml"/><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58.xml"/><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59.xml"/><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60.xml"/><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61.xml"/><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62.xml"/><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63.xml"/><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264.xml"/><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65.xml"/><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6.xml"/><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267.xml"/><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268.xml"/><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269.xml"/><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270.xml"/><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271.xml"/><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272.xml"/><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73.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74.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over twenty-two Wednesday afternoons</a:t>
            </a:r>
          </a:p>
          <a:p>
            <a:pPr algn="l">
              <a:spcAft>
                <a:spcPts val="600"/>
              </a:spcAft>
            </a:pPr>
            <a:r>
              <a:rPr sz="1800" b="0" i="0">
                <a:solidFill>
                  <a:srgbClr val="97BC62"/>
                </a:solidFill>
                <a:latin typeface="Calibri"/>
              </a:rPr>
              <a:t>CCA Club Year 2026–27  ·  Session Slides  ·  v1.5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1</a:t>
            </a:r>
          </a:p>
          <a:p>
            <a:pPr algn="l">
              <a:spcAft>
                <a:spcPts val="600"/>
              </a:spcAft>
            </a:pPr>
            <a:r>
              <a:rPr sz="4000" b="1" i="0">
                <a:solidFill>
                  <a:srgbClr val="FFFFFF"/>
                </a:solidFill>
                <a:latin typeface="Cambria"/>
              </a:rPr>
              <a:t>Connect with Self &amp; Others</a:t>
            </a:r>
          </a:p>
          <a:p>
            <a:pPr algn="l">
              <a:spcAft>
                <a:spcPts val="600"/>
              </a:spcAft>
            </a:pPr>
            <a:r>
              <a:rPr sz="1800" b="0" i="1">
                <a:solidFill>
                  <a:srgbClr val="E4EFDA"/>
                </a:solidFill>
                <a:latin typeface="Calibri"/>
              </a:rPr>
              <a:t>Weeks 1–6  ·  Six Wednesdays · the container is built, the stories are told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a:t>
            </a:r>
            <a:endParaRPr sz="1000" b="1">
              <a:solidFill>
                <a:srgbClr val="F1F6EC"/>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Between-week practice</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SOWER — THREE WITNESSES:  </a:t>
            </a:r>
            <a:r>
              <a:rPr sz="2800" b="1" i="0">
                <a:solidFill>
                  <a:srgbClr val="2C5F2D"/>
                </a:solidFill>
                <a:latin typeface="Calibri"/>
              </a:rPr>
              <a:t>Mark 4:1–20</a:t>
            </a:r>
            <a:r>
              <a:rPr sz="2800" b="0" i="0">
                <a:solidFill>
                  <a:srgbClr val="222B22"/>
                </a:solidFill>
                <a:latin typeface="Calibri"/>
              </a:rPr>
              <a:t>   ·   Matthew 13:1–23   ·   Luke 8:4–15</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Between-Week Practice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practice this week — the simplest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Parents are doing this too — we check in next Wednesday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pic>
        <p:nvPicPr>
          <p:cNvPr id="270" name="CardImage" descr="the Week 1 check-off card, as handed out"/>
          <p:cNvPicPr>
            <a:picLocks noChangeAspect="1"/>
          </p:cNvPicPr>
          <p:nvPr/>
        </p:nvPicPr>
        <p:blipFill>
          <a:blip r:embed="rId3"/>
          <a:stretch>
            <a:fillRect/>
          </a:stretch>
        </p:blipFill>
        <p:spPr>
          <a:xfrm>
            <a:off x="2159170" y="1417320"/>
            <a:ext cx="787335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89320"/>
            <a:ext cx="10515600" cy="548640"/>
          </a:xfrm>
          <a:prstGeom prst="rect">
            <a:avLst/>
          </a:prstGeom>
          <a:noFill/>
        </p:spPr>
        <p:txBody>
          <a:bodyPr wrap="square"/>
          <a:lstStyle/>
          <a:p>
            <a:pPr algn="ctr"/>
            <a:r>
              <a:rPr sz="1800" b="0" i="1">
                <a:solidFill>
                  <a:srgbClr val="222B22"/>
                </a:solidFill>
                <a:latin typeface="Calibri"/>
              </a:rPr>
              <a:t>Handed out now — fridge, mirror, journal pocket. Same card, new practices, every week of the year.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The evening’s leader goes first — three things, same as every week from here on</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2-soil.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a:t>
            </a:r>
          </a:p>
          <a:p>
            <a:pPr algn="l">
              <a:spcAft>
                <a:spcPts val="1000"/>
              </a:spcAft>
            </a:pPr>
            <a:r>
              <a:rPr sz="3300" b="1" i="0">
                <a:solidFill>
                  <a:srgbClr val="2C5F2D"/>
                </a:solidFill>
                <a:latin typeface="Cambria"/>
              </a:rPr>
              <a:t>The Soil of Your Heart</a:t>
            </a:r>
          </a:p>
          <a:p>
            <a:pPr algn="l">
              <a:spcAft>
                <a:spcPts val="600"/>
              </a:spcAft>
            </a:pPr>
            <a:r>
              <a:rPr sz="1800" b="0" i="1">
                <a:solidFill>
                  <a:srgbClr val="595959"/>
                </a:solidFill>
                <a:latin typeface="Calibri"/>
              </a:rPr>
              <a:t>The Heart Soil diagnostic from Mark 4; beginning Connecting with Self</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a:t>
            </a:r>
            <a:endParaRPr sz="1000" b="1">
              <a:solidFill>
                <a:srgbClr val="7A8A6E"/>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 — Tonight’s Road</a:t>
            </a:r>
          </a:p>
        </p:txBody>
      </p:sp>
      <p:sp>
        <p:nvSpPr>
          <p:cNvPr id="4" name="TextBox 3"/>
          <p:cNvSpPr txBox="1"/>
          <p:nvPr/>
        </p:nvSpPr>
        <p:spPr>
          <a:xfrm>
            <a:off x="822960" y="1508760"/>
            <a:ext cx="7040880" cy="450379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Opening container — full eight-step protocol</a:t>
            </a:r>
          </a:p>
          <a:p>
            <a:pPr>
              <a:spcAft>
                <a:spcPts val="800"/>
              </a:spcAft>
            </a:pPr>
            <a:r>
              <a:rPr sz="2400" b="1" dirty="0">
                <a:solidFill>
                  <a:srgbClr val="97BC62"/>
                </a:solidFill>
                <a:latin typeface="Calibri"/>
              </a:rPr>
              <a:t>2   </a:t>
            </a:r>
            <a:r>
              <a:rPr sz="2400" dirty="0">
                <a:solidFill>
                  <a:srgbClr val="222B22"/>
                </a:solidFill>
                <a:latin typeface="Calibri"/>
              </a:rPr>
              <a:t>Check-in on Week 1 practice</a:t>
            </a:r>
          </a:p>
          <a:p>
            <a:pPr>
              <a:spcAft>
                <a:spcPts val="800"/>
              </a:spcAft>
            </a:pPr>
            <a:r>
              <a:rPr sz="2400" b="1" dirty="0">
                <a:solidFill>
                  <a:srgbClr val="97BC62"/>
                </a:solidFill>
                <a:latin typeface="Calibri"/>
              </a:rPr>
              <a:t>3   </a:t>
            </a:r>
            <a:r>
              <a:rPr sz="2400" dirty="0">
                <a:solidFill>
                  <a:srgbClr val="222B22"/>
                </a:solidFill>
                <a:latin typeface="Calibri"/>
              </a:rPr>
              <a:t>Teaching: the seed recalled; Mark 4, the soils, and Paul’s mixed ground</a:t>
            </a:r>
          </a:p>
          <a:p>
            <a:pPr>
              <a:spcAft>
                <a:spcPts val="800"/>
              </a:spcAft>
            </a:pPr>
            <a:r>
              <a:rPr sz="2400" b="1" dirty="0">
                <a:solidFill>
                  <a:srgbClr val="97BC62"/>
                </a:solidFill>
                <a:latin typeface="Calibri"/>
              </a:rPr>
              <a:t>4   </a:t>
            </a:r>
            <a:r>
              <a:rPr sz="2400" dirty="0">
                <a:solidFill>
                  <a:srgbClr val="222B22"/>
                </a:solidFill>
                <a:latin typeface="Calibri"/>
              </a:rPr>
              <a:t>Family clusters: question zero, then the Heart Soil diagnostic</a:t>
            </a:r>
          </a:p>
          <a:p>
            <a:pPr>
              <a:spcAft>
                <a:spcPts val="800"/>
              </a:spcAft>
            </a:pPr>
            <a:r>
              <a:rPr sz="2400" b="1" dirty="0">
                <a:solidFill>
                  <a:srgbClr val="97BC62"/>
                </a:solidFill>
                <a:latin typeface="Calibri"/>
              </a:rPr>
              <a:t>5   </a:t>
            </a:r>
            <a:r>
              <a:rPr sz="2400" dirty="0">
                <a:solidFill>
                  <a:srgbClr val="222B22"/>
                </a:solidFill>
                <a:latin typeface="Calibri"/>
              </a:rPr>
              <a:t>Re-merge — shared debrief; Mark 4:20 re-read</a:t>
            </a:r>
          </a:p>
          <a:p>
            <a:pPr>
              <a:spcAft>
                <a:spcPts val="800"/>
              </a:spcAft>
            </a:pPr>
            <a:r>
              <a:rPr sz="2400" b="1" dirty="0">
                <a:solidFill>
                  <a:srgbClr val="97BC62"/>
                </a:solidFill>
                <a:latin typeface="Calibri"/>
              </a:rPr>
              <a:t>6   </a:t>
            </a:r>
            <a:r>
              <a:rPr sz="2400" dirty="0">
                <a:solidFill>
                  <a:srgbClr val="222B22"/>
                </a:solidFill>
                <a:latin typeface="Calibri"/>
              </a:rPr>
              <a:t>Between-week practice</a:t>
            </a:r>
          </a:p>
          <a:p>
            <a:pPr>
              <a:spcAft>
                <a:spcPts val="800"/>
              </a:spcAft>
            </a:pPr>
            <a:r>
              <a:rPr sz="2400" b="1" dirty="0">
                <a:solidFill>
                  <a:srgbClr val="97BC62"/>
                </a:solidFill>
                <a:latin typeface="Calibri"/>
              </a:rPr>
              <a:t>7   </a:t>
            </a:r>
            <a:r>
              <a:rPr sz="2400" dirty="0">
                <a:solidFill>
                  <a:srgbClr val="222B22"/>
                </a:solidFill>
                <a:latin typeface="Calibri"/>
              </a:rPr>
              <a:t>The Leader Feedback Round</a:t>
            </a:r>
          </a:p>
          <a:p>
            <a:pPr>
              <a:spcAft>
                <a:spcPts val="800"/>
              </a:spcAft>
            </a:pPr>
            <a:r>
              <a:rPr sz="2400" b="1" dirty="0">
                <a:solidFill>
                  <a:srgbClr val="97BC62"/>
                </a:solidFill>
                <a:latin typeface="Calibri"/>
              </a:rPr>
              <a:t>8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a:t>
            </a:r>
            <a:endParaRPr sz="1000" b="1">
              <a:solidFill>
                <a:srgbClr val="7A8A6E"/>
              </a:solidFill>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Check-In on Week 1 Practice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One quick round, one sentence each — a parent starts</a:t>
            </a:r>
          </a:p>
          <a:p>
            <a:pPr marL="685800" indent="-274320">
              <a:spcAft>
                <a:spcPts val="700"/>
              </a:spcAft>
            </a:pPr>
            <a:r>
              <a:rPr sz="2200" b="1" i="0">
                <a:solidFill>
                  <a:srgbClr val="97BC62"/>
                </a:solidFill>
                <a:latin typeface="Calibri"/>
              </a:rPr>
              <a:t>–  </a:t>
            </a:r>
            <a:r>
              <a:rPr sz="2200" b="0" i="1">
                <a:solidFill>
                  <a:srgbClr val="222B22"/>
                </a:solidFill>
                <a:latin typeface="Calibri"/>
              </a:rPr>
              <a:t>“One thing I noticed this week when I asked the morning question …”</a:t>
            </a:r>
          </a:p>
          <a:p>
            <a:pPr marL="685800" indent="-274320">
              <a:spcAft>
                <a:spcPts val="700"/>
              </a:spcAft>
            </a:pPr>
            <a:r>
              <a:rPr sz="2200" b="1" i="0">
                <a:solidFill>
                  <a:srgbClr val="97BC62"/>
                </a:solidFill>
                <a:latin typeface="Calibri"/>
              </a:rPr>
              <a:t>–  </a:t>
            </a:r>
            <a:r>
              <a:rPr sz="2200" b="0" i="0">
                <a:solidFill>
                  <a:srgbClr val="222B22"/>
                </a:solidFill>
                <a:latin typeface="Calibri"/>
              </a:rPr>
              <a:t>Or one thing about the practice itself — “I forgot it three days running” is a real answer</a:t>
            </a:r>
          </a:p>
          <a:p>
            <a:pPr marL="274320" indent="-274320">
              <a:spcAft>
                <a:spcPts val="900"/>
              </a:spcAft>
            </a:pPr>
            <a:r>
              <a:rPr sz="2200" b="1" i="0">
                <a:solidFill>
                  <a:srgbClr val="97BC62"/>
                </a:solidFill>
                <a:latin typeface="Calibri"/>
              </a:rPr>
              <a:t>•  </a:t>
            </a:r>
            <a:r>
              <a:rPr sz="2200" b="0" i="0">
                <a:solidFill>
                  <a:srgbClr val="222B22"/>
                </a:solidFill>
                <a:latin typeface="Calibri"/>
              </a:rPr>
              <a:t>No grades, no lectures — honesty over performance</a:t>
            </a:r>
          </a:p>
          <a:p>
            <a:pPr marL="274320" indent="-274320">
              <a:spcAft>
                <a:spcPts val="900"/>
              </a:spcAft>
            </a:pPr>
            <a:r>
              <a:rPr sz="2200" b="1" i="0">
                <a:solidFill>
                  <a:srgbClr val="97BC62"/>
                </a:solidFill>
                <a:latin typeface="Calibri"/>
              </a:rPr>
              <a:t>•  </a:t>
            </a:r>
            <a:r>
              <a:rPr sz="2200" b="0" i="0">
                <a:solidFill>
                  <a:srgbClr val="222B22"/>
                </a:solidFill>
                <a:latin typeface="Calibri"/>
              </a:rPr>
              <a:t>Missed it? “Thanks for the honesty. Pick it back up tomorrow.”</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Teaching — Mark 4 and the Four Soils</a:t>
            </a:r>
          </a:p>
        </p:txBody>
      </p:sp>
      <p:pic>
        <p:nvPicPr>
          <p:cNvPr id="5" name="Picture 4" descr="four soils diagram"/>
          <p:cNvPicPr>
            <a:picLocks noChangeAspect="1"/>
          </p:cNvPicPr>
          <p:nvPr/>
        </p:nvPicPr>
        <p:blipFill>
          <a:blip r:embed="rId3"/>
          <a:stretch>
            <a:fillRect/>
          </a:stretch>
        </p:blipFill>
        <p:spPr>
          <a:xfrm>
            <a:off x="822960" y="173736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623560"/>
            <a:ext cx="10515600" cy="640080"/>
          </a:xfrm>
          <a:prstGeom prst="rect">
            <a:avLst/>
          </a:prstGeom>
          <a:noFill/>
        </p:spPr>
        <p:txBody>
          <a:bodyPr wrap="square" lIns="91440" tIns="91440" rIns="91440" bIns="91440"/>
          <a:lstStyle/>
          <a:p>
            <a:pPr>
              <a:spcAft>
                <a:spcPts val="900"/>
              </a:spcAft>
            </a:pPr>
            <a:r>
              <a:rPr sz="1800" b="0" i="0">
                <a:solidFill>
                  <a:srgbClr val="222B22"/>
                </a:solidFill>
                <a:latin typeface="Calibri"/>
              </a:rPr>
              <a:t>Read Mark 4:1–20 in full, slowly — all twenty verses, no commentary. </a:t>
            </a:r>
            <a:r>
              <a:rPr sz="1800" b="1" i="0">
                <a:solidFill>
                  <a:srgbClr val="222B22"/>
                </a:solidFill>
                <a:latin typeface="Calibri"/>
              </a:rPr>
              <a:t>Then the seed, recalled — sixty seconds. Then the four soils — and Paul’s mixed ground, next slide.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a:t>
            </a:r>
            <a:endParaRPr sz="1000" b="1">
              <a:solidFill>
                <a:srgbClr val="7A8A6E"/>
              </a:solidFill>
              <a:latin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Paul’s Mixed Ground — Romans 7</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a:t>
            </a:r>
            <a:endParaRPr sz="1000" b="1">
              <a:solidFill>
                <a:srgbClr val="7A8A6E"/>
              </a:solidFill>
              <a:latin typeface="Calibri"/>
            </a:endParaRPr>
          </a:p>
        </p:txBody>
      </p:sp>
      <p:sp>
        <p:nvSpPr>
          <p:cNvPr id="260" name="StruggleCard"/>
          <p:cNvSpPr txBox="1"/>
          <p:nvPr/>
        </p:nvSpPr>
        <p:spPr>
          <a:xfrm>
            <a:off x="822960" y="1508760"/>
            <a:ext cx="6035040" cy="310896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7:15, 18–19</a:t>
            </a:r>
          </a:p>
          <a:p>
            <a:pPr>
              <a:spcAft>
                <a:spcPts val="400"/>
              </a:spcAft>
            </a:pPr>
            <a:r>
              <a:rPr sz="2400" b="0" i="1" dirty="0">
                <a:solidFill>
                  <a:srgbClr val="222B22"/>
                </a:solidFill>
                <a:latin typeface="Cambria"/>
              </a:rPr>
              <a:t>“For I do not understand my own actions. For I do not do what I want, but I do the very thing I hate… For I have the desire to do what is right, but not the ability to carry it out. For I do not do the good I want, but the evil I do not want is what I keep on doing.”</a:t>
            </a:r>
          </a:p>
        </p:txBody>
      </p:sp>
      <p:sp>
        <p:nvSpPr>
          <p:cNvPr id="261" name="RescueCard"/>
          <p:cNvSpPr txBox="1"/>
          <p:nvPr/>
        </p:nvSpPr>
        <p:spPr>
          <a:xfrm>
            <a:off x="7132320" y="1508760"/>
            <a:ext cx="4206240" cy="310896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7:24–25</a:t>
            </a:r>
          </a:p>
          <a:p>
            <a:pPr>
              <a:spcAft>
                <a:spcPts val="400"/>
              </a:spcAft>
            </a:pPr>
            <a:r>
              <a:rPr sz="2400" b="0" i="1" dirty="0">
                <a:solidFill>
                  <a:srgbClr val="222B22"/>
                </a:solidFill>
                <a:latin typeface="Cambria"/>
              </a:rPr>
              <a:t>“Wretched man that I am! Who will deliver me from this body of death? Thanks be to God through Jesus Christ our Lord!”</a:t>
            </a:r>
          </a:p>
        </p:txBody>
      </p:sp>
      <p:sp>
        <p:nvSpPr>
          <p:cNvPr id="262" name="Landing"/>
          <p:cNvSpPr txBox="1"/>
          <p:nvPr/>
        </p:nvSpPr>
        <p:spPr>
          <a:xfrm>
            <a:off x="822960" y="5029200"/>
            <a:ext cx="10515600" cy="1005840"/>
          </a:xfrm>
          <a:prstGeom prst="rect">
            <a:avLst/>
          </a:prstGeom>
          <a:noFill/>
        </p:spPr>
        <p:txBody>
          <a:bodyPr wrap="square"/>
          <a:lstStyle/>
          <a:p>
            <a:pPr algn="l"/>
            <a:r>
              <a:rPr sz="2800" b="0" i="1" dirty="0">
                <a:solidFill>
                  <a:srgbClr val="222B22"/>
                </a:solidFill>
                <a:latin typeface="Calibri"/>
              </a:rPr>
              <a:t>Mixed soil, in the mouth of an apostle — and he lands on rescue, not despair. All four soils in one honest week is not failure. It is apostolic company.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Question Zero — Private, Journal Only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a:t>
            </a:r>
            <a:endParaRPr sz="1000" b="1">
              <a:solidFill>
                <a:srgbClr val="7A8A6E"/>
              </a:solidFill>
              <a:latin typeface="Calibri"/>
            </a:endParaRPr>
          </a:p>
        </p:txBody>
      </p:sp>
      <p:sp>
        <p:nvSpPr>
          <p:cNvPr id="240" name="CorCard"/>
          <p:cNvSpPr txBox="1"/>
          <p:nvPr/>
        </p:nvSpPr>
        <p:spPr>
          <a:xfrm>
            <a:off x="822960" y="1417320"/>
            <a:ext cx="10515600" cy="1325880"/>
          </a:xfrm>
          <a:prstGeom prst="rect">
            <a:avLst/>
          </a:prstGeom>
          <a:solidFill>
            <a:srgbClr val="F1F6EC"/>
          </a:solidFill>
        </p:spPr>
        <p:txBody>
          <a:bodyPr wrap="square" lIns="137160" tIns="91440" rIns="137160" bIns="91440" anchor="ctr"/>
          <a:lstStyle/>
          <a:p>
            <a:pPr>
              <a:spcAft>
                <a:spcPts val="800"/>
              </a:spcAft>
            </a:pPr>
            <a:r>
              <a:rPr sz="1200" b="1" i="0">
                <a:solidFill>
                  <a:srgbClr val="97BC62"/>
                </a:solidFill>
                <a:latin typeface="Calibri"/>
              </a:rPr>
              <a:t>2 CORINTHIANS 13:5</a:t>
            </a:r>
          </a:p>
          <a:p>
            <a:pPr>
              <a:spcAft>
                <a:spcPts val="400"/>
              </a:spcAft>
            </a:pPr>
            <a:r>
              <a:rPr sz="2400" b="0" i="1">
                <a:solidFill>
                  <a:srgbClr val="222B22"/>
                </a:solidFill>
                <a:latin typeface="Cambria"/>
              </a:rPr>
              <a:t>“Examine yourselves, to see whether you are in the faith. Test yourselves.”</a:t>
            </a:r>
          </a:p>
        </p:txBody>
      </p:sp>
      <p:sp>
        <p:nvSpPr>
          <p:cNvPr id="241" name="QzQuestion"/>
          <p:cNvSpPr txBox="1"/>
          <p:nvPr/>
        </p:nvSpPr>
        <p:spPr>
          <a:xfrm>
            <a:off x="822960" y="3063240"/>
            <a:ext cx="10515600" cy="1417320"/>
          </a:xfrm>
          <a:prstGeom prst="rect">
            <a:avLst/>
          </a:prstGeom>
          <a:noFill/>
        </p:spPr>
        <p:txBody>
          <a:bodyPr wrap="square"/>
          <a:lstStyle/>
          <a:p>
            <a:pPr algn="l"/>
            <a:r>
              <a:rPr sz="2400" b="1" i="0">
                <a:solidFill>
                  <a:srgbClr val="222B22"/>
                </a:solidFill>
                <a:latin typeface="Cambria"/>
              </a:rPr>
              <a:t>Has the seed itself ever gone into your ground? Has there been a time you actually said yes to Jesus — your yes, not your family’s?</a:t>
            </a:r>
          </a:p>
        </p:txBody>
      </p:sp>
      <p:sp>
        <p:nvSpPr>
          <p:cNvPr id="242" name="QzSub"/>
          <p:cNvSpPr txBox="1"/>
          <p:nvPr/>
        </p:nvSpPr>
        <p:spPr>
          <a:xfrm>
            <a:off x="479507" y="4389120"/>
            <a:ext cx="10515600" cy="548640"/>
          </a:xfrm>
          <a:prstGeom prst="rect">
            <a:avLst/>
          </a:prstGeom>
          <a:noFill/>
        </p:spPr>
        <p:txBody>
          <a:bodyPr wrap="square"/>
          <a:lstStyle/>
          <a:p>
            <a:pPr algn="ctr"/>
            <a:r>
              <a:rPr sz="2400" b="0" i="0" dirty="0">
                <a:solidFill>
                  <a:srgbClr val="222B22"/>
                </a:solidFill>
                <a:latin typeface="Calibri"/>
              </a:rPr>
              <a:t>Write your honest answer — yes, no, or I’m not sure. Nobody shares this one</a:t>
            </a:r>
            <a:r>
              <a:rPr sz="1800" b="0" i="0" dirty="0">
                <a:solidFill>
                  <a:srgbClr val="222B22"/>
                </a:solidFill>
                <a:latin typeface="Calibri"/>
              </a:rPr>
              <a:t>.</a:t>
            </a:r>
          </a:p>
        </p:txBody>
      </p:sp>
      <p:sp>
        <p:nvSpPr>
          <p:cNvPr id="243" name="QzRoad"/>
          <p:cNvSpPr txBox="1"/>
          <p:nvPr/>
        </p:nvSpPr>
        <p:spPr>
          <a:xfrm>
            <a:off x="822960" y="5349240"/>
            <a:ext cx="10515600" cy="1005840"/>
          </a:xfrm>
          <a:prstGeom prst="rect">
            <a:avLst/>
          </a:prstGeom>
          <a:noFill/>
        </p:spPr>
        <p:txBody>
          <a:bodyPr wrap="square"/>
          <a:lstStyle/>
          <a:p>
            <a:pPr algn="l"/>
            <a:r>
              <a:rPr sz="2400" b="0" i="1" dirty="0">
                <a:solidFill>
                  <a:srgbClr val="222B22"/>
                </a:solidFill>
                <a:latin typeface="Calibri"/>
              </a:rPr>
              <a:t>If it’s no, or not sure — the road is short. The thief walked it in one sentence. Any Companion, any Wednesday, quietly — or start with your parent, tonight, in the car.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Family Clusters — the Heart Soil Diagnostic</a:t>
            </a:r>
          </a:p>
        </p:txBody>
      </p:sp>
      <p:sp>
        <p:nvSpPr>
          <p:cNvPr id="4" name="TextBox 4"/>
          <p:cNvSpPr txBox="1"/>
          <p:nvPr/>
        </p:nvSpPr>
        <p:spPr>
          <a:xfrm>
            <a:off x="822960" y="1508760"/>
            <a:ext cx="6675120" cy="493776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000" b="0" i="0">
                <a:solidFill>
                  <a:srgbClr val="222B22"/>
                </a:solidFill>
                <a:latin typeface="Calibri"/>
              </a:rPr>
              <a:t>Not </a:t>
            </a:r>
            <a:r>
              <a:rPr sz="2000" b="0" i="1">
                <a:solidFill>
                  <a:srgbClr val="222B22"/>
                </a:solidFill>
                <a:latin typeface="Calibri"/>
              </a:rPr>
              <a:t>“which soil am I?”</a:t>
            </a:r>
            <a:r>
              <a:rPr sz="2000" b="0" i="0">
                <a:solidFill>
                  <a:srgbClr val="222B22"/>
                </a:solidFill>
                <a:latin typeface="Calibri"/>
              </a:rPr>
              <a:t> — where does each soil show up in my life right now? Specifically.</a:t>
            </a:r>
          </a:p>
          <a:p>
            <a:pPr marL="342900" indent="-342900">
              <a:spcAft>
                <a:spcPts val="650"/>
              </a:spcAft>
            </a:pPr>
            <a:r>
              <a:rPr sz="2000" b="1" i="0">
                <a:solidFill>
                  <a:srgbClr val="97BC62"/>
                </a:solidFill>
                <a:latin typeface="Calibri"/>
              </a:rPr>
              <a:t>1   </a:t>
            </a:r>
            <a:r>
              <a:rPr sz="2000" b="0" i="0">
                <a:solidFill>
                  <a:srgbClr val="222B22"/>
                </a:solidFill>
                <a:latin typeface="Calibri"/>
              </a:rPr>
              <a:t>Path — where is the ground hard right now? One specific place, this week</a:t>
            </a:r>
          </a:p>
          <a:p>
            <a:pPr marL="342900" indent="-342900">
              <a:spcAft>
                <a:spcPts val="650"/>
              </a:spcAft>
            </a:pPr>
            <a:r>
              <a:rPr sz="2000" b="1" i="0">
                <a:solidFill>
                  <a:srgbClr val="97BC62"/>
                </a:solidFill>
                <a:latin typeface="Calibri"/>
              </a:rPr>
              <a:t>2   </a:t>
            </a:r>
            <a:r>
              <a:rPr sz="2000" b="0" i="0">
                <a:solidFill>
                  <a:srgbClr val="222B22"/>
                </a:solidFill>
                <a:latin typeface="Calibri"/>
              </a:rPr>
              <a:t>Rocky — where has a season with God not lasted? What sun revealed the missing roots?</a:t>
            </a:r>
          </a:p>
          <a:p>
            <a:pPr marL="342900" indent="-342900">
              <a:spcAft>
                <a:spcPts val="650"/>
              </a:spcAft>
            </a:pPr>
            <a:r>
              <a:rPr sz="2000" b="1" i="0">
                <a:solidFill>
                  <a:srgbClr val="97BC62"/>
                </a:solidFill>
                <a:latin typeface="Calibri"/>
              </a:rPr>
              <a:t>3   </a:t>
            </a:r>
            <a:r>
              <a:rPr sz="2000" b="0" i="0">
                <a:solidFill>
                  <a:srgbClr val="222B22"/>
                </a:solidFill>
                <a:latin typeface="Calibri"/>
              </a:rPr>
              <a:t>Thorny — what is choking me right now: cares, riches, other desires? Which is loudest?</a:t>
            </a:r>
          </a:p>
          <a:p>
            <a:pPr marL="342900" indent="-342900">
              <a:spcAft>
                <a:spcPts val="650"/>
              </a:spcAft>
            </a:pPr>
            <a:r>
              <a:rPr sz="2000" b="1" i="0">
                <a:solidFill>
                  <a:srgbClr val="97BC62"/>
                </a:solidFill>
                <a:latin typeface="Calibri"/>
              </a:rPr>
              <a:t>4   </a:t>
            </a:r>
            <a:r>
              <a:rPr sz="2000" b="0" i="0">
                <a:solidFill>
                  <a:srgbClr val="222B22"/>
                </a:solidFill>
                <a:latin typeface="Calibri"/>
              </a:rPr>
              <a:t>Good — where has something God planted actually grown? Name one real piece of fruit</a:t>
            </a:r>
          </a:p>
          <a:p>
            <a:pPr marL="274320" indent="-274320">
              <a:spcAft>
                <a:spcPts val="650"/>
              </a:spcAft>
            </a:pPr>
            <a:r>
              <a:rPr sz="2000" b="1" i="0">
                <a:solidFill>
                  <a:srgbClr val="97BC62"/>
                </a:solidFill>
                <a:latin typeface="Calibri"/>
              </a:rPr>
              <a:t>•  </a:t>
            </a:r>
            <a:r>
              <a:rPr sz="2000" b="0" i="0">
                <a:solidFill>
                  <a:srgbClr val="222B22"/>
                </a:solidFill>
                <a:latin typeface="Calibri"/>
              </a:rPr>
              <a:t>Journal two minutes, then share — a parent answers first, every round</a:t>
            </a:r>
          </a:p>
          <a:p>
            <a:pPr marL="274320" indent="-274320">
              <a:spcAft>
                <a:spcPts val="650"/>
              </a:spcAft>
            </a:pPr>
            <a:r>
              <a:rPr sz="2000" b="1" i="0">
                <a:solidFill>
                  <a:srgbClr val="97BC62"/>
                </a:solidFill>
                <a:latin typeface="Calibri"/>
              </a:rPr>
              <a:t>•  </a:t>
            </a:r>
            <a:r>
              <a:rPr sz="2000" b="0" i="0">
                <a:solidFill>
                  <a:srgbClr val="222B22"/>
                </a:solidFill>
                <a:latin typeface="Calibri"/>
              </a:rPr>
              <a:t>“I’d rather not share that one” is a complete answer — a gift, not ammunition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a:t>
            </a:r>
            <a:endParaRPr sz="1000" b="1">
              <a:solidFill>
                <a:srgbClr val="7A8A6E"/>
              </a:solidFill>
              <a:latin typeface="Calibri"/>
            </a:endParaRPr>
          </a:p>
        </p:txBody>
      </p:sp>
      <p:pic>
        <p:nvPicPr>
          <p:cNvPr id="30" name="Picture 30" descr="hands examining soil and seed"/>
          <p:cNvPicPr>
            <a:picLocks noChangeAspect="1"/>
          </p:cNvPicPr>
          <p:nvPr/>
        </p:nvPicPr>
        <p:blipFill>
          <a:blip r:embed="rId3"/>
          <a:stretch>
            <a:fillRect/>
          </a:stretch>
        </p:blipFill>
        <p:spPr>
          <a:xfrm>
            <a:off x="7818120" y="1463040"/>
            <a:ext cx="3264408"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Re-Merge — One Word, Then the Verse</a:t>
            </a:r>
          </a:p>
        </p:txBody>
      </p:sp>
      <p:sp>
        <p:nvSpPr>
          <p:cNvPr id="4" name="TextBox 4"/>
          <p:cNvSpPr txBox="1"/>
          <p:nvPr/>
        </p:nvSpPr>
        <p:spPr>
          <a:xfrm>
            <a:off x="822960" y="1600200"/>
            <a:ext cx="5669280" cy="402336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What surfaced stays in your cluster — here, just one word from each of us</a:t>
            </a:r>
          </a:p>
          <a:p>
            <a:pPr marL="274320" indent="-274320">
              <a:spcAft>
                <a:spcPts val="800"/>
              </a:spcAft>
            </a:pPr>
            <a:r>
              <a:rPr sz="2000" b="1" i="0">
                <a:solidFill>
                  <a:srgbClr val="97BC62"/>
                </a:solidFill>
                <a:latin typeface="Calibri"/>
              </a:rPr>
              <a:t>•  </a:t>
            </a:r>
            <a:r>
              <a:rPr sz="2000" b="0" i="0">
                <a:solidFill>
                  <a:srgbClr val="222B22"/>
                </a:solidFill>
                <a:latin typeface="Calibri"/>
              </a:rPr>
              <a:t>Then the verse Jesus ends with, read slowly — listen for the word that lands</a:t>
            </a:r>
          </a:p>
          <a:p>
            <a:pPr marL="274320" indent="-274320">
              <a:spcAft>
                <a:spcPts val="800"/>
              </a:spcAft>
            </a:pPr>
            <a:r>
              <a:rPr sz="2000" b="1" i="0">
                <a:solidFill>
                  <a:srgbClr val="97BC62"/>
                </a:solidFill>
                <a:latin typeface="Calibri"/>
              </a:rPr>
              <a:t>•  </a:t>
            </a:r>
            <a:r>
              <a:rPr sz="2000" b="0" i="0">
                <a:solidFill>
                  <a:srgbClr val="222B22"/>
                </a:solidFill>
                <a:latin typeface="Calibri"/>
              </a:rPr>
              <a:t>Noticing rocks and thorns is not the opposite of good soil — it is what good soil does</a:t>
            </a:r>
          </a:p>
        </p:txBody>
      </p:sp>
      <p:sp>
        <p:nvSpPr>
          <p:cNvPr id="6" name="TextBox 6"/>
          <p:cNvSpPr txBox="1"/>
          <p:nvPr/>
        </p:nvSpPr>
        <p:spPr>
          <a:xfrm>
            <a:off x="6766560" y="1737360"/>
            <a:ext cx="4663440" cy="3291840"/>
          </a:xfrm>
          <a:prstGeom prst="rect">
            <a:avLst/>
          </a:prstGeom>
          <a:solidFill>
            <a:srgbClr val="F1F6EC"/>
          </a:solidFill>
        </p:spPr>
        <p:txBody>
          <a:bodyPr wrap="square" lIns="91440" tIns="91440" rIns="91440" bIns="91440" anchor="ctr"/>
          <a:lstStyle/>
          <a:p>
            <a:pPr>
              <a:spcAft>
                <a:spcPts val="1000"/>
              </a:spcAft>
            </a:pPr>
            <a:r>
              <a:rPr sz="1200" b="1" i="0">
                <a:solidFill>
                  <a:srgbClr val="97BC62"/>
                </a:solidFill>
                <a:latin typeface="Calibri"/>
              </a:rPr>
              <a:t>MARK 4:20</a:t>
            </a:r>
          </a:p>
          <a:p>
            <a:pPr>
              <a:spcAft>
                <a:spcPts val="600"/>
              </a:spcAft>
            </a:pPr>
            <a:r>
              <a:rPr sz="2400" b="0" i="1">
                <a:solidFill>
                  <a:srgbClr val="222B22"/>
                </a:solidFill>
                <a:latin typeface="Cambria"/>
              </a:rPr>
              <a:t>“But those that were sown on the good soil are the ones who hear the word and accept it and bear fruit, thirtyfold and sixtyfold and a hundredfold.”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a:t>
            </a:r>
            <a:endParaRPr sz="1000" b="1">
              <a:solidFill>
                <a:srgbClr val="7A8A6E"/>
              </a:solidFill>
              <a:latin typeface="Calibri"/>
            </a:endParaRPr>
          </a:p>
        </p:txBody>
      </p:sp>
      <p:pic>
        <p:nvPicPr>
          <p:cNvPr id="30" name="Picture 30" descr="a single apple on the branch"/>
          <p:cNvPicPr>
            <a:picLocks noChangeAspect="1"/>
          </p:cNvPicPr>
          <p:nvPr/>
        </p:nvPicPr>
        <p:blipFill>
          <a:blip r:embed="rId3"/>
          <a:stretch>
            <a:fillRect/>
          </a:stretch>
        </p:blipFill>
        <p:spPr>
          <a:xfrm>
            <a:off x="822960" y="4160520"/>
            <a:ext cx="4206240" cy="2368296"/>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Between-Week Practice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200" b="1" i="0" dirty="0">
                <a:solidFill>
                  <a:srgbClr val="97BC62"/>
                </a:solidFill>
                <a:latin typeface="Calibri"/>
              </a:rPr>
              <a:t>•  </a:t>
            </a:r>
            <a:r>
              <a:rPr sz="2200" b="0" i="0" dirty="0">
                <a:solidFill>
                  <a:srgbClr val="222B22"/>
                </a:solidFill>
                <a:latin typeface="Calibri"/>
              </a:rPr>
              <a:t>The Soil Journal — three times this week, five minutes each. Not every day; three times.</a:t>
            </a:r>
          </a:p>
          <a:p>
            <a:pPr marL="685800" indent="-274320">
              <a:spcAft>
                <a:spcPts val="700"/>
              </a:spcAft>
            </a:pPr>
            <a:r>
              <a:rPr sz="1800" b="1" i="0" dirty="0">
                <a:solidFill>
                  <a:srgbClr val="97BC62"/>
                </a:solidFill>
                <a:latin typeface="Calibri"/>
              </a:rPr>
              <a:t>–  </a:t>
            </a:r>
            <a:r>
              <a:rPr sz="2400" b="0" i="1" dirty="0">
                <a:solidFill>
                  <a:srgbClr val="222B22"/>
                </a:solidFill>
                <a:latin typeface="Calibri"/>
              </a:rPr>
              <a:t>Today, where did the path show up? The rocky? The thorny? The good soil?</a:t>
            </a:r>
          </a:p>
          <a:p>
            <a:pPr marL="685800" indent="-274320">
              <a:spcAft>
                <a:spcPts val="700"/>
              </a:spcAft>
            </a:pPr>
            <a:r>
              <a:rPr sz="2400" b="1" i="0" dirty="0">
                <a:solidFill>
                  <a:srgbClr val="97BC62"/>
                </a:solidFill>
                <a:latin typeface="Calibri"/>
              </a:rPr>
              <a:t>–  </a:t>
            </a:r>
            <a:r>
              <a:rPr sz="2400" b="0" i="0" dirty="0">
                <a:solidFill>
                  <a:srgbClr val="222B22"/>
                </a:solidFill>
                <a:latin typeface="Calibri"/>
              </a:rPr>
              <a:t>One sentence per soil. Specific, not general.</a:t>
            </a:r>
          </a:p>
          <a:p>
            <a:pPr marL="274320" indent="-274320">
              <a:spcAft>
                <a:spcPts val="900"/>
              </a:spcAft>
            </a:pPr>
            <a:r>
              <a:rPr sz="2200" b="1" i="0" dirty="0">
                <a:solidFill>
                  <a:srgbClr val="97BC62"/>
                </a:solidFill>
                <a:latin typeface="Calibri"/>
              </a:rPr>
              <a:t>•  </a:t>
            </a:r>
            <a:r>
              <a:rPr sz="2200" b="0" i="0" dirty="0">
                <a:solidFill>
                  <a:srgbClr val="222B22"/>
                </a:solidFill>
                <a:latin typeface="Calibri"/>
              </a:rPr>
              <a:t>No fixing. We notice; the Spirit fixes.</a:t>
            </a:r>
          </a:p>
          <a:p>
            <a:pPr marL="274320" indent="-274320">
              <a:spcAft>
                <a:spcPts val="900"/>
              </a:spcAft>
            </a:pPr>
            <a:r>
              <a:rPr sz="2200" b="1" i="0" dirty="0">
                <a:solidFill>
                  <a:srgbClr val="97BC62"/>
                </a:solidFill>
                <a:latin typeface="Calibri"/>
              </a:rPr>
              <a:t>•  </a:t>
            </a:r>
            <a:r>
              <a:rPr sz="2200" b="0" i="0" dirty="0">
                <a:solidFill>
                  <a:srgbClr val="222B22"/>
                </a:solidFill>
                <a:latin typeface="Calibri"/>
              </a:rPr>
              <a:t>Keep the morning question going too: </a:t>
            </a:r>
            <a:r>
              <a:rPr sz="2200" b="0" i="1" dirty="0">
                <a:solidFill>
                  <a:srgbClr val="222B22"/>
                </a:solidFill>
                <a:latin typeface="Calibri"/>
              </a:rPr>
              <a:t>“Father, what are you up to today?”</a:t>
            </a:r>
            <a:r>
              <a:rPr sz="2200" b="0" i="0" dirty="0">
                <a:solidFill>
                  <a:srgbClr val="222B22"/>
                </a:solidFill>
                <a:latin typeface="Calibri"/>
              </a:rPr>
              <a:t> The practices stack.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30</a:t>
            </a:r>
            <a:endParaRPr sz="1000" b="1">
              <a:solidFill>
                <a:srgbClr val="7A8A6E"/>
              </a:solidFill>
              <a:latin typeface="Calibri"/>
            </a:endParaRPr>
          </a:p>
        </p:txBody>
      </p:sp>
      <p:pic>
        <p:nvPicPr>
          <p:cNvPr id="30" name="Picture 30" descr="sprouts emerging from dark soil"/>
          <p:cNvPicPr>
            <a:picLocks noChangeAspect="1"/>
          </p:cNvPicPr>
          <p:nvPr/>
        </p:nvPicPr>
        <p:blipFill>
          <a:blip r:embed="rId3"/>
          <a:stretch>
            <a:fillRect/>
          </a:stretch>
        </p:blipFill>
        <p:spPr>
          <a:xfrm>
            <a:off x="7818120" y="1463040"/>
            <a:ext cx="3264408"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31</a:t>
            </a:r>
            <a:endParaRPr sz="1000" b="1">
              <a:solidFill>
                <a:srgbClr val="7A8A6E"/>
              </a:solidFill>
              <a:latin typeface="Calibri"/>
            </a:endParaRPr>
          </a:p>
        </p:txBody>
      </p:sp>
      <p:pic>
        <p:nvPicPr>
          <p:cNvPr id="270" name="CardImage" descr="the Week 2 check-off card, as handed out"/>
          <p:cNvPicPr>
            <a:picLocks noChangeAspect="1"/>
          </p:cNvPicPr>
          <p:nvPr/>
        </p:nvPicPr>
        <p:blipFill>
          <a:blip r:embed="rId3"/>
          <a:stretch>
            <a:fillRect/>
          </a:stretch>
        </p:blipFill>
        <p:spPr>
          <a:xfrm>
            <a:off x="1158087" y="1554480"/>
            <a:ext cx="9875520" cy="4340031"/>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077391"/>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a:solidFill>
                  <a:srgbClr val="97BC62"/>
                </a:solidFill>
                <a:latin typeface="Calibri"/>
              </a:rPr>
              <a:t>THE AARONIC BLESSING — NUMBERS 6:24–26</a:t>
            </a:r>
          </a:p>
          <a:p>
            <a:pPr>
              <a:spcAft>
                <a:spcPts val="700"/>
              </a:spcAft>
            </a:pPr>
            <a:r>
              <a:rPr sz="2400" b="0" i="1">
                <a:solidFill>
                  <a:srgbClr val="222B22"/>
                </a:solidFill>
                <a:latin typeface="Cambria"/>
              </a:rPr>
              <a:t>“The Lord bless you and keep you;</a:t>
            </a:r>
          </a:p>
          <a:p>
            <a:pPr>
              <a:spcAft>
                <a:spcPts val="700"/>
              </a:spcAft>
            </a:pPr>
            <a:r>
              <a:rPr sz="2400" b="0" i="1">
                <a:solidFill>
                  <a:srgbClr val="222B22"/>
                </a:solidFill>
                <a:latin typeface="Cambria"/>
              </a:rPr>
              <a:t>the Lord make his face to shine upon you, and be gracious to you;</a:t>
            </a:r>
          </a:p>
          <a:p>
            <a:pPr>
              <a:spcAft>
                <a:spcPts val="7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33</a:t>
            </a:r>
            <a:endParaRPr sz="1000" b="1">
              <a:solidFill>
                <a:srgbClr val="7A8A6E"/>
              </a:solidFill>
              <a:latin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3-story.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3</a:t>
            </a:r>
          </a:p>
          <a:p>
            <a:pPr algn="l">
              <a:spcAft>
                <a:spcPts val="1000"/>
              </a:spcAft>
            </a:pPr>
            <a:r>
              <a:rPr sz="3300" b="1" i="0">
                <a:solidFill>
                  <a:srgbClr val="2C5F2D"/>
                </a:solidFill>
                <a:latin typeface="Cambria"/>
              </a:rPr>
              <a:t>Telling Your Story I</a:t>
            </a:r>
          </a:p>
          <a:p>
            <a:pPr algn="l">
              <a:spcAft>
                <a:spcPts val="600"/>
              </a:spcAft>
            </a:pPr>
            <a:r>
              <a:rPr sz="1800" b="0" i="1">
                <a:solidFill>
                  <a:srgbClr val="595959"/>
                </a:solidFill>
                <a:latin typeface="Calibri"/>
              </a:rPr>
              <a:t>One question, one circle, and the practice of being known — the parents tell first; the teens’ night is Week 4</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34</a:t>
            </a:r>
            <a:endParaRPr sz="1000" b="1">
              <a:solidFill>
                <a:srgbClr val="7A8A6E"/>
              </a:solidFill>
              <a:latin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3 — Tonight’s Road</a:t>
            </a:r>
          </a:p>
        </p:txBody>
      </p:sp>
      <p:sp>
        <p:nvSpPr>
          <p:cNvPr id="4" name="TextBox 3"/>
          <p:cNvSpPr txBox="1"/>
          <p:nvPr/>
        </p:nvSpPr>
        <p:spPr>
          <a:xfrm>
            <a:off x="822960" y="1508760"/>
            <a:ext cx="7040880" cy="4978286"/>
          </a:xfrm>
          <a:prstGeom prst="rect">
            <a:avLst/>
          </a:prstGeom>
          <a:noFill/>
        </p:spPr>
        <p:txBody>
          <a:bodyPr wrap="square">
            <a:spAutoFit/>
          </a:bodyPr>
          <a:lstStyle/>
          <a:p>
            <a:pPr>
              <a:spcAft>
                <a:spcPts val="500"/>
              </a:spcAft>
            </a:pPr>
            <a:r>
              <a:rPr sz="2800" b="1" dirty="0">
                <a:solidFill>
                  <a:srgbClr val="97BC62"/>
                </a:solidFill>
                <a:latin typeface="Calibri"/>
              </a:rPr>
              <a:t>1   </a:t>
            </a:r>
            <a:r>
              <a:rPr sz="2800" dirty="0">
                <a:solidFill>
                  <a:srgbClr val="222B22"/>
                </a:solidFill>
                <a:latin typeface="Calibri"/>
              </a:rPr>
              <a:t>Welcome and centering</a:t>
            </a:r>
          </a:p>
          <a:p>
            <a:pPr>
              <a:spcAft>
                <a:spcPts val="500"/>
              </a:spcAft>
            </a:pPr>
            <a:r>
              <a:rPr sz="2800" b="1" dirty="0">
                <a:solidFill>
                  <a:srgbClr val="97BC62"/>
                </a:solidFill>
                <a:latin typeface="Calibri"/>
              </a:rPr>
              <a:t>2   </a:t>
            </a:r>
            <a:r>
              <a:rPr sz="2800" dirty="0">
                <a:solidFill>
                  <a:srgbClr val="222B22"/>
                </a:solidFill>
                <a:latin typeface="Calibri"/>
              </a:rPr>
              <a:t>Week 2 check-in</a:t>
            </a:r>
          </a:p>
          <a:p>
            <a:pPr>
              <a:spcAft>
                <a:spcPts val="500"/>
              </a:spcAft>
            </a:pPr>
            <a:r>
              <a:rPr sz="2800" b="1" dirty="0">
                <a:solidFill>
                  <a:srgbClr val="97BC62"/>
                </a:solidFill>
                <a:latin typeface="Calibri"/>
              </a:rPr>
              <a:t>3   </a:t>
            </a:r>
            <a:r>
              <a:rPr sz="2800" dirty="0">
                <a:solidFill>
                  <a:srgbClr val="222B22"/>
                </a:solidFill>
                <a:latin typeface="Calibri"/>
              </a:rPr>
              <a:t>Psalm 139 — being known</a:t>
            </a:r>
          </a:p>
          <a:p>
            <a:pPr>
              <a:spcAft>
                <a:spcPts val="500"/>
              </a:spcAft>
            </a:pPr>
            <a:r>
              <a:rPr sz="2800" b="1" dirty="0">
                <a:solidFill>
                  <a:srgbClr val="97BC62"/>
                </a:solidFill>
                <a:latin typeface="Calibri"/>
              </a:rPr>
              <a:t>4   </a:t>
            </a:r>
            <a:r>
              <a:rPr sz="2800" dirty="0">
                <a:solidFill>
                  <a:srgbClr val="222B22"/>
                </a:solidFill>
                <a:latin typeface="Calibri"/>
              </a:rPr>
              <a:t>Companion demo story</a:t>
            </a:r>
          </a:p>
          <a:p>
            <a:pPr>
              <a:spcAft>
                <a:spcPts val="500"/>
              </a:spcAft>
            </a:pPr>
            <a:r>
              <a:rPr sz="2800" b="1" dirty="0">
                <a:solidFill>
                  <a:srgbClr val="97BC62"/>
                </a:solidFill>
                <a:latin typeface="Calibri"/>
              </a:rPr>
              <a:t>5   </a:t>
            </a:r>
            <a:r>
              <a:rPr sz="2800" dirty="0">
                <a:solidFill>
                  <a:srgbClr val="222B22"/>
                </a:solidFill>
                <a:latin typeface="Calibri"/>
              </a:rPr>
              <a:t>Bridge to the clusters</a:t>
            </a:r>
          </a:p>
          <a:p>
            <a:pPr>
              <a:spcAft>
                <a:spcPts val="500"/>
              </a:spcAft>
            </a:pPr>
            <a:r>
              <a:rPr sz="2800" b="1" dirty="0">
                <a:solidFill>
                  <a:srgbClr val="97BC62"/>
                </a:solidFill>
                <a:latin typeface="Calibri"/>
              </a:rPr>
              <a:t>6   </a:t>
            </a:r>
            <a:r>
              <a:rPr sz="2800" dirty="0">
                <a:solidFill>
                  <a:srgbClr val="222B22"/>
                </a:solidFill>
                <a:latin typeface="Calibri"/>
              </a:rPr>
              <a:t>Stories in family clusters</a:t>
            </a:r>
          </a:p>
          <a:p>
            <a:pPr>
              <a:spcAft>
                <a:spcPts val="500"/>
              </a:spcAft>
            </a:pPr>
            <a:r>
              <a:rPr sz="2800" b="1" dirty="0">
                <a:solidFill>
                  <a:srgbClr val="97BC62"/>
                </a:solidFill>
                <a:latin typeface="Calibri"/>
              </a:rPr>
              <a:t>7   </a:t>
            </a:r>
            <a:r>
              <a:rPr sz="2800" dirty="0">
                <a:solidFill>
                  <a:srgbClr val="222B22"/>
                </a:solidFill>
                <a:latin typeface="Calibri"/>
              </a:rPr>
              <a:t>Merge and shared closing</a:t>
            </a:r>
          </a:p>
          <a:p>
            <a:pPr>
              <a:spcAft>
                <a:spcPts val="500"/>
              </a:spcAft>
            </a:pPr>
            <a:r>
              <a:rPr sz="2800" b="1" dirty="0">
                <a:solidFill>
                  <a:srgbClr val="97BC62"/>
                </a:solidFill>
                <a:latin typeface="Calibri"/>
              </a:rPr>
              <a:t>8   </a:t>
            </a:r>
            <a:r>
              <a:rPr sz="2800" dirty="0">
                <a:solidFill>
                  <a:srgbClr val="222B22"/>
                </a:solidFill>
                <a:latin typeface="Calibri"/>
              </a:rPr>
              <a:t>Between-session practice</a:t>
            </a:r>
          </a:p>
          <a:p>
            <a:pPr>
              <a:spcAft>
                <a:spcPts val="500"/>
              </a:spcAft>
            </a:pPr>
            <a:r>
              <a:rPr sz="2800" b="1" dirty="0">
                <a:solidFill>
                  <a:srgbClr val="97BC62"/>
                </a:solidFill>
                <a:latin typeface="Calibri"/>
              </a:rPr>
              <a:t>9   </a:t>
            </a:r>
            <a:r>
              <a:rPr sz="2800" dirty="0">
                <a:solidFill>
                  <a:srgbClr val="222B22"/>
                </a:solidFill>
                <a:latin typeface="Calibri"/>
              </a:rPr>
              <a:t>The Leader Feedback Round</a:t>
            </a:r>
          </a:p>
          <a:p>
            <a:pPr>
              <a:spcAft>
                <a:spcPts val="500"/>
              </a:spcAft>
            </a:pPr>
            <a:r>
              <a:rPr sz="2800" b="1" dirty="0">
                <a:solidFill>
                  <a:srgbClr val="97BC62"/>
                </a:solidFill>
                <a:latin typeface="Calibri"/>
              </a:rPr>
              <a:t>10   </a:t>
            </a:r>
            <a:r>
              <a:rPr sz="2800" dirty="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6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6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6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6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6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6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6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36</a:t>
            </a:r>
            <a:endParaRPr sz="1000" b="1">
              <a:solidFill>
                <a:srgbClr val="7A8A6E"/>
              </a:solidFill>
              <a:latin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 Check-In — Heart Soil</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dirty="0">
                <a:solidFill>
                  <a:srgbClr val="97BC62"/>
                </a:solidFill>
                <a:latin typeface="Calibri"/>
              </a:rPr>
              <a:t>•  </a:t>
            </a:r>
            <a:r>
              <a:rPr sz="2600" b="0" i="0" dirty="0">
                <a:solidFill>
                  <a:srgbClr val="222B22"/>
                </a:solidFill>
                <a:latin typeface="Calibri"/>
              </a:rPr>
              <a:t>“Some of you journaled this week. Some of you didn’t. Both are fine.”</a:t>
            </a:r>
          </a:p>
          <a:p>
            <a:pPr marL="274320" indent="-274320">
              <a:spcAft>
                <a:spcPts val="900"/>
              </a:spcAft>
            </a:pPr>
            <a:r>
              <a:rPr sz="2600" b="1" i="0" dirty="0">
                <a:solidFill>
                  <a:srgbClr val="97BC62"/>
                </a:solidFill>
                <a:latin typeface="Calibri"/>
              </a:rPr>
              <a:t>•  </a:t>
            </a:r>
            <a:r>
              <a:rPr sz="2600" b="0" i="0" dirty="0">
                <a:solidFill>
                  <a:srgbClr val="222B22"/>
                </a:solidFill>
                <a:latin typeface="Calibri"/>
              </a:rPr>
              <a:t>One sentence about what showed up — optional, no pressure</a:t>
            </a:r>
          </a:p>
          <a:p>
            <a:pPr marL="685800" indent="-274320">
              <a:spcAft>
                <a:spcPts val="700"/>
              </a:spcAft>
            </a:pPr>
            <a:r>
              <a:rPr sz="1900" b="1" i="0" dirty="0">
                <a:solidFill>
                  <a:srgbClr val="97BC62"/>
                </a:solidFill>
                <a:latin typeface="Calibri"/>
              </a:rPr>
              <a:t>–  </a:t>
            </a:r>
            <a:r>
              <a:rPr sz="2800" b="0" i="1" dirty="0">
                <a:solidFill>
                  <a:srgbClr val="222B22"/>
                </a:solidFill>
                <a:latin typeface="Calibri"/>
              </a:rPr>
              <a:t>“‘Path soil at school’ — just one sentence. Anyone?”</a:t>
            </a:r>
          </a:p>
          <a:p>
            <a:pPr marL="274320" indent="-274320">
              <a:spcAft>
                <a:spcPts val="900"/>
              </a:spcAft>
            </a:pPr>
            <a:r>
              <a:rPr sz="2600" b="1" i="0" dirty="0">
                <a:solidFill>
                  <a:srgbClr val="97BC62"/>
                </a:solidFill>
                <a:latin typeface="Calibri"/>
              </a:rPr>
              <a:t>•  </a:t>
            </a:r>
            <a:r>
              <a:rPr sz="2600" b="0" i="0" dirty="0">
                <a:solidFill>
                  <a:srgbClr val="222B22"/>
                </a:solidFill>
                <a:latin typeface="Calibri"/>
              </a:rPr>
              <a:t>“The work is happening, whether or not we name it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37</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Psalm 139 — Being Known</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Psalm 139 is the psalm of being completely known by God — and the psalmist’s response is not panic. It is wonder</a:t>
            </a:r>
          </a:p>
          <a:p>
            <a:pPr marL="274320" indent="-274320">
              <a:spcAft>
                <a:spcPts val="800"/>
              </a:spcAft>
            </a:pPr>
            <a:r>
              <a:rPr sz="2000" b="1" i="0">
                <a:solidFill>
                  <a:srgbClr val="97BC62"/>
                </a:solidFill>
                <a:latin typeface="Calibri"/>
              </a:rPr>
              <a:t>•  </a:t>
            </a:r>
            <a:r>
              <a:rPr sz="2000" b="0" i="0">
                <a:solidFill>
                  <a:srgbClr val="222B22"/>
                </a:solidFill>
                <a:latin typeface="Calibri"/>
              </a:rPr>
              <a:t>Most of us have parts we hope nobody has noticed. The psalmist invites God to look further</a:t>
            </a:r>
          </a:p>
          <a:p>
            <a:pPr marL="274320" indent="-274320">
              <a:spcAft>
                <a:spcPts val="800"/>
              </a:spcAft>
            </a:pPr>
            <a:r>
              <a:rPr sz="2000" b="1" i="0">
                <a:solidFill>
                  <a:srgbClr val="97BC62"/>
                </a:solidFill>
                <a:latin typeface="Calibri"/>
              </a:rPr>
              <a:t>•  </a:t>
            </a:r>
            <a:r>
              <a:rPr sz="2000" b="0" i="0">
                <a:solidFill>
                  <a:srgbClr val="222B22"/>
                </a:solidFill>
                <a:latin typeface="Calibri"/>
              </a:rPr>
              <a:t>The opposite of being hidden is not being exposed — it is being seen and being safe at the same time. That is what the circle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is a small practice of Psalm 139 — parents answer one question, with what they are willing to say</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139:23–24</a:t>
            </a:r>
          </a:p>
          <a:p>
            <a:pPr>
              <a:spcAft>
                <a:spcPts val="600"/>
              </a:spcAft>
            </a:pPr>
            <a:r>
              <a:rPr sz="2400" b="0" i="1">
                <a:solidFill>
                  <a:srgbClr val="222B22"/>
                </a:solidFill>
                <a:latin typeface="Cambria"/>
              </a:rPr>
              <a:t>“Search me, O God, and know my heart! Try me and know my thoughts! And see if there be any grievous way in me, and lead me in the way everlasting!”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38</a:t>
            </a:r>
            <a:endParaRPr sz="1000" b="1">
              <a:solidFill>
                <a:srgbClr val="7A8A6E"/>
              </a:solidFill>
              <a:latin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Companion Demo Story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dirty="0">
                <a:solidFill>
                  <a:srgbClr val="97BC62"/>
                </a:solidFill>
                <a:latin typeface="Calibri"/>
              </a:rPr>
              <a:t>•  </a:t>
            </a:r>
            <a:r>
              <a:rPr sz="2400" b="0" i="0" dirty="0">
                <a:solidFill>
                  <a:srgbClr val="222B22"/>
                </a:solidFill>
                <a:latin typeface="Calibri"/>
              </a:rPr>
              <a:t>The Lead Companion tells their own story — five minutes, modeling the form</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The one question: “tell the story of how you got here — today, as you are. What has shaped you into who you are today?”</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Be specific — “I grew up in a house where </a:t>
            </a:r>
            <a:r>
              <a:rPr lang="en-US" sz="2400" b="0" i="0" dirty="0">
                <a:solidFill>
                  <a:srgbClr val="222B22"/>
                </a:solidFill>
                <a:latin typeface="Calibri"/>
              </a:rPr>
              <a:t>we didn’t do anger, it wasn’t accepted</a:t>
            </a:r>
            <a:r>
              <a:rPr sz="2400" b="0" i="0" dirty="0">
                <a:solidFill>
                  <a:srgbClr val="222B22"/>
                </a:solidFill>
                <a:latin typeface="Calibri"/>
              </a:rPr>
              <a:t>”</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Not the hero, not the victim — what happened, and where you see God in it now, looking back</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“That is the form. Parents, you’ll do this in your cluster tonight. Teens, this is yours next week. Yours doesn’t have to look like mine.”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39</a:t>
            </a:r>
            <a:endParaRPr sz="1000" b="1">
              <a:solidFill>
                <a:srgbClr val="7A8A6E"/>
              </a:solidFill>
              <a:latin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Clusters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200" b="1" i="0" dirty="0">
                <a:solidFill>
                  <a:srgbClr val="97BC62"/>
                </a:solidFill>
                <a:latin typeface="Calibri"/>
              </a:rPr>
              <a:t>1   </a:t>
            </a:r>
            <a:r>
              <a:rPr sz="2800" b="0" i="0" dirty="0">
                <a:solidFill>
                  <a:srgbClr val="222B22"/>
                </a:solidFill>
                <a:latin typeface="Calibri"/>
              </a:rPr>
              <a:t>One question — how you got here, and what has shaped you. The depth is yours to choose</a:t>
            </a:r>
          </a:p>
          <a:p>
            <a:pPr marL="342900" indent="-342900">
              <a:spcAft>
                <a:spcPts val="900"/>
              </a:spcAft>
            </a:pPr>
            <a:r>
              <a:rPr sz="2800" b="1" i="0" dirty="0">
                <a:solidFill>
                  <a:srgbClr val="97BC62"/>
                </a:solidFill>
                <a:latin typeface="Calibri"/>
              </a:rPr>
              <a:t>2   </a:t>
            </a:r>
            <a:r>
              <a:rPr sz="2800" b="0" i="0" dirty="0">
                <a:solidFill>
                  <a:srgbClr val="222B22"/>
                </a:solidFill>
                <a:latin typeface="Calibri"/>
              </a:rPr>
              <a:t>Listening — do not fix. Do not advise. Do not say “that happened to me too.” Receive, then bless</a:t>
            </a:r>
          </a:p>
          <a:p>
            <a:pPr marL="342900" indent="-342900">
              <a:spcAft>
                <a:spcPts val="900"/>
              </a:spcAft>
            </a:pPr>
            <a:r>
              <a:rPr sz="2800" b="1" i="0" dirty="0">
                <a:solidFill>
                  <a:srgbClr val="97BC62"/>
                </a:solidFill>
                <a:latin typeface="Calibri"/>
              </a:rPr>
              <a:t>3   </a:t>
            </a:r>
            <a:r>
              <a:rPr sz="2800" b="0" i="0" dirty="0">
                <a:solidFill>
                  <a:srgbClr val="222B22"/>
                </a:solidFill>
                <a:latin typeface="Calibri"/>
              </a:rPr>
              <a:t>Nothing leaves your circle. “Not a phrase, not a name, not a story.”</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Teens — your own storytelling card goes home tonight; next Wednesday is your night</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Two or three families together, your own family stays with you — thirty-five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40</a:t>
            </a:r>
            <a:endParaRPr sz="1000" b="1">
              <a:solidFill>
                <a:srgbClr val="7A8A6E"/>
              </a:solidFill>
              <a:latin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Stories in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Tonight’s tellers: the parents — plus any Companion-in-Formation. The Cluster Companion goes first</a:t>
            </a:r>
          </a:p>
          <a:p>
            <a:pPr marL="342900" indent="-342900">
              <a:spcAft>
                <a:spcPts val="750"/>
              </a:spcAft>
            </a:pPr>
            <a:r>
              <a:rPr sz="2000" b="1" i="0">
                <a:solidFill>
                  <a:srgbClr val="97BC62"/>
                </a:solidFill>
                <a:latin typeface="Calibri"/>
              </a:rPr>
              <a:t>1   </a:t>
            </a:r>
            <a:r>
              <a:rPr sz="2000" b="0" i="0">
                <a:solidFill>
                  <a:srgbClr val="222B22"/>
                </a:solidFill>
                <a:latin typeface="Calibri"/>
              </a:rPr>
              <a:t>Story — 5–7 minutes. The teller speaks; nobody interrupts, even the silences</a:t>
            </a:r>
          </a:p>
          <a:p>
            <a:pPr marL="342900" indent="-342900">
              <a:spcAft>
                <a:spcPts val="750"/>
              </a:spcAft>
            </a:pPr>
            <a:r>
              <a:rPr sz="2000" b="1" i="0">
                <a:solidFill>
                  <a:srgbClr val="97BC62"/>
                </a:solidFill>
                <a:latin typeface="Calibri"/>
              </a:rPr>
              <a:t>2   </a:t>
            </a:r>
            <a:r>
              <a:rPr sz="2000" b="0" i="0">
                <a:solidFill>
                  <a:srgbClr val="222B22"/>
                </a:solidFill>
                <a:latin typeface="Calibri"/>
              </a:rPr>
              <a:t>Silence — ten seconds</a:t>
            </a:r>
          </a:p>
          <a:p>
            <a:pPr marL="342900" indent="-342900">
              <a:spcAft>
                <a:spcPts val="750"/>
              </a:spcAft>
            </a:pPr>
            <a:r>
              <a:rPr sz="2000" b="1" i="0">
                <a:solidFill>
                  <a:srgbClr val="97BC62"/>
                </a:solidFill>
                <a:latin typeface="Calibri"/>
              </a:rPr>
              <a:t>3   </a:t>
            </a:r>
            <a:r>
              <a:rPr sz="2000" b="0" i="0">
                <a:solidFill>
                  <a:srgbClr val="222B22"/>
                </a:solidFill>
                <a:latin typeface="Calibri"/>
              </a:rPr>
              <a:t>Blessing round — one or two sentences each, teens included: “What I want to bless about your story is...”</a:t>
            </a:r>
          </a:p>
          <a:p>
            <a:pPr marL="274320" indent="-274320">
              <a:spcAft>
                <a:spcPts val="750"/>
              </a:spcAft>
            </a:pPr>
            <a:r>
              <a:rPr sz="2000" b="1" i="0">
                <a:solidFill>
                  <a:srgbClr val="97BC62"/>
                </a:solidFill>
                <a:latin typeface="Calibri"/>
              </a:rPr>
              <a:t>•  </a:t>
            </a:r>
            <a:r>
              <a:rPr sz="2000" b="0" i="0">
                <a:solidFill>
                  <a:srgbClr val="222B22"/>
                </a:solidFill>
                <a:latin typeface="Calibri"/>
              </a:rPr>
              <a:t>“Inside this cluster, what is said stays in this cluster. Not even back to the main room, and not back up in the car this week.”</a:t>
            </a:r>
          </a:p>
          <a:p>
            <a:pPr marL="274320" indent="-274320">
              <a:spcAft>
                <a:spcPts val="750"/>
              </a:spcAft>
            </a:pPr>
            <a:r>
              <a:rPr sz="2000" b="1" i="0">
                <a:solidFill>
                  <a:srgbClr val="97BC62"/>
                </a:solidFill>
                <a:latin typeface="Calibri"/>
              </a:rPr>
              <a:t>•  </a:t>
            </a:r>
            <a:r>
              <a:rPr sz="2000" b="0" i="0">
                <a:solidFill>
                  <a:srgbClr val="222B22"/>
                </a:solidFill>
                <a:latin typeface="Calibri"/>
              </a:rPr>
              <a:t>“When someone is telling their story... we are looking at them. We are receiving. That’s the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41</a:t>
            </a:r>
            <a:endParaRPr sz="1000" b="1">
              <a:solidFill>
                <a:srgbClr val="7A8A6E"/>
              </a:solidFill>
              <a:latin typeface="Calibri"/>
            </a:endParaRPr>
          </a:p>
        </p:txBody>
      </p:sp>
      <p:pic>
        <p:nvPicPr>
          <p:cNvPr id="30" name="Picture 30" descr="stepping stones across a stream"/>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Shared Closing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dirty="0">
                <a:solidFill>
                  <a:srgbClr val="97BC62"/>
                </a:solidFill>
                <a:latin typeface="Calibri"/>
              </a:rPr>
              <a:t>•  </a:t>
            </a:r>
            <a:r>
              <a:rPr sz="2800" b="0" i="0" dirty="0">
                <a:solidFill>
                  <a:srgbClr val="222B22"/>
                </a:solidFill>
                <a:latin typeface="Calibri"/>
              </a:rPr>
              <a:t>What happened in your circle stays in your circle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One word — just one — about what tonight was like for you. You can pass</a:t>
            </a:r>
          </a:p>
          <a:p>
            <a:pPr marL="685800" indent="-274320">
              <a:spcAft>
                <a:spcPts val="700"/>
              </a:spcAft>
            </a:pPr>
            <a:r>
              <a:rPr sz="2800" b="1" i="0" dirty="0">
                <a:solidFill>
                  <a:srgbClr val="97BC62"/>
                </a:solidFill>
                <a:latin typeface="Calibri"/>
              </a:rPr>
              <a:t>–  </a:t>
            </a:r>
            <a:r>
              <a:rPr sz="2800" b="0" i="1" dirty="0">
                <a:solidFill>
                  <a:srgbClr val="222B22"/>
                </a:solidFill>
                <a:latin typeface="Calibri"/>
              </a:rPr>
              <a:t>“Heavy.” “Seen.” “Surprising.” “Tender.” “Hard.” Whatever the true word is</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“Each of you brought something true into this room tonight, and each of you received something true. That’s rare. It’s also the kind of room God shows up 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42</a:t>
            </a:r>
            <a:endParaRPr sz="1000" b="1">
              <a:solidFill>
                <a:srgbClr val="7A8A6E"/>
              </a:solidFill>
              <a:latin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Joint Footprints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Joint Footprints — each parent-and-teen pair sits together once this week. Twenty minutes total</a:t>
            </a:r>
          </a:p>
          <a:p>
            <a:pPr marL="274320" indent="-274320">
              <a:spcAft>
                <a:spcPts val="750"/>
              </a:spcAft>
            </a:pPr>
            <a:r>
              <a:rPr sz="2000" b="1" i="0">
                <a:solidFill>
                  <a:srgbClr val="97BC62"/>
                </a:solidFill>
                <a:latin typeface="Calibri"/>
              </a:rPr>
              <a:t>•  </a:t>
            </a:r>
            <a:r>
              <a:rPr sz="2000" b="0" i="0">
                <a:solidFill>
                  <a:srgbClr val="222B22"/>
                </a:solidFill>
                <a:latin typeface="Calibri"/>
              </a:rPr>
              <a:t>Not in the car, not at dinner, not while the TV is on. Phones away</a:t>
            </a:r>
          </a:p>
          <a:p>
            <a:pPr marL="342900" indent="-342900">
              <a:spcAft>
                <a:spcPts val="750"/>
              </a:spcAft>
            </a:pPr>
            <a:r>
              <a:rPr sz="2000" b="1" i="0">
                <a:solidFill>
                  <a:srgbClr val="97BC62"/>
                </a:solidFill>
                <a:latin typeface="Calibri"/>
              </a:rPr>
              <a:t>1   </a:t>
            </a:r>
            <a:r>
              <a:rPr sz="2000" b="0" i="0">
                <a:solidFill>
                  <a:srgbClr val="222B22"/>
                </a:solidFill>
                <a:latin typeface="Calibri"/>
              </a:rPr>
              <a:t>Five minutes telling the footprints question — where you grew up, who shaped you, what places and people made you who you are</a:t>
            </a:r>
          </a:p>
          <a:p>
            <a:pPr marL="342900" indent="-342900">
              <a:spcAft>
                <a:spcPts val="750"/>
              </a:spcAft>
            </a:pPr>
            <a:r>
              <a:rPr sz="2000" b="1" i="0">
                <a:solidFill>
                  <a:srgbClr val="97BC62"/>
                </a:solidFill>
                <a:latin typeface="Calibri"/>
              </a:rPr>
              <a:t>2   </a:t>
            </a:r>
            <a:r>
              <a:rPr sz="2000" b="0" i="0">
                <a:solidFill>
                  <a:srgbClr val="222B22"/>
                </a:solidFill>
                <a:latin typeface="Calibri"/>
              </a:rPr>
              <a:t>The listener asks one or two follow-ups, then one sentence: “What I love about your footprints is...”</a:t>
            </a:r>
          </a:p>
          <a:p>
            <a:pPr marL="342900" indent="-342900">
              <a:spcAft>
                <a:spcPts val="750"/>
              </a:spcAft>
            </a:pPr>
            <a:r>
              <a:rPr sz="2000" b="1" i="0">
                <a:solidFill>
                  <a:srgbClr val="97BC62"/>
                </a:solidFill>
                <a:latin typeface="Calibri"/>
              </a:rPr>
              <a:t>3   </a:t>
            </a:r>
            <a:r>
              <a:rPr sz="2000" b="0" i="0">
                <a:solidFill>
                  <a:srgbClr val="222B22"/>
                </a:solidFill>
                <a:latin typeface="Calibri"/>
              </a:rPr>
              <a:t>Then swap — the other person tells, the first listens and blesses</a:t>
            </a:r>
          </a:p>
          <a:p>
            <a:pPr marL="274320" indent="-274320">
              <a:spcAft>
                <a:spcPts val="750"/>
              </a:spcAft>
            </a:pPr>
            <a:r>
              <a:rPr sz="2000" b="1" i="0">
                <a:solidFill>
                  <a:srgbClr val="97BC62"/>
                </a:solidFill>
                <a:latin typeface="Calibri"/>
              </a:rPr>
              <a:t>•  </a:t>
            </a:r>
            <a:r>
              <a:rPr sz="2000" b="0" i="0">
                <a:solidFill>
                  <a:srgbClr val="222B22"/>
                </a:solidFill>
                <a:latin typeface="Calibri"/>
              </a:rPr>
              <a:t>The morning question and evening journal note continue daily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43</a:t>
            </a:r>
            <a:endParaRPr sz="1000" b="1">
              <a:solidFill>
                <a:srgbClr val="7A8A6E"/>
              </a:solidFill>
              <a:latin typeface="Calibri"/>
            </a:endParaRPr>
          </a:p>
        </p:txBody>
      </p:sp>
      <p:pic>
        <p:nvPicPr>
          <p:cNvPr id="30" name="Picture 30" descr="two pairs of footprints in sand"/>
          <p:cNvPicPr>
            <a:picLocks noChangeAspect="1"/>
          </p:cNvPicPr>
          <p:nvPr/>
        </p:nvPicPr>
        <p:blipFill>
          <a:blip r:embed="rId3"/>
          <a:stretch>
            <a:fillRect/>
          </a:stretch>
        </p:blipFill>
        <p:spPr>
          <a:xfrm>
            <a:off x="8008829" y="1463040"/>
            <a:ext cx="3357162"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44</a:t>
            </a:r>
            <a:endParaRPr sz="1000" b="1">
              <a:solidFill>
                <a:srgbClr val="7A8A6E"/>
              </a:solidFill>
              <a:latin typeface="Calibri"/>
            </a:endParaRPr>
          </a:p>
        </p:txBody>
      </p:sp>
      <p:pic>
        <p:nvPicPr>
          <p:cNvPr id="270" name="CardImage" descr="the Week 3 check-off card, as handed out"/>
          <p:cNvPicPr>
            <a:picLocks noChangeAspect="1"/>
          </p:cNvPicPr>
          <p:nvPr/>
        </p:nvPicPr>
        <p:blipFill>
          <a:blip r:embed="rId3"/>
          <a:stretch>
            <a:fillRect/>
          </a:stretch>
        </p:blipFill>
        <p:spPr>
          <a:xfrm>
            <a:off x="1158087" y="1554480"/>
            <a:ext cx="9875520" cy="421009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4745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46</a:t>
            </a:r>
            <a:endParaRPr sz="1000" b="1">
              <a:solidFill>
                <a:srgbClr val="7A8A6E"/>
              </a:solidFill>
              <a:latin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3-story.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4</a:t>
            </a:r>
          </a:p>
          <a:p>
            <a:pPr algn="l">
              <a:spcAft>
                <a:spcPts val="1000"/>
              </a:spcAft>
            </a:pPr>
            <a:r>
              <a:rPr sz="3300" b="1" i="0">
                <a:solidFill>
                  <a:srgbClr val="2C5F2D"/>
                </a:solidFill>
                <a:latin typeface="Cambria"/>
              </a:rPr>
              <a:t>Telling Your Story II</a:t>
            </a:r>
          </a:p>
          <a:p>
            <a:pPr algn="l">
              <a:spcAft>
                <a:spcPts val="600"/>
              </a:spcAft>
            </a:pPr>
            <a:r>
              <a:rPr sz="1800" b="0" i="1">
                <a:solidFill>
                  <a:srgbClr val="595959"/>
                </a:solidFill>
                <a:latin typeface="Calibri"/>
              </a:rPr>
              <a:t>The second running — the teens tell, the round is completed, and the room watches one of its own hold it</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47</a:t>
            </a:r>
            <a:endParaRPr sz="1000" b="1">
              <a:solidFill>
                <a:srgbClr val="7A8A6E"/>
              </a:solidFill>
              <a:latin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4 — Tonight’s Road</a:t>
            </a:r>
          </a:p>
        </p:txBody>
      </p:sp>
      <p:sp>
        <p:nvSpPr>
          <p:cNvPr id="4" name="TextBox 3"/>
          <p:cNvSpPr txBox="1"/>
          <p:nvPr/>
        </p:nvSpPr>
        <p:spPr>
          <a:xfrm>
            <a:off x="822960" y="1508760"/>
            <a:ext cx="7040880" cy="4483279"/>
          </a:xfrm>
          <a:prstGeom prst="rect">
            <a:avLst/>
          </a:prstGeom>
          <a:noFill/>
        </p:spPr>
        <p:txBody>
          <a:bodyPr wrap="square">
            <a:spAutoFit/>
          </a:bodyPr>
          <a:lstStyle/>
          <a:p>
            <a:pPr>
              <a:spcAft>
                <a:spcPts val="500"/>
              </a:spcAft>
            </a:pPr>
            <a:r>
              <a:rPr sz="2800" b="1" dirty="0">
                <a:solidFill>
                  <a:srgbClr val="97BC62"/>
                </a:solidFill>
                <a:latin typeface="Calibri"/>
              </a:rPr>
              <a:t>1   </a:t>
            </a:r>
            <a:r>
              <a:rPr sz="2800" dirty="0">
                <a:solidFill>
                  <a:srgbClr val="222B22"/>
                </a:solidFill>
                <a:latin typeface="Calibri"/>
              </a:rPr>
              <a:t>Welcome and centering</a:t>
            </a:r>
          </a:p>
          <a:p>
            <a:pPr>
              <a:spcAft>
                <a:spcPts val="500"/>
              </a:spcAft>
            </a:pPr>
            <a:r>
              <a:rPr sz="2800" b="1" dirty="0">
                <a:solidFill>
                  <a:srgbClr val="97BC62"/>
                </a:solidFill>
                <a:latin typeface="Calibri"/>
              </a:rPr>
              <a:t>2   </a:t>
            </a:r>
            <a:r>
              <a:rPr sz="2800" dirty="0">
                <a:solidFill>
                  <a:srgbClr val="222B22"/>
                </a:solidFill>
                <a:latin typeface="Calibri"/>
              </a:rPr>
              <a:t>Joint Footprints check-in</a:t>
            </a:r>
          </a:p>
          <a:p>
            <a:pPr>
              <a:spcAft>
                <a:spcPts val="500"/>
              </a:spcAft>
            </a:pPr>
            <a:r>
              <a:rPr sz="2800" b="1" dirty="0">
                <a:solidFill>
                  <a:srgbClr val="97BC62"/>
                </a:solidFill>
                <a:latin typeface="Calibri"/>
              </a:rPr>
              <a:t>3   </a:t>
            </a:r>
            <a:r>
              <a:rPr sz="2800" dirty="0">
                <a:solidFill>
                  <a:srgbClr val="222B22"/>
                </a:solidFill>
                <a:latin typeface="Calibri"/>
              </a:rPr>
              <a:t>Psalm 139 — being known, again</a:t>
            </a:r>
          </a:p>
          <a:p>
            <a:pPr>
              <a:spcAft>
                <a:spcPts val="500"/>
              </a:spcAft>
            </a:pPr>
            <a:r>
              <a:rPr sz="2800" b="1" dirty="0">
                <a:solidFill>
                  <a:srgbClr val="97BC62"/>
                </a:solidFill>
                <a:latin typeface="Calibri"/>
              </a:rPr>
              <a:t>4   </a:t>
            </a:r>
            <a:r>
              <a:rPr sz="2800" dirty="0">
                <a:solidFill>
                  <a:srgbClr val="222B22"/>
                </a:solidFill>
                <a:latin typeface="Calibri"/>
              </a:rPr>
              <a:t>Bridge to the split</a:t>
            </a:r>
          </a:p>
          <a:p>
            <a:pPr>
              <a:spcAft>
                <a:spcPts val="500"/>
              </a:spcAft>
            </a:pPr>
            <a:r>
              <a:rPr sz="2800" b="1" dirty="0">
                <a:solidFill>
                  <a:srgbClr val="97BC62"/>
                </a:solidFill>
                <a:latin typeface="Calibri"/>
              </a:rPr>
              <a:t>5   </a:t>
            </a:r>
            <a:r>
              <a:rPr sz="2800" dirty="0">
                <a:solidFill>
                  <a:srgbClr val="222B22"/>
                </a:solidFill>
                <a:latin typeface="Calibri"/>
              </a:rPr>
              <a:t>Stories in family clusters</a:t>
            </a:r>
          </a:p>
          <a:p>
            <a:pPr>
              <a:spcAft>
                <a:spcPts val="500"/>
              </a:spcAft>
            </a:pPr>
            <a:r>
              <a:rPr sz="2800" b="1" dirty="0">
                <a:solidFill>
                  <a:srgbClr val="97BC62"/>
                </a:solidFill>
                <a:latin typeface="Calibri"/>
              </a:rPr>
              <a:t>6   </a:t>
            </a:r>
            <a:r>
              <a:rPr sz="2800" dirty="0">
                <a:solidFill>
                  <a:srgbClr val="222B22"/>
                </a:solidFill>
                <a:latin typeface="Calibri"/>
              </a:rPr>
              <a:t>Merge and one-word landing</a:t>
            </a:r>
          </a:p>
          <a:p>
            <a:pPr>
              <a:spcAft>
                <a:spcPts val="500"/>
              </a:spcAft>
            </a:pPr>
            <a:r>
              <a:rPr sz="2800" b="1" dirty="0">
                <a:solidFill>
                  <a:srgbClr val="97BC62"/>
                </a:solidFill>
                <a:latin typeface="Calibri"/>
              </a:rPr>
              <a:t>7   </a:t>
            </a:r>
            <a:r>
              <a:rPr sz="2800" dirty="0">
                <a:solidFill>
                  <a:srgbClr val="222B22"/>
                </a:solidFill>
                <a:latin typeface="Calibri"/>
              </a:rPr>
              <a:t>Between-session practice</a:t>
            </a:r>
          </a:p>
          <a:p>
            <a:pPr>
              <a:spcAft>
                <a:spcPts val="500"/>
              </a:spcAft>
            </a:pPr>
            <a:r>
              <a:rPr sz="2800" b="1" dirty="0">
                <a:solidFill>
                  <a:srgbClr val="97BC62"/>
                </a:solidFill>
                <a:latin typeface="Calibri"/>
              </a:rPr>
              <a:t>8   </a:t>
            </a:r>
            <a:r>
              <a:rPr sz="2800" dirty="0">
                <a:solidFill>
                  <a:srgbClr val="222B22"/>
                </a:solidFill>
                <a:latin typeface="Calibri"/>
              </a:rPr>
              <a:t>The Leader Feedback Round</a:t>
            </a:r>
          </a:p>
          <a:p>
            <a:pPr>
              <a:spcAft>
                <a:spcPts val="500"/>
              </a:spcAft>
            </a:pPr>
            <a:r>
              <a:rPr sz="2800" b="1" dirty="0">
                <a:solidFill>
                  <a:srgbClr val="97BC62"/>
                </a:solidFill>
                <a:latin typeface="Calibri"/>
              </a:rPr>
              <a:t>9   </a:t>
            </a:r>
            <a:r>
              <a:rPr sz="2800" dirty="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6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6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6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6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6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6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6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49</a:t>
            </a:r>
            <a:endParaRPr sz="1000" b="1">
              <a:solidFill>
                <a:srgbClr val="7A8A6E"/>
              </a:solidFill>
              <a:latin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Joint Footprints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dirty="0">
                <a:solidFill>
                  <a:srgbClr val="97BC62"/>
                </a:solidFill>
                <a:latin typeface="Calibri"/>
              </a:rPr>
              <a:t>•  </a:t>
            </a:r>
            <a:r>
              <a:rPr sz="2800" b="0" i="0" dirty="0">
                <a:solidFill>
                  <a:srgbClr val="222B22"/>
                </a:solidFill>
                <a:latin typeface="Calibri"/>
              </a:rPr>
              <a:t>“Some of you got to it. Some of you didn’t. Both are fine — ‘we didn’t get to it’ is honest, and honest is what we do here.”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One sentence about what it was like — “not what was said — that’s yours — just what it was like”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An arranged parent starts; then it’s open, and optional</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“The work is happening, whether or not we name it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Psalm 139 — Being Known, Again</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Same psalm as last week, on purpose — nothing new tonight; we’re completing the round</a:t>
            </a:r>
          </a:p>
          <a:p>
            <a:pPr marL="274320" indent="-274320">
              <a:spcAft>
                <a:spcPts val="800"/>
              </a:spcAft>
            </a:pPr>
            <a:r>
              <a:rPr sz="2200" b="1" i="0">
                <a:solidFill>
                  <a:srgbClr val="97BC62"/>
                </a:solidFill>
                <a:latin typeface="Calibri"/>
              </a:rPr>
              <a:t>•  </a:t>
            </a:r>
            <a:r>
              <a:rPr sz="2200" b="0" i="0">
                <a:solidFill>
                  <a:srgbClr val="222B22"/>
                </a:solidFill>
                <a:latin typeface="Calibri"/>
              </a:rPr>
              <a:t>One idea, repeated: the opposite of being hidden is not being exposed — it is being seen and being safe at the same time</a:t>
            </a:r>
          </a:p>
          <a:p>
            <a:pPr marL="274320" indent="-274320">
              <a:spcAft>
                <a:spcPts val="800"/>
              </a:spcAft>
            </a:pPr>
            <a:r>
              <a:rPr sz="2200" b="1" i="0">
                <a:solidFill>
                  <a:srgbClr val="97BC62"/>
                </a:solidFill>
                <a:latin typeface="Calibri"/>
              </a:rPr>
              <a:t>•  </a:t>
            </a:r>
            <a:r>
              <a:rPr sz="2200" b="0" i="0">
                <a:solidFill>
                  <a:srgbClr val="222B22"/>
                </a:solidFill>
                <a:latin typeface="Calibri"/>
              </a:rPr>
              <a:t>The parents practiced that last Wednesday. Tonight the teens do</a:t>
            </a:r>
          </a:p>
          <a:p>
            <a:pPr marL="274320" indent="-274320">
              <a:spcAft>
                <a:spcPts val="800"/>
              </a:spcAft>
            </a:pPr>
            <a:r>
              <a:rPr sz="2200" b="1" i="0">
                <a:solidFill>
                  <a:srgbClr val="97BC62"/>
                </a:solidFill>
                <a:latin typeface="Calibri"/>
              </a:rPr>
              <a:t>•  </a:t>
            </a:r>
            <a:r>
              <a:rPr sz="2200" b="0" i="0">
                <a:solidFill>
                  <a:srgbClr val="222B22"/>
                </a:solidFill>
                <a:latin typeface="Calibri"/>
              </a:rPr>
              <a:t>Put the comparison down — “Every story is its own. … The story you tell tonight is not in competition with any story told in this building last week. Tell yours.”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139:23–24</a:t>
            </a:r>
          </a:p>
          <a:p>
            <a:pPr>
              <a:spcAft>
                <a:spcPts val="600"/>
              </a:spcAft>
            </a:pPr>
            <a:r>
              <a:rPr sz="2400" b="0" i="1">
                <a:solidFill>
                  <a:srgbClr val="222B22"/>
                </a:solidFill>
                <a:latin typeface="Cambria"/>
              </a:rPr>
              <a:t>“Search me, O God, and know my heart! Try me and know my thoughts! And see if there be any grievous way in me, and lead me in the way everlasting!”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51</a:t>
            </a:r>
            <a:endParaRPr sz="1000" b="1">
              <a:solidFill>
                <a:srgbClr val="7A8A6E"/>
              </a:solidFill>
              <a:latin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800" b="1" i="0" dirty="0">
                <a:solidFill>
                  <a:srgbClr val="97BC62"/>
                </a:solidFill>
                <a:latin typeface="Calibri"/>
              </a:rPr>
              <a:t>1   </a:t>
            </a:r>
            <a:r>
              <a:rPr sz="2800" b="0" i="0" dirty="0">
                <a:solidFill>
                  <a:srgbClr val="222B22"/>
                </a:solidFill>
                <a:latin typeface="Calibri"/>
              </a:rPr>
              <a:t>“It’s one question — tell the story of how you got here, and what has shaped you.” The depth is yours to choose</a:t>
            </a:r>
          </a:p>
          <a:p>
            <a:pPr marL="342900" indent="-342900">
              <a:spcAft>
                <a:spcPts val="900"/>
              </a:spcAft>
            </a:pPr>
            <a:r>
              <a:rPr sz="2800" b="1" i="0" dirty="0">
                <a:solidFill>
                  <a:srgbClr val="97BC62"/>
                </a:solidFill>
                <a:latin typeface="Calibri"/>
              </a:rPr>
              <a:t>2   </a:t>
            </a:r>
            <a:r>
              <a:rPr sz="2800" b="0" i="0" dirty="0">
                <a:solidFill>
                  <a:srgbClr val="222B22"/>
                </a:solidFill>
                <a:latin typeface="Calibri"/>
              </a:rPr>
              <a:t>“When you’re listening — don’t fix, don’t advise, don’t relate back. Receive, and after each story, bless.”</a:t>
            </a:r>
          </a:p>
          <a:p>
            <a:pPr marL="342900" indent="-342900">
              <a:spcAft>
                <a:spcPts val="900"/>
              </a:spcAft>
            </a:pPr>
            <a:r>
              <a:rPr sz="2800" b="1" i="0" dirty="0">
                <a:solidFill>
                  <a:srgbClr val="97BC62"/>
                </a:solidFill>
                <a:latin typeface="Calibri"/>
              </a:rPr>
              <a:t>3   </a:t>
            </a:r>
            <a:r>
              <a:rPr sz="2800" b="0" i="0" dirty="0">
                <a:solidFill>
                  <a:srgbClr val="222B22"/>
                </a:solidFill>
                <a:latin typeface="Calibri"/>
              </a:rPr>
              <a:t>“Nothing leaves your cluster. Not a phrase, not a name, not a story.”</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Same clusters and same rooms as last week — your family stays with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52</a:t>
            </a:r>
            <a:endParaRPr sz="1000" b="1">
              <a:solidFill>
                <a:srgbClr val="7A8A6E"/>
              </a:solidFill>
              <a:latin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Stories in Family Clusters — the Teens Tell</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dirty="0">
                <a:solidFill>
                  <a:srgbClr val="97BC62"/>
                </a:solidFill>
                <a:latin typeface="Calibri"/>
              </a:rPr>
              <a:t>•  </a:t>
            </a:r>
            <a:r>
              <a:rPr sz="2400" b="0" i="0" dirty="0">
                <a:solidFill>
                  <a:srgbClr val="222B22"/>
                </a:solidFill>
                <a:latin typeface="Calibri"/>
              </a:rPr>
              <a:t>The teens tell — same clusters, same single question, same blessing. Second running</a:t>
            </a:r>
          </a:p>
          <a:p>
            <a:pPr marL="342900" indent="-342900">
              <a:spcAft>
                <a:spcPts val="750"/>
              </a:spcAft>
            </a:pPr>
            <a:r>
              <a:rPr sz="2400" b="1" i="0" dirty="0">
                <a:solidFill>
                  <a:srgbClr val="97BC62"/>
                </a:solidFill>
                <a:latin typeface="Calibri"/>
              </a:rPr>
              <a:t>1   </a:t>
            </a:r>
            <a:r>
              <a:rPr sz="2400" b="0" i="0" dirty="0">
                <a:solidFill>
                  <a:srgbClr val="222B22"/>
                </a:solidFill>
                <a:latin typeface="Calibri"/>
              </a:rPr>
              <a:t>Story — 5–7 minutes. Nobody interrupts, even the silences</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Silence — ten seconds</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Blessing round — the arranged parent blesses first, then the circle: one or two sentences each</a:t>
            </a:r>
          </a:p>
          <a:p>
            <a:pPr marL="274320" indent="-274320">
              <a:spcAft>
                <a:spcPts val="750"/>
              </a:spcAft>
            </a:pPr>
            <a:r>
              <a:rPr sz="2400" b="1" i="0" dirty="0">
                <a:solidFill>
                  <a:srgbClr val="97BC62"/>
                </a:solidFill>
                <a:latin typeface="Calibri"/>
              </a:rPr>
              <a:t>•  </a:t>
            </a:r>
            <a:r>
              <a:rPr sz="2400" b="0" i="0" dirty="0">
                <a:solidFill>
                  <a:srgbClr val="222B22"/>
                </a:solidFill>
                <a:latin typeface="Calibri"/>
              </a:rPr>
              <a:t>Parents tonight: receive and bless — no correcting the record, no filling silences</a:t>
            </a:r>
          </a:p>
          <a:p>
            <a:pPr marL="274320" indent="-274320">
              <a:spcAft>
                <a:spcPts val="750"/>
              </a:spcAft>
            </a:pPr>
            <a:r>
              <a:rPr sz="2400" b="1" i="0" dirty="0">
                <a:solidFill>
                  <a:srgbClr val="97BC62"/>
                </a:solidFill>
                <a:latin typeface="Calibri"/>
              </a:rPr>
              <a:t>•  </a:t>
            </a:r>
            <a:r>
              <a:rPr sz="2400" b="0" i="0" dirty="0">
                <a:solidFill>
                  <a:srgbClr val="222B22"/>
                </a:solidFill>
                <a:latin typeface="Calibri"/>
              </a:rPr>
              <a:t>“What’s said in this circle stays in this circle. And when someone is telling, we’re looking at them. We’re receiving.”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53</a:t>
            </a:r>
            <a:endParaRPr sz="1000" b="1">
              <a:solidFill>
                <a:srgbClr val="7A8A6E"/>
              </a:solidFill>
              <a:latin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One-Word Landing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dirty="0">
                <a:solidFill>
                  <a:srgbClr val="97BC62"/>
                </a:solidFill>
                <a:latin typeface="Calibri"/>
              </a:rPr>
              <a:t>•  </a:t>
            </a:r>
            <a:r>
              <a:rPr sz="2800" b="0" i="0" dirty="0">
                <a:solidFill>
                  <a:srgbClr val="222B22"/>
                </a:solidFill>
                <a:latin typeface="Calibri"/>
              </a:rPr>
              <a:t>What happened in your cluster stays in your cluster</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One word, when you’re ready, about what tonight was like — an arranged parent starts. You can pass</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“The round is complete — every person in this room, parent and teen, has now told a piece of their story to a circle that blessed them for it.”</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“Rooms like this one are rare. They’re also the kind of room God shows up 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54</a:t>
            </a:r>
            <a:endParaRPr sz="1000" b="1">
              <a:solidFill>
                <a:srgbClr val="7A8A6E"/>
              </a:solidFill>
              <a:latin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Joint Footprints — for every family that hasn’t done it yet. Parent and teen, twenty minutes, sometime this week</a:t>
            </a:r>
          </a:p>
          <a:p>
            <a:pPr marL="274320" indent="-274320">
              <a:spcAft>
                <a:spcPts val="900"/>
              </a:spcAft>
            </a:pPr>
            <a:r>
              <a:rPr sz="2200" b="1" i="0">
                <a:solidFill>
                  <a:srgbClr val="97BC62"/>
                </a:solidFill>
                <a:latin typeface="Calibri"/>
              </a:rPr>
              <a:t>•  </a:t>
            </a:r>
            <a:r>
              <a:rPr sz="2200" b="0" i="0">
                <a:solidFill>
                  <a:srgbClr val="222B22"/>
                </a:solidFill>
                <a:latin typeface="Calibri"/>
              </a:rPr>
              <a:t>Not in the car, not in front of a screen. Phones away</a:t>
            </a:r>
          </a:p>
          <a:p>
            <a:pPr marL="274320" indent="-274320">
              <a:spcAft>
                <a:spcPts val="900"/>
              </a:spcAft>
            </a:pPr>
            <a:r>
              <a:rPr sz="2200" b="1" i="0">
                <a:solidFill>
                  <a:srgbClr val="97BC62"/>
                </a:solidFill>
                <a:latin typeface="Calibri"/>
              </a:rPr>
              <a:t>•  </a:t>
            </a:r>
            <a:r>
              <a:rPr sz="2200" b="0" i="0">
                <a:solidFill>
                  <a:srgbClr val="222B22"/>
                </a:solidFill>
                <a:latin typeface="Calibri"/>
              </a:rPr>
              <a:t>Five minutes telling, a follow-up question or two, and one sentence: “What I love about your footprints is...” Then swap</a:t>
            </a:r>
          </a:p>
          <a:p>
            <a:pPr marL="274320" indent="-274320">
              <a:spcAft>
                <a:spcPts val="900"/>
              </a:spcAft>
            </a:pPr>
            <a:r>
              <a:rPr sz="2200" b="1" i="0">
                <a:solidFill>
                  <a:srgbClr val="97BC62"/>
                </a:solidFill>
                <a:latin typeface="Calibri"/>
              </a:rPr>
              <a:t>•  </a:t>
            </a:r>
            <a:r>
              <a:rPr sz="2200" b="0" i="0">
                <a:solidFill>
                  <a:srgbClr val="222B22"/>
                </a:solidFill>
                <a:latin typeface="Calibri"/>
              </a:rPr>
              <a:t>“Families who already did it — you’re done; don’t force a repeat.”</a:t>
            </a:r>
          </a:p>
          <a:p>
            <a:pPr marL="274320" indent="-274320">
              <a:spcAft>
                <a:spcPts val="900"/>
              </a:spcAft>
            </a:pPr>
            <a:r>
              <a:rPr sz="2200" b="1" i="0">
                <a:solidFill>
                  <a:srgbClr val="97BC62"/>
                </a:solidFill>
                <a:latin typeface="Calibri"/>
              </a:rPr>
              <a:t>•  </a:t>
            </a:r>
            <a:r>
              <a:rPr sz="2200" b="0" i="0">
                <a:solidFill>
                  <a:srgbClr val="222B22"/>
                </a:solidFill>
                <a:latin typeface="Calibri"/>
              </a:rPr>
              <a:t>Everyone keeps the morning question and the evening journal note going — five minutes in the morning, two at 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56</a:t>
            </a:r>
            <a:endParaRPr sz="1000" b="1">
              <a:solidFill>
                <a:srgbClr val="7A8A6E"/>
              </a:solidFill>
              <a:latin typeface="Calibri"/>
            </a:endParaRPr>
          </a:p>
        </p:txBody>
      </p:sp>
      <p:pic>
        <p:nvPicPr>
          <p:cNvPr id="270" name="CardImage" descr="the Week 4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58</a:t>
            </a:r>
            <a:endParaRPr sz="1000" b="1">
              <a:solidFill>
                <a:srgbClr val="7A8A6E"/>
              </a:solidFill>
              <a:latin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4-known.jpg"/>
          <p:cNvPicPr>
            <a:picLocks noChangeAspect="1"/>
          </p:cNvPicPr>
          <p:nvPr/>
        </p:nvPicPr>
        <p:blipFill>
          <a:blip r:embed="rId3"/>
          <a:stretch>
            <a:fillRect/>
          </a:stretch>
        </p:blipFill>
        <p:spPr>
          <a:xfrm>
            <a:off x="7268937" y="822960"/>
            <a:ext cx="347580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5</a:t>
            </a:r>
          </a:p>
          <a:p>
            <a:pPr algn="l">
              <a:spcAft>
                <a:spcPts val="1000"/>
              </a:spcAft>
            </a:pPr>
            <a:r>
              <a:rPr sz="3300" b="1" i="0">
                <a:solidFill>
                  <a:srgbClr val="2C5F2D"/>
                </a:solidFill>
                <a:latin typeface="Cambria"/>
              </a:rPr>
              <a:t>Knowing and Being Known</a:t>
            </a:r>
          </a:p>
          <a:p>
            <a:pPr algn="l">
              <a:spcAft>
                <a:spcPts val="600"/>
              </a:spcAft>
            </a:pPr>
            <a:r>
              <a:rPr sz="1800" b="0" i="1">
                <a:solidFill>
                  <a:srgbClr val="595959"/>
                </a:solidFill>
                <a:latin typeface="Calibri"/>
              </a:rPr>
              <a:t>The four conditions of a container, applied to your real friendships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59</a:t>
            </a:r>
            <a:endParaRPr sz="1000" b="1">
              <a:solidFill>
                <a:srgbClr val="7A8A6E"/>
              </a:solidFill>
              <a:latin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5 — Tonight’s Road</a:t>
            </a:r>
          </a:p>
        </p:txBody>
      </p:sp>
      <p:sp>
        <p:nvSpPr>
          <p:cNvPr id="4" name="TextBox 3"/>
          <p:cNvSpPr txBox="1"/>
          <p:nvPr/>
        </p:nvSpPr>
        <p:spPr>
          <a:xfrm>
            <a:off x="822960" y="1508760"/>
            <a:ext cx="7040880" cy="4483279"/>
          </a:xfrm>
          <a:prstGeom prst="rect">
            <a:avLst/>
          </a:prstGeom>
          <a:noFill/>
        </p:spPr>
        <p:txBody>
          <a:bodyPr wrap="square">
            <a:spAutoFit/>
          </a:bodyPr>
          <a:lstStyle/>
          <a:p>
            <a:pPr>
              <a:spcAft>
                <a:spcPts val="500"/>
              </a:spcAft>
            </a:pPr>
            <a:r>
              <a:rPr sz="2800" b="1" dirty="0">
                <a:solidFill>
                  <a:srgbClr val="97BC62"/>
                </a:solidFill>
                <a:latin typeface="Calibri"/>
              </a:rPr>
              <a:t>1   </a:t>
            </a:r>
            <a:r>
              <a:rPr sz="2800" dirty="0">
                <a:solidFill>
                  <a:srgbClr val="222B22"/>
                </a:solidFill>
                <a:latin typeface="Calibri"/>
              </a:rPr>
              <a:t>Welcome and centering</a:t>
            </a:r>
          </a:p>
          <a:p>
            <a:pPr>
              <a:spcAft>
                <a:spcPts val="500"/>
              </a:spcAft>
            </a:pPr>
            <a:r>
              <a:rPr sz="2800" b="1" dirty="0">
                <a:solidFill>
                  <a:srgbClr val="97BC62"/>
                </a:solidFill>
                <a:latin typeface="Calibri"/>
              </a:rPr>
              <a:t>2   </a:t>
            </a:r>
            <a:r>
              <a:rPr sz="2800" dirty="0">
                <a:solidFill>
                  <a:srgbClr val="222B22"/>
                </a:solidFill>
                <a:latin typeface="Calibri"/>
              </a:rPr>
              <a:t>Week 4 check-in</a:t>
            </a:r>
          </a:p>
          <a:p>
            <a:pPr>
              <a:spcAft>
                <a:spcPts val="500"/>
              </a:spcAft>
            </a:pPr>
            <a:r>
              <a:rPr sz="2800" b="1" dirty="0">
                <a:solidFill>
                  <a:srgbClr val="97BC62"/>
                </a:solidFill>
                <a:latin typeface="Calibri"/>
              </a:rPr>
              <a:t>3   </a:t>
            </a:r>
            <a:r>
              <a:rPr sz="2800" dirty="0">
                <a:solidFill>
                  <a:srgbClr val="222B22"/>
                </a:solidFill>
                <a:latin typeface="Calibri"/>
              </a:rPr>
              <a:t>The four conditions — teaching</a:t>
            </a:r>
          </a:p>
          <a:p>
            <a:pPr>
              <a:spcAft>
                <a:spcPts val="500"/>
              </a:spcAft>
            </a:pPr>
            <a:r>
              <a:rPr sz="2800" b="1" dirty="0">
                <a:solidFill>
                  <a:srgbClr val="97BC62"/>
                </a:solidFill>
                <a:latin typeface="Calibri"/>
              </a:rPr>
              <a:t>4   </a:t>
            </a:r>
            <a:r>
              <a:rPr sz="2800" dirty="0">
                <a:solidFill>
                  <a:srgbClr val="222B22"/>
                </a:solidFill>
                <a:latin typeface="Calibri"/>
              </a:rPr>
              <a:t>Bridge to split</a:t>
            </a:r>
          </a:p>
          <a:p>
            <a:pPr>
              <a:spcAft>
                <a:spcPts val="500"/>
              </a:spcAft>
            </a:pPr>
            <a:r>
              <a:rPr sz="2800" b="1" dirty="0">
                <a:solidFill>
                  <a:srgbClr val="97BC62"/>
                </a:solidFill>
                <a:latin typeface="Calibri"/>
              </a:rPr>
              <a:t>5   </a:t>
            </a:r>
            <a:r>
              <a:rPr sz="2800" dirty="0">
                <a:solidFill>
                  <a:srgbClr val="222B22"/>
                </a:solidFill>
                <a:latin typeface="Calibri"/>
              </a:rPr>
              <a:t>Friendship-mapping exercise</a:t>
            </a:r>
          </a:p>
          <a:p>
            <a:pPr>
              <a:spcAft>
                <a:spcPts val="500"/>
              </a:spcAft>
            </a:pPr>
            <a:r>
              <a:rPr sz="2800" b="1" dirty="0">
                <a:solidFill>
                  <a:srgbClr val="97BC62"/>
                </a:solidFill>
                <a:latin typeface="Calibri"/>
              </a:rPr>
              <a:t>6   </a:t>
            </a:r>
            <a:r>
              <a:rPr sz="2800" dirty="0">
                <a:solidFill>
                  <a:srgbClr val="222B22"/>
                </a:solidFill>
                <a:latin typeface="Calibri"/>
              </a:rPr>
              <a:t>Merge and surface common patterns</a:t>
            </a:r>
          </a:p>
          <a:p>
            <a:pPr>
              <a:spcAft>
                <a:spcPts val="500"/>
              </a:spcAft>
            </a:pPr>
            <a:r>
              <a:rPr sz="2800" b="1" dirty="0">
                <a:solidFill>
                  <a:srgbClr val="97BC62"/>
                </a:solidFill>
                <a:latin typeface="Calibri"/>
              </a:rPr>
              <a:t>7   </a:t>
            </a:r>
            <a:r>
              <a:rPr sz="2800" dirty="0">
                <a:solidFill>
                  <a:srgbClr val="222B22"/>
                </a:solidFill>
                <a:latin typeface="Calibri"/>
              </a:rPr>
              <a:t>Between-session practice</a:t>
            </a:r>
          </a:p>
          <a:p>
            <a:pPr>
              <a:spcAft>
                <a:spcPts val="500"/>
              </a:spcAft>
            </a:pPr>
            <a:r>
              <a:rPr sz="2800" b="1" dirty="0">
                <a:solidFill>
                  <a:srgbClr val="97BC62"/>
                </a:solidFill>
                <a:latin typeface="Calibri"/>
              </a:rPr>
              <a:t>8   </a:t>
            </a:r>
            <a:r>
              <a:rPr sz="2800" dirty="0">
                <a:solidFill>
                  <a:srgbClr val="222B22"/>
                </a:solidFill>
                <a:latin typeface="Calibri"/>
              </a:rPr>
              <a:t>The Leader Feedback Round</a:t>
            </a:r>
          </a:p>
          <a:p>
            <a:pPr>
              <a:spcAft>
                <a:spcPts val="500"/>
              </a:spcAft>
            </a:pPr>
            <a:r>
              <a:rPr sz="2800" b="1" dirty="0">
                <a:solidFill>
                  <a:srgbClr val="97BC62"/>
                </a:solidFill>
                <a:latin typeface="Calibri"/>
              </a:rPr>
              <a:t>9   </a:t>
            </a:r>
            <a:r>
              <a:rPr sz="2800" dirty="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60</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6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6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6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6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6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6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6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61</a:t>
            </a:r>
            <a:endParaRPr sz="1000" b="1">
              <a:solidFill>
                <a:srgbClr val="7A8A6E"/>
              </a:solidFill>
              <a:latin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4 Check-In — Joint Footprints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dirty="0">
                <a:solidFill>
                  <a:srgbClr val="97BC62"/>
                </a:solidFill>
                <a:latin typeface="Calibri"/>
              </a:rPr>
              <a:t>•  </a:t>
            </a:r>
            <a:r>
              <a:rPr sz="2800" b="0" i="0" dirty="0">
                <a:solidFill>
                  <a:srgbClr val="222B22"/>
                </a:solidFill>
                <a:latin typeface="Calibri"/>
              </a:rPr>
              <a:t>“Some of you got to it. Some didn’t. Both are fine.”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“Anyone want to say one sentence about how that landed for you?” — an arranged parent starts</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Receive without commentary</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“Good. Some of that work continues whether or not we got to it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62</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Conditions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b="1" i="0" dirty="0">
                <a:solidFill>
                  <a:srgbClr val="97BC62"/>
                </a:solidFill>
                <a:latin typeface="Calibri"/>
              </a:rPr>
              <a:t>•  </a:t>
            </a:r>
            <a:r>
              <a:rPr b="0" i="0" dirty="0">
                <a:solidFill>
                  <a:srgbClr val="222B22"/>
                </a:solidFill>
                <a:latin typeface="Calibri"/>
              </a:rPr>
              <a:t>The threefold cord is stronger because the strands hold each other in tension — the strength is in the holding</a:t>
            </a:r>
          </a:p>
          <a:p>
            <a:pPr marL="274320" indent="-274320">
              <a:spcAft>
                <a:spcPts val="650"/>
              </a:spcAft>
            </a:pPr>
            <a:r>
              <a:rPr b="1" i="0" dirty="0">
                <a:solidFill>
                  <a:srgbClr val="97BC62"/>
                </a:solidFill>
                <a:latin typeface="Calibri"/>
              </a:rPr>
              <a:t>•  </a:t>
            </a:r>
            <a:r>
              <a:rPr b="0" i="0" dirty="0">
                <a:solidFill>
                  <a:srgbClr val="222B22"/>
                </a:solidFill>
                <a:latin typeface="Calibri"/>
              </a:rPr>
              <a:t>Four conditions have been quietly holding this room for four weeks. Tonight we name them</a:t>
            </a:r>
          </a:p>
          <a:p>
            <a:pPr marL="342900" indent="-342900">
              <a:spcAft>
                <a:spcPts val="650"/>
              </a:spcAft>
            </a:pPr>
            <a:r>
              <a:rPr b="1" i="0" dirty="0">
                <a:solidFill>
                  <a:srgbClr val="97BC62"/>
                </a:solidFill>
                <a:latin typeface="Calibri"/>
              </a:rPr>
              <a:t>1   </a:t>
            </a:r>
            <a:r>
              <a:rPr b="0" i="0" dirty="0">
                <a:solidFill>
                  <a:srgbClr val="222B22"/>
                </a:solidFill>
                <a:latin typeface="Calibri"/>
              </a:rPr>
              <a:t>SAFE — the hearing condition. “I will not be judged as a person while I am doing my work” — Romans 14:3–4</a:t>
            </a:r>
          </a:p>
          <a:p>
            <a:pPr marL="342900" indent="-342900">
              <a:spcAft>
                <a:spcPts val="650"/>
              </a:spcAft>
            </a:pPr>
            <a:r>
              <a:rPr b="1" i="0" dirty="0">
                <a:solidFill>
                  <a:srgbClr val="97BC62"/>
                </a:solidFill>
                <a:latin typeface="Calibri"/>
              </a:rPr>
              <a:t>2   </a:t>
            </a:r>
            <a:r>
              <a:rPr b="0" i="0" dirty="0">
                <a:solidFill>
                  <a:srgbClr val="222B22"/>
                </a:solidFill>
                <a:latin typeface="Calibri"/>
              </a:rPr>
              <a:t>PRESENT — the attention condition. “I am actually here” — aware that the Great I AM is also here — Revelation 1:8</a:t>
            </a:r>
          </a:p>
          <a:p>
            <a:pPr marL="342900" indent="-342900">
              <a:spcAft>
                <a:spcPts val="650"/>
              </a:spcAft>
            </a:pPr>
            <a:r>
              <a:rPr b="1" i="0" dirty="0">
                <a:solidFill>
                  <a:srgbClr val="97BC62"/>
                </a:solidFill>
                <a:latin typeface="Calibri"/>
              </a:rPr>
              <a:t>3   </a:t>
            </a:r>
            <a:r>
              <a:rPr b="0" i="0" dirty="0">
                <a:solidFill>
                  <a:srgbClr val="222B22"/>
                </a:solidFill>
                <a:latin typeface="Calibri"/>
              </a:rPr>
              <a:t>CLEAR — the channel condition. Nothing unaddressed between God and me, or the circle and me — Matthew 7:5</a:t>
            </a:r>
          </a:p>
          <a:p>
            <a:pPr marL="342900" indent="-342900">
              <a:spcAft>
                <a:spcPts val="650"/>
              </a:spcAft>
            </a:pPr>
            <a:r>
              <a:rPr b="1" i="0" dirty="0">
                <a:solidFill>
                  <a:srgbClr val="97BC62"/>
                </a:solidFill>
                <a:latin typeface="Calibri"/>
              </a:rPr>
              <a:t>4   </a:t>
            </a:r>
            <a:r>
              <a:rPr b="0" i="0" dirty="0">
                <a:solidFill>
                  <a:srgbClr val="222B22"/>
                </a:solidFill>
                <a:latin typeface="Calibri"/>
              </a:rPr>
              <a:t>INTENTIONAL — the obedience condition. On purpose, watching for what God is doing, willing to do it — John 5:19</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ECCLESIASTES 4:9–12</a:t>
            </a:r>
          </a:p>
          <a:p>
            <a:pPr>
              <a:spcAft>
                <a:spcPts val="600"/>
              </a:spcAft>
            </a:pPr>
            <a:r>
              <a:rPr sz="2400" b="0" i="1">
                <a:solidFill>
                  <a:srgbClr val="222B22"/>
                </a:solidFill>
                <a:latin typeface="Cambria"/>
              </a:rPr>
              <a:t>“Two are better than one, because they have a good reward for their toil. For if they fall, one will lift up his fellow. … And though a man might prevail against one who is alone, two will withstand him—a threefold cord is not quickly broken.”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63</a:t>
            </a:r>
            <a:endParaRPr sz="1000" b="1">
              <a:solidFill>
                <a:srgbClr val="7A8A6E"/>
              </a:solidFill>
              <a:latin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dirty="0">
                <a:solidFill>
                  <a:srgbClr val="97BC62"/>
                </a:solidFill>
                <a:latin typeface="Calibri"/>
              </a:rPr>
              <a:t>•</a:t>
            </a:r>
            <a:r>
              <a:rPr sz="2800" b="1" i="0" dirty="0">
                <a:solidFill>
                  <a:srgbClr val="97BC62"/>
                </a:solidFill>
                <a:latin typeface="Calibri"/>
              </a:rPr>
              <a:t>  </a:t>
            </a:r>
            <a:r>
              <a:rPr sz="2800" b="0" i="0" dirty="0">
                <a:solidFill>
                  <a:srgbClr val="222B22"/>
                </a:solidFill>
                <a:latin typeface="Calibri"/>
              </a:rPr>
              <a:t>Each cluster takes the four conditions and asks: “for each one, where in my actual friendships does this show up? And where is it missing?”</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“We are not naming names tonight. ‘One of my friends’ is fine.” — we map conditions, not people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Your Companion goes first on every condition, then one of the parents opens the round</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Teens, you choose your own depth. Pass anytime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Twenty-eight minutes — same rooms as the last two weeks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64</a:t>
            </a:r>
            <a:endParaRPr sz="1000" b="1">
              <a:solidFill>
                <a:srgbClr val="7A8A6E"/>
              </a:solidFill>
              <a:latin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Friendship-Mapping in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Four conditions, about six minutes each — the Companion models first, the arranged parent opens the round</a:t>
            </a:r>
          </a:p>
          <a:p>
            <a:pPr marL="274320" indent="-274320">
              <a:spcAft>
                <a:spcPts val="900"/>
              </a:spcAft>
            </a:pPr>
            <a:r>
              <a:rPr sz="2200" b="1" i="0">
                <a:solidFill>
                  <a:srgbClr val="97BC62"/>
                </a:solidFill>
                <a:latin typeface="Calibri"/>
              </a:rPr>
              <a:t>•  </a:t>
            </a:r>
            <a:r>
              <a:rPr sz="2200" b="0" i="0">
                <a:solidFill>
                  <a:srgbClr val="222B22"/>
                </a:solidFill>
                <a:latin typeface="Calibri"/>
              </a:rPr>
              <a:t>Each turn 30–60 seconds — specific: one friendship where the condition is present, one where it is missing</a:t>
            </a:r>
          </a:p>
          <a:p>
            <a:pPr marL="274320" indent="-274320">
              <a:spcAft>
                <a:spcPts val="900"/>
              </a:spcAft>
            </a:pPr>
            <a:r>
              <a:rPr sz="2200" b="1" i="0">
                <a:solidFill>
                  <a:srgbClr val="97BC62"/>
                </a:solidFill>
                <a:latin typeface="Calibri"/>
              </a:rPr>
              <a:t>•  </a:t>
            </a:r>
            <a:r>
              <a:rPr sz="2200" b="0" i="0">
                <a:solidFill>
                  <a:srgbClr val="222B22"/>
                </a:solidFill>
                <a:latin typeface="Calibri"/>
              </a:rPr>
              <a:t>“No names of people who aren’t in this room — and for people who are, ‘one of my friendships’ or ‘one adult relationship in my life’ is the language. Nobody asks who you meant.”</a:t>
            </a:r>
          </a:p>
          <a:p>
            <a:pPr marL="274320" indent="-274320">
              <a:spcAft>
                <a:spcPts val="900"/>
              </a:spcAft>
            </a:pPr>
            <a:r>
              <a:rPr sz="2200" b="1" i="0">
                <a:solidFill>
                  <a:srgbClr val="97BC62"/>
                </a:solidFill>
                <a:latin typeface="Calibri"/>
              </a:rPr>
              <a:t>•  </a:t>
            </a:r>
            <a:r>
              <a:rPr sz="2200" b="0" i="0">
                <a:solidFill>
                  <a:srgbClr val="222B22"/>
                </a:solidFill>
                <a:latin typeface="Calibri"/>
              </a:rPr>
              <a:t>Parents map their own adult friendships — not their teens’</a:t>
            </a:r>
          </a:p>
          <a:p>
            <a:pPr marL="274320" indent="-274320">
              <a:spcAft>
                <a:spcPts val="900"/>
              </a:spcAft>
            </a:pPr>
            <a:r>
              <a:rPr sz="2200" b="1" i="0">
                <a:solidFill>
                  <a:srgbClr val="97BC62"/>
                </a:solidFill>
                <a:latin typeface="Calibri"/>
              </a:rPr>
              <a:t>•  </a:t>
            </a:r>
            <a:r>
              <a:rPr sz="2200" b="0" i="0">
                <a:solidFill>
                  <a:srgbClr val="222B22"/>
                </a:solidFill>
                <a:latin typeface="Calibri"/>
              </a:rPr>
              <a:t>If time remains, the quiet final question: “Of the four conditions, which one is the one I find hardest to offer to my friends?”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65</a:t>
            </a:r>
            <a:endParaRPr sz="1000" b="1">
              <a:solidFill>
                <a:srgbClr val="7A8A6E"/>
              </a:solidFill>
              <a:latin typeface="Calibri"/>
            </a:endParaRPr>
          </a:p>
        </p:txBody>
      </p:sp>
      <p:pic>
        <p:nvPicPr>
          <p:cNvPr id="30" name="Picture 30" descr="threefold cord of natural rope"/>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 Surfacing Common Patterns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Patterns only — general, no names: “Many of us noticed Safety is the rarest condition in our friendships”</a:t>
            </a:r>
          </a:p>
          <a:p>
            <a:pPr marL="274320" indent="-274320">
              <a:spcAft>
                <a:spcPts val="900"/>
              </a:spcAft>
            </a:pPr>
            <a:r>
              <a:rPr sz="2800" b="1" i="0">
                <a:solidFill>
                  <a:srgbClr val="97BC62"/>
                </a:solidFill>
                <a:latin typeface="Calibri"/>
              </a:rPr>
              <a:t>•  </a:t>
            </a:r>
            <a:r>
              <a:rPr sz="2800" b="0" i="0">
                <a:solidFill>
                  <a:srgbClr val="222B22"/>
                </a:solidFill>
                <a:latin typeface="Calibri"/>
              </a:rPr>
              <a:t>Each Cluster Companion takes ninety seconds — one or two general patterns from their circle</a:t>
            </a:r>
          </a:p>
          <a:p>
            <a:pPr marL="274320" indent="-274320">
              <a:spcAft>
                <a:spcPts val="900"/>
              </a:spcAft>
            </a:pPr>
            <a:r>
              <a:rPr sz="2800" b="1" i="0">
                <a:solidFill>
                  <a:srgbClr val="97BC62"/>
                </a:solidFill>
                <a:latin typeface="Calibri"/>
              </a:rPr>
              <a:t>•  </a:t>
            </a:r>
            <a:r>
              <a:rPr sz="2800" b="0" i="0">
                <a:solidFill>
                  <a:srgbClr val="222B22"/>
                </a:solidFill>
                <a:latin typeface="Calibri"/>
              </a:rPr>
              <a:t>Then the Lead Companion names one observation across the clusters — “that is real, and it is the seed of the practice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66</a:t>
            </a:r>
            <a:endParaRPr sz="1000" b="1">
              <a:solidFill>
                <a:srgbClr val="7A8A6E"/>
              </a:solidFill>
              <a:latin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One Friendship, One Condition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“Pick one friendship in your life. Just one.” — you don’t have to tell anyone which one</a:t>
            </a:r>
          </a:p>
          <a:p>
            <a:pPr marL="274320" indent="-274320">
              <a:spcAft>
                <a:spcPts val="750"/>
              </a:spcAft>
            </a:pPr>
            <a:r>
              <a:rPr sz="2000" b="1" i="0">
                <a:solidFill>
                  <a:srgbClr val="97BC62"/>
                </a:solidFill>
                <a:latin typeface="Calibri"/>
              </a:rPr>
              <a:t>•  </a:t>
            </a:r>
            <a:r>
              <a:rPr sz="2000" b="0" i="0">
                <a:solidFill>
                  <a:srgbClr val="222B22"/>
                </a:solidFill>
                <a:latin typeface="Calibri"/>
              </a:rPr>
              <a:t>Pick one of the four conditions — the one most missing there, or the one you find hardest to offer</a:t>
            </a:r>
          </a:p>
          <a:p>
            <a:pPr marL="274320" indent="-274320">
              <a:spcAft>
                <a:spcPts val="750"/>
              </a:spcAft>
            </a:pPr>
            <a:r>
              <a:rPr sz="2000" b="1" i="0">
                <a:solidFill>
                  <a:srgbClr val="97BC62"/>
                </a:solidFill>
                <a:latin typeface="Calibri"/>
              </a:rPr>
              <a:t>•  </a:t>
            </a:r>
            <a:r>
              <a:rPr sz="2000" b="0" i="0">
                <a:solidFill>
                  <a:srgbClr val="222B22"/>
                </a:solidFill>
                <a:latin typeface="Calibri"/>
              </a:rPr>
              <a:t>Practice that one condition in that one friendship more intentionally than usual this week — practically</a:t>
            </a:r>
          </a:p>
          <a:p>
            <a:pPr marL="685800" indent="-274320">
              <a:spcAft>
                <a:spcPts val="550"/>
              </a:spcAft>
            </a:pPr>
            <a:r>
              <a:rPr sz="1800" b="1" i="0">
                <a:solidFill>
                  <a:srgbClr val="97BC62"/>
                </a:solidFill>
                <a:latin typeface="Calibri"/>
              </a:rPr>
              <a:t>–  </a:t>
            </a:r>
            <a:r>
              <a:rPr sz="1800" b="0" i="1">
                <a:solidFill>
                  <a:srgbClr val="222B22"/>
                </a:solidFill>
                <a:latin typeface="Calibri"/>
              </a:rPr>
              <a:t>Presence — your phone is in another room. Clear — name something you have been quietly carrying</a:t>
            </a:r>
          </a:p>
          <a:p>
            <a:pPr marL="274320" indent="-274320">
              <a:spcAft>
                <a:spcPts val="750"/>
              </a:spcAft>
            </a:pPr>
            <a:r>
              <a:rPr sz="2000" b="1" i="0">
                <a:solidFill>
                  <a:srgbClr val="97BC62"/>
                </a:solidFill>
                <a:latin typeface="Calibri"/>
              </a:rPr>
              <a:t>•  </a:t>
            </a:r>
            <a:r>
              <a:rPr sz="2000" b="0" i="0">
                <a:solidFill>
                  <a:srgbClr val="222B22"/>
                </a:solidFill>
                <a:latin typeface="Calibri"/>
              </a:rPr>
              <a:t>“One friendship. One condition. Practice. Journal what happens.” — the Week 5 journal pages carry the card</a:t>
            </a:r>
          </a:p>
          <a:p>
            <a:pPr marL="274320" indent="-274320">
              <a:spcAft>
                <a:spcPts val="750"/>
              </a:spcAft>
            </a:pPr>
            <a:r>
              <a:rPr sz="2000" b="1" i="0">
                <a:solidFill>
                  <a:srgbClr val="97BC62"/>
                </a:solidFill>
                <a:latin typeface="Calibri"/>
              </a:rPr>
              <a:t>•  </a:t>
            </a:r>
            <a:r>
              <a:rPr sz="2000" b="0" i="0">
                <a:solidFill>
                  <a:srgbClr val="222B22"/>
                </a:solidFill>
                <a:latin typeface="Calibri"/>
              </a:rPr>
              <a:t>The morning question and evening journal note continue daily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67</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68</a:t>
            </a:r>
            <a:endParaRPr sz="1000" b="1">
              <a:solidFill>
                <a:srgbClr val="7A8A6E"/>
              </a:solidFill>
              <a:latin typeface="Calibri"/>
            </a:endParaRPr>
          </a:p>
        </p:txBody>
      </p:sp>
      <p:pic>
        <p:nvPicPr>
          <p:cNvPr id="270" name="CardImage" descr="the Week 5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70</a:t>
            </a:r>
            <a:endParaRPr sz="1000" b="1">
              <a:solidFill>
                <a:srgbClr val="7A8A6E"/>
              </a:solidFill>
              <a:latin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5-brave.jpg"/>
          <p:cNvPicPr>
            <a:picLocks noChangeAspect="1"/>
          </p:cNvPicPr>
          <p:nvPr/>
        </p:nvPicPr>
        <p:blipFill>
          <a:blip r:embed="rId3"/>
          <a:stretch>
            <a:fillRect/>
          </a:stretch>
        </p:blipFill>
        <p:spPr>
          <a:xfrm>
            <a:off x="7052310" y="822960"/>
            <a:ext cx="3909060"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6</a:t>
            </a:r>
          </a:p>
          <a:p>
            <a:pPr algn="l">
              <a:spcAft>
                <a:spcPts val="1000"/>
              </a:spcAft>
            </a:pPr>
            <a:r>
              <a:rPr sz="3300" b="1" i="0">
                <a:solidFill>
                  <a:srgbClr val="2C5F2D"/>
                </a:solidFill>
                <a:latin typeface="Cambria"/>
              </a:rPr>
              <a:t>Safe and Brave Together</a:t>
            </a:r>
          </a:p>
          <a:p>
            <a:pPr algn="l">
              <a:spcAft>
                <a:spcPts val="600"/>
              </a:spcAft>
            </a:pPr>
            <a:r>
              <a:rPr sz="1800" b="0" i="1">
                <a:solidFill>
                  <a:srgbClr val="595959"/>
                </a:solidFill>
                <a:latin typeface="Calibri"/>
              </a:rPr>
              <a:t>Confession and restoration in an age-appropriate community</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71</a:t>
            </a:r>
            <a:endParaRPr sz="1000" b="1">
              <a:solidFill>
                <a:srgbClr val="7A8A6E"/>
              </a:solidFill>
              <a:latin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6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Wk 5 check-in</a:t>
            </a:r>
          </a:p>
          <a:p>
            <a:pPr>
              <a:spcAft>
                <a:spcPts val="500"/>
              </a:spcAft>
            </a:pPr>
            <a:r>
              <a:rPr sz="2800" b="1">
                <a:solidFill>
                  <a:srgbClr val="97BC62"/>
                </a:solidFill>
                <a:latin typeface="Calibri"/>
              </a:rPr>
              <a:t>3   </a:t>
            </a:r>
            <a:r>
              <a:rPr sz="2800">
                <a:solidFill>
                  <a:srgbClr val="222B22"/>
                </a:solidFill>
                <a:latin typeface="Calibri"/>
              </a:rPr>
              <a:t>James 5:16 and 1 John 1:9 — confession as architecture</a:t>
            </a:r>
          </a:p>
          <a:p>
            <a:pPr>
              <a:spcAft>
                <a:spcPts val="500"/>
              </a:spcAft>
            </a:pPr>
            <a:r>
              <a:rPr sz="2800" b="1">
                <a:solidFill>
                  <a:srgbClr val="97BC62"/>
                </a:solidFill>
                <a:latin typeface="Calibri"/>
              </a:rPr>
              <a:t>4   </a:t>
            </a:r>
            <a:r>
              <a:rPr sz="2800">
                <a:solidFill>
                  <a:srgbClr val="222B22"/>
                </a:solidFill>
                <a:latin typeface="Calibri"/>
              </a:rPr>
              <a:t>Companion demo</a:t>
            </a:r>
          </a:p>
          <a:p>
            <a:pPr>
              <a:spcAft>
                <a:spcPts val="500"/>
              </a:spcAft>
            </a:pPr>
            <a:r>
              <a:rPr sz="2800" b="1">
                <a:solidFill>
                  <a:srgbClr val="97BC62"/>
                </a:solidFill>
                <a:latin typeface="Calibri"/>
              </a:rPr>
              <a:t>5   </a:t>
            </a:r>
            <a:r>
              <a:rPr sz="2800">
                <a:solidFill>
                  <a:srgbClr val="222B22"/>
                </a:solidFill>
                <a:latin typeface="Calibri"/>
              </a:rPr>
              <a:t>Bridge to the split</a:t>
            </a:r>
          </a:p>
          <a:p>
            <a:pPr>
              <a:spcAft>
                <a:spcPts val="500"/>
              </a:spcAft>
            </a:pPr>
            <a:r>
              <a:rPr sz="2800" b="1">
                <a:solidFill>
                  <a:srgbClr val="97BC62"/>
                </a:solidFill>
                <a:latin typeface="Calibri"/>
              </a:rPr>
              <a:t>6   </a:t>
            </a:r>
            <a:r>
              <a:rPr sz="2800">
                <a:solidFill>
                  <a:srgbClr val="222B22"/>
                </a:solidFill>
                <a:latin typeface="Calibri"/>
              </a:rPr>
              <a:t>Confession-and-restoration in family clusters</a:t>
            </a:r>
          </a:p>
          <a:p>
            <a:pPr>
              <a:spcAft>
                <a:spcPts val="500"/>
              </a:spcAft>
            </a:pPr>
            <a:r>
              <a:rPr sz="2800" b="1">
                <a:solidFill>
                  <a:srgbClr val="97BC62"/>
                </a:solidFill>
                <a:latin typeface="Calibri"/>
              </a:rPr>
              <a:t>7   </a:t>
            </a:r>
            <a:r>
              <a:rPr sz="2800">
                <a:solidFill>
                  <a:srgbClr val="222B22"/>
                </a:solidFill>
                <a:latin typeface="Calibri"/>
              </a:rPr>
              <a:t>Merge and shared blessing</a:t>
            </a:r>
          </a:p>
          <a:p>
            <a:pPr>
              <a:spcAft>
                <a:spcPts val="500"/>
              </a:spcAft>
            </a:pPr>
            <a:r>
              <a:rPr sz="2800" b="1">
                <a:solidFill>
                  <a:srgbClr val="97BC62"/>
                </a:solidFill>
                <a:latin typeface="Calibri"/>
              </a:rPr>
              <a:t>8   </a:t>
            </a:r>
            <a:r>
              <a:rPr sz="2800">
                <a:solidFill>
                  <a:srgbClr val="222B22"/>
                </a:solidFill>
                <a:latin typeface="Calibri"/>
              </a:rPr>
              <a:t>Between-session practice + the room’s question</a:t>
            </a:r>
          </a:p>
          <a:p>
            <a:pPr>
              <a:spcAft>
                <a:spcPts val="500"/>
              </a:spcAft>
            </a:pPr>
            <a:r>
              <a:rPr sz="2800" b="1">
                <a:solidFill>
                  <a:srgbClr val="97BC62"/>
                </a:solidFill>
                <a:latin typeface="Calibri"/>
              </a:rPr>
              <a:t>9   </a:t>
            </a:r>
            <a:r>
              <a:rPr sz="2800">
                <a:solidFill>
                  <a:srgbClr val="222B22"/>
                </a:solidFill>
                <a:latin typeface="Calibri"/>
              </a:rPr>
              <a:t>The 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73</a:t>
            </a:r>
            <a:endParaRPr sz="1000" b="1">
              <a:solidFill>
                <a:srgbClr val="7A8A6E"/>
              </a:solidFill>
              <a:latin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5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did the friendship audit and committed to one condition, one friendship, one week.”</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landed.” — an arranged parent starts</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voices is plenty — optional, no pressure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Confession as Architecture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Two verses, two angles — 1 John 1:9 is vertical: confession to God, with full assurance. James 5:16 is horizontal: confession to one another, for healing</a:t>
            </a:r>
          </a:p>
          <a:p>
            <a:pPr marL="274320" indent="-274320">
              <a:spcAft>
                <a:spcPts val="650"/>
              </a:spcAft>
            </a:pPr>
            <a:r>
              <a:rPr sz="1800" b="1" i="0">
                <a:solidFill>
                  <a:srgbClr val="97BC62"/>
                </a:solidFill>
                <a:latin typeface="Calibri"/>
              </a:rPr>
              <a:t>•  </a:t>
            </a:r>
            <a:r>
              <a:rPr sz="1800" b="0" i="0">
                <a:solidFill>
                  <a:srgbClr val="222B22"/>
                </a:solidFill>
                <a:latin typeface="Calibri"/>
              </a:rPr>
              <a:t>Most Christians live in 1 John 1:9 and never enter James 5:16. Tonight we enter it carefully and at age</a:t>
            </a:r>
          </a:p>
          <a:p>
            <a:pPr marL="274320" indent="-274320">
              <a:spcAft>
                <a:spcPts val="650"/>
              </a:spcAft>
            </a:pPr>
            <a:r>
              <a:rPr sz="1800" b="1" i="0">
                <a:solidFill>
                  <a:srgbClr val="97BC62"/>
                </a:solidFill>
                <a:latin typeface="Calibri"/>
              </a:rPr>
              <a:t>•  </a:t>
            </a:r>
            <a:r>
              <a:rPr sz="1800" b="0" i="0">
                <a:solidFill>
                  <a:srgbClr val="222B22"/>
                </a:solidFill>
                <a:latin typeface="Calibri"/>
              </a:rPr>
              <a:t>Patterns we hide from each other tend to keep their grip — bringing them into the light, in front of trusted people, is part of what breaks it</a:t>
            </a:r>
          </a:p>
          <a:p>
            <a:pPr marL="274320" indent="-274320">
              <a:spcAft>
                <a:spcPts val="650"/>
              </a:spcAft>
            </a:pPr>
            <a:r>
              <a:rPr sz="1800" b="1" i="0">
                <a:solidFill>
                  <a:srgbClr val="97BC62"/>
                </a:solidFill>
                <a:latin typeface="Calibri"/>
              </a:rPr>
              <a:t>•  </a:t>
            </a:r>
            <a:r>
              <a:rPr sz="1800" b="0" i="0">
                <a:solidFill>
                  <a:srgbClr val="222B22"/>
                </a:solidFill>
                <a:latin typeface="Calibri"/>
              </a:rPr>
              <a:t>Not detailed sin disclosure — each person names ONE place where they want to walk in greater honesty: the place, the pattern, the pull</a:t>
            </a:r>
          </a:p>
          <a:p>
            <a:pPr marL="274320" indent="-274320">
              <a:spcAft>
                <a:spcPts val="650"/>
              </a:spcAft>
            </a:pPr>
            <a:r>
              <a:rPr sz="1800" b="1" i="0">
                <a:solidFill>
                  <a:srgbClr val="97BC62"/>
                </a:solidFill>
                <a:latin typeface="Calibri"/>
              </a:rPr>
              <a:t>•  </a:t>
            </a:r>
            <a:r>
              <a:rPr sz="1800" b="0" i="0">
                <a:solidFill>
                  <a:srgbClr val="222B22"/>
                </a:solidFill>
                <a:latin typeface="Calibri"/>
              </a:rPr>
              <a:t>The parents go first in every cluster — the older generation owes the younger the demonstration</a:t>
            </a:r>
          </a:p>
          <a:p>
            <a:pPr marL="274320" indent="-274320">
              <a:spcAft>
                <a:spcPts val="650"/>
              </a:spcAft>
            </a:pPr>
            <a:r>
              <a:rPr sz="1800" b="1" i="0">
                <a:solidFill>
                  <a:srgbClr val="97BC62"/>
                </a:solidFill>
                <a:latin typeface="Calibri"/>
              </a:rPr>
              <a:t>•  </a:t>
            </a:r>
            <a:r>
              <a:rPr sz="1800" b="0" i="0">
                <a:solidFill>
                  <a:srgbClr val="222B22"/>
                </a:solidFill>
                <a:latin typeface="Calibri"/>
              </a:rPr>
              <a:t>After each naming, the circle speaks a specific blessing of restoration — about three minutes per person</a:t>
            </a:r>
          </a:p>
        </p:txBody>
      </p:sp>
      <p:sp>
        <p:nvSpPr>
          <p:cNvPr id="6" name="TextBox 6"/>
          <p:cNvSpPr txBox="1"/>
          <p:nvPr/>
        </p:nvSpPr>
        <p:spPr>
          <a:xfrm>
            <a:off x="6766560" y="1737360"/>
            <a:ext cx="4663440" cy="3694176"/>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JAMES 5:16 · 1 JOHN 1:9</a:t>
            </a:r>
          </a:p>
          <a:p>
            <a:pPr>
              <a:spcAft>
                <a:spcPts val="600"/>
              </a:spcAft>
            </a:pPr>
            <a:r>
              <a:rPr sz="2400" b="0" i="1">
                <a:solidFill>
                  <a:srgbClr val="222B22"/>
                </a:solidFill>
                <a:latin typeface="Cambria"/>
              </a:rPr>
              <a:t>“Therefore, confess your sins to one another and pray for one another, that you may be healed. The prayer of a righteous person has great power as it is working.”</a:t>
            </a:r>
          </a:p>
          <a:p>
            <a:pPr>
              <a:spcAft>
                <a:spcPts val="600"/>
              </a:spcAft>
            </a:pPr>
            <a:r>
              <a:rPr sz="2400" b="0" i="1">
                <a:solidFill>
                  <a:srgbClr val="222B22"/>
                </a:solidFill>
                <a:latin typeface="Cambria"/>
              </a:rPr>
              <a:t>“If we confess our sins, he is faithful and just to forgive us our sins and to cleanse us from all unrighteousness.”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75</a:t>
            </a:r>
            <a:endParaRPr sz="1000" b="1">
              <a:solidFill>
                <a:srgbClr val="7A8A6E"/>
              </a:solidFill>
              <a:latin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Companion Demo</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The Lead Companion does the practice in front of the whole room — this sets the depth and the form</a:t>
            </a:r>
          </a:p>
          <a:p>
            <a:pPr marL="274320" indent="-274320">
              <a:spcAft>
                <a:spcPts val="900"/>
              </a:spcAft>
            </a:pPr>
            <a:r>
              <a:rPr sz="2400" b="1" i="0">
                <a:solidFill>
                  <a:srgbClr val="97BC62"/>
                </a:solidFill>
                <a:latin typeface="Calibri"/>
              </a:rPr>
              <a:t>•  </a:t>
            </a:r>
            <a:r>
              <a:rPr sz="2400" b="0" i="0">
                <a:solidFill>
                  <a:srgbClr val="222B22"/>
                </a:solidFill>
                <a:latin typeface="Calibri"/>
              </a:rPr>
              <a:t>One sentence: “The place where I want to walk in greater honesty is ______.” Real but not graphic</a:t>
            </a:r>
          </a:p>
          <a:p>
            <a:pPr marL="274320" indent="-274320">
              <a:spcAft>
                <a:spcPts val="900"/>
              </a:spcAft>
            </a:pPr>
            <a:r>
              <a:rPr sz="2400" b="1" i="0">
                <a:solidFill>
                  <a:srgbClr val="97BC62"/>
                </a:solidFill>
                <a:latin typeface="Calibri"/>
              </a:rPr>
              <a:t>•  </a:t>
            </a:r>
            <a:r>
              <a:rPr sz="2400" b="0" i="0">
                <a:solidFill>
                  <a:srgbClr val="222B22"/>
                </a:solidFill>
                <a:latin typeface="Calibri"/>
              </a:rPr>
              <a:t>Pause. A pre-arranged Co-Companion speaks a brief blessing of restoration back</a:t>
            </a:r>
          </a:p>
          <a:p>
            <a:pPr marL="274320" indent="-274320">
              <a:spcAft>
                <a:spcPts val="900"/>
              </a:spcAft>
            </a:pPr>
            <a:r>
              <a:rPr sz="2400" b="1" i="0">
                <a:solidFill>
                  <a:srgbClr val="97BC62"/>
                </a:solidFill>
                <a:latin typeface="Calibri"/>
              </a:rPr>
              <a:t>•  </a:t>
            </a:r>
            <a:r>
              <a:rPr sz="2400" b="0" i="0">
                <a:solidFill>
                  <a:srgbClr val="222B22"/>
                </a:solidFill>
                <a:latin typeface="Calibri"/>
              </a:rPr>
              <a:t>Receive it — no deflecting, no joking, no minimizing. “Thank you.”</a:t>
            </a:r>
          </a:p>
          <a:p>
            <a:pPr marL="274320" indent="-274320">
              <a:spcAft>
                <a:spcPts val="900"/>
              </a:spcAft>
            </a:pPr>
            <a:r>
              <a:rPr sz="2400" b="1" i="0">
                <a:solidFill>
                  <a:srgbClr val="97BC62"/>
                </a:solidFill>
                <a:latin typeface="Calibri"/>
              </a:rPr>
              <a:t>•  </a:t>
            </a:r>
            <a:r>
              <a:rPr sz="2400" b="0" i="0">
                <a:solidFill>
                  <a:srgbClr val="222B22"/>
                </a:solidFill>
                <a:latin typeface="Calibri"/>
              </a:rPr>
              <a:t>“That is the practice. You will do it in your cluster — parents first, then teens. Yours doesn’t have to look like mine.”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76</a:t>
            </a:r>
            <a:endParaRPr sz="1000" b="1">
              <a:solidFill>
                <a:srgbClr val="7A8A6E"/>
              </a:solidFill>
              <a:latin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800" b="1" i="0">
                <a:solidFill>
                  <a:srgbClr val="97BC62"/>
                </a:solidFill>
                <a:latin typeface="Calibri"/>
              </a:rPr>
              <a:t>1   </a:t>
            </a:r>
            <a:r>
              <a:rPr sz="2800" b="0" i="0">
                <a:solidFill>
                  <a:srgbClr val="222B22"/>
                </a:solidFill>
                <a:latin typeface="Calibri"/>
              </a:rPr>
              <a:t>“Take what helps from the prompts. You don’t have to use any of them.”</a:t>
            </a:r>
          </a:p>
          <a:p>
            <a:pPr marL="342900" indent="-342900">
              <a:spcAft>
                <a:spcPts val="900"/>
              </a:spcAft>
            </a:pPr>
            <a:r>
              <a:rPr sz="2800" b="1" i="0">
                <a:solidFill>
                  <a:srgbClr val="97BC62"/>
                </a:solidFill>
                <a:latin typeface="Calibri"/>
              </a:rPr>
              <a:t>2   </a:t>
            </a:r>
            <a:r>
              <a:rPr sz="2800" b="0" i="0">
                <a:solidFill>
                  <a:srgbClr val="222B22"/>
                </a:solidFill>
                <a:latin typeface="Calibri"/>
              </a:rPr>
              <a:t>The blessing card — specific, short, witnessed: “In the name of Jesus, we pray restoration over...”</a:t>
            </a:r>
          </a:p>
          <a:p>
            <a:pPr marL="342900" indent="-342900">
              <a:spcAft>
                <a:spcPts val="900"/>
              </a:spcAft>
            </a:pPr>
            <a:r>
              <a:rPr sz="2800" b="1" i="0">
                <a:solidFill>
                  <a:srgbClr val="97BC62"/>
                </a:solidFill>
                <a:latin typeface="Calibri"/>
              </a:rPr>
              <a:t>3   </a:t>
            </a:r>
            <a:r>
              <a:rPr sz="2800" b="0" i="0">
                <a:solidFill>
                  <a:srgbClr val="222B22"/>
                </a:solidFill>
                <a:latin typeface="Calibri"/>
              </a:rPr>
              <a:t>“The container holds. Nothing leaves the cluster. Not even back to the main room. Especially this week.”</a:t>
            </a:r>
          </a:p>
          <a:p>
            <a:pPr marL="274320" indent="-274320">
              <a:spcAft>
                <a:spcPts val="900"/>
              </a:spcAft>
            </a:pPr>
            <a:r>
              <a:rPr sz="2800" b="1" i="0">
                <a:solidFill>
                  <a:srgbClr val="97BC62"/>
                </a:solidFill>
                <a:latin typeface="Calibri"/>
              </a:rPr>
              <a:t>•  </a:t>
            </a:r>
            <a:r>
              <a:rPr sz="2800" b="0" i="0">
                <a:solidFill>
                  <a:srgbClr val="222B22"/>
                </a:solidFill>
                <a:latin typeface="Calibri"/>
              </a:rPr>
              <a:t>The order holds too: your Companion first, then the parents, then the teens</a:t>
            </a:r>
          </a:p>
          <a:p>
            <a:pPr marL="274320" indent="-274320">
              <a:spcAft>
                <a:spcPts val="900"/>
              </a:spcAft>
            </a:pPr>
            <a:r>
              <a:rPr sz="2800" b="1" i="0">
                <a:solidFill>
                  <a:srgbClr val="97BC62"/>
                </a:solidFill>
                <a:latin typeface="Calibri"/>
              </a:rPr>
              <a:t>•  </a:t>
            </a:r>
            <a:r>
              <a:rPr sz="2800" b="0" i="0">
                <a:solidFill>
                  <a:srgbClr val="222B22"/>
                </a:solidFill>
                <a:latin typeface="Calibri"/>
              </a:rPr>
              <a:t>“Teens — your depth is yours, and pass is always allowed.”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77</a:t>
            </a:r>
            <a:endParaRPr sz="1000" b="1">
              <a:solidFill>
                <a:srgbClr val="7A8A6E"/>
              </a:solidFill>
              <a:latin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Confession and Restoration in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Ninety seconds of silence to settle in — the silence is part of the practice</a:t>
            </a:r>
          </a:p>
          <a:p>
            <a:pPr marL="342900" indent="-342900">
              <a:spcAft>
                <a:spcPts val="750"/>
              </a:spcAft>
            </a:pPr>
            <a:r>
              <a:rPr sz="2000" b="1" i="0">
                <a:solidFill>
                  <a:srgbClr val="97BC62"/>
                </a:solidFill>
                <a:latin typeface="Calibri"/>
              </a:rPr>
              <a:t>1   </a:t>
            </a:r>
            <a:r>
              <a:rPr sz="2000" b="0" i="0">
                <a:solidFill>
                  <a:srgbClr val="222B22"/>
                </a:solidFill>
                <a:latin typeface="Calibri"/>
              </a:rPr>
              <a:t>The Cluster Companion goes first — names one place, receives a blessing</a:t>
            </a:r>
          </a:p>
          <a:p>
            <a:pPr marL="342900" indent="-342900">
              <a:spcAft>
                <a:spcPts val="750"/>
              </a:spcAft>
            </a:pPr>
            <a:r>
              <a:rPr sz="2000" b="1" i="0">
                <a:solidFill>
                  <a:srgbClr val="97BC62"/>
                </a:solidFill>
                <a:latin typeface="Calibri"/>
              </a:rPr>
              <a:t>2   </a:t>
            </a:r>
            <a:r>
              <a:rPr sz="2000" b="0" i="0">
                <a:solidFill>
                  <a:srgbClr val="222B22"/>
                </a:solidFill>
                <a:latin typeface="Calibri"/>
              </a:rPr>
              <a:t>The parents next — the arranged parent opens; own struggles only, within the rails</a:t>
            </a:r>
          </a:p>
          <a:p>
            <a:pPr marL="342900" indent="-342900">
              <a:spcAft>
                <a:spcPts val="750"/>
              </a:spcAft>
            </a:pPr>
            <a:r>
              <a:rPr sz="2000" b="1" i="0">
                <a:solidFill>
                  <a:srgbClr val="97BC62"/>
                </a:solidFill>
                <a:latin typeface="Calibri"/>
              </a:rPr>
              <a:t>3   </a:t>
            </a:r>
            <a:r>
              <a:rPr sz="2000" b="0" i="0">
                <a:solidFill>
                  <a:srgbClr val="222B22"/>
                </a:solidFill>
                <a:latin typeface="Calibri"/>
              </a:rPr>
              <a:t>The teens — each names one place at whatever depth they choose. Pass is real, honored without a flicker</a:t>
            </a:r>
          </a:p>
          <a:p>
            <a:pPr marL="274320" indent="-274320">
              <a:spcAft>
                <a:spcPts val="750"/>
              </a:spcAft>
            </a:pPr>
            <a:r>
              <a:rPr sz="2000" b="1" i="0">
                <a:solidFill>
                  <a:srgbClr val="97BC62"/>
                </a:solidFill>
                <a:latin typeface="Calibri"/>
              </a:rPr>
              <a:t>•  </a:t>
            </a:r>
            <a:r>
              <a:rPr sz="2000" b="0" i="0">
                <a:solidFill>
                  <a:srgbClr val="222B22"/>
                </a:solidFill>
                <a:latin typeface="Calibri"/>
              </a:rPr>
              <a:t>The form: “The place where I want to walk in greater honesty before God is ______.”</a:t>
            </a:r>
          </a:p>
          <a:p>
            <a:pPr marL="274320" indent="-274320">
              <a:spcAft>
                <a:spcPts val="750"/>
              </a:spcAft>
            </a:pPr>
            <a:r>
              <a:rPr sz="2000" b="1" i="0">
                <a:solidFill>
                  <a:srgbClr val="97BC62"/>
                </a:solidFill>
                <a:latin typeface="Calibri"/>
              </a:rPr>
              <a:t>•  </a:t>
            </a:r>
            <a:r>
              <a:rPr sz="2000" b="0" i="0">
                <a:solidFill>
                  <a:srgbClr val="222B22"/>
                </a:solidFill>
                <a:latin typeface="Calibri"/>
              </a:rPr>
              <a:t>After each naming, a brief specific blessing — a teen blessing their own parent is one of the best things this night can produce</a:t>
            </a:r>
          </a:p>
          <a:p>
            <a:pPr marL="274320" indent="-274320">
              <a:spcAft>
                <a:spcPts val="750"/>
              </a:spcAft>
            </a:pPr>
            <a:r>
              <a:rPr sz="2000" b="1" i="0">
                <a:solidFill>
                  <a:srgbClr val="97BC62"/>
                </a:solidFill>
                <a:latin typeface="Calibri"/>
              </a:rPr>
              <a:t>•  </a:t>
            </a:r>
            <a:r>
              <a:rPr sz="2000" b="0" i="0">
                <a:solidFill>
                  <a:srgbClr val="222B22"/>
                </a:solidFill>
                <a:latin typeface="Calibri"/>
              </a:rPr>
              <a:t>Closing silence — “We have named real things tonight. Let’s sit with what was said.”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78</a:t>
            </a:r>
            <a:endParaRPr sz="1000" b="1">
              <a:solidFill>
                <a:srgbClr val="7A8A6E"/>
              </a:solidFill>
              <a:latin typeface="Calibri"/>
            </a:endParaRPr>
          </a:p>
        </p:txBody>
      </p:sp>
      <p:pic>
        <p:nvPicPr>
          <p:cNvPr id="30" name="Picture 30" descr="clear sunlit water over stones"/>
          <p:cNvPicPr>
            <a:picLocks noChangeAspect="1"/>
          </p:cNvPicPr>
          <p:nvPr/>
        </p:nvPicPr>
        <p:blipFill>
          <a:blip r:embed="rId3"/>
          <a:stretch>
            <a:fillRect/>
          </a:stretch>
        </p:blipFill>
        <p:spPr>
          <a:xfrm>
            <a:off x="8076095" y="1463040"/>
            <a:ext cx="3289896"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Shared Blessing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tonight was like in your body. ‘Heavy.’ ‘Lighter.’ ‘Held.’ ‘Tender.’ ‘Surprised.’” — an arranged parent starts</a:t>
            </a:r>
          </a:p>
          <a:p>
            <a:pPr marL="274320" indent="-274320">
              <a:spcAft>
                <a:spcPts val="900"/>
              </a:spcAft>
            </a:pPr>
            <a:r>
              <a:rPr sz="2800" b="1" i="0">
                <a:solidFill>
                  <a:srgbClr val="97BC62"/>
                </a:solidFill>
                <a:latin typeface="Calibri"/>
              </a:rPr>
              <a:t>•  </a:t>
            </a:r>
            <a:r>
              <a:rPr sz="2800" b="0" i="0">
                <a:solidFill>
                  <a:srgbClr val="222B22"/>
                </a:solidFill>
                <a:latin typeface="Calibri"/>
              </a:rPr>
              <a:t>Then one shared blessing of restoration over the whole room — “Hands up if you want”</a:t>
            </a:r>
          </a:p>
          <a:p>
            <a:pPr marL="274320" indent="-274320">
              <a:spcAft>
                <a:spcPts val="900"/>
              </a:spcAft>
            </a:pPr>
            <a:r>
              <a:rPr sz="2800" b="1" i="0">
                <a:solidFill>
                  <a:srgbClr val="97BC62"/>
                </a:solidFill>
                <a:latin typeface="Calibri"/>
              </a:rPr>
              <a:t>•  </a:t>
            </a:r>
            <a:r>
              <a:rPr sz="2800" b="0" i="0">
                <a:solidFill>
                  <a:srgbClr val="222B22"/>
                </a:solidFill>
                <a:latin typeface="Calibri"/>
              </a:rPr>
              <a:t>“We pray restoration into every place that was named... Holy Spirit, walk these brothers and sisters home.”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79</a:t>
            </a:r>
            <a:endParaRPr sz="1000" b="1">
              <a:solidFill>
                <a:srgbClr val="7A8A6E"/>
              </a:solidFill>
              <a:latin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the Five-Minute Examen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The Five-Minute Examen — five minutes with God each evening, before bed, carried through the quarter break</a:t>
            </a:r>
          </a:p>
          <a:p>
            <a:pPr marL="342900" indent="-342900">
              <a:spcAft>
                <a:spcPts val="750"/>
              </a:spcAft>
            </a:pPr>
            <a:r>
              <a:rPr sz="2200" b="1" i="0">
                <a:solidFill>
                  <a:srgbClr val="97BC62"/>
                </a:solidFill>
                <a:latin typeface="Calibri"/>
              </a:rPr>
              <a:t>1   </a:t>
            </a:r>
            <a:r>
              <a:rPr sz="2200" b="0" i="0">
                <a:solidFill>
                  <a:srgbClr val="222B22"/>
                </a:solidFill>
                <a:latin typeface="Calibri"/>
              </a:rPr>
              <a:t>Thank Him for one specific thing from the day</a:t>
            </a:r>
          </a:p>
          <a:p>
            <a:pPr marL="342900" indent="-342900">
              <a:spcAft>
                <a:spcPts val="750"/>
              </a:spcAft>
            </a:pPr>
            <a:r>
              <a:rPr sz="2200" b="1" i="0">
                <a:solidFill>
                  <a:srgbClr val="97BC62"/>
                </a:solidFill>
                <a:latin typeface="Calibri"/>
              </a:rPr>
              <a:t>2   </a:t>
            </a:r>
            <a:r>
              <a:rPr sz="2200" b="0" i="0">
                <a:solidFill>
                  <a:srgbClr val="222B22"/>
                </a:solidFill>
                <a:latin typeface="Calibri"/>
              </a:rPr>
              <a:t>Notice one place where you saw God moving</a:t>
            </a:r>
          </a:p>
          <a:p>
            <a:pPr marL="342900" indent="-342900">
              <a:spcAft>
                <a:spcPts val="750"/>
              </a:spcAft>
            </a:pPr>
            <a:r>
              <a:rPr sz="2200" b="1" i="0">
                <a:solidFill>
                  <a:srgbClr val="97BC62"/>
                </a:solidFill>
                <a:latin typeface="Calibri"/>
              </a:rPr>
              <a:t>3   </a:t>
            </a:r>
            <a:r>
              <a:rPr sz="2200" b="0" i="0">
                <a:solidFill>
                  <a:srgbClr val="222B22"/>
                </a:solidFill>
                <a:latin typeface="Calibri"/>
              </a:rPr>
              <a:t>Ask Him about one place where you walked in less honesty than you wanted to today — just notice. No fixing</a:t>
            </a:r>
          </a:p>
          <a:p>
            <a:pPr marL="274320" indent="-274320">
              <a:spcAft>
                <a:spcPts val="750"/>
              </a:spcAft>
            </a:pPr>
            <a:r>
              <a:rPr sz="2200" b="1" i="0">
                <a:solidFill>
                  <a:srgbClr val="97BC62"/>
                </a:solidFill>
                <a:latin typeface="Calibri"/>
              </a:rPr>
              <a:t>•  </a:t>
            </a:r>
            <a:r>
              <a:rPr sz="2200" b="0" i="0">
                <a:solidFill>
                  <a:srgbClr val="222B22"/>
                </a:solidFill>
                <a:latin typeface="Calibri"/>
              </a:rPr>
              <a:t>The Quarterly Pulse goes home tonight — three questions, five minutes, sign it or leave it anonymous</a:t>
            </a:r>
          </a:p>
          <a:p>
            <a:pPr marL="274320" indent="-274320">
              <a:spcAft>
                <a:spcPts val="750"/>
              </a:spcAft>
            </a:pPr>
            <a:r>
              <a:rPr sz="2200" b="1" i="0">
                <a:solidFill>
                  <a:srgbClr val="97BC62"/>
                </a:solidFill>
                <a:latin typeface="Calibri"/>
              </a:rPr>
              <a:t>•  </a:t>
            </a:r>
            <a:r>
              <a:rPr sz="2200" b="0" i="0">
                <a:solidFill>
                  <a:srgbClr val="222B22"/>
                </a:solidFill>
                <a:latin typeface="Calibri"/>
              </a:rPr>
              <a:t>It comes back to the bin at the door at Week 7</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81</a:t>
            </a:r>
            <a:endParaRPr sz="1000" b="1">
              <a:solidFill>
                <a:srgbClr val="7A8A6E"/>
              </a:solidFill>
              <a:latin typeface="Calibri"/>
            </a:endParaRPr>
          </a:p>
        </p:txBody>
      </p:sp>
      <p:pic>
        <p:nvPicPr>
          <p:cNvPr id="270" name="CardImage" descr="the Week 6 check-off card, as handed out"/>
          <p:cNvPicPr>
            <a:picLocks noChangeAspect="1"/>
          </p:cNvPicPr>
          <p:nvPr/>
        </p:nvPicPr>
        <p:blipFill>
          <a:blip r:embed="rId3"/>
          <a:stretch>
            <a:fillRect/>
          </a:stretch>
        </p:blipFill>
        <p:spPr>
          <a:xfrm>
            <a:off x="1339945" y="1554480"/>
            <a:ext cx="951180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Three Questions, Carried Home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82</a:t>
            </a:r>
            <a:endParaRPr sz="1000" b="1">
              <a:solidFill>
                <a:srgbClr val="7A8A6E"/>
              </a:solidFill>
              <a:latin typeface="Calibri"/>
            </a:endParaRPr>
          </a:p>
        </p:txBody>
      </p:sp>
      <p:sp>
        <p:nvSpPr>
          <p:cNvPr id="290" name="RoomQuestion"/>
          <p:cNvSpPr txBox="1"/>
          <p:nvPr/>
        </p:nvSpPr>
        <p:spPr>
          <a:xfrm>
            <a:off x="822960" y="1417320"/>
            <a:ext cx="10515600" cy="5029200"/>
          </a:xfrm>
          <a:prstGeom prst="rect">
            <a:avLst/>
          </a:prstGeom>
          <a:noFill/>
        </p:spPr>
        <p:txBody>
          <a:bodyPr wrap="square"/>
          <a:lstStyle/>
          <a:p>
            <a:pPr algn="l">
              <a:spcAft>
                <a:spcPts val="1300"/>
              </a:spcAft>
            </a:pPr>
            <a:r>
              <a:rPr sz="1900" b="0" i="0">
                <a:solidFill>
                  <a:srgbClr val="222B22"/>
                </a:solidFill>
                <a:latin typeface="Calibri"/>
              </a:rPr>
              <a:t>Every week we close the same way — the leader’s reflection, then the room’s. Tonight closes a whole quarter, so the same questions come home for all of us:</a:t>
            </a:r>
          </a:p>
          <a:p>
            <a:pPr algn="l">
              <a:spcAft>
                <a:spcPts val="1100"/>
              </a:spcAft>
            </a:pPr>
            <a:r>
              <a:rPr sz="2400" b="1" i="0">
                <a:solidFill>
                  <a:srgbClr val="97BC62"/>
                </a:solidFill>
                <a:latin typeface="Calibri"/>
              </a:rPr>
              <a:t>1   </a:t>
            </a:r>
            <a:r>
              <a:rPr sz="2400" b="0" i="0">
                <a:solidFill>
                  <a:srgbClr val="222B22"/>
                </a:solidFill>
                <a:latin typeface="Calibri"/>
              </a:rPr>
              <a:t>What’s working well that we ought to keep doing next quarter?</a:t>
            </a:r>
          </a:p>
          <a:p>
            <a:pPr algn="l">
              <a:spcAft>
                <a:spcPts val="1100"/>
              </a:spcAft>
            </a:pPr>
            <a:r>
              <a:rPr sz="2400" b="1" i="0">
                <a:solidFill>
                  <a:srgbClr val="97BC62"/>
                </a:solidFill>
                <a:latin typeface="Calibri"/>
              </a:rPr>
              <a:t>2   </a:t>
            </a:r>
            <a:r>
              <a:rPr sz="2400" b="0" i="0">
                <a:solidFill>
                  <a:srgbClr val="222B22"/>
                </a:solidFill>
                <a:latin typeface="Calibri"/>
              </a:rPr>
              <a:t>What could we do differently that would make things even better?</a:t>
            </a:r>
          </a:p>
          <a:p>
            <a:pPr algn="l">
              <a:spcAft>
                <a:spcPts val="1100"/>
              </a:spcAft>
            </a:pPr>
            <a:r>
              <a:rPr sz="2400" b="1" i="0">
                <a:solidFill>
                  <a:srgbClr val="97BC62"/>
                </a:solidFill>
                <a:latin typeface="Calibri"/>
              </a:rPr>
              <a:t>3   </a:t>
            </a:r>
            <a:r>
              <a:rPr sz="2400" b="0" i="0">
                <a:solidFill>
                  <a:srgbClr val="222B22"/>
                </a:solidFill>
                <a:latin typeface="Calibri"/>
              </a:rPr>
              <a:t>What would you tell somebody else about what this group is like?</a:t>
            </a:r>
          </a:p>
          <a:p>
            <a:pPr algn="l">
              <a:spcBef>
                <a:spcPts val="1300"/>
              </a:spcBef>
              <a:spcAft>
                <a:spcPts val="1000"/>
              </a:spcAft>
            </a:pPr>
            <a:r>
              <a:rPr sz="1600" b="0" i="1">
                <a:solidFill>
                  <a:srgbClr val="222B22"/>
                </a:solidFill>
                <a:latin typeface="Calibri"/>
              </a:rPr>
              <a:t>No paper. Nothing to prepare. The group, never any one person. First night back, we talk.</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84</a:t>
            </a:r>
            <a:endParaRPr sz="1000" b="1">
              <a:solidFill>
                <a:srgbClr val="7A8A6E"/>
              </a:solidFill>
              <a:latin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2</a:t>
            </a:r>
          </a:p>
          <a:p>
            <a:pPr algn="l">
              <a:spcAft>
                <a:spcPts val="600"/>
              </a:spcAft>
            </a:pPr>
            <a:r>
              <a:rPr sz="4000" b="1" i="0">
                <a:solidFill>
                  <a:srgbClr val="FFFFFF"/>
                </a:solidFill>
                <a:latin typeface="Cambria"/>
              </a:rPr>
              <a:t>Connect with God</a:t>
            </a:r>
          </a:p>
          <a:p>
            <a:pPr algn="l">
              <a:spcAft>
                <a:spcPts val="600"/>
              </a:spcAft>
            </a:pPr>
            <a:r>
              <a:rPr sz="1800" b="0" i="1">
                <a:solidFill>
                  <a:srgbClr val="E4EFDA"/>
                </a:solidFill>
                <a:latin typeface="Calibri"/>
              </a:rPr>
              <a:t>Weeks 7–11  ·  Five Wednesdays · PROAPT, the Garden, Any Doubts? · ends at the year’s midpoint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85</a:t>
            </a:r>
            <a:endParaRPr sz="1000" b="1">
              <a:solidFill>
                <a:srgbClr val="F1F6EC"/>
              </a:solidFill>
              <a:latin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7</a:t>
            </a:r>
          </a:p>
          <a:p>
            <a:pPr algn="l">
              <a:spcAft>
                <a:spcPts val="1000"/>
              </a:spcAft>
            </a:pPr>
            <a:r>
              <a:rPr sz="3300" b="1" i="0">
                <a:solidFill>
                  <a:srgbClr val="2C5F2D"/>
                </a:solidFill>
                <a:latin typeface="Cambria"/>
              </a:rPr>
              <a:t>Hearing God in Scripture — PROAPT I</a:t>
            </a:r>
          </a:p>
          <a:p>
            <a:pPr algn="l">
              <a:spcAft>
                <a:spcPts val="600"/>
              </a:spcAft>
            </a:pPr>
            <a:r>
              <a:rPr sz="1800" b="0" i="1">
                <a:solidFill>
                  <a:srgbClr val="595959"/>
                </a:solidFill>
                <a:latin typeface="Calibri"/>
              </a:rPr>
              <a:t>PROAPT — the systematic practice of hearing; the first walk-through, received before it is led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86</a:t>
            </a:r>
            <a:endParaRPr sz="1000" b="1">
              <a:solidFill>
                <a:srgbClr val="7A8A6E"/>
              </a:solidFill>
              <a:latin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 My Story: The Eye Test</a:t>
            </a:r>
          </a:p>
        </p:txBody>
      </p:sp>
      <p:pic>
        <p:nvPicPr>
          <p:cNvPr id="4" name="Picture 3" descr="4c-phoropter.jpg"/>
          <p:cNvPicPr>
            <a:picLocks noChangeAspect="1"/>
          </p:cNvPicPr>
          <p:nvPr/>
        </p:nvPicPr>
        <p:blipFill>
          <a:blip r:embed="rId3"/>
          <a:stretch>
            <a:fillRect/>
          </a:stretch>
        </p:blipFill>
        <p:spPr>
          <a:xfrm>
            <a:off x="822960" y="1645920"/>
            <a:ext cx="4754880" cy="3566160"/>
          </a:xfrm>
          <a:prstGeom prst="rect">
            <a:avLst/>
          </a:prstGeom>
          <a:ln w="76200">
            <a:solidFill>
              <a:srgbClr val="FFFFFF"/>
            </a:solidFill>
          </a:ln>
          <a:effectLst>
            <a:outerShdw blurRad="63500" dist="25400" dir="5400000" rotWithShape="0">
              <a:srgbClr val="000000">
                <a:alpha val="35000"/>
              </a:srgbClr>
            </a:outerShdw>
          </a:effectLst>
        </p:spPr>
      </p:pic>
      <p:pic>
        <p:nvPicPr>
          <p:cNvPr id="5" name="Picture 4" descr="4c-eyechart.jpg"/>
          <p:cNvPicPr>
            <a:picLocks noChangeAspect="1"/>
          </p:cNvPicPr>
          <p:nvPr/>
        </p:nvPicPr>
        <p:blipFill>
          <a:blip r:embed="rId4"/>
          <a:stretch>
            <a:fillRect/>
          </a:stretch>
        </p:blipFill>
        <p:spPr>
          <a:xfrm>
            <a:off x="5971032" y="1645920"/>
            <a:ext cx="2139696" cy="3566160"/>
          </a:xfrm>
          <a:prstGeom prst="rect">
            <a:avLst/>
          </a:prstGeom>
          <a:ln w="76200">
            <a:solidFill>
              <a:srgbClr val="FFFFFF"/>
            </a:solidFill>
          </a:ln>
          <a:effectLst>
            <a:outerShdw blurRad="63500" dist="25400" dir="5400000" rotWithShape="0">
              <a:srgbClr val="000000">
                <a:alpha val="35000"/>
              </a:srgbClr>
            </a:outerShdw>
          </a:effectLst>
        </p:spPr>
      </p:pic>
      <p:sp>
        <p:nvSpPr>
          <p:cNvPr id="6" name="TextBox 5"/>
          <p:cNvSpPr txBox="1"/>
          <p:nvPr/>
        </p:nvSpPr>
        <p:spPr>
          <a:xfrm>
            <a:off x="8503920" y="1737360"/>
            <a:ext cx="3108960" cy="3566160"/>
          </a:xfrm>
          <a:prstGeom prst="rect">
            <a:avLst/>
          </a:prstGeom>
          <a:noFill/>
        </p:spPr>
        <p:txBody>
          <a:bodyPr wrap="square" anchor="ctr">
            <a:spAutoFit/>
          </a:bodyPr>
          <a:lstStyle/>
          <a:p>
            <a:pPr algn="l">
              <a:spcAft>
                <a:spcPts val="600"/>
              </a:spcAft>
            </a:pPr>
            <a:r>
              <a:rPr sz="2800" b="1" i="1">
                <a:solidFill>
                  <a:srgbClr val="2C5F2D"/>
                </a:solidFill>
                <a:latin typeface="Calibri"/>
              </a:rPr>
              <a:t>“The more I obey what I have heard, the finer print I can read.”</a:t>
            </a:r>
          </a:p>
          <a:p>
            <a:pPr algn="l">
              <a:spcAft>
                <a:spcPts val="600"/>
              </a:spcAft>
            </a:pPr>
            <a:r>
              <a:rPr sz="1800" b="0" i="1">
                <a:solidFill>
                  <a:srgbClr val="595959"/>
                </a:solidFill>
                <a:latin typeface="Calibri"/>
              </a:rPr>
              <a:t>— the founder’s story, told live</a:t>
            </a:r>
          </a:p>
        </p:txBody>
      </p:sp>
      <p:sp>
        <p:nvSpPr>
          <p:cNvPr id="7" name="TextBox 6"/>
          <p:cNvSpPr txBox="1"/>
          <p:nvPr/>
        </p:nvSpPr>
        <p:spPr>
          <a:xfrm>
            <a:off x="822960" y="5669280"/>
            <a:ext cx="10607040" cy="822960"/>
          </a:xfrm>
          <a:prstGeom prst="rect">
            <a:avLst/>
          </a:prstGeom>
          <a:noFill/>
        </p:spPr>
        <p:txBody>
          <a:bodyPr wrap="square">
            <a:spAutoFit/>
          </a:bodyPr>
          <a:lstStyle/>
          <a:p>
            <a:pPr algn="l">
              <a:spcAft>
                <a:spcPts val="600"/>
              </a:spcAft>
            </a:pPr>
            <a:r>
              <a:rPr sz="1800" b="0" i="1">
                <a:solidFill>
                  <a:srgbClr val="222B22"/>
                </a:solidFill>
                <a:latin typeface="Calibri"/>
              </a:rPr>
              <a:t>Hearing God is a practice that grows with obedience — tonight we learn the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87</a:t>
            </a:r>
            <a:endParaRPr sz="1000" b="1">
              <a:solidFill>
                <a:srgbClr val="7A8A6E"/>
              </a:solidFill>
              <a:latin typeface="Calibri"/>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Re-entry — and the room reads itself</a:t>
            </a:r>
          </a:p>
          <a:p>
            <a:pPr>
              <a:spcAft>
                <a:spcPts val="500"/>
              </a:spcAft>
            </a:pPr>
            <a:r>
              <a:rPr sz="2800" b="1">
                <a:solidFill>
                  <a:srgbClr val="97BC62"/>
                </a:solidFill>
                <a:latin typeface="Calibri"/>
              </a:rPr>
              <a:t>3   </a:t>
            </a:r>
            <a:r>
              <a:rPr sz="2800">
                <a:solidFill>
                  <a:srgbClr val="222B22"/>
                </a:solidFill>
                <a:latin typeface="Calibri"/>
              </a:rPr>
              <a:t>Romans 10:17 — the chain</a:t>
            </a:r>
          </a:p>
          <a:p>
            <a:pPr>
              <a:spcAft>
                <a:spcPts val="500"/>
              </a:spcAft>
            </a:pPr>
            <a:r>
              <a:rPr sz="2800" b="1">
                <a:solidFill>
                  <a:srgbClr val="97BC62"/>
                </a:solidFill>
                <a:latin typeface="Calibri"/>
              </a:rPr>
              <a:t>4   </a:t>
            </a:r>
            <a:r>
              <a:rPr sz="2800">
                <a:solidFill>
                  <a:srgbClr val="222B22"/>
                </a:solidFill>
                <a:latin typeface="Calibri"/>
              </a:rPr>
              <a:t>PROAPT walked together</a:t>
            </a:r>
          </a:p>
          <a:p>
            <a:pPr>
              <a:spcAft>
                <a:spcPts val="500"/>
              </a:spcAft>
            </a:pPr>
            <a:r>
              <a:rPr sz="2800" b="1">
                <a:solidFill>
                  <a:srgbClr val="97BC62"/>
                </a:solidFill>
                <a:latin typeface="Calibri"/>
              </a:rPr>
              <a:t>5   </a:t>
            </a:r>
            <a:r>
              <a:rPr sz="2800">
                <a:solidFill>
                  <a:srgbClr val="222B22"/>
                </a:solidFill>
                <a:latin typeface="Calibri"/>
              </a:rPr>
              <a:t>Bridge to the clusters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family clusters</a:t>
            </a:r>
          </a:p>
          <a:p>
            <a:pPr>
              <a:spcAft>
                <a:spcPts val="500"/>
              </a:spcAft>
            </a:pPr>
            <a:r>
              <a:rPr sz="2800" b="1">
                <a:solidFill>
                  <a:srgbClr val="97BC62"/>
                </a:solidFill>
                <a:latin typeface="Calibri"/>
              </a:rPr>
              <a:t>7   </a:t>
            </a:r>
            <a:r>
              <a:rPr sz="2800">
                <a:solidFill>
                  <a:srgbClr val="222B22"/>
                </a:solidFill>
                <a:latin typeface="Calibri"/>
              </a:rPr>
              <a:t>Tell step — sharing in the cluster</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The 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89</a:t>
            </a:r>
            <a:endParaRPr sz="1000" b="1">
              <a:solidFill>
                <a:srgbClr val="7A8A6E"/>
              </a:solidFill>
              <a:latin typeface="Calibri"/>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Re-Entry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First gathering of Quarter 2 — the container re-held slowly after the break</a:t>
            </a:r>
          </a:p>
          <a:p>
            <a:pPr marL="274320" indent="-274320">
              <a:spcAft>
                <a:spcPts val="900"/>
              </a:spcAft>
            </a:pPr>
            <a:r>
              <a:rPr sz="2400" b="1" i="0">
                <a:solidFill>
                  <a:srgbClr val="97BC62"/>
                </a:solidFill>
                <a:latin typeface="Calibri"/>
              </a:rPr>
              <a:t>•  </a:t>
            </a:r>
            <a:r>
              <a:rPr sz="2400" b="0" i="0">
                <a:solidFill>
                  <a:srgbClr val="222B22"/>
                </a:solidFill>
                <a:latin typeface="Calibri"/>
              </a:rPr>
              <a:t>“Take ninety seconds: one sentence about the Examen, or about how the break treated your practice, or anything that has shifted.”</a:t>
            </a:r>
          </a:p>
          <a:p>
            <a:pPr marL="685800" indent="-274320">
              <a:spcAft>
                <a:spcPts val="700"/>
              </a:spcAft>
            </a:pPr>
            <a:r>
              <a:rPr sz="1800" b="1" i="0">
                <a:solidFill>
                  <a:srgbClr val="97BC62"/>
                </a:solidFill>
                <a:latin typeface="Calibri"/>
              </a:rPr>
              <a:t>–  </a:t>
            </a:r>
            <a:r>
              <a:rPr sz="1800" b="0" i="1">
                <a:solidFill>
                  <a:srgbClr val="222B22"/>
                </a:solidFill>
                <a:latin typeface="Calibri"/>
              </a:rPr>
              <a:t>“Thinned out over the break is a completely normal answer — the practice picks up where you are.”</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pass-anytime holds</a:t>
            </a:r>
          </a:p>
          <a:p>
            <a:pPr marL="274320" indent="-274320">
              <a:spcAft>
                <a:spcPts val="900"/>
              </a:spcAft>
            </a:pPr>
            <a:r>
              <a:rPr sz="2400" b="1" i="0">
                <a:solidFill>
                  <a:srgbClr val="97BC62"/>
                </a:solidFill>
                <a:latin typeface="Calibri"/>
              </a:rPr>
              <a:t>•  </a:t>
            </a:r>
            <a:r>
              <a:rPr sz="2400" b="0" i="0">
                <a:solidFill>
                  <a:srgbClr val="222B22"/>
                </a:solidFill>
                <a:latin typeface="Calibri"/>
              </a:rPr>
              <a:t>Week 6 still sitting heavy? “The team is here. Find one of us before you leave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Round, for All of Us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91</a:t>
            </a:r>
            <a:endParaRPr sz="1000" b="1">
              <a:solidFill>
                <a:srgbClr val="7A8A6E"/>
              </a:solidFill>
              <a:latin typeface="Calibri"/>
            </a:endParaRPr>
          </a:p>
        </p:txBody>
      </p:sp>
      <p:sp>
        <p:nvSpPr>
          <p:cNvPr id="290" name="RoomSelfRead"/>
          <p:cNvSpPr txBox="1"/>
          <p:nvPr/>
        </p:nvSpPr>
        <p:spPr>
          <a:xfrm>
            <a:off x="822960" y="1417320"/>
            <a:ext cx="10515600" cy="5029200"/>
          </a:xfrm>
          <a:prstGeom prst="rect">
            <a:avLst/>
          </a:prstGeom>
          <a:noFill/>
        </p:spPr>
        <p:txBody>
          <a:bodyPr wrap="square"/>
          <a:lstStyle/>
          <a:p>
            <a:pPr algn="l">
              <a:spcAft>
                <a:spcPts val="1300"/>
              </a:spcAft>
            </a:pPr>
            <a:r>
              <a:rPr sz="1900" b="0" i="0">
                <a:solidFill>
                  <a:srgbClr val="222B22"/>
                </a:solidFill>
                <a:latin typeface="Calibri"/>
              </a:rPr>
              <a:t>Same process as every week’s leader reflection — now for the group:</a:t>
            </a:r>
          </a:p>
          <a:p>
            <a:pPr algn="l">
              <a:spcAft>
                <a:spcPts val="1100"/>
              </a:spcAft>
            </a:pPr>
            <a:r>
              <a:rPr sz="2400" b="1" i="0">
                <a:solidFill>
                  <a:srgbClr val="97BC62"/>
                </a:solidFill>
                <a:latin typeface="Calibri"/>
              </a:rPr>
              <a:t>1   </a:t>
            </a:r>
            <a:r>
              <a:rPr sz="2400" b="0" i="0">
                <a:solidFill>
                  <a:srgbClr val="222B22"/>
                </a:solidFill>
                <a:latin typeface="Calibri"/>
              </a:rPr>
              <a:t>What’s working well that we ought to keep doing next quarter?</a:t>
            </a:r>
          </a:p>
          <a:p>
            <a:pPr algn="l">
              <a:spcAft>
                <a:spcPts val="1100"/>
              </a:spcAft>
            </a:pPr>
            <a:r>
              <a:rPr sz="2400" b="1" i="0">
                <a:solidFill>
                  <a:srgbClr val="97BC62"/>
                </a:solidFill>
                <a:latin typeface="Calibri"/>
              </a:rPr>
              <a:t>2   </a:t>
            </a:r>
            <a:r>
              <a:rPr sz="2400" b="0" i="0">
                <a:solidFill>
                  <a:srgbClr val="222B22"/>
                </a:solidFill>
                <a:latin typeface="Calibri"/>
              </a:rPr>
              <a:t>What could we do differently that would make things even better?</a:t>
            </a:r>
          </a:p>
          <a:p>
            <a:pPr algn="l">
              <a:spcAft>
                <a:spcPts val="1100"/>
              </a:spcAft>
            </a:pPr>
            <a:r>
              <a:rPr sz="2400" b="1" i="0">
                <a:solidFill>
                  <a:srgbClr val="97BC62"/>
                </a:solidFill>
                <a:latin typeface="Calibri"/>
              </a:rPr>
              <a:t>3   </a:t>
            </a:r>
            <a:r>
              <a:rPr sz="2400" b="0" i="0">
                <a:solidFill>
                  <a:srgbClr val="222B22"/>
                </a:solidFill>
                <a:latin typeface="Calibri"/>
              </a:rPr>
              <a:t>What would you tell somebody else about what this group is like?</a:t>
            </a:r>
          </a:p>
          <a:p>
            <a:pPr algn="l">
              <a:spcBef>
                <a:spcPts val="1300"/>
              </a:spcBef>
              <a:spcAft>
                <a:spcPts val="1000"/>
              </a:spcAft>
            </a:pPr>
            <a:r>
              <a:rPr sz="2000" b="0" i="1">
                <a:solidFill>
                  <a:srgbClr val="222B22"/>
                </a:solidFill>
                <a:latin typeface="Cambria"/>
              </a:rPr>
              <a:t>The leader answers first, same as always. Any question, any order.</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Romans 10:17 — The Chain</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One short verse, three steps: Word → Hearing → Faith — the order matters</a:t>
            </a:r>
          </a:p>
          <a:p>
            <a:pPr marL="274320" indent="-274320">
              <a:spcAft>
                <a:spcPts val="800"/>
              </a:spcAft>
            </a:pPr>
            <a:r>
              <a:rPr sz="2000" b="1" i="0">
                <a:solidFill>
                  <a:srgbClr val="97BC62"/>
                </a:solidFill>
                <a:latin typeface="Calibri"/>
              </a:rPr>
              <a:t>•  </a:t>
            </a:r>
            <a:r>
              <a:rPr sz="2000" b="0" i="0">
                <a:solidFill>
                  <a:srgbClr val="222B22"/>
                </a:solidFill>
                <a:latin typeface="Calibri"/>
              </a:rPr>
              <a:t>Not trying harder, not emotional experience — faith is a fruit of a particular practice</a:t>
            </a:r>
          </a:p>
          <a:p>
            <a:pPr marL="274320" indent="-274320">
              <a:spcAft>
                <a:spcPts val="800"/>
              </a:spcAft>
            </a:pPr>
            <a:r>
              <a:rPr sz="2000" b="1" i="0">
                <a:solidFill>
                  <a:srgbClr val="97BC62"/>
                </a:solidFill>
                <a:latin typeface="Calibri"/>
              </a:rPr>
              <a:t>•  </a:t>
            </a:r>
            <a:r>
              <a:rPr sz="2000" b="0" i="0">
                <a:solidFill>
                  <a:srgbClr val="222B22"/>
                </a:solidFill>
                <a:latin typeface="Calibri"/>
              </a:rPr>
              <a:t>How much of our “Bible time” is actually hearing, and how much is reading without hearing?</a:t>
            </a:r>
          </a:p>
          <a:p>
            <a:pPr marL="274320" indent="-274320">
              <a:spcAft>
                <a:spcPts val="800"/>
              </a:spcAft>
            </a:pPr>
            <a:r>
              <a:rPr sz="2000" b="1" i="0">
                <a:solidFill>
                  <a:srgbClr val="97BC62"/>
                </a:solidFill>
                <a:latin typeface="Calibri"/>
              </a:rPr>
              <a:t>•  </a:t>
            </a:r>
            <a:r>
              <a:rPr sz="2000" b="0" i="0">
                <a:solidFill>
                  <a:srgbClr val="222B22"/>
                </a:solidFill>
                <a:latin typeface="Calibri"/>
              </a:rPr>
              <a:t>Hearing is a skill — skills develop with practice</a:t>
            </a:r>
          </a:p>
          <a:p>
            <a:pPr marL="274320" indent="-274320">
              <a:spcAft>
                <a:spcPts val="800"/>
              </a:spcAft>
            </a:pPr>
            <a:r>
              <a:rPr sz="2000" b="1" i="0">
                <a:solidFill>
                  <a:srgbClr val="97BC62"/>
                </a:solidFill>
                <a:latin typeface="Calibri"/>
              </a:rPr>
              <a:t>•  </a:t>
            </a:r>
            <a:r>
              <a:rPr sz="2000" b="0" i="0">
                <a:solidFill>
                  <a:srgbClr val="222B22"/>
                </a:solidFill>
                <a:latin typeface="Calibri"/>
              </a:rPr>
              <a:t>The practice: PROAPT — Pray, Read, Observe, Apply, Pray again, Tell (Truro Church, 1980s)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92</a:t>
            </a:r>
            <a:endParaRPr sz="1000" b="1">
              <a:solidFill>
                <a:srgbClr val="7A8A6E"/>
              </a:solidFill>
              <a:latin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1:14–20</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“Holy Spirit, you are welcome here. Speak. We are listening.”</a:t>
            </a:r>
          </a:p>
          <a:p>
            <a:pPr marL="342900" indent="-342900">
              <a:spcAft>
                <a:spcPts val="750"/>
              </a:spcAft>
            </a:pPr>
            <a:r>
              <a:rPr sz="2000" b="1" i="0">
                <a:solidFill>
                  <a:srgbClr val="97BC62"/>
                </a:solidFill>
                <a:latin typeface="Calibri"/>
              </a:rPr>
              <a:t>2   </a:t>
            </a:r>
            <a:r>
              <a:rPr sz="2000" b="0" i="0">
                <a:solidFill>
                  <a:srgbClr val="222B22"/>
                </a:solidFill>
                <a:latin typeface="Calibri"/>
              </a:rPr>
              <a:t>Read — slowly, to receive it; don’t analyze yet</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(who, what, when, where — straight off the page), then the interpretation — what stands out or surprises you in it</a:t>
            </a:r>
          </a:p>
          <a:p>
            <a:pPr marL="342900" indent="-342900">
              <a:spcAft>
                <a:spcPts val="750"/>
              </a:spcAft>
            </a:pPr>
            <a:r>
              <a:rPr sz="2000" b="1" i="0">
                <a:solidFill>
                  <a:srgbClr val="97BC62"/>
                </a:solidFill>
                <a:latin typeface="Calibri"/>
              </a:rPr>
              <a:t>4   </a:t>
            </a:r>
            <a:r>
              <a:rPr sz="2000" b="0" i="0">
                <a:solidFill>
                  <a:srgbClr val="222B22"/>
                </a:solidFill>
                <a:latin typeface="Calibri"/>
              </a:rPr>
              <a:t>Apply — “What does this passage mean FOR YOU, TODAY, in your specific life?” — logos becomes rhema</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what you are willing to do,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the most-often-skipped step; hearing spoken aloud has a different staying power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93</a:t>
            </a:r>
            <a:endParaRPr sz="1000" b="1">
              <a:solidFill>
                <a:srgbClr val="7A8A6E"/>
              </a:solidFill>
              <a:latin typeface="Calibri"/>
            </a:endParaRPr>
          </a:p>
        </p:txBody>
      </p:sp>
      <p:pic>
        <p:nvPicPr>
          <p:cNvPr id="91" name="Picture 91" descr="an old wooden boat left ashore among moss and pin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Clusters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Pair up in your family cluster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Reader leads the six steps; after twelve minutes, switch</a:t>
            </a:r>
          </a:p>
          <a:p>
            <a:pPr marL="274320" indent="-274320">
              <a:spcAft>
                <a:spcPts val="900"/>
              </a:spcAft>
            </a:pPr>
            <a:r>
              <a:rPr sz="2400" b="1" i="0">
                <a:solidFill>
                  <a:srgbClr val="97BC62"/>
                </a:solidFill>
                <a:latin typeface="Calibri"/>
              </a:rPr>
              <a:t>•  </a:t>
            </a:r>
            <a:r>
              <a:rPr sz="2400" b="0" i="0">
                <a:solidFill>
                  <a:srgbClr val="222B22"/>
                </a:solidFill>
                <a:latin typeface="Calibri"/>
              </a:rPr>
              <a:t>“Pairing up with your own parent or your own teen is not the consolation-prize version — it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Cluster Companion settles the pairs and completes any odd numbers</a:t>
            </a:r>
          </a:p>
          <a:p>
            <a:pPr marL="274320" indent="-274320">
              <a:spcAft>
                <a:spcPts val="900"/>
              </a:spcAft>
            </a:pPr>
            <a:r>
              <a:rPr sz="2400" b="1" i="0">
                <a:solidFill>
                  <a:srgbClr val="97BC62"/>
                </a:solidFill>
                <a:latin typeface="Calibri"/>
              </a:rPr>
              <a:t>•  </a:t>
            </a:r>
            <a:r>
              <a:rPr sz="2400" b="0" i="0">
                <a:solidFill>
                  <a:srgbClr val="222B22"/>
                </a:solidFill>
                <a:latin typeface="Calibri"/>
              </a:rPr>
              <a:t>Small room (about ten or fewer)? Stay as one circle and pair up in place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94</a:t>
            </a:r>
            <a:endParaRPr sz="1000" b="1">
              <a:solidFill>
                <a:srgbClr val="7A8A6E"/>
              </a:solidFill>
              <a:latin typeface="Calibri"/>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800" b="1" i="0">
                <a:solidFill>
                  <a:srgbClr val="97BC62"/>
                </a:solidFill>
                <a:latin typeface="Calibri"/>
              </a:rPr>
              <a:t>1   </a:t>
            </a:r>
            <a:r>
              <a:rPr sz="2800" b="0" i="0">
                <a:solidFill>
                  <a:srgbClr val="222B22"/>
                </a:solidFill>
                <a:latin typeface="Calibri"/>
              </a:rPr>
              <a:t>First pass (12 min) — Reader leads PROAPT; Listener works alongside without interrupting</a:t>
            </a:r>
          </a:p>
          <a:p>
            <a:pPr marL="342900" indent="-342900">
              <a:spcAft>
                <a:spcPts val="750"/>
              </a:spcAft>
            </a:pPr>
            <a:r>
              <a:rPr sz="2800" b="1" i="0">
                <a:solidFill>
                  <a:srgbClr val="97BC62"/>
                </a:solidFill>
                <a:latin typeface="Calibri"/>
              </a:rPr>
              <a:t>2   </a:t>
            </a:r>
            <a:r>
              <a:rPr sz="2800" b="0" i="0">
                <a:solidFill>
                  <a:srgbClr val="222B22"/>
                </a:solidFill>
                <a:latin typeface="Calibri"/>
              </a:rPr>
              <a:t>Reader’s Tell at the end goes to the Listener — one sentence</a:t>
            </a:r>
          </a:p>
          <a:p>
            <a:pPr marL="342900" indent="-342900">
              <a:spcAft>
                <a:spcPts val="750"/>
              </a:spcAft>
            </a:pPr>
            <a:r>
              <a:rPr sz="2800" b="1" i="0">
                <a:solidFill>
                  <a:srgbClr val="97BC62"/>
                </a:solidFill>
                <a:latin typeface="Calibri"/>
              </a:rPr>
              <a:t>3   </a:t>
            </a:r>
            <a:r>
              <a:rPr sz="2800" b="0" i="0">
                <a:solidFill>
                  <a:srgbClr val="222B22"/>
                </a:solidFill>
                <a:latin typeface="Calibri"/>
              </a:rPr>
              <a:t>Switch roles — new passage or stay with Mark 1</a:t>
            </a:r>
          </a:p>
          <a:p>
            <a:pPr marL="342900" indent="-342900">
              <a:spcAft>
                <a:spcPts val="750"/>
              </a:spcAft>
            </a:pPr>
            <a:r>
              <a:rPr sz="2800" b="1" i="0">
                <a:solidFill>
                  <a:srgbClr val="97BC62"/>
                </a:solidFill>
                <a:latin typeface="Calibri"/>
              </a:rPr>
              <a:t>4   </a:t>
            </a:r>
            <a:r>
              <a:rPr sz="2800" b="0" i="0">
                <a:solidFill>
                  <a:srgbClr val="222B22"/>
                </a:solidFill>
                <a:latin typeface="Calibri"/>
              </a:rPr>
              <a:t>Second pass (12 min) — same structure, roles reversed</a:t>
            </a:r>
          </a:p>
          <a:p>
            <a:pPr marL="274320" indent="-274320">
              <a:spcAft>
                <a:spcPts val="750"/>
              </a:spcAft>
            </a:pPr>
            <a:r>
              <a:rPr sz="2800" b="1" i="0">
                <a:solidFill>
                  <a:srgbClr val="97BC62"/>
                </a:solidFill>
                <a:latin typeface="Calibri"/>
              </a:rPr>
              <a:t>•  </a:t>
            </a:r>
            <a:r>
              <a:rPr sz="2800" b="0" i="0">
                <a:solidFill>
                  <a:srgbClr val="222B22"/>
                </a:solidFill>
                <a:latin typeface="Calibri"/>
              </a:rPr>
              <a:t>Stuck on Observe? “What’s one specific word or phrase that caught your attention?”</a:t>
            </a:r>
          </a:p>
          <a:p>
            <a:pPr marL="274320" indent="-274320">
              <a:spcAft>
                <a:spcPts val="750"/>
              </a:spcAft>
            </a:pPr>
            <a:r>
              <a:rPr sz="2800" b="1" i="0">
                <a:solidFill>
                  <a:srgbClr val="97BC62"/>
                </a:solidFill>
                <a:latin typeface="Calibri"/>
              </a:rPr>
              <a:t>•  </a:t>
            </a:r>
            <a:r>
              <a:rPr sz="2800" b="0" i="0">
                <a:solidFill>
                  <a:srgbClr val="222B22"/>
                </a:solidFill>
                <a:latin typeface="Calibri"/>
              </a:rPr>
              <a:t>“Slow down. The Spirit isn’t in a hurry.” — and if you finish early, get reps with another passage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95</a:t>
            </a:r>
            <a:endParaRPr sz="1000" b="1">
              <a:solidFill>
                <a:srgbClr val="7A8A6E"/>
              </a:solidFill>
              <a:latin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Cluster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Back in the family cluster — each of us tells ONE specific thing we heard tonight</a:t>
            </a:r>
          </a:p>
          <a:p>
            <a:pPr marL="274320" indent="-274320">
              <a:spcAft>
                <a:spcPts val="900"/>
              </a:spcAft>
            </a:pPr>
            <a:r>
              <a:rPr sz="2800" b="1" i="0">
                <a:solidFill>
                  <a:srgbClr val="97BC62"/>
                </a:solidFill>
                <a:latin typeface="Calibri"/>
              </a:rPr>
              <a:t>•  </a:t>
            </a:r>
            <a:r>
              <a:rPr sz="2800" b="0" i="0">
                <a:solidFill>
                  <a:srgbClr val="222B22"/>
                </a:solidFill>
                <a:latin typeface="Calibri"/>
              </a:rPr>
              <a:t>“Specific. One sentence. We listen to receive, like Week 3.”</a:t>
            </a:r>
          </a:p>
          <a:p>
            <a:pPr marL="274320" indent="-274320">
              <a:spcAft>
                <a:spcPts val="900"/>
              </a:spcAft>
            </a:pPr>
            <a:r>
              <a:rPr sz="2800" b="1" i="0">
                <a:solidFill>
                  <a:srgbClr val="97BC62"/>
                </a:solidFill>
                <a:latin typeface="Calibri"/>
              </a:rPr>
              <a:t>•  </a:t>
            </a:r>
            <a:r>
              <a:rPr sz="2800" b="0" i="0">
                <a:solidFill>
                  <a:srgbClr val="222B22"/>
                </a:solidFill>
                <a:latin typeface="Calibri"/>
              </a:rPr>
              <a:t>A parent opens the round — arranged beforehand, never a cold call on a teen; pass-anytime holds</a:t>
            </a:r>
          </a:p>
          <a:p>
            <a:pPr marL="274320" indent="-274320">
              <a:spcAft>
                <a:spcPts val="900"/>
              </a:spcAft>
            </a:pPr>
            <a:r>
              <a:rPr sz="2800" b="1" i="0">
                <a:solidFill>
                  <a:srgbClr val="97BC62"/>
                </a:solidFill>
                <a:latin typeface="Calibri"/>
              </a:rPr>
              <a:t>•  </a:t>
            </a:r>
            <a:r>
              <a:rPr sz="2800" b="0" i="0">
                <a:solidFill>
                  <a:srgbClr val="222B22"/>
                </a:solidFill>
                <a:latin typeface="Calibri"/>
              </a:rPr>
              <a:t>Receive without preaching — “We hear that.” “Thank you for naming that.”</a:t>
            </a:r>
          </a:p>
          <a:p>
            <a:pPr marL="274320" indent="-274320">
              <a:spcAft>
                <a:spcPts val="900"/>
              </a:spcAft>
            </a:pPr>
            <a:r>
              <a:rPr sz="2800" b="1" i="0">
                <a:solidFill>
                  <a:srgbClr val="97BC62"/>
                </a:solidFill>
                <a:latin typeface="Calibri"/>
              </a:rPr>
              <a:t>•  </a:t>
            </a:r>
            <a:r>
              <a:rPr sz="2800" b="0" i="0">
                <a:solidFill>
                  <a:srgbClr val="222B22"/>
                </a:solidFill>
                <a:latin typeface="Calibri"/>
              </a:rPr>
              <a:t>“What we heard tonight is not just for us — it is given to us to walk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96</a:t>
            </a:r>
            <a:endParaRPr sz="1000" b="1">
              <a:solidFill>
                <a:srgbClr val="7A8A6E"/>
              </a:solidFill>
              <a:latin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One word each — not what you heard (that’s yours), but what tonight’s practice was like; a parent begins</a:t>
            </a:r>
          </a:p>
          <a:p>
            <a:pPr marL="274320" indent="-274320">
              <a:spcAft>
                <a:spcPts val="750"/>
              </a:spcAft>
            </a:pPr>
            <a:r>
              <a:rPr sz="2200" b="1" i="0">
                <a:solidFill>
                  <a:srgbClr val="97BC62"/>
                </a:solidFill>
                <a:latin typeface="Calibri"/>
              </a:rPr>
              <a:t>•  </a:t>
            </a:r>
            <a:r>
              <a:rPr sz="2200" b="0" i="0">
                <a:solidFill>
                  <a:srgbClr val="222B22"/>
                </a:solidFill>
                <a:latin typeface="Calibri"/>
              </a:rPr>
              <a:t>Daily PROAPT — one passage per day, every day, for the next week — five to ten minutes</a:t>
            </a:r>
          </a:p>
          <a:p>
            <a:pPr marL="274320" indent="-274320">
              <a:spcAft>
                <a:spcPts val="750"/>
              </a:spcAft>
            </a:pPr>
            <a:r>
              <a:rPr sz="2200" b="1" i="0">
                <a:solidFill>
                  <a:srgbClr val="97BC62"/>
                </a:solidFill>
                <a:latin typeface="Calibri"/>
              </a:rPr>
              <a:t>•  </a:t>
            </a:r>
            <a:r>
              <a:rPr sz="2200" b="0" i="0">
                <a:solidFill>
                  <a:srgbClr val="222B22"/>
                </a:solidFill>
                <a:latin typeface="Calibri"/>
              </a:rPr>
              <a:t>The journal Week 7 pages have a daily PROAPT template</a:t>
            </a:r>
          </a:p>
          <a:p>
            <a:pPr marL="274320" indent="-274320">
              <a:spcAft>
                <a:spcPts val="750"/>
              </a:spcAft>
            </a:pPr>
            <a:r>
              <a:rPr sz="2200" b="1" i="0">
                <a:solidFill>
                  <a:srgbClr val="97BC62"/>
                </a:solidFill>
                <a:latin typeface="Calibri"/>
              </a:rPr>
              <a:t>•  </a:t>
            </a:r>
            <a:r>
              <a:rPr sz="2200" b="0" i="0">
                <a:solidFill>
                  <a:srgbClr val="222B22"/>
                </a:solidFill>
                <a:latin typeface="Calibri"/>
              </a:rPr>
              <a:t>Passage paths on the handout — the Gospel of Mark, the Sermon on the Mount, or Romans 8</a:t>
            </a:r>
          </a:p>
          <a:p>
            <a:pPr marL="274320" indent="-274320">
              <a:spcAft>
                <a:spcPts val="750"/>
              </a:spcAft>
            </a:pPr>
            <a:r>
              <a:rPr sz="2200" b="1" i="0">
                <a:solidFill>
                  <a:srgbClr val="97BC62"/>
                </a:solidFill>
                <a:latin typeface="Calibri"/>
              </a:rPr>
              <a:t>•  </a:t>
            </a:r>
            <a:r>
              <a:rPr sz="2200" b="0" i="0">
                <a:solidFill>
                  <a:srgbClr val="222B22"/>
                </a:solidFill>
                <a:latin typeface="Calibri"/>
              </a:rPr>
              <a:t>Commit aloud to a specific time of day — “Morning before school” / “Right after dinner”</a:t>
            </a:r>
          </a:p>
          <a:p>
            <a:pPr marL="274320" indent="-274320">
              <a:spcAft>
                <a:spcPts val="750"/>
              </a:spcAft>
            </a:pPr>
            <a:r>
              <a:rPr sz="2200" b="1" i="0">
                <a:solidFill>
                  <a:srgbClr val="97BC62"/>
                </a:solidFill>
                <a:latin typeface="Calibri"/>
              </a:rPr>
              <a:t>•  </a:t>
            </a:r>
            <a:r>
              <a:rPr sz="2200" b="0" i="0">
                <a:solidFill>
                  <a:srgbClr val="222B22"/>
                </a:solidFill>
                <a:latin typeface="Calibri"/>
              </a:rPr>
              <a:t>“The chain only works if we work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97</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98</a:t>
            </a:r>
            <a:endParaRPr sz="1000" b="1">
              <a:solidFill>
                <a:srgbClr val="7A8A6E"/>
              </a:solidFill>
              <a:latin typeface="Calibri"/>
            </a:endParaRPr>
          </a:p>
        </p:txBody>
      </p:sp>
      <p:pic>
        <p:nvPicPr>
          <p:cNvPr id="270" name="CardImage" descr="the Week 7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100</a:t>
            </a:r>
            <a:endParaRPr sz="1000" b="1">
              <a:solidFill>
                <a:srgbClr val="7A8A6E"/>
              </a:solidFill>
              <a:latin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t>
            </a:r>
            <a:endParaRPr sz="1000" b="1">
              <a:solidFill>
                <a:srgbClr val="7A8A6E"/>
              </a:solidFill>
              <a:latin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clusters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family clusters</a:t>
            </a:r>
          </a:p>
          <a:p>
            <a:pPr>
              <a:spcAft>
                <a:spcPts val="500"/>
              </a:spcAft>
            </a:pPr>
            <a:r>
              <a:rPr sz="2800" b="1">
                <a:solidFill>
                  <a:srgbClr val="97BC62"/>
                </a:solidFill>
                <a:latin typeface="Calibri"/>
              </a:rPr>
              <a:t>7   </a:t>
            </a:r>
            <a:r>
              <a:rPr sz="2800">
                <a:solidFill>
                  <a:srgbClr val="222B22"/>
                </a:solidFill>
                <a:latin typeface="Calibri"/>
              </a:rPr>
              <a:t>Tell step — sharing in the cluster</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The 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103</a:t>
            </a:r>
            <a:endParaRPr sz="1000" b="1">
              <a:solidFill>
                <a:srgbClr val="7A8A6E"/>
              </a:solidFill>
              <a:latin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105</a:t>
            </a:r>
            <a:endParaRPr sz="1000" b="1">
              <a:solidFill>
                <a:srgbClr val="7A8A6E"/>
              </a:solidFill>
              <a:latin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cluster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106</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Clusters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Cluster Companion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107</a:t>
            </a:r>
            <a:endParaRPr sz="1000" b="1">
              <a:solidFill>
                <a:srgbClr val="7A8A6E"/>
              </a:solidFill>
              <a:latin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108</a:t>
            </a:r>
            <a:endParaRPr sz="1000" b="1">
              <a:solidFill>
                <a:srgbClr val="7A8A6E"/>
              </a:solidFill>
              <a:latin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Cluster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cluster,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109</a:t>
            </a:r>
            <a:endParaRPr sz="1000" b="1">
              <a:solidFill>
                <a:srgbClr val="7A8A6E"/>
              </a:solidFill>
              <a:latin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110</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t>
            </a:r>
            <a:endParaRPr sz="1000" b="1">
              <a:solidFill>
                <a:srgbClr val="7A8A6E"/>
              </a:solidFill>
              <a:latin typeface="Calibri"/>
            </a:endParaRPr>
          </a:p>
        </p:txBody>
      </p:sp>
      <p:pic>
        <p:nvPicPr>
          <p:cNvPr id="270" name="CardImage" descr="the Week 8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113</a:t>
            </a:r>
            <a:endParaRPr sz="1000" b="1">
              <a:solidFill>
                <a:srgbClr val="7A8A6E"/>
              </a:solidFill>
              <a:latin typeface="Calibri"/>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9</a:t>
            </a:r>
          </a:p>
          <a:p>
            <a:pPr algn="l">
              <a:spcAft>
                <a:spcPts val="1000"/>
              </a:spcAft>
            </a:pPr>
            <a:r>
              <a:rPr sz="3300" b="1" i="0">
                <a:solidFill>
                  <a:srgbClr val="2C5F2D"/>
                </a:solidFill>
                <a:latin typeface="Cambria"/>
              </a:rPr>
              <a:t>The Garden of Your Heart I</a:t>
            </a:r>
          </a:p>
          <a:p>
            <a:pPr algn="l">
              <a:spcAft>
                <a:spcPts val="600"/>
              </a:spcAft>
            </a:pPr>
            <a:r>
              <a:rPr sz="1800" b="0" i="1">
                <a:solidFill>
                  <a:srgbClr val="595959"/>
                </a:solidFill>
                <a:latin typeface="Calibri"/>
              </a:rPr>
              <a:t>An experiential encounter with Jesus in your interior space — the first guided run; a senior leads the second next week</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114</a:t>
            </a:r>
            <a:endParaRPr sz="1000" b="1">
              <a:solidFill>
                <a:srgbClr val="7A8A6E"/>
              </a:solidFill>
              <a:latin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9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7 check-in</a:t>
            </a:r>
          </a:p>
          <a:p>
            <a:pPr>
              <a:spcAft>
                <a:spcPts val="500"/>
              </a:spcAft>
            </a:pPr>
            <a:r>
              <a:rPr sz="2800" b="1">
                <a:solidFill>
                  <a:srgbClr val="97BC62"/>
                </a:solidFill>
                <a:latin typeface="Calibri"/>
              </a:rPr>
              <a:t>3   </a:t>
            </a:r>
            <a:r>
              <a:rPr sz="2800">
                <a:solidFill>
                  <a:srgbClr val="222B22"/>
                </a:solidFill>
                <a:latin typeface="Calibri"/>
              </a:rPr>
              <a:t>Scripture and framing</a:t>
            </a:r>
          </a:p>
          <a:p>
            <a:pPr>
              <a:spcAft>
                <a:spcPts val="500"/>
              </a:spcAft>
            </a:pPr>
            <a:r>
              <a:rPr sz="2800" b="1">
                <a:solidFill>
                  <a:srgbClr val="97BC62"/>
                </a:solidFill>
                <a:latin typeface="Calibri"/>
              </a:rPr>
              <a:t>4   </a:t>
            </a:r>
            <a:r>
              <a:rPr sz="2800">
                <a:solidFill>
                  <a:srgbClr val="222B22"/>
                </a:solidFill>
                <a:latin typeface="Calibri"/>
              </a:rPr>
              <a:t>Bridge into the exercise</a:t>
            </a:r>
          </a:p>
          <a:p>
            <a:pPr>
              <a:spcAft>
                <a:spcPts val="500"/>
              </a:spcAft>
            </a:pPr>
            <a:r>
              <a:rPr sz="2800" b="1">
                <a:solidFill>
                  <a:srgbClr val="97BC62"/>
                </a:solidFill>
                <a:latin typeface="Calibri"/>
              </a:rPr>
              <a:t>5   </a:t>
            </a:r>
            <a:r>
              <a:rPr sz="2800">
                <a:solidFill>
                  <a:srgbClr val="222B22"/>
                </a:solidFill>
                <a:latin typeface="Calibri"/>
              </a:rPr>
              <a:t>The Garden exercise — whole room, then clusters</a:t>
            </a:r>
          </a:p>
          <a:p>
            <a:pPr>
              <a:spcAft>
                <a:spcPts val="500"/>
              </a:spcAft>
            </a:pPr>
            <a:r>
              <a:rPr sz="2800" b="1">
                <a:solidFill>
                  <a:srgbClr val="97BC62"/>
                </a:solidFill>
                <a:latin typeface="Calibri"/>
              </a:rPr>
              <a:t>6   </a:t>
            </a:r>
            <a:r>
              <a:rPr sz="2800">
                <a:solidFill>
                  <a:srgbClr val="222B22"/>
                </a:solidFill>
                <a:latin typeface="Calibri"/>
              </a:rPr>
              <a:t>Merge and one-word landing</a:t>
            </a:r>
          </a:p>
          <a:p>
            <a:pPr>
              <a:spcAft>
                <a:spcPts val="500"/>
              </a:spcAft>
            </a:pPr>
            <a:r>
              <a:rPr sz="2800" b="1">
                <a:solidFill>
                  <a:srgbClr val="97BC62"/>
                </a:solidFill>
                <a:latin typeface="Calibri"/>
              </a:rPr>
              <a:t>7   </a:t>
            </a:r>
            <a:r>
              <a:rPr sz="2800">
                <a:solidFill>
                  <a:srgbClr val="222B22"/>
                </a:solidFill>
                <a:latin typeface="Calibri"/>
              </a:rPr>
              <a:t>Between-session practice</a:t>
            </a:r>
          </a:p>
          <a:p>
            <a:pPr>
              <a:spcAft>
                <a:spcPts val="500"/>
              </a:spcAft>
            </a:pPr>
            <a:r>
              <a:rPr sz="2800" b="1">
                <a:solidFill>
                  <a:srgbClr val="97BC62"/>
                </a:solidFill>
                <a:latin typeface="Calibri"/>
              </a:rPr>
              <a:t>8   </a:t>
            </a:r>
            <a:r>
              <a:rPr sz="2800">
                <a:solidFill>
                  <a:srgbClr val="222B22"/>
                </a:solidFill>
                <a:latin typeface="Calibri"/>
              </a:rPr>
              <a:t>The 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walked PROAPT — a six-step practice for hearing God in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has been?”</a:t>
            </a:r>
          </a:p>
          <a:p>
            <a:pPr marL="274320" indent="-274320">
              <a:spcAft>
                <a:spcPts val="900"/>
              </a:spcAft>
            </a:pPr>
            <a:r>
              <a:rPr sz="2800" b="1" i="0">
                <a:solidFill>
                  <a:srgbClr val="97BC62"/>
                </a:solidFill>
                <a:latin typeface="Calibri"/>
              </a:rPr>
              <a:t>•  </a:t>
            </a:r>
            <a:r>
              <a:rPr sz="2800" b="0" i="0">
                <a:solidFill>
                  <a:srgbClr val="222B22"/>
                </a:solidFill>
                <a:latin typeface="Calibri"/>
              </a:rPr>
              <a:t>A parent starts — arranged beforehand, never a cold call on a teen</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voluntary contributions; anyone may pass — kept brief, tonight’s arc needs the 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Two passages, read slowly — Psalm 23 and John 15:1–11 — “Listen as if you have not heard it.”</a:t>
            </a:r>
          </a:p>
          <a:p>
            <a:pPr marL="274320" indent="-274320">
              <a:spcAft>
                <a:spcPts val="650"/>
              </a:spcAft>
            </a:pPr>
            <a:r>
              <a:rPr sz="1800" b="1" i="0">
                <a:solidFill>
                  <a:srgbClr val="97BC62"/>
                </a:solidFill>
                <a:latin typeface="Calibri"/>
              </a:rPr>
              <a:t>•  </a:t>
            </a:r>
            <a:r>
              <a:rPr sz="1800" b="0" i="0">
                <a:solidFill>
                  <a:srgbClr val="222B22"/>
                </a:solidFill>
                <a:latin typeface="Calibri"/>
              </a:rPr>
              <a:t>Scripture pictures the heart as cultivated ground — green pastures, still waters, vine and vinedresser</a:t>
            </a:r>
          </a:p>
          <a:p>
            <a:pPr marL="274320" indent="-274320">
              <a:spcAft>
                <a:spcPts val="650"/>
              </a:spcAft>
            </a:pPr>
            <a:r>
              <a:rPr sz="1800" b="1" i="0">
                <a:solidFill>
                  <a:srgbClr val="97BC62"/>
                </a:solidFill>
                <a:latin typeface="Calibri"/>
              </a:rPr>
              <a:t>•  </a:t>
            </a:r>
            <a:r>
              <a:rPr sz="1800" b="0" i="0">
                <a:solidFill>
                  <a:srgbClr val="222B22"/>
                </a:solidFill>
                <a:latin typeface="Calibri"/>
              </a:rPr>
              <a:t>Tonight we walk into that image: picture your heart as a garden, invite Jesus in, notice what He does</a:t>
            </a:r>
          </a:p>
          <a:p>
            <a:pPr marL="274320" indent="-274320">
              <a:spcAft>
                <a:spcPts val="650"/>
              </a:spcAft>
            </a:pPr>
            <a:r>
              <a:rPr sz="1800" b="1" i="0">
                <a:solidFill>
                  <a:srgbClr val="97BC62"/>
                </a:solidFill>
                <a:latin typeface="Calibri"/>
              </a:rPr>
              <a:t>•  </a:t>
            </a:r>
            <a:r>
              <a:rPr sz="1800" b="0" i="0">
                <a:solidFill>
                  <a:srgbClr val="222B22"/>
                </a:solidFill>
                <a:latin typeface="Calibri"/>
              </a:rPr>
              <a:t>Imaginative prayer — Ignatius taught it, Bonaventure taught it, the Puritan writers under other names</a:t>
            </a:r>
          </a:p>
          <a:p>
            <a:pPr marL="274320" indent="-274320">
              <a:spcAft>
                <a:spcPts val="650"/>
              </a:spcAft>
            </a:pPr>
            <a:r>
              <a:rPr sz="1800" b="1" i="0">
                <a:solidFill>
                  <a:srgbClr val="97BC62"/>
                </a:solidFill>
                <a:latin typeface="Calibri"/>
              </a:rPr>
              <a:t>•  </a:t>
            </a:r>
            <a:r>
              <a:rPr sz="1800" b="0" i="0">
                <a:solidFill>
                  <a:srgbClr val="222B22"/>
                </a:solidFill>
                <a:latin typeface="Calibri"/>
              </a:rPr>
              <a:t>Not visualization-as-self-help, not contemplative emptying — filling the mind with one scriptural image</a:t>
            </a:r>
          </a:p>
          <a:p>
            <a:pPr marL="274320" indent="-274320">
              <a:spcAft>
                <a:spcPts val="650"/>
              </a:spcAft>
            </a:pPr>
            <a:r>
              <a:rPr sz="1800" b="1" i="0">
                <a:solidFill>
                  <a:srgbClr val="97BC62"/>
                </a:solidFill>
                <a:latin typeface="Calibri"/>
              </a:rPr>
              <a:t>•  </a:t>
            </a:r>
            <a:r>
              <a:rPr sz="1800" b="0" i="0">
                <a:solidFill>
                  <a:srgbClr val="222B22"/>
                </a:solidFill>
                <a:latin typeface="Calibri"/>
              </a:rPr>
              <a:t>“The exercise is not a test of imaginative power. It is a posture of receptivity.”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15:5</a:t>
            </a:r>
          </a:p>
          <a:p>
            <a:pPr>
              <a:spcAft>
                <a:spcPts val="600"/>
              </a:spcAft>
            </a:pPr>
            <a:r>
              <a:rPr sz="2400" b="0" i="1">
                <a:solidFill>
                  <a:srgbClr val="222B22"/>
                </a:solidFill>
                <a:latin typeface="Cambria"/>
              </a:rPr>
              <a:t>“I am the vine; you are the branches. Whoever abides in me and I in him, he it is that bears much fruit, for apart from me you can do nothing.”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pic>
        <p:nvPicPr>
          <p:cNvPr id="91" name="Picture 91" descr="a cluster of grapes on the vine"/>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into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 stay right here, together, as one room — a guided imaginative prayer, twelve to fifteen minutes, read slowly</a:t>
            </a:r>
          </a:p>
          <a:p>
            <a:pPr marL="274320" indent="-274320">
              <a:spcAft>
                <a:spcPts val="900"/>
              </a:spcAft>
            </a:pPr>
            <a:r>
              <a:rPr sz="2400" b="1" i="0">
                <a:solidFill>
                  <a:srgbClr val="97BC62"/>
                </a:solidFill>
                <a:latin typeface="Calibri"/>
              </a:rPr>
              <a:t>•  </a:t>
            </a:r>
            <a:r>
              <a:rPr sz="2400" b="0" i="0">
                <a:solidFill>
                  <a:srgbClr val="222B22"/>
                </a:solidFill>
                <a:latin typeface="Calibri"/>
              </a:rPr>
              <a:t>Eyes closed or open — either is fine; your own family is beside you the whole time</a:t>
            </a:r>
          </a:p>
          <a:p>
            <a:pPr marL="274320" indent="-274320">
              <a:spcAft>
                <a:spcPts val="900"/>
              </a:spcAft>
            </a:pPr>
            <a:r>
              <a:rPr sz="2400" b="1" i="0">
                <a:solidFill>
                  <a:srgbClr val="97BC62"/>
                </a:solidFill>
                <a:latin typeface="Calibri"/>
              </a:rPr>
              <a:t>•  </a:t>
            </a:r>
            <a:r>
              <a:rPr sz="2400" b="0" i="0">
                <a:solidFill>
                  <a:srgbClr val="222B22"/>
                </a:solidFill>
                <a:latin typeface="Calibri"/>
              </a:rPr>
              <a:t>Then five minutes with your journal, then family clusters for sharing — by invitation only</a:t>
            </a:r>
          </a:p>
          <a:p>
            <a:pPr marL="274320" indent="-274320">
              <a:spcAft>
                <a:spcPts val="900"/>
              </a:spcAft>
            </a:pPr>
            <a:r>
              <a:rPr sz="2400" b="1" i="0">
                <a:solidFill>
                  <a:srgbClr val="97BC62"/>
                </a:solidFill>
                <a:latin typeface="Calibri"/>
              </a:rPr>
              <a:t>•  </a:t>
            </a:r>
            <a:r>
              <a:rPr sz="2400" b="0" i="0">
                <a:solidFill>
                  <a:srgbClr val="222B22"/>
                </a:solidFill>
                <a:latin typeface="Calibri"/>
              </a:rPr>
              <a:t>A parent will open each round — “Silence is a complete answer.”</a:t>
            </a:r>
          </a:p>
          <a:p>
            <a:pPr marL="274320" indent="-274320">
              <a:spcAft>
                <a:spcPts val="900"/>
              </a:spcAft>
            </a:pPr>
            <a:r>
              <a:rPr sz="2400" b="1" i="0">
                <a:solidFill>
                  <a:srgbClr val="97BC62"/>
                </a:solidFill>
                <a:latin typeface="Calibri"/>
              </a:rPr>
              <a:t>•  </a:t>
            </a:r>
            <a:r>
              <a:rPr sz="2400" b="0" i="0">
                <a:solidFill>
                  <a:srgbClr val="222B22"/>
                </a:solidFill>
                <a:latin typeface="Calibri"/>
              </a:rPr>
              <a:t>“Father, you are the vinedresser. … Where it is hard, be tender. Where it is closed, be patient. Where it is opening, be present.”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Exercise — Whole Room, then Clusters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200" b="1" i="0">
                <a:solidFill>
                  <a:srgbClr val="97BC62"/>
                </a:solidFill>
                <a:latin typeface="Calibri"/>
              </a:rPr>
              <a:t>1   </a:t>
            </a:r>
            <a:r>
              <a:rPr sz="2200" b="0" i="0">
                <a:solidFill>
                  <a:srgbClr val="222B22"/>
                </a:solidFill>
                <a:latin typeface="Calibri"/>
              </a:rPr>
              <a:t>Settle (2 min) — “Take a breath. Settle. Eyes open or closed. Whatever feels honest. We have time.”</a:t>
            </a:r>
          </a:p>
          <a:p>
            <a:pPr marL="342900" indent="-342900">
              <a:spcAft>
                <a:spcPts val="750"/>
              </a:spcAft>
            </a:pPr>
            <a:r>
              <a:rPr sz="2200" b="1" i="0">
                <a:solidFill>
                  <a:srgbClr val="97BC62"/>
                </a:solidFill>
                <a:latin typeface="Calibri"/>
              </a:rPr>
              <a:t>2   </a:t>
            </a:r>
            <a:r>
              <a:rPr sz="2200" b="0" i="0">
                <a:solidFill>
                  <a:srgbClr val="222B22"/>
                </a:solidFill>
                <a:latin typeface="Calibri"/>
              </a:rPr>
              <a:t>Guided prayer (12–15 min) — read slowly to the whole room; the pauses are not optional — they are where the work happens</a:t>
            </a:r>
          </a:p>
          <a:p>
            <a:pPr marL="342900" indent="-342900">
              <a:spcAft>
                <a:spcPts val="750"/>
              </a:spcAft>
            </a:pPr>
            <a:r>
              <a:rPr sz="2200" b="1" i="0">
                <a:solidFill>
                  <a:srgbClr val="97BC62"/>
                </a:solidFill>
                <a:latin typeface="Calibri"/>
              </a:rPr>
              <a:t>3   </a:t>
            </a:r>
            <a:r>
              <a:rPr sz="2200" b="0" i="0">
                <a:solidFill>
                  <a:srgbClr val="222B22"/>
                </a:solidFill>
                <a:latin typeface="Calibri"/>
              </a:rPr>
              <a:t>Silent journaling (5 min) — “Write in your Week 9 journal page what you noticed. Whatever you noticed.”</a:t>
            </a:r>
          </a:p>
          <a:p>
            <a:pPr marL="342900" indent="-342900">
              <a:spcAft>
                <a:spcPts val="750"/>
              </a:spcAft>
            </a:pPr>
            <a:r>
              <a:rPr sz="2200" b="1" i="0">
                <a:solidFill>
                  <a:srgbClr val="97BC62"/>
                </a:solidFill>
                <a:latin typeface="Calibri"/>
              </a:rPr>
              <a:t>4   </a:t>
            </a:r>
            <a:r>
              <a:rPr sz="2200" b="0" i="0">
                <a:solidFill>
                  <a:srgbClr val="222B22"/>
                </a:solidFill>
                <a:latin typeface="Calibri"/>
              </a:rPr>
              <a:t>Sharing in family clusters (8–10 min) — by invitation only; a parent opens; silence is a complete answer</a:t>
            </a:r>
          </a:p>
          <a:p>
            <a:pPr marL="274320" indent="-274320">
              <a:spcAft>
                <a:spcPts val="750"/>
              </a:spcAft>
            </a:pPr>
            <a:r>
              <a:rPr sz="2200" b="1" i="0">
                <a:solidFill>
                  <a:srgbClr val="97BC62"/>
                </a:solidFill>
                <a:latin typeface="Calibri"/>
              </a:rPr>
              <a:t>•  </a:t>
            </a:r>
            <a:r>
              <a:rPr sz="2200" b="0" i="0">
                <a:solidFill>
                  <a:srgbClr val="222B22"/>
                </a:solidFill>
                <a:latin typeface="Calibri"/>
              </a:rPr>
              <a:t>Receive without interpreting — “Thank you for sharing that.” Never “God was telling you _____.”</a:t>
            </a:r>
          </a:p>
          <a:p>
            <a:pPr marL="274320" indent="-274320">
              <a:spcAft>
                <a:spcPts val="750"/>
              </a:spcAft>
            </a:pPr>
            <a:r>
              <a:rPr sz="2200" b="1" i="0">
                <a:solidFill>
                  <a:srgbClr val="97BC62"/>
                </a:solidFill>
                <a:latin typeface="Calibri"/>
              </a:rPr>
              <a:t>•  </a:t>
            </a:r>
            <a:r>
              <a:rPr sz="2200" b="0" i="0">
                <a:solidFill>
                  <a:srgbClr val="222B22"/>
                </a:solidFill>
                <a:latin typeface="Calibri"/>
              </a:rPr>
              <a:t>If something painful surfaces — bless it: “I hear that. May Jesus stay with you in that place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One-Word Landing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tonight — not what was said, but what you noticed</a:t>
            </a:r>
          </a:p>
          <a:p>
            <a:pPr marL="685800" indent="-274320">
              <a:spcAft>
                <a:spcPts val="700"/>
              </a:spcAft>
            </a:pPr>
            <a:r>
              <a:rPr sz="2000" b="1" i="0">
                <a:solidFill>
                  <a:srgbClr val="97BC62"/>
                </a:solidFill>
                <a:latin typeface="Calibri"/>
              </a:rPr>
              <a:t>–  </a:t>
            </a:r>
            <a:r>
              <a:rPr sz="2000" b="0" i="1">
                <a:solidFill>
                  <a:srgbClr val="222B22"/>
                </a:solidFill>
                <a:latin typeface="Calibri"/>
              </a:rPr>
              <a:t>“Surprised.” “Tender.” “Empty.” “Found.” “Confused.” “Quiet.”</a:t>
            </a:r>
          </a:p>
          <a:p>
            <a:pPr marL="274320" indent="-274320">
              <a:spcAft>
                <a:spcPts val="900"/>
              </a:spcAft>
            </a:pPr>
            <a:r>
              <a:rPr sz="2800" b="1" i="0">
                <a:solidFill>
                  <a:srgbClr val="97BC62"/>
                </a:solidFill>
                <a:latin typeface="Calibri"/>
              </a:rPr>
              <a:t>•  </a:t>
            </a:r>
            <a:r>
              <a:rPr sz="2800" b="0" i="0">
                <a:solidFill>
                  <a:srgbClr val="222B22"/>
                </a:solidFill>
                <a:latin typeface="Calibri"/>
              </a:rPr>
              <a:t>A parent begins; anyone may pass — each word received without commentary</a:t>
            </a:r>
          </a:p>
          <a:p>
            <a:pPr marL="274320" indent="-274320">
              <a:spcAft>
                <a:spcPts val="900"/>
              </a:spcAft>
            </a:pPr>
            <a:r>
              <a:rPr sz="2800" b="1" i="0">
                <a:solidFill>
                  <a:srgbClr val="97BC62"/>
                </a:solidFill>
                <a:latin typeface="Calibri"/>
              </a:rPr>
              <a:t>•  </a:t>
            </a:r>
            <a:r>
              <a:rPr sz="2800" b="0" i="0">
                <a:solidFill>
                  <a:srgbClr val="222B22"/>
                </a:solidFill>
                <a:latin typeface="Calibri"/>
              </a:rPr>
              <a:t>“Whatever happened tonight is yours. Some of it will keep happening across the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Three returns to the garden this week — five to ten minutes each, journaled</a:t>
            </a:r>
          </a:p>
          <a:p>
            <a:pPr marL="274320" indent="-274320">
              <a:spcAft>
                <a:spcPts val="750"/>
              </a:spcAft>
            </a:pPr>
            <a:r>
              <a:rPr sz="2000" b="1" i="0">
                <a:solidFill>
                  <a:srgbClr val="97BC62"/>
                </a:solidFill>
                <a:latin typeface="Calibri"/>
              </a:rPr>
              <a:t>•  </a:t>
            </a:r>
            <a:r>
              <a:rPr sz="2000" b="0" i="0">
                <a:solidFill>
                  <a:srgbClr val="222B22"/>
                </a:solidFill>
                <a:latin typeface="Calibri"/>
              </a:rPr>
              <a:t>“You don’t need the full guided script — you have the place now. Just go back.”</a:t>
            </a:r>
          </a:p>
          <a:p>
            <a:pPr marL="274320" indent="-274320">
              <a:spcAft>
                <a:spcPts val="750"/>
              </a:spcAft>
            </a:pPr>
            <a:r>
              <a:rPr sz="2000" b="1" i="0">
                <a:solidFill>
                  <a:srgbClr val="97BC62"/>
                </a:solidFill>
                <a:latin typeface="Calibri"/>
              </a:rPr>
              <a:t>•  </a:t>
            </a:r>
            <a:r>
              <a:rPr sz="2000" b="0" i="0">
                <a:solidFill>
                  <a:srgbClr val="222B22"/>
                </a:solidFill>
                <a:latin typeface="Calibri"/>
              </a:rPr>
              <a:t>Notice what is the same and what has changed — notice if Jesus is in a different place than He was tonight</a:t>
            </a:r>
          </a:p>
          <a:p>
            <a:pPr marL="274320" indent="-274320">
              <a:spcAft>
                <a:spcPts val="750"/>
              </a:spcAft>
            </a:pPr>
            <a:r>
              <a:rPr sz="2000" b="1" i="0">
                <a:solidFill>
                  <a:srgbClr val="97BC62"/>
                </a:solidFill>
                <a:latin typeface="Calibri"/>
              </a:rPr>
              <a:t>•  </a:t>
            </a:r>
            <a:r>
              <a:rPr sz="2000" b="0" i="0">
                <a:solidFill>
                  <a:srgbClr val="222B22"/>
                </a:solidFill>
                <a:latin typeface="Calibri"/>
              </a:rPr>
              <a:t>Pick three days and a time — morning before the day starts is often best</a:t>
            </a:r>
          </a:p>
          <a:p>
            <a:pPr marL="274320" indent="-274320">
              <a:spcAft>
                <a:spcPts val="750"/>
              </a:spcAft>
            </a:pPr>
            <a:r>
              <a:rPr sz="2000" b="1" i="0">
                <a:solidFill>
                  <a:srgbClr val="97BC62"/>
                </a:solidFill>
                <a:latin typeface="Calibri"/>
              </a:rPr>
              <a:t>•  </a:t>
            </a:r>
            <a:r>
              <a:rPr sz="2000" b="0" i="0">
                <a:solidFill>
                  <a:srgbClr val="222B22"/>
                </a:solidFill>
                <a:latin typeface="Calibri"/>
              </a:rPr>
              <a:t>If something heavy surfaces — stop, open your eyes, come back another day; tell a trusted adult</a:t>
            </a:r>
          </a:p>
          <a:p>
            <a:pPr marL="274320" indent="-274320">
              <a:spcAft>
                <a:spcPts val="750"/>
              </a:spcAft>
            </a:pPr>
            <a:r>
              <a:rPr sz="2000" b="1" i="0">
                <a:solidFill>
                  <a:srgbClr val="97BC62"/>
                </a:solidFill>
                <a:latin typeface="Calibri"/>
              </a:rPr>
              <a:t>•  </a:t>
            </a:r>
            <a:r>
              <a:rPr sz="2000" b="0" i="0">
                <a:solidFill>
                  <a:srgbClr val="222B22"/>
                </a:solidFill>
                <a:latin typeface="Calibri"/>
              </a:rPr>
              <a:t>Came in skeptical? The Note for the Skeptic handout is for you — adapting or sitting out for now is okay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pic>
        <p:nvPicPr>
          <p:cNvPr id="270" name="CardImage" descr="the Week 9 check-off card, as handed out"/>
          <p:cNvPicPr>
            <a:picLocks noChangeAspect="1"/>
          </p:cNvPicPr>
          <p:nvPr/>
        </p:nvPicPr>
        <p:blipFill>
          <a:blip r:embed="rId3"/>
          <a:stretch>
            <a:fillRect/>
          </a:stretch>
        </p:blipFill>
        <p:spPr>
          <a:xfrm>
            <a:off x="1339945" y="1554480"/>
            <a:ext cx="951180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10</a:t>
            </a:r>
          </a:p>
          <a:p>
            <a:pPr algn="l">
              <a:spcAft>
                <a:spcPts val="1000"/>
              </a:spcAft>
            </a:pPr>
            <a:r>
              <a:rPr sz="3300" b="1" i="0">
                <a:solidFill>
                  <a:srgbClr val="2C5F2D"/>
                </a:solidFill>
                <a:latin typeface="Cambria"/>
              </a:rPr>
              <a:t>The Garden of Your Heart II</a:t>
            </a:r>
          </a:p>
          <a:p>
            <a:pPr algn="l">
              <a:spcAft>
                <a:spcPts val="600"/>
              </a:spcAft>
            </a:pPr>
            <a:r>
              <a:rPr sz="1800" b="0" i="1">
                <a:solidFill>
                  <a:srgbClr val="595959"/>
                </a:solidFill>
                <a:latin typeface="Calibri"/>
              </a:rPr>
              <a:t>The second guided run — the room returns to the garden deeper for a week of practice; a Companion-in-Formation leads the walk-through, and the adults hold the debrief</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Garden week check-in</a:t>
            </a:r>
          </a:p>
          <a:p>
            <a:pPr>
              <a:spcAft>
                <a:spcPts val="500"/>
              </a:spcAft>
            </a:pPr>
            <a:r>
              <a:rPr sz="2800" b="1">
                <a:solidFill>
                  <a:srgbClr val="97BC62"/>
                </a:solidFill>
                <a:latin typeface="Calibri"/>
              </a:rPr>
              <a:t>3   </a:t>
            </a:r>
            <a:r>
              <a:rPr sz="2800">
                <a:solidFill>
                  <a:srgbClr val="222B22"/>
                </a:solidFill>
                <a:latin typeface="Calibri"/>
              </a:rPr>
              <a:t>Scripture and brief re-framing</a:t>
            </a:r>
          </a:p>
          <a:p>
            <a:pPr>
              <a:spcAft>
                <a:spcPts val="500"/>
              </a:spcAft>
            </a:pPr>
            <a:r>
              <a:rPr sz="2800" b="1">
                <a:solidFill>
                  <a:srgbClr val="97BC62"/>
                </a:solidFill>
                <a:latin typeface="Calibri"/>
              </a:rPr>
              <a:t>4   </a:t>
            </a:r>
            <a:r>
              <a:rPr sz="2800">
                <a:solidFill>
                  <a:srgbClr val="222B22"/>
                </a:solidFill>
                <a:latin typeface="Calibri"/>
              </a:rPr>
              <a:t>Bridge to the exercise</a:t>
            </a:r>
          </a:p>
          <a:p>
            <a:pPr>
              <a:spcAft>
                <a:spcPts val="500"/>
              </a:spcAft>
            </a:pPr>
            <a:r>
              <a:rPr sz="2800" b="1">
                <a:solidFill>
                  <a:srgbClr val="97BC62"/>
                </a:solidFill>
                <a:latin typeface="Calibri"/>
              </a:rPr>
              <a:t>5   </a:t>
            </a:r>
            <a:r>
              <a:rPr sz="2800">
                <a:solidFill>
                  <a:srgbClr val="222B22"/>
                </a:solidFill>
                <a:latin typeface="Calibri"/>
              </a:rPr>
              <a:t>The Garden exercise — whole room, then family clusters</a:t>
            </a:r>
          </a:p>
          <a:p>
            <a:pPr>
              <a:spcAft>
                <a:spcPts val="500"/>
              </a:spcAft>
            </a:pPr>
            <a:r>
              <a:rPr sz="2800" b="1">
                <a:solidFill>
                  <a:srgbClr val="97BC62"/>
                </a:solidFill>
                <a:latin typeface="Calibri"/>
              </a:rPr>
              <a:t>6   </a:t>
            </a:r>
            <a:r>
              <a:rPr sz="2800">
                <a:solidFill>
                  <a:srgbClr val="222B22"/>
                </a:solidFill>
                <a:latin typeface="Calibri"/>
              </a:rPr>
              <a:t>Merge and one-word landing</a:t>
            </a:r>
          </a:p>
          <a:p>
            <a:pPr>
              <a:spcAft>
                <a:spcPts val="500"/>
              </a:spcAft>
            </a:pPr>
            <a:r>
              <a:rPr sz="2800" b="1">
                <a:solidFill>
                  <a:srgbClr val="97BC62"/>
                </a:solidFill>
                <a:latin typeface="Calibri"/>
              </a:rPr>
              <a:t>7   </a:t>
            </a:r>
            <a:r>
              <a:rPr sz="2800">
                <a:solidFill>
                  <a:srgbClr val="222B22"/>
                </a:solidFill>
                <a:latin typeface="Calibri"/>
              </a:rPr>
              <a:t>Between-session practice</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Garden Week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about a garden visit this week? Not what happened in it — just how the going was.”</a:t>
            </a:r>
          </a:p>
          <a:p>
            <a:pPr marL="685800" indent="-274320">
              <a:spcAft>
                <a:spcPts val="700"/>
              </a:spcAft>
            </a:pPr>
            <a:r>
              <a:rPr sz="1800" b="1" i="0">
                <a:solidFill>
                  <a:srgbClr val="97BC62"/>
                </a:solidFill>
                <a:latin typeface="Calibri"/>
              </a:rPr>
              <a:t>–  </a:t>
            </a:r>
            <a:r>
              <a:rPr sz="1800" b="0" i="1">
                <a:solidFill>
                  <a:srgbClr val="222B22"/>
                </a:solidFill>
                <a:latin typeface="Calibri"/>
              </a:rPr>
              <a:t>“I went twice and it was quieter than Wednesday.” “I meant to and didn’t.” “I went once and it was hard.”</a:t>
            </a:r>
          </a:p>
          <a:p>
            <a:pPr marL="274320" indent="-274320">
              <a:spcAft>
                <a:spcPts val="900"/>
              </a:spcAft>
            </a:pPr>
            <a:r>
              <a:rPr sz="2400" b="1" i="0">
                <a:solidFill>
                  <a:srgbClr val="97BC62"/>
                </a:solidFill>
                <a:latin typeface="Calibri"/>
              </a:rPr>
              <a:t>•  </a:t>
            </a:r>
            <a:r>
              <a:rPr sz="2400" b="0" i="0">
                <a:solidFill>
                  <a:srgbClr val="222B22"/>
                </a:solidFill>
                <a:latin typeface="Calibri"/>
              </a:rPr>
              <a:t>A parent offers the first sentence — never a cold call on a teen; each one received identically</a:t>
            </a:r>
          </a:p>
          <a:p>
            <a:pPr marL="274320" indent="-274320">
              <a:spcAft>
                <a:spcPts val="900"/>
              </a:spcAft>
            </a:pPr>
            <a:r>
              <a:rPr sz="2400" b="1" i="0">
                <a:solidFill>
                  <a:srgbClr val="97BC62"/>
                </a:solidFill>
                <a:latin typeface="Calibri"/>
              </a:rPr>
              <a:t>•  </a:t>
            </a:r>
            <a:r>
              <a:rPr sz="2400" b="0" i="0">
                <a:solidFill>
                  <a:srgbClr val="222B22"/>
                </a:solidFill>
                <a:latin typeface="Calibri"/>
              </a:rPr>
              <a:t>“There is no junior varsity garden. Jesus meets each person in the garden they actually have.”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Brief Re-Framing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Same two anchors as last week — Psalm 23 and John 15:1–11 — “Listen as if for the first time anyway.”</a:t>
            </a:r>
          </a:p>
          <a:p>
            <a:pPr marL="274320" indent="-274320">
              <a:spcAft>
                <a:spcPts val="800"/>
              </a:spcAft>
            </a:pPr>
            <a:r>
              <a:rPr sz="2000" b="1" i="0">
                <a:solidFill>
                  <a:srgbClr val="97BC62"/>
                </a:solidFill>
                <a:latin typeface="Calibri"/>
              </a:rPr>
              <a:t>•  </a:t>
            </a:r>
            <a:r>
              <a:rPr sz="2000" b="0" i="0">
                <a:solidFill>
                  <a:srgbClr val="222B22"/>
                </a:solidFill>
                <a:latin typeface="Calibri"/>
              </a:rPr>
              <a:t>A vinedresser does not visit a vine once — abiding is a rhythm, not an event</a:t>
            </a:r>
          </a:p>
          <a:p>
            <a:pPr marL="274320" indent="-274320">
              <a:spcAft>
                <a:spcPts val="800"/>
              </a:spcAft>
            </a:pPr>
            <a:r>
              <a:rPr sz="2000" b="1" i="0">
                <a:solidFill>
                  <a:srgbClr val="97BC62"/>
                </a:solidFill>
                <a:latin typeface="Calibri"/>
              </a:rPr>
              <a:t>•  </a:t>
            </a:r>
            <a:r>
              <a:rPr sz="2000" b="0" i="0">
                <a:solidFill>
                  <a:srgbClr val="222B22"/>
                </a:solidFill>
                <a:latin typeface="Calibri"/>
              </a:rPr>
              <a:t>Going back changes things — the garden is not a photograph; it is a living place, because your heart is</a:t>
            </a:r>
          </a:p>
          <a:p>
            <a:pPr marL="274320" indent="-274320">
              <a:spcAft>
                <a:spcPts val="800"/>
              </a:spcAft>
            </a:pPr>
            <a:r>
              <a:rPr sz="2000" b="1" i="0">
                <a:solidFill>
                  <a:srgbClr val="97BC62"/>
                </a:solidFill>
                <a:latin typeface="Calibri"/>
              </a:rPr>
              <a:t>•  </a:t>
            </a:r>
            <a:r>
              <a:rPr sz="2000" b="0" i="0">
                <a:solidFill>
                  <a:srgbClr val="222B22"/>
                </a:solidFill>
                <a:latin typeface="Calibri"/>
              </a:rPr>
              <a:t>A hard garden last week? Going back in tonight is optional — sit and pray instead, fully honored, no explanation owed</a:t>
            </a:r>
          </a:p>
          <a:p>
            <a:pPr marL="274320" indent="-274320">
              <a:spcAft>
                <a:spcPts val="800"/>
              </a:spcAft>
            </a:pPr>
            <a:r>
              <a:rPr sz="2000" b="1" i="0">
                <a:solidFill>
                  <a:srgbClr val="97BC62"/>
                </a:solidFill>
                <a:latin typeface="Calibri"/>
              </a:rPr>
              <a:t>•  </a:t>
            </a:r>
            <a:r>
              <a:rPr sz="2000" b="0" i="0">
                <a:solidFill>
                  <a:srgbClr val="222B22"/>
                </a:solidFill>
                <a:latin typeface="Calibri"/>
              </a:rPr>
              <a:t>“The words get you to the gate; the silence is where He meets you.”</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23:1–3</a:t>
            </a:r>
          </a:p>
          <a:p>
            <a:pPr>
              <a:spcAft>
                <a:spcPts val="600"/>
              </a:spcAft>
            </a:pPr>
            <a:r>
              <a:rPr sz="2400" b="0" i="1">
                <a:solidFill>
                  <a:srgbClr val="222B22"/>
                </a:solidFill>
                <a:latin typeface="Cambria"/>
              </a:rPr>
              <a:t>“The Lord is my shepherd; I shall not want. He makes me lie down in green pastures. He leads me beside still waters. He restores my soul.”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130</a:t>
            </a:r>
            <a:endParaRPr sz="1000" b="1">
              <a:solidFill>
                <a:srgbClr val="7A8A6E"/>
              </a:solidFill>
              <a:latin typeface="Calibri"/>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Same shape as last week — guided walk-through, about twelve to fifteen minutes, all of us together in this room</a:t>
            </a:r>
          </a:p>
          <a:p>
            <a:pPr marL="274320" indent="-274320">
              <a:spcAft>
                <a:spcPts val="900"/>
              </a:spcAft>
            </a:pPr>
            <a:r>
              <a:rPr sz="2800" b="1" i="0">
                <a:solidFill>
                  <a:srgbClr val="97BC62"/>
                </a:solidFill>
                <a:latin typeface="Calibri"/>
              </a:rPr>
              <a:t>•  </a:t>
            </a:r>
            <a:r>
              <a:rPr sz="2800" b="0" i="0">
                <a:solidFill>
                  <a:srgbClr val="222B22"/>
                </a:solidFill>
                <a:latin typeface="Calibri"/>
              </a:rPr>
              <a:t>Read slowly, with longer quiet than last time — then five minutes with your journal</a:t>
            </a:r>
          </a:p>
          <a:p>
            <a:pPr marL="274320" indent="-274320">
              <a:spcAft>
                <a:spcPts val="900"/>
              </a:spcAft>
            </a:pPr>
            <a:r>
              <a:rPr sz="2800" b="1" i="0">
                <a:solidFill>
                  <a:srgbClr val="97BC62"/>
                </a:solidFill>
                <a:latin typeface="Calibri"/>
              </a:rPr>
              <a:t>•  </a:t>
            </a:r>
            <a:r>
              <a:rPr sz="2800" b="0" i="0">
                <a:solidFill>
                  <a:srgbClr val="222B22"/>
                </a:solidFill>
                <a:latin typeface="Calibri"/>
              </a:rPr>
              <a:t>Then family clusters for sharing by invitation only — “Silence is a complete answer.”</a:t>
            </a:r>
          </a:p>
          <a:p>
            <a:pPr marL="274320" indent="-274320">
              <a:spcAft>
                <a:spcPts val="900"/>
              </a:spcAft>
            </a:pPr>
            <a:r>
              <a:rPr sz="2800" b="1" i="0">
                <a:solidFill>
                  <a:srgbClr val="97BC62"/>
                </a:solidFill>
                <a:latin typeface="Calibri"/>
              </a:rPr>
              <a:t>•  </a:t>
            </a:r>
            <a:r>
              <a:rPr sz="2800" b="0" i="0">
                <a:solidFill>
                  <a:srgbClr val="222B22"/>
                </a:solidFill>
                <a:latin typeface="Calibri"/>
              </a:rPr>
              <a:t>“Father, You are the vinedresser. We are going back into the gardens You already know. Walk where You want to walk. Tend what You want to tend.”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131</a:t>
            </a:r>
            <a:endParaRPr sz="1000" b="1">
              <a:solidFill>
                <a:srgbClr val="7A8A6E"/>
              </a:solidFill>
              <a:latin typeface="Calibri"/>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Exercise — Whole Room, then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(2 min) — then, simply: “[Name] will read for us tonight.”</a:t>
            </a:r>
          </a:p>
          <a:p>
            <a:pPr marL="342900" indent="-342900">
              <a:spcAft>
                <a:spcPts val="750"/>
              </a:spcAft>
            </a:pPr>
            <a:r>
              <a:rPr sz="2000" b="1" i="0">
                <a:solidFill>
                  <a:srgbClr val="97BC62"/>
                </a:solidFill>
                <a:latin typeface="Calibri"/>
              </a:rPr>
              <a:t>2   </a:t>
            </a:r>
            <a:r>
              <a:rPr sz="2000" b="0" i="0">
                <a:solidFill>
                  <a:srgbClr val="222B22"/>
                </a:solidFill>
                <a:latin typeface="Calibri"/>
              </a:rPr>
              <a:t>Guided walk-through, senior-led (12–15 min) — same protocol as Week 9, longer pauses; the card carries the room</a:t>
            </a:r>
          </a:p>
          <a:p>
            <a:pPr marL="342900" indent="-342900">
              <a:spcAft>
                <a:spcPts val="750"/>
              </a:spcAft>
            </a:pPr>
            <a:r>
              <a:rPr sz="2000" b="1" i="0">
                <a:solidFill>
                  <a:srgbClr val="97BC62"/>
                </a:solidFill>
                <a:latin typeface="Calibri"/>
              </a:rPr>
              <a:t>3   </a:t>
            </a:r>
            <a:r>
              <a:rPr sz="2000" b="0" i="0">
                <a:solidFill>
                  <a:srgbClr val="222B22"/>
                </a:solidFill>
                <a:latin typeface="Calibri"/>
              </a:rPr>
              <a:t>The visible handoff — “[Name], the room is yours.” / “Thank you, [name]. That was well led.”</a:t>
            </a:r>
          </a:p>
          <a:p>
            <a:pPr marL="342900" indent="-342900">
              <a:spcAft>
                <a:spcPts val="750"/>
              </a:spcAft>
            </a:pPr>
            <a:r>
              <a:rPr sz="2000" b="1" i="0">
                <a:solidFill>
                  <a:srgbClr val="97BC62"/>
                </a:solidFill>
                <a:latin typeface="Calibri"/>
              </a:rPr>
              <a:t>4   </a:t>
            </a:r>
            <a:r>
              <a:rPr sz="2000" b="0" i="0">
                <a:solidFill>
                  <a:srgbClr val="222B22"/>
                </a:solidFill>
                <a:latin typeface="Calibri"/>
              </a:rPr>
              <a:t>Silent journaling (5 min) — what was the same as last week, what was different</a:t>
            </a:r>
          </a:p>
          <a:p>
            <a:pPr marL="342900" indent="-342900">
              <a:spcAft>
                <a:spcPts val="750"/>
              </a:spcAft>
            </a:pPr>
            <a:r>
              <a:rPr sz="2000" b="1" i="0">
                <a:solidFill>
                  <a:srgbClr val="97BC62"/>
                </a:solidFill>
                <a:latin typeface="Calibri"/>
              </a:rPr>
              <a:t>5   </a:t>
            </a:r>
            <a:r>
              <a:rPr sz="2000" b="0" i="0">
                <a:solidFill>
                  <a:srgbClr val="222B22"/>
                </a:solidFill>
                <a:latin typeface="Calibri"/>
              </a:rPr>
              <a:t>Sharing in family clusters (10–12 min) — by invitation only; a parent opens; silence is a complete answer</a:t>
            </a:r>
          </a:p>
          <a:p>
            <a:pPr marL="274320" indent="-274320">
              <a:spcAft>
                <a:spcPts val="750"/>
              </a:spcAft>
            </a:pPr>
            <a:r>
              <a:rPr sz="2000" b="1" i="0">
                <a:solidFill>
                  <a:srgbClr val="97BC62"/>
                </a:solidFill>
                <a:latin typeface="Calibri"/>
              </a:rPr>
              <a:t>•  </a:t>
            </a:r>
            <a:r>
              <a:rPr sz="2000" b="0" i="0">
                <a:solidFill>
                  <a:srgbClr val="222B22"/>
                </a:solidFill>
                <a:latin typeface="Calibri"/>
              </a:rPr>
              <a:t>The bright line — the teen leads the walk-through; the adults hold the sharing and anything that surfaces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132</a:t>
            </a:r>
            <a:endParaRPr sz="1000" b="1">
              <a:solidFill>
                <a:srgbClr val="7A8A6E"/>
              </a:solidFill>
              <a:latin typeface="Calibri"/>
            </a:endParaRPr>
          </a:p>
        </p:txBody>
      </p:sp>
      <p:pic>
        <p:nvPicPr>
          <p:cNvPr id="91" name="Picture 91" descr="a stone-lined path into a tended garden"/>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One-Word Landing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One word each, when you’re ready — not what was said, but what you noticed; you can pass</a:t>
            </a:r>
          </a:p>
          <a:p>
            <a:pPr marL="685800" indent="-274320">
              <a:spcAft>
                <a:spcPts val="700"/>
              </a:spcAft>
            </a:pPr>
            <a:r>
              <a:rPr sz="2000" b="1" i="0">
                <a:solidFill>
                  <a:srgbClr val="97BC62"/>
                </a:solidFill>
                <a:latin typeface="Calibri"/>
              </a:rPr>
              <a:t>–  </a:t>
            </a:r>
            <a:r>
              <a:rPr sz="2000" b="0" i="1">
                <a:solidFill>
                  <a:srgbClr val="222B22"/>
                </a:solidFill>
                <a:latin typeface="Calibri"/>
              </a:rPr>
              <a:t>“Deeper.” “Same.” “Tender.” “Quiet.” “Harder.” “Found.”</a:t>
            </a:r>
          </a:p>
          <a:p>
            <a:pPr marL="274320" indent="-274320">
              <a:spcAft>
                <a:spcPts val="900"/>
              </a:spcAft>
            </a:pPr>
            <a:r>
              <a:rPr sz="2800" b="1" i="0">
                <a:solidFill>
                  <a:srgbClr val="97BC62"/>
                </a:solidFill>
                <a:latin typeface="Calibri"/>
              </a:rPr>
              <a:t>•  </a:t>
            </a:r>
            <a:r>
              <a:rPr sz="2800" b="0" i="0">
                <a:solidFill>
                  <a:srgbClr val="222B22"/>
                </a:solidFill>
                <a:latin typeface="Calibri"/>
              </a:rPr>
              <a:t>A parent offers the first word — each one received without commentary</a:t>
            </a:r>
          </a:p>
          <a:p>
            <a:pPr marL="274320" indent="-274320">
              <a:spcAft>
                <a:spcPts val="900"/>
              </a:spcAft>
            </a:pPr>
            <a:r>
              <a:rPr sz="2800" b="1" i="0">
                <a:solidFill>
                  <a:srgbClr val="97BC62"/>
                </a:solidFill>
                <a:latin typeface="Calibri"/>
              </a:rPr>
              <a:t>•  </a:t>
            </a:r>
            <a:r>
              <a:rPr sz="2800" b="0" i="0">
                <a:solidFill>
                  <a:srgbClr val="222B22"/>
                </a:solidFill>
                <a:latin typeface="Calibri"/>
              </a:rPr>
              <a:t>“A garden visited twice is a garden being tended. Whatever He is doing in yours, He will keep doing it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133</a:t>
            </a:r>
            <a:endParaRPr sz="1000" b="1">
              <a:solidFill>
                <a:srgbClr val="7A8A6E"/>
              </a:solidFill>
              <a:latin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Keep the garden rhythm — two returns this week, five to ten minutes each</a:t>
            </a:r>
          </a:p>
          <a:p>
            <a:pPr marL="274320" indent="-274320">
              <a:spcAft>
                <a:spcPts val="900"/>
              </a:spcAft>
            </a:pPr>
            <a:r>
              <a:rPr sz="2200" b="1" i="0">
                <a:solidFill>
                  <a:srgbClr val="97BC62"/>
                </a:solidFill>
                <a:latin typeface="Calibri"/>
              </a:rPr>
              <a:t>•  </a:t>
            </a:r>
            <a:r>
              <a:rPr sz="2200" b="0" i="0">
                <a:solidFill>
                  <a:srgbClr val="222B22"/>
                </a:solidFill>
                <a:latin typeface="Calibri"/>
              </a:rPr>
              <a:t>“You know the way now — you don’t need the script.” Go back, walk a little, notice where He is</a:t>
            </a:r>
          </a:p>
          <a:p>
            <a:pPr marL="274320" indent="-274320">
              <a:spcAft>
                <a:spcPts val="900"/>
              </a:spcAft>
            </a:pPr>
            <a:r>
              <a:rPr sz="2200" b="1" i="0">
                <a:solidFill>
                  <a:srgbClr val="97BC62"/>
                </a:solidFill>
                <a:latin typeface="Calibri"/>
              </a:rPr>
              <a:t>•  </a:t>
            </a:r>
            <a:r>
              <a:rPr sz="2200" b="0" i="0">
                <a:solidFill>
                  <a:srgbClr val="222B22"/>
                </a:solidFill>
                <a:latin typeface="Calibri"/>
              </a:rPr>
              <a:t>Journal each visit — even two sentences — “the garden speaks slowly, and the journal is how you hear it across weeks”</a:t>
            </a:r>
          </a:p>
          <a:p>
            <a:pPr marL="274320" indent="-274320">
              <a:spcAft>
                <a:spcPts val="900"/>
              </a:spcAft>
            </a:pPr>
            <a:r>
              <a:rPr sz="2200" b="1" i="0">
                <a:solidFill>
                  <a:srgbClr val="97BC62"/>
                </a:solidFill>
                <a:latin typeface="Calibri"/>
              </a:rPr>
              <a:t>•  </a:t>
            </a:r>
            <a:r>
              <a:rPr sz="2200" b="0" i="0">
                <a:solidFill>
                  <a:srgbClr val="222B22"/>
                </a:solidFill>
                <a:latin typeface="Calibri"/>
              </a:rPr>
              <a:t>If a return surfaces something heavy — stop, open your eyes, come back another day; tell a trusted adult</a:t>
            </a:r>
          </a:p>
          <a:p>
            <a:pPr marL="274320" indent="-274320">
              <a:spcAft>
                <a:spcPts val="900"/>
              </a:spcAft>
            </a:pPr>
            <a:r>
              <a:rPr sz="2200" b="1" i="0">
                <a:solidFill>
                  <a:srgbClr val="97BC62"/>
                </a:solidFill>
                <a:latin typeface="Calibri"/>
              </a:rPr>
              <a:t>•  </a:t>
            </a:r>
            <a:r>
              <a:rPr sz="2200" b="0" i="0">
                <a:solidFill>
                  <a:srgbClr val="222B22"/>
                </a:solidFill>
                <a:latin typeface="Calibri"/>
              </a:rPr>
              <a:t>Three visits drops to two on purpose — a rhythm that survives, not a sprint that impresses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135</a:t>
            </a:r>
            <a:endParaRPr sz="1000" b="1">
              <a:solidFill>
                <a:srgbClr val="7A8A6E"/>
              </a:solidFill>
              <a:latin typeface="Calibri"/>
            </a:endParaRPr>
          </a:p>
        </p:txBody>
      </p:sp>
      <p:pic>
        <p:nvPicPr>
          <p:cNvPr id="270" name="CardImage" descr="the Week 10 check-off card, as handed out"/>
          <p:cNvPicPr>
            <a:picLocks noChangeAspect="1"/>
          </p:cNvPicPr>
          <p:nvPr/>
        </p:nvPicPr>
        <p:blipFill>
          <a:blip r:embed="rId3"/>
          <a:stretch>
            <a:fillRect/>
          </a:stretch>
        </p:blipFill>
        <p:spPr>
          <a:xfrm>
            <a:off x="1339945" y="1554480"/>
            <a:ext cx="951180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136</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137</a:t>
            </a:r>
            <a:endParaRPr sz="1000" b="1">
              <a:solidFill>
                <a:srgbClr val="7A8A6E"/>
              </a:solidFill>
              <a:latin typeface="Calibri"/>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11</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138</a:t>
            </a:r>
            <a:endParaRPr sz="1000" b="1">
              <a:solidFill>
                <a:srgbClr val="7A8A6E"/>
              </a:solidFill>
              <a:latin typeface="Calibri"/>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11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9 check-in</a:t>
            </a:r>
          </a:p>
          <a:p>
            <a:pPr>
              <a:spcAft>
                <a:spcPts val="500"/>
              </a:spcAft>
            </a:pPr>
            <a:r>
              <a:rPr sz="2800" b="1">
                <a:solidFill>
                  <a:srgbClr val="97BC62"/>
                </a:solidFill>
                <a:latin typeface="Calibri"/>
              </a:rPr>
              <a:t>3   </a:t>
            </a:r>
            <a:r>
              <a:rPr sz="2800">
                <a:solidFill>
                  <a:srgbClr val="222B22"/>
                </a:solidFill>
                <a:latin typeface="Calibri"/>
              </a:rPr>
              <a:t>Mark 9:14–29 — the scripture ground</a:t>
            </a:r>
          </a:p>
          <a:p>
            <a:pPr>
              <a:spcAft>
                <a:spcPts val="500"/>
              </a:spcAft>
            </a:pPr>
            <a:r>
              <a:rPr sz="2800" b="1">
                <a:solidFill>
                  <a:srgbClr val="97BC62"/>
                </a:solidFill>
                <a:latin typeface="Calibri"/>
              </a:rPr>
              <a:t>4   </a:t>
            </a:r>
            <a:r>
              <a:rPr sz="2800">
                <a:solidFill>
                  <a:srgbClr val="222B22"/>
                </a:solidFill>
                <a:latin typeface="Calibri"/>
              </a:rPr>
              <a:t>The Any Doubts? practice — teaching</a:t>
            </a:r>
          </a:p>
          <a:p>
            <a:pPr>
              <a:spcAft>
                <a:spcPts val="500"/>
              </a:spcAft>
            </a:pPr>
            <a:r>
              <a:rPr sz="2800" b="1">
                <a:solidFill>
                  <a:srgbClr val="97BC62"/>
                </a:solidFill>
                <a:latin typeface="Calibri"/>
              </a:rPr>
              <a:t>5   </a:t>
            </a:r>
            <a:r>
              <a:rPr sz="2800">
                <a:solidFill>
                  <a:srgbClr val="222B22"/>
                </a:solidFill>
                <a:latin typeface="Calibri"/>
              </a:rPr>
              <a:t>Bridge to split</a:t>
            </a:r>
          </a:p>
          <a:p>
            <a:pPr>
              <a:spcAft>
                <a:spcPts val="500"/>
              </a:spcAft>
            </a:pPr>
            <a:r>
              <a:rPr sz="2800" b="1">
                <a:solidFill>
                  <a:srgbClr val="97BC62"/>
                </a:solidFill>
                <a:latin typeface="Calibri"/>
              </a:rPr>
              <a:t>6   </a:t>
            </a:r>
            <a:r>
              <a:rPr sz="2800">
                <a:solidFill>
                  <a:srgbClr val="222B22"/>
                </a:solidFill>
                <a:latin typeface="Calibri"/>
              </a:rPr>
              <a:t>Any Doubts? in pairs within families</a:t>
            </a:r>
          </a:p>
          <a:p>
            <a:pPr>
              <a:spcAft>
                <a:spcPts val="500"/>
              </a:spcAft>
            </a:pPr>
            <a:r>
              <a:rPr sz="2800" b="1">
                <a:solidFill>
                  <a:srgbClr val="97BC62"/>
                </a:solidFill>
                <a:latin typeface="Calibri"/>
              </a:rPr>
              <a:t>7   </a:t>
            </a:r>
            <a:r>
              <a:rPr sz="2800">
                <a:solidFill>
                  <a:srgbClr val="222B22"/>
                </a:solidFill>
                <a:latin typeface="Calibri"/>
              </a:rPr>
              <a:t>Merge and surface</a:t>
            </a:r>
          </a:p>
          <a:p>
            <a:pPr>
              <a:spcAft>
                <a:spcPts val="500"/>
              </a:spcAft>
            </a:pPr>
            <a:r>
              <a:rPr sz="2800" b="1">
                <a:solidFill>
                  <a:srgbClr val="97BC62"/>
                </a:solidFill>
                <a:latin typeface="Calibri"/>
              </a:rPr>
              <a:t>8   </a:t>
            </a:r>
            <a:r>
              <a:rPr sz="2800">
                <a:solidFill>
                  <a:srgbClr val="222B22"/>
                </a:solidFill>
                <a:latin typeface="Calibri"/>
              </a:rPr>
              <a:t>Between-session practice</a:t>
            </a:r>
          </a:p>
          <a:p>
            <a:pPr>
              <a:spcAft>
                <a:spcPts val="500"/>
              </a:spcAft>
            </a:pPr>
            <a:r>
              <a:rPr sz="2800" b="1">
                <a:solidFill>
                  <a:srgbClr val="97BC62"/>
                </a:solidFill>
                <a:latin typeface="Calibri"/>
              </a:rPr>
              <a:t>9   </a:t>
            </a:r>
            <a:r>
              <a:rPr sz="2800">
                <a:solidFill>
                  <a:srgbClr val="222B22"/>
                </a:solidFill>
                <a:latin typeface="Calibri"/>
              </a:rPr>
              <a:t>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139</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140</a:t>
            </a:r>
            <a:endParaRPr sz="1000" b="1">
              <a:solidFill>
                <a:srgbClr val="7A8A6E"/>
              </a:solidFill>
              <a:latin typeface="Calibri"/>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9 Check-In — the Garden Returns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practice was three returns to the garden</a:t>
            </a:r>
          </a:p>
          <a:p>
            <a:pPr marL="274320" indent="-274320">
              <a:spcAft>
                <a:spcPts val="900"/>
              </a:spcAft>
            </a:pPr>
            <a:r>
              <a:rPr sz="2800" b="1" i="0">
                <a:solidFill>
                  <a:srgbClr val="97BC62"/>
                </a:solidFill>
                <a:latin typeface="Calibri"/>
              </a:rPr>
              <a:t>•  </a:t>
            </a:r>
            <a:r>
              <a:rPr sz="2800" b="0" i="0">
                <a:solidFill>
                  <a:srgbClr val="222B22"/>
                </a:solidFill>
                <a:latin typeface="Calibri"/>
              </a:rPr>
              <a:t>“Anyone want to say one sentence about how that went — the garden visits, or what surfaced, or that you didn’t get to it?”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voluntary — received without commentary</a:t>
            </a:r>
          </a:p>
          <a:p>
            <a:pPr marL="685800" indent="-274320">
              <a:spcAft>
                <a:spcPts val="700"/>
              </a:spcAft>
            </a:pPr>
            <a:r>
              <a:rPr sz="2000" b="1" i="0">
                <a:solidFill>
                  <a:srgbClr val="97BC62"/>
                </a:solidFill>
                <a:latin typeface="Calibri"/>
              </a:rPr>
              <a:t>–  </a:t>
            </a:r>
            <a:r>
              <a:rPr sz="2000" b="0" i="1">
                <a:solidFill>
                  <a:srgbClr val="222B22"/>
                </a:solidFill>
                <a:latin typeface="Calibri"/>
              </a:rPr>
              <a:t>“Good. The garden is still there. You can return any time. We continue.”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141</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142</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2200" b="1" i="0">
                <a:solidFill>
                  <a:srgbClr val="97BC62"/>
                </a:solidFill>
                <a:latin typeface="Calibri"/>
              </a:rPr>
              <a:t>1   </a:t>
            </a:r>
            <a:r>
              <a:rPr sz="2200" b="0" i="0">
                <a:solidFill>
                  <a:srgbClr val="222B22"/>
                </a:solidFill>
                <a:latin typeface="Calibri"/>
              </a:rPr>
              <a:t>NAME — the scripture, then the doubt. Specific, not abstract: “I doubt He hears prayer about this specific thing”</a:t>
            </a:r>
          </a:p>
          <a:p>
            <a:pPr marL="342900" indent="-342900">
              <a:spcAft>
                <a:spcPts val="900"/>
              </a:spcAft>
            </a:pPr>
            <a:r>
              <a:rPr sz="2200" b="1" i="0">
                <a:solidFill>
                  <a:srgbClr val="97BC62"/>
                </a:solidFill>
                <a:latin typeface="Calibri"/>
              </a:rPr>
              <a:t>2   </a:t>
            </a:r>
            <a:r>
              <a:rPr sz="2200" b="0" i="0">
                <a:solidFill>
                  <a:srgbClr val="222B22"/>
                </a:solidFill>
                <a:latin typeface="Calibri"/>
              </a:rPr>
              <a:t>EXAGGERATE — make the doubt bigger, not smaller. You are not endorsing it; you are exposing it</a:t>
            </a:r>
          </a:p>
          <a:p>
            <a:pPr marL="342900" indent="-342900">
              <a:spcAft>
                <a:spcPts val="900"/>
              </a:spcAft>
            </a:pPr>
            <a:r>
              <a:rPr sz="2200" b="1" i="0">
                <a:solidFill>
                  <a:srgbClr val="97BC62"/>
                </a:solidFill>
                <a:latin typeface="Calibri"/>
              </a:rPr>
              <a:t>3   </a:t>
            </a:r>
            <a:r>
              <a:rPr sz="2200" b="0" i="0">
                <a:solidFill>
                  <a:srgbClr val="222B22"/>
                </a:solidFill>
                <a:latin typeface="Calibri"/>
              </a:rPr>
              <a:t>SIT — what does the doubt feel like in your body? Ten or fifteen seconds. Don’t fix it. Feel it</a:t>
            </a:r>
          </a:p>
          <a:p>
            <a:pPr marL="342900" indent="-342900">
              <a:spcAft>
                <a:spcPts val="900"/>
              </a:spcAft>
            </a:pPr>
            <a:r>
              <a:rPr sz="2200" b="1" i="0">
                <a:solidFill>
                  <a:srgbClr val="97BC62"/>
                </a:solidFill>
                <a:latin typeface="Calibri"/>
              </a:rPr>
              <a:t>4   </a:t>
            </a:r>
            <a:r>
              <a:rPr sz="2200" b="0" i="0">
                <a:solidFill>
                  <a:srgbClr val="222B22"/>
                </a:solidFill>
                <a:latin typeface="Calibri"/>
              </a:rPr>
              <a:t>RE-READ — your partner reads the same scripture again, slowly. The Spirit does the work; you do the noticing</a:t>
            </a:r>
          </a:p>
          <a:p>
            <a:pPr marL="274320" indent="-274320">
              <a:spcAft>
                <a:spcPts val="900"/>
              </a:spcAft>
            </a:pPr>
            <a:r>
              <a:rPr sz="2200" b="1" i="0">
                <a:solidFill>
                  <a:srgbClr val="97BC62"/>
                </a:solidFill>
                <a:latin typeface="Calibri"/>
              </a:rPr>
              <a:t>•  </a:t>
            </a:r>
            <a:r>
              <a:rPr sz="22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143</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144</a:t>
            </a:r>
            <a:endParaRPr sz="1000" b="1">
              <a:solidFill>
                <a:srgbClr val="7A8A6E"/>
              </a:solidFill>
              <a:latin typeface="Calibri"/>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145</a:t>
            </a:r>
            <a:endParaRPr sz="1000" b="1">
              <a:solidFill>
                <a:srgbClr val="7A8A6E"/>
              </a:solidFill>
              <a:latin typeface="Calibri"/>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146</a:t>
            </a:r>
            <a:endParaRPr sz="1000" b="1">
              <a:solidFill>
                <a:srgbClr val="7A8A6E"/>
              </a:solidFill>
              <a:latin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the Doubts Inventory</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The Personal Doubts Inventory — twenty minutes with your journal, once this week</a:t>
            </a:r>
          </a:p>
          <a:p>
            <a:pPr marL="342900" indent="-342900">
              <a:spcAft>
                <a:spcPts val="750"/>
              </a:spcAft>
            </a:pPr>
            <a:r>
              <a:rPr sz="2000" b="1" i="0">
                <a:solidFill>
                  <a:srgbClr val="97BC62"/>
                </a:solidFill>
                <a:latin typeface="Calibri"/>
              </a:rPr>
              <a:t>1   </a:t>
            </a:r>
            <a:r>
              <a:rPr sz="2000" b="0" i="0">
                <a:solidFill>
                  <a:srgbClr val="222B22"/>
                </a:solidFill>
                <a:latin typeface="Calibri"/>
              </a:rPr>
              <a:t>List 5–10 scriptures you say you believe; rate your honest trust, 1–5</a:t>
            </a:r>
          </a:p>
          <a:p>
            <a:pPr marL="342900" indent="-342900">
              <a:spcAft>
                <a:spcPts val="750"/>
              </a:spcAft>
            </a:pPr>
            <a:r>
              <a:rPr sz="2000" b="1" i="0">
                <a:solidFill>
                  <a:srgbClr val="97BC62"/>
                </a:solidFill>
                <a:latin typeface="Calibri"/>
              </a:rPr>
              <a:t>2   </a:t>
            </a:r>
            <a:r>
              <a:rPr sz="2000" b="0" i="0">
                <a:solidFill>
                  <a:srgbClr val="222B22"/>
                </a:solidFill>
                <a:latin typeface="Calibri"/>
              </a:rPr>
              <a:t>For the two or three with the most hesitation — write the specific doubt, then sit with it</a:t>
            </a:r>
          </a:p>
          <a:p>
            <a:pPr marL="274320" indent="-274320">
              <a:spcAft>
                <a:spcPts val="750"/>
              </a:spcAft>
            </a:pPr>
            <a:r>
              <a:rPr sz="2000" b="1" i="0">
                <a:solidFill>
                  <a:srgbClr val="97BC62"/>
                </a:solidFill>
                <a:latin typeface="Calibri"/>
              </a:rPr>
              <a:t>•  </a:t>
            </a:r>
            <a:r>
              <a:rPr sz="2000" b="0" i="0">
                <a:solidFill>
                  <a:srgbClr val="222B22"/>
                </a:solidFill>
                <a:latin typeface="Calibri"/>
              </a:rPr>
              <a:t>No shame. Just data. Yours alone — never turned in, never seen by the team</a:t>
            </a:r>
          </a:p>
          <a:p>
            <a:pPr marL="274320" indent="-274320">
              <a:spcAft>
                <a:spcPts val="750"/>
              </a:spcAft>
            </a:pPr>
            <a:r>
              <a:rPr sz="2000" b="1" i="0">
                <a:solidFill>
                  <a:srgbClr val="97BC62"/>
                </a:solidFill>
                <a:latin typeface="Calibri"/>
              </a:rPr>
              <a:t>•  </a:t>
            </a:r>
            <a:r>
              <a:rPr sz="2000" b="0" i="0">
                <a:solidFill>
                  <a:srgbClr val="222B22"/>
                </a:solidFill>
                <a:latin typeface="Calibri"/>
              </a:rPr>
              <a:t>The Quarterly Pulse goes home tonight — three questions, five minutes, honest. Back in the bin at The Return’s door in January</a:t>
            </a:r>
          </a:p>
          <a:p>
            <a:pPr marL="274320" indent="-274320">
              <a:spcAft>
                <a:spcPts val="750"/>
              </a:spcAft>
            </a:pPr>
            <a:r>
              <a:rPr sz="2000" b="1" i="0">
                <a:solidFill>
                  <a:srgbClr val="97BC62"/>
                </a:solidFill>
                <a:latin typeface="Calibri"/>
              </a:rPr>
              <a:t>•  </a:t>
            </a:r>
            <a:r>
              <a:rPr sz="2000" b="0" i="0">
                <a:solidFill>
                  <a:srgbClr val="222B22"/>
                </a:solidFill>
                <a:latin typeface="Calibri"/>
              </a:rPr>
              <a:t>Over the break: keep one practice alive — just one,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147</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148</a:t>
            </a:r>
            <a:endParaRPr sz="1000" b="1">
              <a:solidFill>
                <a:srgbClr val="7A8A6E"/>
              </a:solidFill>
              <a:latin typeface="Calibri"/>
            </a:endParaRPr>
          </a:p>
        </p:txBody>
      </p:sp>
      <p:pic>
        <p:nvPicPr>
          <p:cNvPr id="270" name="CardImage" descr="the Week 11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150</a:t>
            </a:r>
            <a:endParaRPr sz="1000" b="1">
              <a:solidFill>
                <a:srgbClr val="7A8A6E"/>
              </a:solidFill>
              <a:latin typeface="Calibri"/>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3</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Weeks 12–17  ·  Six Wednesdays · The Return, Mission, the Rhythm and the Four Questions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151</a:t>
            </a:r>
            <a:endParaRPr sz="1000" b="1">
              <a:solidFill>
                <a:srgbClr val="F1F6EC"/>
              </a:solidFill>
              <a:latin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153</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154</a:t>
            </a:r>
            <a:endParaRPr sz="1000" b="1">
              <a:solidFill>
                <a:srgbClr val="7A8A6E"/>
              </a:solidFill>
              <a:latin typeface="Calibri"/>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155</a:t>
            </a:r>
            <a:endParaRPr sz="1000" b="1">
              <a:solidFill>
                <a:srgbClr val="7A8A6E"/>
              </a:solidFill>
              <a:latin typeface="Calibri"/>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cluster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157</a:t>
            </a:r>
            <a:endParaRPr sz="1000" b="1">
              <a:solidFill>
                <a:srgbClr val="7A8A6E"/>
              </a:solidFill>
              <a:latin typeface="Calibri"/>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158</a:t>
            </a:r>
            <a:endParaRPr sz="1000" b="1">
              <a:solidFill>
                <a:srgbClr val="7A8A6E"/>
              </a:solidFill>
              <a:latin typeface="Calibri"/>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270" name="CardImage" descr="the Week 12 check-off card, as handed out"/>
          <p:cNvPicPr>
            <a:picLocks noChangeAspect="1"/>
          </p:cNvPicPr>
          <p:nvPr/>
        </p:nvPicPr>
        <p:blipFill>
          <a:blip r:embed="rId3"/>
          <a:stretch>
            <a:fillRect/>
          </a:stretch>
        </p:blipFill>
        <p:spPr>
          <a:xfrm>
            <a:off x="1158087" y="1554480"/>
            <a:ext cx="9875520" cy="3235532"/>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4972892"/>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9-mission.jpg"/>
          <p:cNvPicPr>
            <a:picLocks noChangeAspect="1"/>
          </p:cNvPicPr>
          <p:nvPr/>
        </p:nvPicPr>
        <p:blipFill>
          <a:blip r:embed="rId3"/>
          <a:stretch>
            <a:fillRect/>
          </a:stretch>
        </p:blipFill>
        <p:spPr>
          <a:xfrm>
            <a:off x="7268937" y="822960"/>
            <a:ext cx="347580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13</a:t>
            </a:r>
          </a:p>
          <a:p>
            <a:pPr algn="l">
              <a:spcAft>
                <a:spcPts val="1000"/>
              </a:spcAft>
            </a:pPr>
            <a:r>
              <a:rPr sz="3300" b="1" i="0">
                <a:solidFill>
                  <a:srgbClr val="2C5F2D"/>
                </a:solidFill>
                <a:latin typeface="Cambria"/>
              </a:rPr>
              <a:t>What Was Prepared for You</a:t>
            </a:r>
          </a:p>
          <a:p>
            <a:pPr algn="l">
              <a:spcAft>
                <a:spcPts val="600"/>
              </a:spcAft>
            </a:pPr>
            <a:r>
              <a:rPr sz="1800" b="0" i="1">
                <a:solidFill>
                  <a:srgbClr val="595959"/>
                </a:solidFill>
                <a:latin typeface="Calibri"/>
              </a:rPr>
              <a:t>Connecting with Mission — uphill, downhill, and the works prepared beforehand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13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11 check-in</a:t>
            </a:r>
          </a:p>
          <a:p>
            <a:pPr>
              <a:spcAft>
                <a:spcPts val="500"/>
              </a:spcAft>
            </a:pPr>
            <a:r>
              <a:rPr sz="2800" b="1">
                <a:solidFill>
                  <a:srgbClr val="97BC62"/>
                </a:solidFill>
                <a:latin typeface="Calibri"/>
              </a:rPr>
              <a:t>3   </a:t>
            </a:r>
            <a:r>
              <a:rPr sz="2800">
                <a:solidFill>
                  <a:srgbClr val="222B22"/>
                </a:solidFill>
                <a:latin typeface="Calibri"/>
              </a:rPr>
              <a:t>Ephesians 2:10 and the uphill/downhill distinction</a:t>
            </a:r>
          </a:p>
          <a:p>
            <a:pPr>
              <a:spcAft>
                <a:spcPts val="500"/>
              </a:spcAft>
            </a:pPr>
            <a:r>
              <a:rPr sz="2800" b="1">
                <a:solidFill>
                  <a:srgbClr val="97BC62"/>
                </a:solidFill>
                <a:latin typeface="Calibri"/>
              </a:rPr>
              <a:t>4   </a:t>
            </a:r>
            <a:r>
              <a:rPr sz="2800">
                <a:solidFill>
                  <a:srgbClr val="222B22"/>
                </a:solidFill>
                <a:latin typeface="Calibri"/>
              </a:rPr>
              <a:t>Bridge to split</a:t>
            </a:r>
          </a:p>
          <a:p>
            <a:pPr>
              <a:spcAft>
                <a:spcPts val="500"/>
              </a:spcAft>
            </a:pPr>
            <a:r>
              <a:rPr sz="2800" b="1">
                <a:solidFill>
                  <a:srgbClr val="97BC62"/>
                </a:solidFill>
                <a:latin typeface="Calibri"/>
              </a:rPr>
              <a:t>5   </a:t>
            </a:r>
            <a:r>
              <a:rPr sz="2800">
                <a:solidFill>
                  <a:srgbClr val="222B22"/>
                </a:solidFill>
                <a:latin typeface="Calibri"/>
              </a:rPr>
              <a:t>Gifts and Downhill in family clusters</a:t>
            </a:r>
          </a:p>
          <a:p>
            <a:pPr>
              <a:spcAft>
                <a:spcPts val="500"/>
              </a:spcAft>
            </a:pPr>
            <a:r>
              <a:rPr sz="2800" b="1">
                <a:solidFill>
                  <a:srgbClr val="97BC62"/>
                </a:solidFill>
                <a:latin typeface="Calibri"/>
              </a:rPr>
              <a:t>6   </a:t>
            </a:r>
            <a:r>
              <a:rPr sz="2800">
                <a:solidFill>
                  <a:srgbClr val="222B22"/>
                </a:solidFill>
                <a:latin typeface="Calibri"/>
              </a:rPr>
              <a:t>Merge and surface</a:t>
            </a:r>
          </a:p>
          <a:p>
            <a:pPr>
              <a:spcAft>
                <a:spcPts val="500"/>
              </a:spcAft>
            </a:pPr>
            <a:r>
              <a:rPr sz="2800" b="1">
                <a:solidFill>
                  <a:srgbClr val="97BC62"/>
                </a:solidFill>
                <a:latin typeface="Calibri"/>
              </a:rPr>
              <a:t>7   </a:t>
            </a:r>
            <a:r>
              <a:rPr sz="2800">
                <a:solidFill>
                  <a:srgbClr val="222B22"/>
                </a:solidFill>
                <a:latin typeface="Calibri"/>
              </a:rPr>
              <a:t>Between-session practice and closing-weeks logistics</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11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Before the break: Any Doubts? — and last week, The Return read what the break did with our practices</a:t>
            </a:r>
          </a:p>
          <a:p>
            <a:pPr marL="274320" indent="-274320">
              <a:spcAft>
                <a:spcPts val="900"/>
              </a:spcAft>
            </a:pPr>
            <a:r>
              <a:rPr sz="2400" b="1" i="0">
                <a:solidFill>
                  <a:srgbClr val="97BC62"/>
                </a:solidFill>
                <a:latin typeface="Calibri"/>
              </a:rPr>
              <a:t>•  </a:t>
            </a:r>
            <a:r>
              <a:rPr sz="2400" b="0" i="0">
                <a:solidFill>
                  <a:srgbClr val="222B22"/>
                </a:solidFill>
                <a:latin typeface="Calibri"/>
              </a:rPr>
              <a:t>The practice carried across: the Personal Doubts Inventory</a:t>
            </a:r>
          </a:p>
          <a:p>
            <a:pPr marL="274320" indent="-274320">
              <a:spcAft>
                <a:spcPts val="900"/>
              </a:spcAft>
            </a:pPr>
            <a:r>
              <a:rPr sz="2400" b="1" i="0">
                <a:solidFill>
                  <a:srgbClr val="97BC62"/>
                </a:solidFill>
                <a:latin typeface="Calibri"/>
              </a:rPr>
              <a:t>•  </a:t>
            </a:r>
            <a:r>
              <a:rPr sz="2400" b="0" i="0">
                <a:solidFill>
                  <a:srgbClr val="222B22"/>
                </a:solidFill>
                <a:latin typeface="Calibri"/>
              </a:rPr>
              <a:t>“Anyone want to say one sentence about how that landed — the inventory, or anything that surfaced, or that you didn’t get to it?”</a:t>
            </a:r>
          </a:p>
          <a:p>
            <a:pPr marL="274320" indent="-274320">
              <a:spcAft>
                <a:spcPts val="900"/>
              </a:spcAft>
            </a:pPr>
            <a:r>
              <a:rPr sz="2400" b="1" i="0">
                <a:solidFill>
                  <a:srgbClr val="97BC62"/>
                </a:solidFill>
                <a:latin typeface="Calibri"/>
              </a:rPr>
              <a:t>•  </a:t>
            </a:r>
            <a:r>
              <a:rPr sz="2400" b="0" i="0">
                <a:solidFill>
                  <a:srgbClr val="222B22"/>
                </a:solidFill>
                <a:latin typeface="Calibri"/>
              </a:rPr>
              <a:t>One sentence each, voluntary — received without commentary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Uphill and Downhill — Ephesians 2:10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works were prepared — beforehand, not by us, not for us to invent. Our job is to walk in them</a:t>
            </a:r>
          </a:p>
          <a:p>
            <a:pPr marL="274320" indent="-274320">
              <a:spcAft>
                <a:spcPts val="800"/>
              </a:spcAft>
            </a:pPr>
            <a:r>
              <a:rPr sz="2000" b="1" i="0">
                <a:solidFill>
                  <a:srgbClr val="97BC62"/>
                </a:solidFill>
                <a:latin typeface="Calibri"/>
              </a:rPr>
              <a:t>•  </a:t>
            </a:r>
            <a:r>
              <a:rPr sz="2000" b="0" i="0">
                <a:solidFill>
                  <a:srgbClr val="222B22"/>
                </a:solidFill>
                <a:latin typeface="Calibri"/>
              </a:rPr>
              <a:t>UPHILL mission — what I do: a goal, a plan, measurable steps. Good and real — and the smaller half</a:t>
            </a:r>
          </a:p>
          <a:p>
            <a:pPr marL="274320" indent="-274320">
              <a:spcAft>
                <a:spcPts val="800"/>
              </a:spcAft>
            </a:pPr>
            <a:r>
              <a:rPr sz="2000" b="1" i="0">
                <a:solidFill>
                  <a:srgbClr val="97BC62"/>
                </a:solidFill>
                <a:latin typeface="Calibri"/>
              </a:rPr>
              <a:t>•  </a:t>
            </a:r>
            <a:r>
              <a:rPr sz="2000" b="0" i="0">
                <a:solidFill>
                  <a:srgbClr val="222B22"/>
                </a:solidFill>
                <a:latin typeface="Calibri"/>
              </a:rPr>
              <a:t>DOWNHILL mission — what I am: the effect I have on the people around me when I am most aligned with the Spirit and most genuinely myself. It flows; you don’t have to push it</a:t>
            </a:r>
          </a:p>
          <a:p>
            <a:pPr marL="274320" indent="-274320">
              <a:spcAft>
                <a:spcPts val="800"/>
              </a:spcAft>
            </a:pPr>
            <a:r>
              <a:rPr sz="2000" b="1" i="0">
                <a:solidFill>
                  <a:srgbClr val="97BC62"/>
                </a:solidFill>
                <a:latin typeface="Calibri"/>
              </a:rPr>
              <a:t>•  </a:t>
            </a:r>
            <a:r>
              <a:rPr sz="2000" b="0" i="0">
                <a:solidFill>
                  <a:srgbClr val="222B22"/>
                </a:solidFill>
                <a:latin typeface="Calibri"/>
              </a:rPr>
              <a:t>The test: “When I am at my most genuinely myself — not performing, not managing, just present and open — what do the people around me get to be?”</a:t>
            </a:r>
          </a:p>
          <a:p>
            <a:pPr marL="274320" indent="-274320">
              <a:spcAft>
                <a:spcPts val="800"/>
              </a:spcAft>
            </a:pPr>
            <a:r>
              <a:rPr sz="2000" b="1" i="0">
                <a:solidFill>
                  <a:srgbClr val="97BC62"/>
                </a:solidFill>
                <a:latin typeface="Calibri"/>
              </a:rPr>
              <a:t>•  </a:t>
            </a:r>
            <a:r>
              <a:rPr sz="2000" b="0" i="0">
                <a:solidFill>
                  <a:srgbClr val="222B22"/>
                </a:solidFill>
                <a:latin typeface="Calibri"/>
              </a:rPr>
              <a:t>Eleven weeks of uphill clearing behind us — tonight we ask the downhill question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EPHESIANS 2:10</a:t>
            </a:r>
          </a:p>
          <a:p>
            <a:pPr>
              <a:spcAft>
                <a:spcPts val="600"/>
              </a:spcAft>
            </a:pPr>
            <a:r>
              <a:rPr sz="2400" b="0" i="1">
                <a:solidFill>
                  <a:srgbClr val="222B22"/>
                </a:solidFill>
                <a:latin typeface="Cambria"/>
              </a:rPr>
              <a:t>“For we are his workmanship, created in Christ Jesus for good works, which God prepared beforehand, that we should walk in them.”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Traveling the Mission — Tacking Against the Headwind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pic>
        <p:nvPicPr>
          <p:cNvPr id="5" name="Graphic 4">
            <a:extLst>
              <a:ext uri="{FF2B5EF4-FFF2-40B4-BE49-F238E27FC236}">
                <a16:creationId xmlns:a16="http://schemas.microsoft.com/office/drawing/2014/main" id="{57A95D7D-1063-6D30-607C-E5502D8C3B9D}"/>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2044700" y="889000"/>
            <a:ext cx="8089900" cy="5397500"/>
          </a:xfrm>
          <a:prstGeom prst="rect">
            <a:avLst/>
          </a:prstGeom>
        </p:spPr>
      </p:pic>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Two Exercises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400" b="1" i="0">
                <a:solidFill>
                  <a:srgbClr val="97BC62"/>
                </a:solidFill>
                <a:latin typeface="Calibri"/>
              </a:rPr>
              <a:t>1   </a:t>
            </a:r>
            <a:r>
              <a:rPr sz="2400" b="0" i="0">
                <a:solidFill>
                  <a:srgbClr val="222B22"/>
                </a:solidFill>
                <a:latin typeface="Calibri"/>
              </a:rPr>
              <a:t>Gifts and Passions — about twenty minutes: ten alone, ten sharing. Where are you alive? What comes naturally? Where do others tell you you have something to offer?</a:t>
            </a:r>
          </a:p>
          <a:p>
            <a:pPr marL="685800" indent="-274320">
              <a:spcAft>
                <a:spcPts val="650"/>
              </a:spcAft>
            </a:pPr>
            <a:r>
              <a:rPr sz="1800" b="1" i="0">
                <a:solidFill>
                  <a:srgbClr val="97BC62"/>
                </a:solidFill>
                <a:latin typeface="Calibri"/>
              </a:rPr>
              <a:t>–  </a:t>
            </a:r>
            <a:r>
              <a:rPr sz="1800" b="0" i="1">
                <a:solidFill>
                  <a:srgbClr val="222B22"/>
                </a:solidFill>
                <a:latin typeface="Calibri"/>
              </a:rPr>
              <a:t>Share frame: “The three things I noticed are ______. The one I’m most surprised by is ______.”</a:t>
            </a:r>
          </a:p>
          <a:p>
            <a:pPr marL="342900" indent="-342900">
              <a:spcAft>
                <a:spcPts val="900"/>
              </a:spcAft>
            </a:pPr>
            <a:r>
              <a:rPr sz="2400" b="1" i="0">
                <a:solidFill>
                  <a:srgbClr val="97BC62"/>
                </a:solidFill>
                <a:latin typeface="Calibri"/>
              </a:rPr>
              <a:t>2   </a:t>
            </a:r>
            <a:r>
              <a:rPr sz="2400" b="0" i="0">
                <a:solidFill>
                  <a:srgbClr val="222B22"/>
                </a:solidFill>
                <a:latin typeface="Calibri"/>
              </a:rPr>
              <a:t>Downhill Mission — about twenty minutes: five alone, then name your answer to the cluster. “When I am at my best, what the room gets is ___.”</a:t>
            </a:r>
          </a:p>
          <a:p>
            <a:pPr marL="685800" indent="-274320">
              <a:spcAft>
                <a:spcPts val="650"/>
              </a:spcAft>
            </a:pPr>
            <a:r>
              <a:rPr sz="1800" b="1" i="0">
                <a:solidFill>
                  <a:srgbClr val="97BC62"/>
                </a:solidFill>
                <a:latin typeface="Calibri"/>
              </a:rPr>
              <a:t>–  </a:t>
            </a:r>
            <a:r>
              <a:rPr sz="1800" b="0" i="1">
                <a:solidFill>
                  <a:srgbClr val="222B22"/>
                </a:solidFill>
                <a:latin typeface="Calibri"/>
              </a:rPr>
              <a:t>The cluster adds: “What I’ve seen in you is ______.” — specific, brief, something actually seen</a:t>
            </a:r>
          </a:p>
          <a:p>
            <a:pPr marL="274320" indent="-274320">
              <a:spcAft>
                <a:spcPts val="900"/>
              </a:spcAft>
            </a:pPr>
            <a:r>
              <a:rPr sz="2400" b="1" i="0">
                <a:solidFill>
                  <a:srgbClr val="97BC62"/>
                </a:solidFill>
                <a:latin typeface="Calibri"/>
              </a:rPr>
              <a:t>•  </a:t>
            </a:r>
            <a:r>
              <a:rPr sz="2400" b="0" i="0">
                <a:solidFill>
                  <a:srgbClr val="222B22"/>
                </a:solidFill>
                <a:latin typeface="Calibri"/>
              </a:rPr>
              <a:t>In each round a parent goes first — teens choose their own depth, and passing holds</a:t>
            </a:r>
          </a:p>
          <a:p>
            <a:pPr marL="274320" indent="-274320">
              <a:spcAft>
                <a:spcPts val="900"/>
              </a:spcAft>
            </a:pPr>
            <a:r>
              <a:rPr sz="2400" b="1" i="0">
                <a:solidFill>
                  <a:srgbClr val="97BC62"/>
                </a:solidFill>
                <a:latin typeface="Calibri"/>
              </a:rPr>
              <a:t>•  </a:t>
            </a:r>
            <a:r>
              <a:rPr sz="2400" b="0" i="0">
                <a:solidFill>
                  <a:srgbClr val="222B22"/>
                </a:solidFill>
                <a:latin typeface="Calibri"/>
              </a:rPr>
              <a:t>The cluster may add what they have noticed — a parent may speak to a teen’s gifts, and a teen to a parent’s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Gifts and Downhill in Family Clusters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Phase 1 — Gifts and Passions: quiet writing (10 min), then 60 seconds each: “The three things I noticed are ___. The one I’m most surprised by is ___.”</a:t>
            </a:r>
          </a:p>
          <a:p>
            <a:pPr marL="274320" indent="-274320">
              <a:spcAft>
                <a:spcPts val="750"/>
              </a:spcAft>
            </a:pPr>
            <a:r>
              <a:rPr sz="2400" b="1" i="0">
                <a:solidFill>
                  <a:srgbClr val="97BC62"/>
                </a:solidFill>
                <a:latin typeface="Calibri"/>
              </a:rPr>
              <a:t>•  </a:t>
            </a:r>
            <a:r>
              <a:rPr sz="2400" b="0" i="0">
                <a:solidFill>
                  <a:srgbClr val="222B22"/>
                </a:solidFill>
                <a:latin typeface="Calibri"/>
              </a:rPr>
              <a:t>After each share the cluster affirms what it has seen — specific and brief: “Yes — we see that in you. Specifically: ___.”</a:t>
            </a:r>
          </a:p>
          <a:p>
            <a:pPr marL="274320" indent="-274320">
              <a:spcAft>
                <a:spcPts val="750"/>
              </a:spcAft>
            </a:pPr>
            <a:r>
              <a:rPr sz="2400" b="1" i="0">
                <a:solidFill>
                  <a:srgbClr val="97BC62"/>
                </a:solidFill>
                <a:latin typeface="Calibri"/>
              </a:rPr>
              <a:t>•  </a:t>
            </a:r>
            <a:r>
              <a:rPr sz="2400" b="0" i="0">
                <a:solidFill>
                  <a:srgbClr val="222B22"/>
                </a:solidFill>
                <a:latin typeface="Calibri"/>
              </a:rPr>
              <a:t>Phase 2 — Downhill Mission: five quiet minutes, then around the circle, 90 seconds each</a:t>
            </a:r>
          </a:p>
          <a:p>
            <a:pPr marL="685800" indent="-274320">
              <a:spcAft>
                <a:spcPts val="550"/>
              </a:spcAft>
            </a:pPr>
            <a:r>
              <a:rPr sz="1800" b="1" i="0">
                <a:solidFill>
                  <a:srgbClr val="97BC62"/>
                </a:solidFill>
                <a:latin typeface="Calibri"/>
              </a:rPr>
              <a:t>–  </a:t>
            </a:r>
            <a:r>
              <a:rPr sz="1800" b="0" i="1">
                <a:solidFill>
                  <a:srgbClr val="222B22"/>
                </a:solidFill>
                <a:latin typeface="Calibri"/>
              </a:rPr>
              <a:t>“What I noticed is that when I’m at my best, what the room gets is ___.”</a:t>
            </a:r>
          </a:p>
          <a:p>
            <a:pPr marL="274320" indent="-274320">
              <a:spcAft>
                <a:spcPts val="750"/>
              </a:spcAft>
            </a:pPr>
            <a:r>
              <a:rPr sz="2400" b="1" i="0">
                <a:solidFill>
                  <a:srgbClr val="97BC62"/>
                </a:solidFill>
                <a:latin typeface="Calibri"/>
              </a:rPr>
              <a:t>•  </a:t>
            </a:r>
            <a:r>
              <a:rPr sz="2400" b="0" i="0">
                <a:solidFill>
                  <a:srgbClr val="222B22"/>
                </a:solidFill>
                <a:latin typeface="Calibri"/>
              </a:rPr>
              <a:t>One or two voices add what they have actually seen across Getting Started — especially each other’s family</a:t>
            </a:r>
          </a:p>
          <a:p>
            <a:pPr marL="274320" indent="-274320">
              <a:spcAft>
                <a:spcPts val="750"/>
              </a:spcAft>
            </a:pPr>
            <a:r>
              <a:rPr sz="2400" b="1" i="0">
                <a:solidFill>
                  <a:srgbClr val="97BC62"/>
                </a:solidFill>
                <a:latin typeface="Calibri"/>
              </a:rPr>
              <a:t>•  </a:t>
            </a:r>
            <a:r>
              <a:rPr sz="2400" b="0" i="0">
                <a:solidFill>
                  <a:srgbClr val="222B22"/>
                </a:solidFill>
                <a:latin typeface="Calibri"/>
              </a:rPr>
              <a:t>The naming is the gift — no over-processing. Pass-anytime holds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was named in your cluster stays in your cluster — nobody repeats their downhill answer</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from each Cluster Companion — one general thing they noticed, not a specific person</a:t>
            </a:r>
          </a:p>
          <a:p>
            <a:pPr marL="274320" indent="-274320">
              <a:spcAft>
                <a:spcPts val="900"/>
              </a:spcAft>
            </a:pPr>
            <a:r>
              <a:rPr sz="2800" b="1" i="0">
                <a:solidFill>
                  <a:srgbClr val="97BC62"/>
                </a:solidFill>
                <a:latin typeface="Calibri"/>
              </a:rPr>
              <a:t>•  </a:t>
            </a:r>
            <a:r>
              <a:rPr sz="2800" b="0" i="0">
                <a:solidFill>
                  <a:srgbClr val="222B22"/>
                </a:solidFill>
                <a:latin typeface="Calibri"/>
              </a:rPr>
              <a:t>Then one observation across the room</a:t>
            </a:r>
          </a:p>
          <a:p>
            <a:pPr marL="274320" indent="-274320">
              <a:spcAft>
                <a:spcPts val="900"/>
              </a:spcAft>
            </a:pPr>
            <a:r>
              <a:rPr sz="2800" b="1" i="0">
                <a:solidFill>
                  <a:srgbClr val="97BC62"/>
                </a:solidFill>
                <a:latin typeface="Calibri"/>
              </a:rPr>
              <a:t>•  </a:t>
            </a:r>
            <a:r>
              <a:rPr sz="2800" b="0" i="0">
                <a:solidFill>
                  <a:srgbClr val="222B22"/>
                </a:solidFill>
                <a:latin typeface="Calibri"/>
              </a:rPr>
              <a:t>“The downhill mission you named is not a final answer. It is the working draft you are walking in this season.” It will deepen. It will sharpen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Practice This Week — and the Road Ahead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One small action this week, aligned with your downhill answer. One. Not a campaign. Specific — then journal what happens</a:t>
            </a:r>
          </a:p>
          <a:p>
            <a:pPr marL="685800" indent="-274320">
              <a:spcAft>
                <a:spcPts val="700"/>
              </a:spcAft>
            </a:pPr>
            <a:r>
              <a:rPr sz="1800" b="1" i="0">
                <a:solidFill>
                  <a:srgbClr val="97BC62"/>
                </a:solidFill>
                <a:latin typeface="Calibri"/>
              </a:rPr>
              <a:t>–  </a:t>
            </a:r>
            <a:r>
              <a:rPr sz="1800" b="0" i="1">
                <a:solidFill>
                  <a:srgbClr val="222B22"/>
                </a:solidFill>
                <a:latin typeface="Calibri"/>
              </a:rPr>
              <a:t>If your downhill is “the room gets calmer” — sit with a friend in distress this week instead of trying to fix them</a:t>
            </a:r>
          </a:p>
          <a:p>
            <a:pPr marL="274320" indent="-274320">
              <a:spcAft>
                <a:spcPts val="900"/>
              </a:spcAft>
            </a:pPr>
            <a:r>
              <a:rPr sz="2200" b="1" i="0">
                <a:solidFill>
                  <a:srgbClr val="97BC62"/>
                </a:solidFill>
                <a:latin typeface="Calibri"/>
              </a:rPr>
              <a:t>•  </a:t>
            </a:r>
            <a:r>
              <a:rPr sz="2200" b="0" i="0">
                <a:solidFill>
                  <a:srgbClr val="222B22"/>
                </a:solidFill>
                <a:latin typeface="Calibri"/>
              </a:rPr>
              <a:t>Ahead: the Rhythm week — we build the practices you will carry when the Wednesdays stop</a:t>
            </a:r>
          </a:p>
          <a:p>
            <a:pPr marL="274320" indent="-274320">
              <a:spcAft>
                <a:spcPts val="900"/>
              </a:spcAft>
            </a:pPr>
            <a:r>
              <a:rPr sz="2200" b="1" i="0">
                <a:solidFill>
                  <a:srgbClr val="97BC62"/>
                </a:solidFill>
                <a:latin typeface="Calibri"/>
              </a:rPr>
              <a:t>•  </a:t>
            </a:r>
            <a:r>
              <a:rPr sz="2200" b="0" i="0">
                <a:solidFill>
                  <a:srgbClr val="222B22"/>
                </a:solidFill>
                <a:latin typeface="Calibri"/>
              </a:rPr>
              <a:t>Week 21 — the family commissioning: bring your whole family, even members who have not been here. We run to 6:15 that night — light food from 4:00 as the room builds</a:t>
            </a:r>
          </a:p>
          <a:p>
            <a:pPr marL="274320" indent="-274320">
              <a:spcAft>
                <a:spcPts val="900"/>
              </a:spcAft>
            </a:pPr>
            <a:r>
              <a:rPr sz="2200" b="1" i="0">
                <a:solidFill>
                  <a:srgbClr val="97BC62"/>
                </a:solidFill>
                <a:latin typeface="Calibri"/>
              </a:rPr>
              <a:t>•  </a:t>
            </a:r>
            <a:r>
              <a:rPr sz="2200" b="0" i="0">
                <a:solidFill>
                  <a:srgbClr val="222B22"/>
                </a:solidFill>
                <a:latin typeface="Calibri"/>
              </a:rPr>
              <a:t>Week 22 — the commissioning of our Companions-in-Formation. Their night; come to witness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pic>
        <p:nvPicPr>
          <p:cNvPr id="270" name="CardImage" descr="the Week 13 check-off card, as handed out"/>
          <p:cNvPicPr>
            <a:picLocks noChangeAspect="1"/>
          </p:cNvPicPr>
          <p:nvPr/>
        </p:nvPicPr>
        <p:blipFill>
          <a:blip r:embed="rId3"/>
          <a:stretch>
            <a:fillRect/>
          </a:stretch>
        </p:blipFill>
        <p:spPr>
          <a:xfrm>
            <a:off x="1182102" y="1554480"/>
            <a:ext cx="9827490"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pic>
        <p:nvPicPr>
          <p:cNvPr id="270" name="CardImage" descr="the Week 14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15</a:t>
            </a:r>
          </a:p>
          <a:p>
            <a:pPr algn="l">
              <a:spcAft>
                <a:spcPts val="1000"/>
              </a:spcAft>
            </a:pPr>
            <a:r>
              <a:rPr sz="3300" b="1" i="0">
                <a:solidFill>
                  <a:srgbClr val="2C5F2D"/>
                </a:solidFill>
                <a:latin typeface="Cambria"/>
              </a:rPr>
              <a:t>The Rhythm and the Four Questions</a:t>
            </a:r>
          </a:p>
          <a:p>
            <a:pPr algn="l">
              <a:spcAft>
                <a:spcPts val="600"/>
              </a:spcAft>
            </a:pPr>
            <a:r>
              <a:rPr sz="1800" b="0" i="1">
                <a:solidFill>
                  <a:srgbClr val="595959"/>
                </a:solidFill>
                <a:latin typeface="Calibri"/>
              </a:rPr>
              <a:t>The long walk installed before the sending — and four questions a parent dares to ask at their own kitchen table</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pic>
        <p:nvPicPr>
          <p:cNvPr id="91" name="Picture 91" descr="a long open road running to the horizon in early morning light"/>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15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13 completion</a:t>
            </a:r>
          </a:p>
          <a:p>
            <a:pPr>
              <a:spcAft>
                <a:spcPts val="500"/>
              </a:spcAft>
            </a:pPr>
            <a:r>
              <a:rPr sz="2800" b="1">
                <a:solidFill>
                  <a:srgbClr val="97BC62"/>
                </a:solidFill>
                <a:latin typeface="Calibri"/>
              </a:rPr>
              <a:t>3   </a:t>
            </a:r>
            <a:r>
              <a:rPr sz="2800">
                <a:solidFill>
                  <a:srgbClr val="222B22"/>
                </a:solidFill>
                <a:latin typeface="Calibri"/>
              </a:rPr>
              <a:t>The long walk — Gal. 6:9</a:t>
            </a:r>
          </a:p>
          <a:p>
            <a:pPr>
              <a:spcAft>
                <a:spcPts val="500"/>
              </a:spcAft>
            </a:pPr>
            <a:r>
              <a:rPr sz="2800" b="1">
                <a:solidFill>
                  <a:srgbClr val="97BC62"/>
                </a:solidFill>
                <a:latin typeface="Calibri"/>
              </a:rPr>
              <a:t>4   </a:t>
            </a:r>
            <a:r>
              <a:rPr sz="2800">
                <a:solidFill>
                  <a:srgbClr val="222B22"/>
                </a:solidFill>
                <a:latin typeface="Calibri"/>
              </a:rPr>
              <a:t>The Rhythm Card introduced</a:t>
            </a:r>
          </a:p>
          <a:p>
            <a:pPr>
              <a:spcAft>
                <a:spcPts val="500"/>
              </a:spcAft>
            </a:pPr>
            <a:r>
              <a:rPr sz="2800" b="1">
                <a:solidFill>
                  <a:srgbClr val="97BC62"/>
                </a:solidFill>
                <a:latin typeface="Calibri"/>
              </a:rPr>
              <a:t>5   </a:t>
            </a:r>
            <a:r>
              <a:rPr sz="2800">
                <a:solidFill>
                  <a:srgbClr val="222B22"/>
                </a:solidFill>
                <a:latin typeface="Calibri"/>
              </a:rPr>
              <a:t>Building your Rhythm Card</a:t>
            </a:r>
          </a:p>
          <a:p>
            <a:pPr>
              <a:spcAft>
                <a:spcPts val="500"/>
              </a:spcAft>
            </a:pPr>
            <a:r>
              <a:rPr sz="2800" b="1">
                <a:solidFill>
                  <a:srgbClr val="97BC62"/>
                </a:solidFill>
                <a:latin typeface="Calibri"/>
              </a:rPr>
              <a:t>6   </a:t>
            </a:r>
            <a:r>
              <a:rPr sz="2800">
                <a:solidFill>
                  <a:srgbClr val="222B22"/>
                </a:solidFill>
                <a:latin typeface="Calibri"/>
              </a:rPr>
              <a:t>The Four Questions</a:t>
            </a:r>
          </a:p>
          <a:p>
            <a:pPr>
              <a:spcAft>
                <a:spcPts val="500"/>
              </a:spcAft>
            </a:pPr>
            <a:r>
              <a:rPr sz="2800" b="1">
                <a:solidFill>
                  <a:srgbClr val="97BC62"/>
                </a:solidFill>
                <a:latin typeface="Calibri"/>
              </a:rPr>
              <a:t>7   </a:t>
            </a:r>
            <a:r>
              <a:rPr sz="2800">
                <a:solidFill>
                  <a:srgbClr val="222B22"/>
                </a:solidFill>
                <a:latin typeface="Calibri"/>
              </a:rPr>
              <a:t>The Leader Feedback Round</a:t>
            </a:r>
          </a:p>
          <a:p>
            <a:pPr>
              <a:spcAft>
                <a:spcPts val="500"/>
              </a:spcAft>
            </a:pPr>
            <a:r>
              <a:rPr sz="2800" b="1">
                <a:solidFill>
                  <a:srgbClr val="97BC62"/>
                </a:solidFill>
                <a:latin typeface="Calibri"/>
              </a:rPr>
              <a:t>8   </a:t>
            </a:r>
            <a:r>
              <a:rPr sz="2800">
                <a:solidFill>
                  <a:srgbClr val="222B22"/>
                </a:solidFill>
                <a:latin typeface="Calibri"/>
              </a:rPr>
              <a:t>Between-week practice — the Rhythm Card begins; the Four Questions go home</a:t>
            </a:r>
          </a:p>
          <a:p>
            <a:pPr>
              <a:spcAft>
                <a:spcPts val="500"/>
              </a:spcAft>
            </a:pPr>
            <a:r>
              <a:rPr sz="2800" b="1">
                <a:solidFill>
                  <a:srgbClr val="97BC62"/>
                </a:solidFill>
                <a:latin typeface="Calibri"/>
              </a:rPr>
              <a:t>9   </a:t>
            </a:r>
            <a:r>
              <a:rPr sz="280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13 Completion — Finishing the Mission Week</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“Before we walk forward, we finish the Mission week” — unfinished downhill answers finish here</a:t>
            </a:r>
          </a:p>
          <a:p>
            <a:pPr marL="274320" indent="-274320">
              <a:spcAft>
                <a:spcPts val="900"/>
              </a:spcAft>
            </a:pPr>
            <a:r>
              <a:rPr sz="2800" b="1" i="0">
                <a:solidFill>
                  <a:srgbClr val="97BC62"/>
                </a:solidFill>
                <a:latin typeface="Calibri"/>
              </a:rPr>
              <a:t>•  </a:t>
            </a:r>
            <a:r>
              <a:rPr sz="2800" b="0" i="0">
                <a:solidFill>
                  <a:srgbClr val="222B22"/>
                </a:solidFill>
                <a:latin typeface="Calibri"/>
              </a:rPr>
              <a:t>Two weeks of living with the question usually deepens it — one sentence, now, to the room</a:t>
            </a:r>
          </a:p>
          <a:p>
            <a:pPr marL="274320" indent="-274320">
              <a:spcAft>
                <a:spcPts val="900"/>
              </a:spcAft>
            </a:pPr>
            <a:r>
              <a:rPr sz="2800" b="1" i="0">
                <a:solidFill>
                  <a:srgbClr val="97BC62"/>
                </a:solidFill>
                <a:latin typeface="Calibri"/>
              </a:rPr>
              <a:t>•  </a:t>
            </a:r>
            <a:r>
              <a:rPr sz="2800" b="0" i="0">
                <a:solidFill>
                  <a:srgbClr val="222B22"/>
                </a:solidFill>
                <a:latin typeface="Calibri"/>
              </a:rPr>
              <a:t>A parent opens the round; teens choose their own depth after — pass-anytime holds</a:t>
            </a:r>
          </a:p>
          <a:p>
            <a:pPr marL="274320" indent="-274320">
              <a:spcAft>
                <a:spcPts val="900"/>
              </a:spcAft>
            </a:pPr>
            <a:r>
              <a:rPr sz="2800" b="1" i="0">
                <a:solidFill>
                  <a:srgbClr val="97BC62"/>
                </a:solidFill>
                <a:latin typeface="Calibri"/>
              </a:rPr>
              <a:t>•  </a:t>
            </a:r>
            <a:r>
              <a:rPr sz="2800" b="0" i="0">
                <a:solidFill>
                  <a:srgbClr val="222B22"/>
                </a:solidFill>
                <a:latin typeface="Calibri"/>
              </a:rPr>
              <a:t>The answers carry forward to the Week 21 commissioning</a:t>
            </a:r>
          </a:p>
          <a:p>
            <a:pPr marL="274320" indent="-274320">
              <a:spcAft>
                <a:spcPts val="900"/>
              </a:spcAft>
            </a:pPr>
            <a:r>
              <a:rPr sz="2800" b="1" i="0">
                <a:solidFill>
                  <a:srgbClr val="97BC62"/>
                </a:solidFill>
                <a:latin typeface="Calibri"/>
              </a:rPr>
              <a:t>•  </a:t>
            </a:r>
            <a:r>
              <a:rPr sz="2800" b="0" i="0">
                <a:solidFill>
                  <a:srgbClr val="222B22"/>
                </a:solidFill>
                <a:latin typeface="Calibri"/>
              </a:rPr>
              <a:t>Practice check: one small action aligned with your downhill mission — ninety seconds, one sentence on what happened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Long Walk — Galatians 6:9</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condition is not “if we feel it.” It is “if we do not give up” — Paul assumes the weariness</a:t>
            </a:r>
          </a:p>
          <a:p>
            <a:pPr marL="274320" indent="-274320">
              <a:spcAft>
                <a:spcPts val="800"/>
              </a:spcAft>
            </a:pPr>
            <a:r>
              <a:rPr sz="2000" b="1" i="0">
                <a:solidFill>
                  <a:srgbClr val="97BC62"/>
                </a:solidFill>
                <a:latin typeface="Calibri"/>
              </a:rPr>
              <a:t>•  </a:t>
            </a:r>
            <a:r>
              <a:rPr sz="2000" b="0" i="0">
                <a:solidFill>
                  <a:srgbClr val="222B22"/>
                </a:solidFill>
                <a:latin typeface="Calibri"/>
              </a:rPr>
              <a:t>The reaping is tied to the season, and the season is God's — our part is the not-giving-up</a:t>
            </a:r>
          </a:p>
          <a:p>
            <a:pPr marL="274320" indent="-274320">
              <a:spcAft>
                <a:spcPts val="800"/>
              </a:spcAft>
            </a:pPr>
            <a:r>
              <a:rPr sz="2000" b="1" i="0">
                <a:solidFill>
                  <a:srgbClr val="97BC62"/>
                </a:solidFill>
                <a:latin typeface="Calibri"/>
              </a:rPr>
              <a:t>•  </a:t>
            </a:r>
            <a:r>
              <a:rPr sz="2000" b="0" i="0">
                <a:solidFill>
                  <a:srgbClr val="222B22"/>
                </a:solidFill>
                <a:latin typeface="Calibri"/>
              </a:rPr>
              <a:t>Nobody white-knuckles their way through years; people with a rhythm walk through years</a:t>
            </a:r>
          </a:p>
          <a:p>
            <a:pPr marL="274320" indent="-274320">
              <a:spcAft>
                <a:spcPts val="800"/>
              </a:spcAft>
            </a:pPr>
            <a:r>
              <a:rPr sz="2000" b="1" i="0">
                <a:solidFill>
                  <a:srgbClr val="97BC62"/>
                </a:solidFill>
                <a:latin typeface="Calibri"/>
              </a:rPr>
              <a:t>•  </a:t>
            </a:r>
            <a:r>
              <a:rPr sz="2000" b="0" i="0">
                <a:solidFill>
                  <a:srgbClr val="222B22"/>
                </a:solidFill>
                <a:latin typeface="Calibri"/>
              </a:rPr>
              <a:t>The break is coming — what carries the practices across a gap is not momentum; it is a rhythm you built on purpose</a:t>
            </a:r>
          </a:p>
          <a:p>
            <a:pPr marL="274320" indent="-274320">
              <a:spcAft>
                <a:spcPts val="800"/>
              </a:spcAft>
            </a:pPr>
            <a:r>
              <a:rPr sz="2000" b="1" i="0">
                <a:solidFill>
                  <a:srgbClr val="97BC62"/>
                </a:solidFill>
                <a:latin typeface="Calibri"/>
              </a:rPr>
              <a:t>•  </a:t>
            </a:r>
            <a:r>
              <a:rPr sz="2000" b="0" i="0">
                <a:solidFill>
                  <a:srgbClr val="222B22"/>
                </a:solidFill>
                <a:latin typeface="Calibri"/>
              </a:rPr>
              <a:t>So we build it tonight, before the gap, not after it</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GALATIANS 6:9 (ESV)</a:t>
            </a:r>
          </a:p>
          <a:p>
            <a:pPr>
              <a:spcAft>
                <a:spcPts val="600"/>
              </a:spcAft>
            </a:pPr>
            <a:r>
              <a:rPr sz="2400" b="0" i="1">
                <a:solidFill>
                  <a:srgbClr val="222B22"/>
                </a:solidFill>
                <a:latin typeface="Cambria"/>
              </a:rPr>
              <a:t>“And let us not grow weary of doing good, for in due season we will reap, if we do not give up.”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189</a:t>
            </a:r>
            <a:endParaRPr sz="1000" b="1">
              <a:solidFill>
                <a:srgbClr val="7A8A6E"/>
              </a:solidFill>
              <a:latin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Rhythm Card Introduced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The whole series folded into one page — you have already received every practice on this card</a:t>
            </a:r>
          </a:p>
          <a:p>
            <a:pPr marL="274320" indent="-274320">
              <a:spcAft>
                <a:spcPts val="750"/>
              </a:spcAft>
            </a:pPr>
            <a:r>
              <a:rPr sz="2200" b="1" i="0">
                <a:solidFill>
                  <a:srgbClr val="97BC62"/>
                </a:solidFill>
                <a:latin typeface="Calibri"/>
              </a:rPr>
              <a:t>•  </a:t>
            </a:r>
            <a:r>
              <a:rPr sz="2200" b="0" i="0">
                <a:solidFill>
                  <a:srgbClr val="222B22"/>
                </a:solidFill>
                <a:latin typeface="Calibri"/>
              </a:rPr>
              <a:t>Daily — the morning question, the evening journal note, PROAPT if the season allows</a:t>
            </a:r>
          </a:p>
          <a:p>
            <a:pPr marL="274320" indent="-274320">
              <a:spcAft>
                <a:spcPts val="750"/>
              </a:spcAft>
            </a:pPr>
            <a:r>
              <a:rPr sz="2200" b="1" i="0">
                <a:solidFill>
                  <a:srgbClr val="97BC62"/>
                </a:solidFill>
                <a:latin typeface="Calibri"/>
              </a:rPr>
              <a:t>•  </a:t>
            </a:r>
            <a:r>
              <a:rPr sz="2200" b="0" i="0">
                <a:solidFill>
                  <a:srgbClr val="222B22"/>
                </a:solidFill>
                <a:latin typeface="Calibri"/>
              </a:rPr>
              <a:t>Weekly — one specific person who knows what you are working on, and a sabbath rhythm</a:t>
            </a:r>
          </a:p>
          <a:p>
            <a:pPr marL="274320" indent="-274320">
              <a:spcAft>
                <a:spcPts val="750"/>
              </a:spcAft>
            </a:pPr>
            <a:r>
              <a:rPr sz="2200" b="1" i="0">
                <a:solidFill>
                  <a:srgbClr val="97BC62"/>
                </a:solidFill>
                <a:latin typeface="Calibri"/>
              </a:rPr>
              <a:t>•  </a:t>
            </a:r>
            <a:r>
              <a:rPr sz="2200" b="0" i="0">
                <a:solidFill>
                  <a:srgbClr val="222B22"/>
                </a:solidFill>
                <a:latin typeface="Calibri"/>
              </a:rPr>
              <a:t>Monthly — a clearing time and a Four-Connects review. Seasonally — the deeper work</a:t>
            </a:r>
          </a:p>
          <a:p>
            <a:pPr marL="274320" indent="-274320">
              <a:spcAft>
                <a:spcPts val="750"/>
              </a:spcAft>
            </a:pPr>
            <a:r>
              <a:rPr sz="2200" b="1" i="0">
                <a:solidFill>
                  <a:srgbClr val="97BC62"/>
                </a:solidFill>
                <a:latin typeface="Calibri"/>
              </a:rPr>
              <a:t>•  </a:t>
            </a:r>
            <a:r>
              <a:rPr sz="2200" b="0" i="0">
                <a:solidFill>
                  <a:srgbClr val="222B22"/>
                </a:solidFill>
                <a:latin typeface="Calibri"/>
              </a:rPr>
              <a:t>One rule for the build: “write the rhythm you will actually keep, not the one that impresses you”</a:t>
            </a:r>
          </a:p>
          <a:p>
            <a:pPr marL="274320" indent="-274320">
              <a:spcAft>
                <a:spcPts val="750"/>
              </a:spcAft>
            </a:pPr>
            <a:r>
              <a:rPr sz="2200" b="1" i="0">
                <a:solidFill>
                  <a:srgbClr val="97BC62"/>
                </a:solidFill>
                <a:latin typeface="Calibri"/>
              </a:rPr>
              <a:t>•  </a:t>
            </a:r>
            <a:r>
              <a:rPr sz="2200" b="0" i="0">
                <a:solidFill>
                  <a:srgbClr val="222B22"/>
                </a:solidFill>
                <a:latin typeface="Calibri"/>
              </a:rPr>
              <a:t>The starter plan begins with two practices totaling six minutes a day — six honest minutes is a real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190</a:t>
            </a:r>
            <a:endParaRPr sz="1000" b="1">
              <a:solidFill>
                <a:srgbClr val="7A8A6E"/>
              </a:solidFill>
              <a:latin typeface="Calibri"/>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 Rhythm You Can See — One Morning Flow</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191</a:t>
            </a:r>
            <a:endParaRPr sz="1000" b="1">
              <a:solidFill>
                <a:srgbClr val="7A8A6E"/>
              </a:solidFill>
              <a:latin typeface="Calibri"/>
            </a:endParaRPr>
          </a:p>
        </p:txBody>
      </p:sp>
      <p:pic>
        <p:nvPicPr>
          <p:cNvPr id="100" name="Flow 1" descr="a bench above an evening valley"/>
          <p:cNvPicPr>
            <a:picLocks noChangeAspect="1"/>
          </p:cNvPicPr>
          <p:nvPr/>
        </p:nvPicPr>
        <p:blipFill>
          <a:blip r:embed="rId3"/>
          <a:stretch>
            <a:fillRect/>
          </a:stretch>
        </p:blipFill>
        <p:spPr>
          <a:xfrm>
            <a:off x="822960"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0" name="Cap 1"/>
          <p:cNvSpPr txBox="1"/>
          <p:nvPr/>
        </p:nvSpPr>
        <p:spPr>
          <a:xfrm>
            <a:off x="822960" y="5047488"/>
            <a:ext cx="2450592" cy="365760"/>
          </a:xfrm>
          <a:prstGeom prst="rect">
            <a:avLst/>
          </a:prstGeom>
          <a:noFill/>
        </p:spPr>
        <p:txBody>
          <a:bodyPr wrap="square"/>
          <a:lstStyle/>
          <a:p>
            <a:pPr algn="ctr"/>
            <a:r>
              <a:rPr sz="1800" b="1">
                <a:solidFill>
                  <a:srgbClr val="97BC62"/>
                </a:solidFill>
                <a:latin typeface="Calibri"/>
              </a:rPr>
              <a:t>GROUNDED</a:t>
            </a:r>
          </a:p>
        </p:txBody>
      </p:sp>
      <p:pic>
        <p:nvPicPr>
          <p:cNvPr id="101" name="Flow 2" descr="an open Bible beside a quiet chair"/>
          <p:cNvPicPr>
            <a:picLocks noChangeAspect="1"/>
          </p:cNvPicPr>
          <p:nvPr/>
        </p:nvPicPr>
        <p:blipFill>
          <a:blip r:embed="rId4"/>
          <a:stretch>
            <a:fillRect/>
          </a:stretch>
        </p:blipFill>
        <p:spPr>
          <a:xfrm>
            <a:off x="3502152"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1" name="Cap 2"/>
          <p:cNvSpPr txBox="1"/>
          <p:nvPr/>
        </p:nvSpPr>
        <p:spPr>
          <a:xfrm>
            <a:off x="3502152" y="5047488"/>
            <a:ext cx="2450592" cy="365760"/>
          </a:xfrm>
          <a:prstGeom prst="rect">
            <a:avLst/>
          </a:prstGeom>
          <a:noFill/>
        </p:spPr>
        <p:txBody>
          <a:bodyPr wrap="square"/>
          <a:lstStyle/>
          <a:p>
            <a:pPr algn="ctr"/>
            <a:r>
              <a:rPr sz="1800" b="1">
                <a:solidFill>
                  <a:srgbClr val="97BC62"/>
                </a:solidFill>
                <a:latin typeface="Calibri"/>
              </a:rPr>
              <a:t>LISTENING</a:t>
            </a:r>
          </a:p>
        </p:txBody>
      </p:sp>
      <p:pic>
        <p:nvPicPr>
          <p:cNvPr id="102" name="Flow 3" descr="rings widening on still water"/>
          <p:cNvPicPr>
            <a:picLocks noChangeAspect="1"/>
          </p:cNvPicPr>
          <p:nvPr/>
        </p:nvPicPr>
        <p:blipFill>
          <a:blip r:embed="rId5"/>
          <a:stretch>
            <a:fillRect/>
          </a:stretch>
        </p:blipFill>
        <p:spPr>
          <a:xfrm>
            <a:off x="6181344"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2" name="Cap 3"/>
          <p:cNvSpPr txBox="1"/>
          <p:nvPr/>
        </p:nvSpPr>
        <p:spPr>
          <a:xfrm>
            <a:off x="6181344" y="5047488"/>
            <a:ext cx="2450592" cy="365760"/>
          </a:xfrm>
          <a:prstGeom prst="rect">
            <a:avLst/>
          </a:prstGeom>
          <a:noFill/>
        </p:spPr>
        <p:txBody>
          <a:bodyPr wrap="square"/>
          <a:lstStyle/>
          <a:p>
            <a:pPr algn="ctr"/>
            <a:r>
              <a:rPr sz="1800" b="1">
                <a:solidFill>
                  <a:srgbClr val="97BC62"/>
                </a:solidFill>
                <a:latin typeface="Calibri"/>
              </a:rPr>
              <a:t>CHANGED, RIPPLING</a:t>
            </a:r>
          </a:p>
        </p:txBody>
      </p:sp>
      <p:pic>
        <p:nvPicPr>
          <p:cNvPr id="103" name="Flow 4" descr="a hiker leaping between two rocks"/>
          <p:cNvPicPr>
            <a:picLocks noChangeAspect="1"/>
          </p:cNvPicPr>
          <p:nvPr/>
        </p:nvPicPr>
        <p:blipFill>
          <a:blip r:embed="rId6"/>
          <a:stretch>
            <a:fillRect/>
          </a:stretch>
        </p:blipFill>
        <p:spPr>
          <a:xfrm>
            <a:off x="8860536"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3" name="Cap 4"/>
          <p:cNvSpPr txBox="1"/>
          <p:nvPr/>
        </p:nvSpPr>
        <p:spPr>
          <a:xfrm>
            <a:off x="8860536" y="5047488"/>
            <a:ext cx="2450592" cy="365760"/>
          </a:xfrm>
          <a:prstGeom prst="rect">
            <a:avLst/>
          </a:prstGeom>
          <a:noFill/>
        </p:spPr>
        <p:txBody>
          <a:bodyPr wrap="square"/>
          <a:lstStyle/>
          <a:p>
            <a:pPr algn="ctr"/>
            <a:r>
              <a:rPr sz="1800" b="1">
                <a:solidFill>
                  <a:srgbClr val="97BC62"/>
                </a:solidFill>
                <a:latin typeface="Calibri"/>
              </a:rPr>
              <a:t>LEAPING</a:t>
            </a:r>
          </a:p>
        </p:txBody>
      </p:sp>
      <p:sp>
        <p:nvSpPr>
          <p:cNvPr id="120" name="FlowLine"/>
          <p:cNvSpPr txBox="1"/>
          <p:nvPr/>
        </p:nvSpPr>
        <p:spPr>
          <a:xfrm>
            <a:off x="822960" y="5623560"/>
            <a:ext cx="10515600" cy="731520"/>
          </a:xfrm>
          <a:prstGeom prst="rect">
            <a:avLst/>
          </a:prstGeom>
          <a:noFill/>
        </p:spPr>
        <p:txBody>
          <a:bodyPr wrap="square"/>
          <a:lstStyle/>
          <a:p>
            <a:pPr algn="l"/>
            <a:r>
              <a:rPr sz="1800" i="1">
                <a:solidFill>
                  <a:srgbClr val="222B22"/>
                </a:solidFill>
                <a:latin typeface="Calibri"/>
              </a:rPr>
              <a:t>The founder’s own morning flow — four images, one motto, kept for years. Yours will look different. The journal has a page waiting for it.</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Building Your Rhythm Card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Twenty minutes in family clusters — in your own handwriting, on the build sheet</a:t>
            </a:r>
          </a:p>
          <a:p>
            <a:pPr marL="274320" indent="-274320">
              <a:spcAft>
                <a:spcPts val="900"/>
              </a:spcAft>
            </a:pPr>
            <a:r>
              <a:rPr sz="2400" b="1" i="0">
                <a:solidFill>
                  <a:srgbClr val="97BC62"/>
                </a:solidFill>
                <a:latin typeface="Calibri"/>
              </a:rPr>
              <a:t>•  </a:t>
            </a:r>
            <a:r>
              <a:rPr sz="2400" b="0" i="0">
                <a:solidFill>
                  <a:srgbClr val="222B22"/>
                </a:solidFill>
                <a:latin typeface="Calibri"/>
              </a:rPr>
              <a:t>Specific beats vague — “morning question, 6:50, kitchen table, before my phone” is a rhythm</a:t>
            </a:r>
          </a:p>
          <a:p>
            <a:pPr marL="274320" indent="-274320">
              <a:spcAft>
                <a:spcPts val="900"/>
              </a:spcAft>
            </a:pPr>
            <a:r>
              <a:rPr sz="2400" b="1" i="0">
                <a:solidFill>
                  <a:srgbClr val="97BC62"/>
                </a:solidFill>
                <a:latin typeface="Calibri"/>
              </a:rPr>
              <a:t>•  </a:t>
            </a:r>
            <a:r>
              <a:rPr sz="2400" b="0" i="0">
                <a:solidFill>
                  <a:srgbClr val="222B22"/>
                </a:solidFill>
                <a:latin typeface="Calibri"/>
              </a:rPr>
              <a:t>The weekly partner line is the most important line on the sheet — name an actual person</a:t>
            </a:r>
          </a:p>
          <a:p>
            <a:pPr marL="274320" indent="-274320">
              <a:spcAft>
                <a:spcPts val="900"/>
              </a:spcAft>
            </a:pPr>
            <a:r>
              <a:rPr sz="2400" b="1" i="0">
                <a:solidFill>
                  <a:srgbClr val="97BC62"/>
                </a:solidFill>
                <a:latin typeface="Calibri"/>
              </a:rPr>
              <a:t>•  </a:t>
            </a:r>
            <a:r>
              <a:rPr sz="2400" b="0" i="0">
                <a:solidFill>
                  <a:srgbClr val="222B22"/>
                </a:solidFill>
                <a:latin typeface="Calibri"/>
              </a:rPr>
              <a:t>Build down, not up — which two practices survive exam season? Start there; the card lets you add later</a:t>
            </a:r>
          </a:p>
          <a:p>
            <a:pPr marL="274320" indent="-274320">
              <a:spcAft>
                <a:spcPts val="900"/>
              </a:spcAft>
            </a:pPr>
            <a:r>
              <a:rPr sz="2400" b="1" i="0">
                <a:solidFill>
                  <a:srgbClr val="97BC62"/>
                </a:solidFill>
                <a:latin typeface="Calibri"/>
              </a:rPr>
              <a:t>•  </a:t>
            </a:r>
            <a:r>
              <a:rPr sz="2400" b="0" i="0">
                <a:solidFill>
                  <a:srgbClr val="222B22"/>
                </a:solidFill>
                <a:latin typeface="Calibri"/>
              </a:rPr>
              <a:t>Close: each participant reads their daily line aloud to the cluster — a parent first; pass-anytime holds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192</a:t>
            </a:r>
            <a:endParaRPr sz="1000" b="1">
              <a:solidFill>
                <a:srgbClr val="7A8A6E"/>
              </a:solidFill>
              <a:latin typeface="Calibri"/>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Questions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Parents, this next part is for you — nobody answers tonight. This week, at home, for the willing: unhurried, no audience, phone away, yours first</a:t>
            </a:r>
          </a:p>
          <a:p>
            <a:pPr marL="342900" indent="-342900">
              <a:spcAft>
                <a:spcPts val="650"/>
              </a:spcAft>
            </a:pPr>
            <a:r>
              <a:rPr sz="1800" b="1" i="0">
                <a:solidFill>
                  <a:srgbClr val="97BC62"/>
                </a:solidFill>
                <a:latin typeface="Calibri"/>
              </a:rPr>
              <a:t>1   </a:t>
            </a:r>
            <a:r>
              <a:rPr sz="1800" b="0" i="0">
                <a:solidFill>
                  <a:srgbClr val="222B22"/>
                </a:solidFill>
                <a:latin typeface="Calibri"/>
              </a:rPr>
              <a:t>What has it been like to live with me all these years?</a:t>
            </a:r>
          </a:p>
          <a:p>
            <a:pPr marL="342900" indent="-342900">
              <a:spcAft>
                <a:spcPts val="650"/>
              </a:spcAft>
            </a:pPr>
            <a:r>
              <a:rPr sz="1800" b="1" i="0">
                <a:solidFill>
                  <a:srgbClr val="97BC62"/>
                </a:solidFill>
                <a:latin typeface="Calibri"/>
              </a:rPr>
              <a:t>2   </a:t>
            </a:r>
            <a:r>
              <a:rPr sz="1800" b="0" i="0">
                <a:solidFill>
                  <a:srgbClr val="222B22"/>
                </a:solidFill>
                <a:latin typeface="Calibri"/>
              </a:rPr>
              <a:t>What have been my messages to you?</a:t>
            </a:r>
          </a:p>
          <a:p>
            <a:pPr marL="342900" indent="-342900">
              <a:spcAft>
                <a:spcPts val="650"/>
              </a:spcAft>
            </a:pPr>
            <a:r>
              <a:rPr sz="1800" b="1" i="0">
                <a:solidFill>
                  <a:srgbClr val="97BC62"/>
                </a:solidFill>
                <a:latin typeface="Calibri"/>
              </a:rPr>
              <a:t>3   </a:t>
            </a:r>
            <a:r>
              <a:rPr sz="1800" b="0" i="0">
                <a:solidFill>
                  <a:srgbClr val="222B22"/>
                </a:solidFill>
                <a:latin typeface="Calibri"/>
              </a:rPr>
              <a:t>How have I wounded you?</a:t>
            </a:r>
          </a:p>
          <a:p>
            <a:pPr marL="342900" indent="-342900">
              <a:spcAft>
                <a:spcPts val="650"/>
              </a:spcAft>
            </a:pPr>
            <a:r>
              <a:rPr sz="1800" b="1" i="0">
                <a:solidFill>
                  <a:srgbClr val="97BC62"/>
                </a:solidFill>
                <a:latin typeface="Calibri"/>
              </a:rPr>
              <a:t>4   </a:t>
            </a:r>
            <a:r>
              <a:rPr sz="1800" b="0" i="0">
                <a:solidFill>
                  <a:srgbClr val="222B22"/>
                </a:solidFill>
                <a:latin typeface="Calibri"/>
              </a:rPr>
              <a:t>What would you like from me going forward?</a:t>
            </a:r>
          </a:p>
          <a:p>
            <a:pPr marL="274320" indent="-274320">
              <a:spcAft>
                <a:spcPts val="650"/>
              </a:spcAft>
            </a:pPr>
            <a:r>
              <a:rPr sz="1800" b="1" i="0">
                <a:solidFill>
                  <a:srgbClr val="97BC62"/>
                </a:solidFill>
                <a:latin typeface="Calibri"/>
              </a:rPr>
              <a:t>•  </a:t>
            </a:r>
            <a:r>
              <a:rPr sz="1800" b="0" i="0">
                <a:solidFill>
                  <a:srgbClr val="222B22"/>
                </a:solidFill>
                <a:latin typeface="Calibri"/>
              </a:rPr>
              <a:t>The guards — willing only, both directions; receive without defending (listening questions and “thank you” only); invisible by default; a letter counts; the Section 6 boundary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139:23–24</a:t>
            </a:r>
          </a:p>
          <a:p>
            <a:pPr>
              <a:spcAft>
                <a:spcPts val="600"/>
              </a:spcAft>
            </a:pPr>
            <a:r>
              <a:rPr sz="2400" b="0" i="1">
                <a:solidFill>
                  <a:srgbClr val="222B22"/>
                </a:solidFill>
                <a:latin typeface="Cambria"/>
              </a:rPr>
              <a:t>Asked of God, it is worship. Asked of your family, it is the bravest form of the same prayer.</a:t>
            </a:r>
          </a:p>
          <a:p>
            <a:pPr>
              <a:spcAft>
                <a:spcPts val="600"/>
              </a:spcAft>
            </a:pPr>
            <a:r>
              <a:rPr sz="2400" b="0" i="1">
                <a:solidFill>
                  <a:srgbClr val="222B22"/>
                </a:solidFill>
                <a:latin typeface="Cambria"/>
              </a:rPr>
              <a:t>James 1:19 — quick to hear, slow to speak.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193</a:t>
            </a:r>
            <a:endParaRPr sz="1000" b="1">
              <a:solidFill>
                <a:srgbClr val="7A8A6E"/>
              </a:solidFill>
              <a:latin typeface="Calibri"/>
            </a:endParaRP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195</a:t>
            </a:r>
            <a:endParaRPr sz="1000" b="1">
              <a:solidFill>
                <a:srgbClr val="7A8A6E"/>
              </a:solidFill>
              <a:latin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This Week and Across the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The Four Questions (for the willing) — the parent asks their teen at home; married parents also ask their spouse, separately. “Not yet” is a full answer for everyone</a:t>
            </a:r>
          </a:p>
          <a:p>
            <a:pPr marL="274320" indent="-274320">
              <a:spcAft>
                <a:spcPts val="900"/>
              </a:spcAft>
            </a:pPr>
            <a:r>
              <a:rPr sz="2200" b="1" i="0">
                <a:solidFill>
                  <a:srgbClr val="97BC62"/>
                </a:solidFill>
                <a:latin typeface="Calibri"/>
              </a:rPr>
              <a:t>•  </a:t>
            </a:r>
            <a:r>
              <a:rPr sz="2200" b="0" i="0">
                <a:solidFill>
                  <a:srgbClr val="222B22"/>
                </a:solidFill>
                <a:latin typeface="Calibri"/>
              </a:rPr>
              <a:t>Run the Rhythm Card as built — for real, at the times and places written on it; the break is its first field test</a:t>
            </a:r>
          </a:p>
          <a:p>
            <a:pPr marL="274320" indent="-274320">
              <a:spcAft>
                <a:spcPts val="900"/>
              </a:spcAft>
            </a:pPr>
            <a:r>
              <a:rPr sz="2200" b="1" i="0">
                <a:solidFill>
                  <a:srgbClr val="97BC62"/>
                </a:solidFill>
                <a:latin typeface="Calibri"/>
              </a:rPr>
              <a:t>•  </a:t>
            </a:r>
            <a:r>
              <a:rPr sz="2200" b="0" i="0">
                <a:solidFill>
                  <a:srgbClr val="222B22"/>
                </a:solidFill>
                <a:latin typeface="Calibri"/>
              </a:rPr>
              <a:t>Journal the holds and the slips — one line a day; no fixing, no guilt-engine. The slips are data, not verdicts</a:t>
            </a:r>
          </a:p>
          <a:p>
            <a:pPr marL="274320" indent="-274320">
              <a:spcAft>
                <a:spcPts val="900"/>
              </a:spcAft>
            </a:pPr>
            <a:r>
              <a:rPr sz="2200" b="1" i="0">
                <a:solidFill>
                  <a:srgbClr val="97BC62"/>
                </a:solidFill>
                <a:latin typeface="Calibri"/>
              </a:rPr>
              <a:t>•  </a:t>
            </a:r>
            <a:r>
              <a:rPr sz="2200" b="0" i="0">
                <a:solidFill>
                  <a:srgbClr val="222B22"/>
                </a:solidFill>
                <a:latin typeface="Calibri"/>
              </a:rPr>
              <a:t>The returning rule — miss a day: begin again on the next available day. Do not start over; do not double up. Returning is the goal</a:t>
            </a:r>
          </a:p>
          <a:p>
            <a:pPr marL="274320" indent="-274320">
              <a:spcAft>
                <a:spcPts val="900"/>
              </a:spcAft>
            </a:pPr>
            <a:r>
              <a:rPr sz="2200" b="1" i="0">
                <a:solidFill>
                  <a:srgbClr val="97BC62"/>
                </a:solidFill>
                <a:latin typeface="Calibri"/>
              </a:rPr>
              <a:t>•  </a:t>
            </a:r>
            <a:r>
              <a:rPr sz="2200" b="0" i="0">
                <a:solidFill>
                  <a:srgbClr val="222B22"/>
                </a:solidFill>
                <a:latin typeface="Calibri"/>
              </a:rPr>
              <a:t>The morning question and evening note continue inside the rhythm — the practices have stopped being assignments and become a life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196</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197</a:t>
            </a:r>
            <a:endParaRPr sz="1000" b="1">
              <a:solidFill>
                <a:srgbClr val="7A8A6E"/>
              </a:solidFill>
              <a:latin typeface="Calibri"/>
            </a:endParaRPr>
          </a:p>
        </p:txBody>
      </p:sp>
      <p:pic>
        <p:nvPicPr>
          <p:cNvPr id="270" name="CardImage" descr="the Week 15 check-off card, as handed out"/>
          <p:cNvPicPr>
            <a:picLocks noChangeAspect="1"/>
          </p:cNvPicPr>
          <p:nvPr/>
        </p:nvPicPr>
        <p:blipFill>
          <a:blip r:embed="rId3"/>
          <a:stretch>
            <a:fillRect/>
          </a:stretch>
        </p:blipFill>
        <p:spPr>
          <a:xfrm>
            <a:off x="1656179" y="1554480"/>
            <a:ext cx="8879336"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16</a:t>
            </a:r>
          </a:p>
          <a:p>
            <a:pPr algn="l">
              <a:spcAft>
                <a:spcPts val="1000"/>
              </a:spcAft>
            </a:pPr>
            <a:r>
              <a:rPr sz="3300" b="1" i="0">
                <a:solidFill>
                  <a:srgbClr val="2C5F2D"/>
                </a:solidFill>
                <a:latin typeface="Cambria"/>
              </a:rPr>
              <a:t>Family Conversation Night</a:t>
            </a:r>
          </a:p>
          <a:p>
            <a:pPr algn="l">
              <a:spcAft>
                <a:spcPts val="600"/>
              </a:spcAft>
            </a:pPr>
            <a:r>
              <a:rPr sz="1800" b="0" i="1">
                <a:solidFill>
                  <a:srgbClr val="595959"/>
                </a:solidFill>
                <a:latin typeface="Calibri"/>
              </a:rPr>
              <a:t>Cards and a shared meal — the night the year exhales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198</a:t>
            </a:r>
            <a:endParaRPr sz="1000" b="1">
              <a:solidFill>
                <a:srgbClr val="7A8A6E"/>
              </a:solidFill>
              <a:latin typeface="Calibri"/>
            </a:endParaRPr>
          </a:p>
        </p:txBody>
      </p:sp>
      <p:pic>
        <p:nvPicPr>
          <p:cNvPr id="91" name="Picture 91" descr="two pairs of hands breaking one loaf of bread at the table"/>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16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Rhythm-noticing round</a:t>
            </a:r>
          </a:p>
          <a:p>
            <a:pPr>
              <a:spcAft>
                <a:spcPts val="800"/>
              </a:spcAft>
            </a:pPr>
            <a:r>
              <a:rPr sz="2800" b="1">
                <a:solidFill>
                  <a:srgbClr val="97BC62"/>
                </a:solidFill>
                <a:latin typeface="Calibri"/>
              </a:rPr>
              <a:t>3   </a:t>
            </a:r>
            <a:r>
              <a:rPr sz="2800">
                <a:solidFill>
                  <a:srgbClr val="222B22"/>
                </a:solidFill>
                <a:latin typeface="Calibri"/>
              </a:rPr>
              <a:t>Acts 2:46 and the table grace</a:t>
            </a:r>
          </a:p>
          <a:p>
            <a:pPr>
              <a:spcAft>
                <a:spcPts val="800"/>
              </a:spcAft>
            </a:pPr>
            <a:r>
              <a:rPr sz="2800" b="1">
                <a:solidFill>
                  <a:srgbClr val="97BC62"/>
                </a:solidFill>
                <a:latin typeface="Calibri"/>
              </a:rPr>
              <a:t>4   </a:t>
            </a:r>
            <a:r>
              <a:rPr sz="2800">
                <a:solidFill>
                  <a:srgbClr val="222B22"/>
                </a:solidFill>
                <a:latin typeface="Calibri"/>
              </a:rPr>
              <a:t>The meal</a:t>
            </a:r>
          </a:p>
          <a:p>
            <a:pPr>
              <a:spcAft>
                <a:spcPts val="800"/>
              </a:spcAft>
            </a:pPr>
            <a:r>
              <a:rPr sz="2800" b="1">
                <a:solidFill>
                  <a:srgbClr val="97BC62"/>
                </a:solidFill>
                <a:latin typeface="Calibri"/>
              </a:rPr>
              <a:t>5   </a:t>
            </a:r>
            <a:r>
              <a:rPr sz="2800">
                <a:solidFill>
                  <a:srgbClr val="222B22"/>
                </a:solidFill>
                <a:latin typeface="Calibri"/>
              </a:rPr>
              <a:t>Cards over dessert</a:t>
            </a:r>
          </a:p>
          <a:p>
            <a:pPr>
              <a:spcAft>
                <a:spcPts val="800"/>
              </a:spcAft>
            </a:pPr>
            <a:r>
              <a:rPr sz="2800" b="1">
                <a:solidFill>
                  <a:srgbClr val="97BC62"/>
                </a:solidFill>
                <a:latin typeface="Calibri"/>
              </a:rPr>
              <a:t>6   </a:t>
            </a:r>
            <a:r>
              <a:rPr sz="2800">
                <a:solidFill>
                  <a:srgbClr val="222B22"/>
                </a:solidFill>
                <a:latin typeface="Calibri"/>
              </a:rPr>
              <a:t>Pulse 3 framed and sent home</a:t>
            </a:r>
          </a:p>
          <a:p>
            <a:pPr>
              <a:spcAft>
                <a:spcPts val="800"/>
              </a:spcAft>
            </a:pPr>
            <a:r>
              <a:rPr sz="2800" b="1">
                <a:solidFill>
                  <a:srgbClr val="97BC62"/>
                </a:solidFill>
                <a:latin typeface="Calibri"/>
              </a:rPr>
              <a:t>7   </a:t>
            </a:r>
            <a:r>
              <a:rPr sz="2800">
                <a:solidFill>
                  <a:srgbClr val="222B22"/>
                </a:solidFill>
                <a:latin typeface="Calibri"/>
              </a:rPr>
              <a:t>Leader Feedback Round</a:t>
            </a:r>
          </a:p>
          <a:p>
            <a:pPr>
              <a:spcAft>
                <a:spcPts val="800"/>
              </a:spcAft>
            </a:pPr>
            <a:r>
              <a:rPr sz="2800" b="1">
                <a:solidFill>
                  <a:srgbClr val="97BC62"/>
                </a:solidFill>
                <a:latin typeface="Calibri"/>
              </a:rPr>
              <a:t>8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199</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200</a:t>
            </a:r>
            <a:endParaRPr sz="1000" b="1">
              <a:solidFill>
                <a:srgbClr val="7A8A6E"/>
              </a:solidFill>
              <a:latin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Rhythm-Noticing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One round before we eat — one sentence each</a:t>
            </a:r>
          </a:p>
          <a:p>
            <a:pPr marL="274320" indent="-274320">
              <a:spcAft>
                <a:spcPts val="900"/>
              </a:spcAft>
            </a:pPr>
            <a:r>
              <a:rPr sz="2800" b="1" i="0">
                <a:solidFill>
                  <a:srgbClr val="97BC62"/>
                </a:solidFill>
                <a:latin typeface="Calibri"/>
              </a:rPr>
              <a:t>•  </a:t>
            </a:r>
            <a:r>
              <a:rPr sz="2800" b="0" i="0">
                <a:solidFill>
                  <a:srgbClr val="222B22"/>
                </a:solidFill>
                <a:latin typeface="Calibri"/>
              </a:rPr>
              <a:t>“Where has your card held, or where has it slipped?”</a:t>
            </a:r>
          </a:p>
          <a:p>
            <a:pPr marL="274320" indent="-274320">
              <a:spcAft>
                <a:spcPts val="900"/>
              </a:spcAft>
            </a:pPr>
            <a:r>
              <a:rPr sz="2800" b="1" i="0">
                <a:solidFill>
                  <a:srgbClr val="97BC62"/>
                </a:solidFill>
                <a:latin typeface="Calibri"/>
              </a:rPr>
              <a:t>•  </a:t>
            </a:r>
            <a:r>
              <a:rPr sz="2800" b="0" i="0">
                <a:solidFill>
                  <a:srgbClr val="222B22"/>
                </a:solidFill>
                <a:latin typeface="Calibri"/>
              </a:rPr>
              <a:t>Both answers are welcome — a slip you noticed is the practice working, because noticing is the skill</a:t>
            </a:r>
          </a:p>
          <a:p>
            <a:pPr marL="274320" indent="-274320">
              <a:spcAft>
                <a:spcPts val="900"/>
              </a:spcAft>
            </a:pPr>
            <a:r>
              <a:rPr sz="2800" b="1" i="0">
                <a:solidFill>
                  <a:srgbClr val="97BC62"/>
                </a:solidFill>
                <a:latin typeface="Calibri"/>
              </a:rPr>
              <a:t>•  </a:t>
            </a:r>
            <a:r>
              <a:rPr sz="2800" b="0" i="0">
                <a:solidFill>
                  <a:srgbClr val="222B22"/>
                </a:solidFill>
                <a:latin typeface="Calibri"/>
              </a:rPr>
              <a:t>No fixing, no advice — a parent starts; pass-anytime holds</a:t>
            </a:r>
          </a:p>
          <a:p>
            <a:pPr marL="685800" indent="-274320">
              <a:spcAft>
                <a:spcPts val="700"/>
              </a:spcAft>
            </a:pPr>
            <a:r>
              <a:rPr sz="2000" b="1" i="0">
                <a:solidFill>
                  <a:srgbClr val="97BC62"/>
                </a:solidFill>
                <a:latin typeface="Calibri"/>
              </a:rPr>
              <a:t>–  </a:t>
            </a:r>
            <a:r>
              <a:rPr sz="2000" b="0" i="1">
                <a:solidFill>
                  <a:srgbClr val="222B22"/>
                </a:solidFill>
                <a:latin typeface="Calibri"/>
              </a:rPr>
              <a:t>“The card is a long walk; sixteen days in, everyone in this circle is still on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201</a:t>
            </a:r>
            <a:endParaRPr sz="1000" b="1">
              <a:solidFill>
                <a:srgbClr val="7A8A6E"/>
              </a:solidFill>
              <a:latin typeface="Calibri"/>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Acts 2:46 and the Table Grace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Luke is describing the very first church — the most spiritually alive room in the history of the world</a:t>
            </a:r>
          </a:p>
          <a:p>
            <a:pPr marL="274320" indent="-274320">
              <a:spcAft>
                <a:spcPts val="800"/>
              </a:spcAft>
            </a:pPr>
            <a:r>
              <a:rPr sz="2200" b="1" i="0">
                <a:solidFill>
                  <a:srgbClr val="97BC62"/>
                </a:solidFill>
                <a:latin typeface="Calibri"/>
              </a:rPr>
              <a:t>•  </a:t>
            </a:r>
            <a:r>
              <a:rPr sz="2200" b="0" i="0">
                <a:solidFill>
                  <a:srgbClr val="222B22"/>
                </a:solidFill>
                <a:latin typeface="Calibri"/>
              </a:rPr>
              <a:t>The first church ran on three rails: the teaching, the table, and the prayers</a:t>
            </a:r>
          </a:p>
          <a:p>
            <a:pPr marL="274320" indent="-274320">
              <a:spcAft>
                <a:spcPts val="800"/>
              </a:spcAft>
            </a:pPr>
            <a:r>
              <a:rPr sz="2200" b="1" i="0">
                <a:solidFill>
                  <a:srgbClr val="97BC62"/>
                </a:solidFill>
                <a:latin typeface="Calibri"/>
              </a:rPr>
              <a:t>•  </a:t>
            </a:r>
            <a:r>
              <a:rPr sz="2200" b="0" i="0">
                <a:solidFill>
                  <a:srgbClr val="222B22"/>
                </a:solidFill>
                <a:latin typeface="Calibri"/>
              </a:rPr>
              <a:t>Our Wednesdays have lived on the teaching and the prayers — tonight is the table</a:t>
            </a:r>
          </a:p>
          <a:p>
            <a:pPr marL="274320" indent="-274320">
              <a:spcAft>
                <a:spcPts val="800"/>
              </a:spcAft>
            </a:pPr>
            <a:r>
              <a:rPr sz="2200" b="1" i="0">
                <a:solidFill>
                  <a:srgbClr val="97BC62"/>
                </a:solidFill>
                <a:latin typeface="Calibri"/>
              </a:rPr>
              <a:t>•  </a:t>
            </a:r>
            <a:r>
              <a:rPr sz="2200" b="0" i="0">
                <a:solidFill>
                  <a:srgbClr val="222B22"/>
                </a:solidFill>
                <a:latin typeface="Calibri"/>
              </a:rPr>
              <a:t>“Breaking bread with glad and generous hearts is not the break between the formation — it is the formation.”</a:t>
            </a:r>
          </a:p>
          <a:p>
            <a:pPr marL="274320" indent="-274320">
              <a:spcAft>
                <a:spcPts val="800"/>
              </a:spcAft>
            </a:pPr>
            <a:r>
              <a:rPr sz="2200" b="1" i="0">
                <a:solidFill>
                  <a:srgbClr val="97BC62"/>
                </a:solidFill>
                <a:latin typeface="Calibri"/>
              </a:rPr>
              <a:t>•  </a:t>
            </a:r>
            <a:r>
              <a:rPr sz="2200" b="0" i="0">
                <a:solidFill>
                  <a:srgbClr val="222B22"/>
                </a:solidFill>
                <a:latin typeface="Calibri"/>
              </a:rPr>
              <a:t>The grace — then: eat</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ACTS 2:46 (ESV)</a:t>
            </a:r>
          </a:p>
          <a:p>
            <a:pPr>
              <a:spcAft>
                <a:spcPts val="600"/>
              </a:spcAft>
            </a:pPr>
            <a:r>
              <a:rPr sz="2400" b="0" i="1">
                <a:solidFill>
                  <a:srgbClr val="222B22"/>
                </a:solidFill>
                <a:latin typeface="Cambria"/>
              </a:rPr>
              <a:t>“And day by day, attending the temple together and breaking bread in their homes, they received their food with glad and generous hearts.”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202</a:t>
            </a:r>
            <a:endParaRPr sz="1000" b="1">
              <a:solidFill>
                <a:srgbClr val="7A8A6E"/>
              </a:solidFill>
              <a:latin typeface="Calibri"/>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Meal</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Real food, no agenda — no devotional between courses, no teaching moment</a:t>
            </a:r>
          </a:p>
          <a:p>
            <a:pPr marL="274320" indent="-274320">
              <a:spcAft>
                <a:spcPts val="900"/>
              </a:spcAft>
            </a:pPr>
            <a:r>
              <a:rPr sz="2800" b="1" i="0">
                <a:solidFill>
                  <a:srgbClr val="97BC62"/>
                </a:solidFill>
                <a:latin typeface="Calibri"/>
              </a:rPr>
              <a:t>•  </a:t>
            </a:r>
            <a:r>
              <a:rPr sz="2800" b="0" i="0">
                <a:solidFill>
                  <a:srgbClr val="222B22"/>
                </a:solidFill>
                <a:latin typeface="Calibri"/>
              </a:rPr>
              <a:t>“We are going to eat together. That's it. That's the session.”</a:t>
            </a:r>
          </a:p>
          <a:p>
            <a:pPr marL="274320" indent="-274320">
              <a:spcAft>
                <a:spcPts val="900"/>
              </a:spcAft>
            </a:pPr>
            <a:r>
              <a:rPr sz="2800" b="1" i="0">
                <a:solidFill>
                  <a:srgbClr val="97BC62"/>
                </a:solidFill>
                <a:latin typeface="Calibri"/>
              </a:rPr>
              <a:t>•  </a:t>
            </a:r>
            <a:r>
              <a:rPr sz="2800" b="0" i="0">
                <a:solidFill>
                  <a:srgbClr val="222B22"/>
                </a:solidFill>
                <a:latin typeface="Calibri"/>
              </a:rPr>
              <a:t>Phones silenced and put away — the people at your table tonight are the evening</a:t>
            </a:r>
          </a:p>
          <a:p>
            <a:pPr marL="274320" indent="-274320">
              <a:spcAft>
                <a:spcPts val="900"/>
              </a:spcAft>
            </a:pPr>
            <a:r>
              <a:rPr sz="2800" b="1" i="0">
                <a:solidFill>
                  <a:srgbClr val="97BC62"/>
                </a:solidFill>
                <a:latin typeface="Calibri"/>
              </a:rPr>
              <a:t>•  </a:t>
            </a:r>
            <a:r>
              <a:rPr sz="2800" b="0" i="0">
                <a:solidFill>
                  <a:srgbClr val="222B22"/>
                </a:solidFill>
                <a:latin typeface="Calibri"/>
              </a:rPr>
              <a:t>Dessert is held back — dessert arriving is the signal the cards are coming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203</a:t>
            </a:r>
            <a:endParaRPr sz="1000" b="1">
              <a:solidFill>
                <a:srgbClr val="7A8A6E"/>
              </a:solidFill>
              <a:latin typeface="Calibri"/>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Cards over Dessert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small stack on your table — someone reads the first card aloud; a parent answers first, every table, every card</a:t>
            </a:r>
          </a:p>
          <a:p>
            <a:pPr marL="274320" indent="-274320">
              <a:spcAft>
                <a:spcPts val="750"/>
              </a:spcAft>
            </a:pPr>
            <a:r>
              <a:rPr sz="2000" b="1" i="0">
                <a:solidFill>
                  <a:srgbClr val="97BC62"/>
                </a:solidFill>
                <a:latin typeface="Calibri"/>
              </a:rPr>
              <a:t>•  </a:t>
            </a:r>
            <a:r>
              <a:rPr sz="2000" b="0" i="0">
                <a:solidFill>
                  <a:srgbClr val="222B22"/>
                </a:solidFill>
                <a:latin typeface="Calibri"/>
              </a:rPr>
              <a:t>Then anyone who wants to answers, in any order — nobody has to. When the card feels done, read the next one</a:t>
            </a:r>
          </a:p>
          <a:p>
            <a:pPr marL="342900" indent="-342900">
              <a:spcAft>
                <a:spcPts val="750"/>
              </a:spcAft>
            </a:pPr>
            <a:r>
              <a:rPr sz="2000" b="1" i="0">
                <a:solidFill>
                  <a:srgbClr val="97BC62"/>
                </a:solidFill>
                <a:latin typeface="Calibri"/>
              </a:rPr>
              <a:t>1   </a:t>
            </a:r>
            <a:r>
              <a:rPr sz="2000" b="0" i="0">
                <a:solidFill>
                  <a:srgbClr val="222B22"/>
                </a:solidFill>
                <a:latin typeface="Calibri"/>
              </a:rPr>
              <a:t>One footprint — “Looking back at this past month — one place you can see God's hand more clearly now than you did at the time.”</a:t>
            </a:r>
          </a:p>
          <a:p>
            <a:pPr marL="342900" indent="-342900">
              <a:spcAft>
                <a:spcPts val="750"/>
              </a:spcAft>
            </a:pPr>
            <a:r>
              <a:rPr sz="2000" b="1" i="0">
                <a:solidFill>
                  <a:srgbClr val="97BC62"/>
                </a:solidFill>
                <a:latin typeface="Calibri"/>
              </a:rPr>
              <a:t>2   </a:t>
            </a:r>
            <a:r>
              <a:rPr sz="2000" b="0" i="0">
                <a:solidFill>
                  <a:srgbClr val="222B22"/>
                </a:solidFill>
                <a:latin typeface="Calibri"/>
              </a:rPr>
              <a:t>Where you came alive — “What activity, conversation, or work this season has made you most alive? Why?”</a:t>
            </a:r>
          </a:p>
          <a:p>
            <a:pPr marL="342900" indent="-342900">
              <a:spcAft>
                <a:spcPts val="750"/>
              </a:spcAft>
            </a:pPr>
            <a:r>
              <a:rPr sz="2000" b="1" i="0">
                <a:solidFill>
                  <a:srgbClr val="97BC62"/>
                </a:solidFill>
                <a:latin typeface="Calibri"/>
              </a:rPr>
              <a:t>3   </a:t>
            </a:r>
            <a:r>
              <a:rPr sz="2000" b="0" i="0">
                <a:solidFill>
                  <a:srgbClr val="222B22"/>
                </a:solidFill>
                <a:latin typeface="Calibri"/>
              </a:rPr>
              <a:t>The ten-year question — “What's one thing you hope is still true between us in ten years?”</a:t>
            </a:r>
          </a:p>
          <a:p>
            <a:pPr marL="274320" indent="-274320">
              <a:spcAft>
                <a:spcPts val="750"/>
              </a:spcAft>
            </a:pPr>
            <a:r>
              <a:rPr sz="2000" b="1" i="0">
                <a:solidFill>
                  <a:srgbClr val="97BC62"/>
                </a:solidFill>
                <a:latin typeface="Calibri"/>
              </a:rPr>
              <a:t>•  </a:t>
            </a:r>
            <a:r>
              <a:rPr sz="2000" b="0" i="0">
                <a:solidFill>
                  <a:srgbClr val="222B22"/>
                </a:solidFill>
                <a:latin typeface="Calibri"/>
              </a:rPr>
              <a:t>No report-out — what is said at your table stays at your table. Ten minutes of laughing at your dad's answer is not a failure of the exercise — that IS the exercise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Pulse 3 Framed and Sent Home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The Quarterly Pulse, third one this year — one page, three questions, about five minutes, at home</a:t>
            </a:r>
          </a:p>
          <a:p>
            <a:pPr marL="342900" indent="-342900">
              <a:spcAft>
                <a:spcPts val="750"/>
              </a:spcAft>
            </a:pPr>
            <a:r>
              <a:rPr sz="2200" b="1" i="0">
                <a:solidFill>
                  <a:srgbClr val="97BC62"/>
                </a:solidFill>
                <a:latin typeface="Calibri"/>
              </a:rPr>
              <a:t>1   </a:t>
            </a:r>
            <a:r>
              <a:rPr sz="2200" b="0" i="0">
                <a:solidFill>
                  <a:srgbClr val="222B22"/>
                </a:solidFill>
                <a:latin typeface="Calibri"/>
              </a:rPr>
              <a:t>Presence — how present have I actually been in these sessions this quarter? Not attendance, presence (1–10, and one sentence why)</a:t>
            </a:r>
          </a:p>
          <a:p>
            <a:pPr marL="342900" indent="-342900">
              <a:spcAft>
                <a:spcPts val="750"/>
              </a:spcAft>
            </a:pPr>
            <a:r>
              <a:rPr sz="2200" b="1" i="0">
                <a:solidFill>
                  <a:srgbClr val="97BC62"/>
                </a:solidFill>
                <a:latin typeface="Calibri"/>
              </a:rPr>
              <a:t>2   </a:t>
            </a:r>
            <a:r>
              <a:rPr sz="2200" b="0" i="0">
                <a:solidFill>
                  <a:srgbClr val="222B22"/>
                </a:solidFill>
                <a:latin typeface="Calibri"/>
              </a:rPr>
              <a:t>Surprise — one thing that has surprised me this quarter — about myself, about God, or about someone in this room</a:t>
            </a:r>
          </a:p>
          <a:p>
            <a:pPr marL="342900" indent="-342900">
              <a:spcAft>
                <a:spcPts val="750"/>
              </a:spcAft>
            </a:pPr>
            <a:r>
              <a:rPr sz="2200" b="1" i="0">
                <a:solidFill>
                  <a:srgbClr val="97BC62"/>
                </a:solidFill>
                <a:latin typeface="Calibri"/>
              </a:rPr>
              <a:t>3   </a:t>
            </a:r>
            <a:r>
              <a:rPr sz="2200" b="0" i="0">
                <a:solidFill>
                  <a:srgbClr val="222B22"/>
                </a:solidFill>
                <a:latin typeface="Calibri"/>
              </a:rPr>
              <a:t>Steering — one specific way I want to engage differently in the final quarter</a:t>
            </a:r>
          </a:p>
          <a:p>
            <a:pPr marL="274320" indent="-274320">
              <a:spcAft>
                <a:spcPts val="750"/>
              </a:spcAft>
            </a:pPr>
            <a:r>
              <a:rPr sz="2200" b="1" i="0">
                <a:solidFill>
                  <a:srgbClr val="97BC62"/>
                </a:solidFill>
                <a:latin typeface="Calibri"/>
              </a:rPr>
              <a:t>•  </a:t>
            </a:r>
            <a:r>
              <a:rPr sz="2200" b="0" i="0">
                <a:solidFill>
                  <a:srgbClr val="222B22"/>
                </a:solidFill>
                <a:latin typeface="Calibri"/>
              </a:rPr>
              <a:t>“This room steers by these pages” — the final quarter, the consolidation weeks and the two commissionings, is shaped by what you write</a:t>
            </a:r>
          </a:p>
          <a:p>
            <a:pPr marL="274320" indent="-274320">
              <a:spcAft>
                <a:spcPts val="750"/>
              </a:spcAft>
            </a:pPr>
            <a:r>
              <a:rPr sz="2200" b="1" i="0">
                <a:solidFill>
                  <a:srgbClr val="97BC62"/>
                </a:solidFill>
                <a:latin typeface="Calibri"/>
              </a:rPr>
              <a:t>•  </a:t>
            </a:r>
            <a:r>
              <a:rPr sz="2200" b="0" i="0">
                <a:solidFill>
                  <a:srgbClr val="222B22"/>
                </a:solidFill>
                <a:latin typeface="Calibri"/>
              </a:rPr>
              <a:t>Back next Wednesday, in the bin at the door — signed or unsigned, your choice; nobody watches the bin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pic>
        <p:nvPicPr>
          <p:cNvPr id="270" name="CardImage" descr="the Week 16 check-off card, as handed out"/>
          <p:cNvPicPr>
            <a:picLocks noChangeAspect="1"/>
          </p:cNvPicPr>
          <p:nvPr/>
        </p:nvPicPr>
        <p:blipFill>
          <a:blip r:embed="rId3"/>
          <a:stretch>
            <a:fillRect/>
          </a:stretch>
        </p:blipFill>
        <p:spPr>
          <a:xfrm>
            <a:off x="1158087" y="1554480"/>
            <a:ext cx="9875520" cy="4190598"/>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27958"/>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17</a:t>
            </a:r>
          </a:p>
          <a:p>
            <a:pPr algn="l">
              <a:spcAft>
                <a:spcPts val="1000"/>
              </a:spcAft>
            </a:pPr>
            <a:r>
              <a:rPr sz="3300" b="1" i="0">
                <a:solidFill>
                  <a:srgbClr val="2C5F2D"/>
                </a:solidFill>
                <a:latin typeface="Cambria"/>
              </a:rPr>
              <a:t>The Float</a:t>
            </a:r>
          </a:p>
          <a:p>
            <a:pPr algn="l">
              <a:spcAft>
                <a:spcPts val="600"/>
              </a:spcAft>
            </a:pPr>
            <a:r>
              <a:rPr sz="1800" b="0" i="1">
                <a:solidFill>
                  <a:srgbClr val="595959"/>
                </a:solidFill>
                <a:latin typeface="Calibri"/>
              </a:rPr>
              <a:t>The evening that absorbs the year’s surprises — or walks the rhythm together</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pic>
        <p:nvPicPr>
          <p:cNvPr id="91" name="Picture 91" descr="raindrops on a windowpane with warm lights glowing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17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400" b="1">
                <a:solidFill>
                  <a:srgbClr val="97BC62"/>
                </a:solidFill>
                <a:latin typeface="Calibri"/>
              </a:rPr>
              <a:t>1   </a:t>
            </a:r>
            <a:r>
              <a:rPr sz="2400">
                <a:solidFill>
                  <a:srgbClr val="222B22"/>
                </a:solidFill>
                <a:latin typeface="Calibri"/>
              </a:rPr>
              <a:t>Mode A — a missed evening’s plan runs tonight, whole and unchanged</a:t>
            </a:r>
          </a:p>
          <a:p>
            <a:pPr>
              <a:spcAft>
                <a:spcPts val="800"/>
              </a:spcAft>
            </a:pPr>
            <a:r>
              <a:rPr sz="2400" b="1">
                <a:solidFill>
                  <a:srgbClr val="97BC62"/>
                </a:solidFill>
                <a:latin typeface="Calibri"/>
              </a:rPr>
              <a:t>2   </a:t>
            </a:r>
            <a:r>
              <a:rPr sz="2400">
                <a:solidFill>
                  <a:srgbClr val="222B22"/>
                </a:solidFill>
                <a:latin typeface="Calibri"/>
              </a:rPr>
              <a:t>Mode B — the live Rhythm-Card walk: leaders first, slipped cards welcome</a:t>
            </a:r>
          </a:p>
          <a:p>
            <a:pPr>
              <a:spcAft>
                <a:spcPts val="800"/>
              </a:spcAft>
            </a:pPr>
            <a:r>
              <a:rPr sz="2400" b="1">
                <a:solidFill>
                  <a:srgbClr val="97BC62"/>
                </a:solidFill>
                <a:latin typeface="Calibri"/>
              </a:rPr>
              <a:t>3   </a:t>
            </a:r>
            <a:r>
              <a:rPr sz="2400">
                <a:solidFill>
                  <a:srgbClr val="222B22"/>
                </a:solidFill>
                <a:latin typeface="Calibri"/>
              </a:rPr>
              <a:t>The borrow round — take ideas from each other’s cards shamelessly</a:t>
            </a:r>
          </a:p>
          <a:p>
            <a:pPr>
              <a:spcAft>
                <a:spcPts val="800"/>
              </a:spcAft>
            </a:pPr>
            <a:r>
              <a:rPr sz="2400" b="1">
                <a:solidFill>
                  <a:srgbClr val="97BC62"/>
                </a:solidFill>
                <a:latin typeface="Calibri"/>
              </a:rPr>
              <a:t>4   </a:t>
            </a:r>
            <a:r>
              <a:rPr sz="2400">
                <a:solidFill>
                  <a:srgbClr val="222B22"/>
                </a:solidFill>
                <a:latin typeface="Calibri"/>
              </a:rPr>
              <a:t>Quarterly Pulse returns to the bin at the door</a:t>
            </a:r>
          </a:p>
          <a:p>
            <a:pPr>
              <a:spcAft>
                <a:spcPts val="800"/>
              </a:spcAft>
            </a:pPr>
            <a:r>
              <a:rPr sz="2400" b="1">
                <a:solidFill>
                  <a:srgbClr val="97BC62"/>
                </a:solidFill>
                <a:latin typeface="Calibri"/>
              </a:rPr>
              <a:t>5   </a:t>
            </a:r>
            <a:r>
              <a:rPr sz="2400">
                <a:solidFill>
                  <a:srgbClr val="222B22"/>
                </a:solidFill>
                <a:latin typeface="Calibri"/>
              </a:rPr>
              <a:t>One practice chosen to carry across the break</a:t>
            </a:r>
          </a:p>
          <a:p>
            <a:pPr>
              <a:spcAft>
                <a:spcPts val="800"/>
              </a:spcAft>
            </a:pPr>
            <a:r>
              <a:rPr sz="2400" b="1">
                <a:solidFill>
                  <a:srgbClr val="97BC62"/>
                </a:solidFill>
                <a:latin typeface="Calibri"/>
              </a:rPr>
              <a:t>6   </a:t>
            </a:r>
            <a:r>
              <a:rPr sz="2400">
                <a:solidFill>
                  <a:srgbClr val="222B22"/>
                </a:solidFill>
                <a:latin typeface="Calibri"/>
              </a:rPr>
              <a:t>The Leader Feedback Round</a:t>
            </a:r>
          </a:p>
          <a:p>
            <a:pPr>
              <a:spcAft>
                <a:spcPts val="800"/>
              </a:spcAft>
            </a:pPr>
            <a:r>
              <a:rPr sz="2400" b="1">
                <a:solidFill>
                  <a:srgbClr val="97BC62"/>
                </a:solidFill>
                <a:latin typeface="Calibri"/>
              </a:rPr>
              <a:t>7   </a:t>
            </a:r>
            <a:r>
              <a:rPr sz="240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Mode A — The Missed Evening Runs Whole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If the quarter lost an evening — the snow, the assembly, the bug — tonight runs that session's plan, unchanged</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a make-up class squeezed in. Tonight IS [session name] — whole, unhurried, the evening you were always going to get.”</a:t>
            </a:r>
          </a:p>
          <a:p>
            <a:pPr marL="274320" indent="-274320">
              <a:spcAft>
                <a:spcPts val="800"/>
              </a:spcAft>
            </a:pPr>
            <a:r>
              <a:rPr sz="2200" b="1" i="0">
                <a:solidFill>
                  <a:srgbClr val="97BC62"/>
                </a:solidFill>
                <a:latin typeface="Calibri"/>
              </a:rPr>
              <a:t>•  </a:t>
            </a:r>
            <a:r>
              <a:rPr sz="2200" b="0" i="0">
                <a:solidFill>
                  <a:srgbClr val="222B22"/>
                </a:solidFill>
                <a:latin typeface="Calibri"/>
              </a:rPr>
              <a:t>“Nothing was skipped this year; it just moved.”</a:t>
            </a:r>
          </a:p>
          <a:p>
            <a:pPr marL="274320" indent="-274320">
              <a:spcAft>
                <a:spcPts val="800"/>
              </a:spcAft>
            </a:pPr>
            <a:r>
              <a:rPr sz="2200" b="1" i="0">
                <a:solidFill>
                  <a:srgbClr val="97BC62"/>
                </a:solidFill>
                <a:latin typeface="Calibri"/>
              </a:rPr>
              <a:t>•  </a:t>
            </a:r>
            <a:r>
              <a:rPr sz="2200" b="0" i="0">
                <a:solidFill>
                  <a:srgbClr val="222B22"/>
                </a:solidFill>
                <a:latin typeface="Calibri"/>
              </a:rPr>
              <a:t>The lifted plan runs whole — its blocks, its scripts, its splits; only its closing yields to tonight's quarter-close constants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PROVERBS 16:9 (ESV)</a:t>
            </a:r>
          </a:p>
          <a:p>
            <a:pPr>
              <a:spcAft>
                <a:spcPts val="600"/>
              </a:spcAft>
            </a:pPr>
            <a:r>
              <a:rPr sz="2400" b="0" i="1">
                <a:solidFill>
                  <a:srgbClr val="222B22"/>
                </a:solidFill>
                <a:latin typeface="Cambria"/>
              </a:rPr>
              <a:t>“The heart of man plans his way, but the LORD establishes his steps.”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Mode B — The Live Rhythm-Card Walk</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If the quarter ran clean, the whole room walks its actual Rhythm Cards aloud — “the real ones, not the ideal ones”</a:t>
            </a:r>
          </a:p>
          <a:p>
            <a:pPr marL="274320" indent="-274320">
              <a:spcAft>
                <a:spcPts val="750"/>
              </a:spcAft>
            </a:pPr>
            <a:r>
              <a:rPr sz="2200" b="1" i="0">
                <a:solidFill>
                  <a:srgbClr val="97BC62"/>
                </a:solidFill>
                <a:latin typeface="Calibri"/>
              </a:rPr>
              <a:t>•  </a:t>
            </a:r>
            <a:r>
              <a:rPr sz="2200" b="0" i="0">
                <a:solidFill>
                  <a:srgbClr val="222B22"/>
                </a:solidFill>
                <a:latin typeface="Calibri"/>
              </a:rPr>
              <a:t>The leaders walk first — and walk genuinely slipped cards honestly; the whole evening stands on that</a:t>
            </a:r>
          </a:p>
          <a:p>
            <a:pPr marL="274320" indent="-274320">
              <a:spcAft>
                <a:spcPts val="750"/>
              </a:spcAft>
            </a:pPr>
            <a:r>
              <a:rPr sz="2200" b="1" i="0">
                <a:solidFill>
                  <a:srgbClr val="97BC62"/>
                </a:solidFill>
                <a:latin typeface="Calibri"/>
              </a:rPr>
              <a:t>•  </a:t>
            </a:r>
            <a:r>
              <a:rPr sz="2200" b="0" i="0">
                <a:solidFill>
                  <a:srgbClr val="222B22"/>
                </a:solidFill>
                <a:latin typeface="Calibri"/>
              </a:rPr>
              <a:t>Two or three minutes each: daily, weekly, monthly, as lived — holds and slips in the same voice</a:t>
            </a:r>
          </a:p>
          <a:p>
            <a:pPr marL="274320" indent="-274320">
              <a:spcAft>
                <a:spcPts val="750"/>
              </a:spcAft>
            </a:pPr>
            <a:r>
              <a:rPr sz="2200" b="1" i="0">
                <a:solidFill>
                  <a:srgbClr val="97BC62"/>
                </a:solidFill>
                <a:latin typeface="Calibri"/>
              </a:rPr>
              <a:t>•  </a:t>
            </a:r>
            <a:r>
              <a:rPr sz="2200" b="0" i="0">
                <a:solidFill>
                  <a:srgbClr val="222B22"/>
                </a:solidFill>
                <a:latin typeface="Calibri"/>
              </a:rPr>
              <a:t>Glad out loud about holds; never guilt about slips — “a slip you noticed is the practice working”</a:t>
            </a:r>
          </a:p>
          <a:p>
            <a:pPr marL="274320" indent="-274320">
              <a:spcAft>
                <a:spcPts val="750"/>
              </a:spcAft>
            </a:pPr>
            <a:r>
              <a:rPr sz="2200" b="1" i="0">
                <a:solidFill>
                  <a:srgbClr val="97BC62"/>
                </a:solidFill>
                <a:latin typeface="Calibri"/>
              </a:rPr>
              <a:t>•  </a:t>
            </a:r>
            <a:r>
              <a:rPr sz="2200" b="0" i="0">
                <a:solidFill>
                  <a:srgbClr val="222B22"/>
                </a:solidFill>
                <a:latin typeface="Calibri"/>
              </a:rPr>
              <a:t>“If you want help with a slip, ask for it, and we will spend a minute on it together. If you do not, name it and keep walking.”</a:t>
            </a:r>
          </a:p>
          <a:p>
            <a:pPr marL="274320" indent="-274320">
              <a:spcAft>
                <a:spcPts val="750"/>
              </a:spcAft>
            </a:pPr>
            <a:r>
              <a:rPr sz="2200" b="1" i="0">
                <a:solidFill>
                  <a:srgbClr val="97BC62"/>
                </a:solidFill>
                <a:latin typeface="Calibri"/>
              </a:rPr>
              <a:t>•  </a:t>
            </a:r>
            <a:r>
              <a:rPr sz="2200" b="0" i="0">
                <a:solidFill>
                  <a:srgbClr val="222B22"/>
                </a:solidFill>
                <a:latin typeface="Calibri"/>
              </a:rPr>
              <a:t>Everyone walks their own card — parents never their teen's; pass-anytime holds tonight like every 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Borrow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“Listen like a thief. If you hear an idea you want — a time of day, a trick, a place to keep the card — take it.”</a:t>
            </a:r>
          </a:p>
          <a:p>
            <a:pPr marL="274320" indent="-274320">
              <a:spcAft>
                <a:spcPts val="900"/>
              </a:spcAft>
            </a:pPr>
            <a:r>
              <a:rPr sz="2800" b="1" i="0">
                <a:solidFill>
                  <a:srgbClr val="97BC62"/>
                </a:solidFill>
                <a:latin typeface="Calibri"/>
              </a:rPr>
              <a:t>•  </a:t>
            </a:r>
            <a:r>
              <a:rPr sz="2800" b="0" i="0">
                <a:solidFill>
                  <a:srgbClr val="222B22"/>
                </a:solidFill>
                <a:latin typeface="Calibri"/>
              </a:rPr>
              <a:t>“That is not cheating. That is what a fellowship is for.”</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around the circle: one idea you heard tonight that you are stealing — name it, and the person you stole it from</a:t>
            </a:r>
          </a:p>
          <a:p>
            <a:pPr marL="274320" indent="-274320">
              <a:spcAft>
                <a:spcPts val="900"/>
              </a:spcAft>
            </a:pPr>
            <a:r>
              <a:rPr sz="2800" b="1" i="0">
                <a:solidFill>
                  <a:srgbClr val="97BC62"/>
                </a:solidFill>
                <a:latin typeface="Calibri"/>
              </a:rPr>
              <a:t>•  </a:t>
            </a:r>
            <a:r>
              <a:rPr sz="2800" b="0" i="0">
                <a:solidFill>
                  <a:srgbClr val="222B22"/>
                </a:solidFill>
                <a:latin typeface="Calibri"/>
              </a:rPr>
              <a:t>Fast, light — pass-anytime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213</a:t>
            </a:r>
            <a:endParaRPr sz="1000" b="1">
              <a:solidFill>
                <a:srgbClr val="7A8A6E"/>
              </a:solidFill>
              <a:latin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Quarterly Pulse — Back in the Bin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return bin sits by the door — drop your Pulse 3 page as you arrive</a:t>
            </a:r>
          </a:p>
          <a:p>
            <a:pPr marL="274320" indent="-274320">
              <a:spcAft>
                <a:spcPts val="900"/>
              </a:spcAft>
            </a:pPr>
            <a:r>
              <a:rPr sz="2800" b="1" i="0">
                <a:solidFill>
                  <a:srgbClr val="97BC62"/>
                </a:solidFill>
                <a:latin typeface="Calibri"/>
              </a:rPr>
              <a:t>•  </a:t>
            </a:r>
            <a:r>
              <a:rPr sz="2800" b="0" i="0">
                <a:solidFill>
                  <a:srgbClr val="222B22"/>
                </a:solidFill>
                <a:latin typeface="Calibri"/>
              </a:rPr>
              <a:t>Nobody watches the bin; nobody is asked whether they dropped a page</a:t>
            </a:r>
          </a:p>
          <a:p>
            <a:pPr marL="274320" indent="-274320">
              <a:spcAft>
                <a:spcPts val="900"/>
              </a:spcAft>
            </a:pPr>
            <a:r>
              <a:rPr sz="2800" b="1" i="0">
                <a:solidFill>
                  <a:srgbClr val="97BC62"/>
                </a:solidFill>
                <a:latin typeface="Calibri"/>
              </a:rPr>
              <a:t>•  </a:t>
            </a:r>
            <a:r>
              <a:rPr sz="2800" b="0" i="0">
                <a:solidFill>
                  <a:srgbClr val="222B22"/>
                </a:solidFill>
                <a:latin typeface="Calibri"/>
              </a:rPr>
              <a:t>Spares sit beside it for those who forgot — a page next week is as welcome as a page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team reads every page — the Quarter 4 planning conversation starts from what these pages say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214</a:t>
            </a:r>
            <a:endParaRPr sz="1000" b="1">
              <a:solidFill>
                <a:srgbClr val="7A8A6E"/>
              </a:solidFill>
              <a:latin typeface="Calibri"/>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Practice Across the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The break starts tomorrow — and we have done this before: at Christmas, every one of us carried one practice across the gap, and at The Return we heard what held</a:t>
            </a:r>
          </a:p>
          <a:p>
            <a:pPr marL="274320" indent="-274320">
              <a:spcAft>
                <a:spcPts val="750"/>
              </a:spcAft>
            </a:pPr>
            <a:r>
              <a:rPr sz="2000" b="1" i="0">
                <a:solidFill>
                  <a:srgbClr val="97BC62"/>
                </a:solidFill>
                <a:latin typeface="Calibri"/>
              </a:rPr>
              <a:t>•  </a:t>
            </a:r>
            <a:r>
              <a:rPr sz="2000" b="0" i="0">
                <a:solidFill>
                  <a:srgbClr val="222B22"/>
                </a:solidFill>
                <a:latin typeface="Calibri"/>
              </a:rPr>
              <a:t>Look at your card and choose ONE practice — just one — to carry through this break deliberately</a:t>
            </a:r>
          </a:p>
          <a:p>
            <a:pPr marL="274320" indent="-274320">
              <a:spcAft>
                <a:spcPts val="750"/>
              </a:spcAft>
            </a:pPr>
            <a:r>
              <a:rPr sz="2000" b="1" i="0">
                <a:solidFill>
                  <a:srgbClr val="97BC62"/>
                </a:solidFill>
                <a:latin typeface="Calibri"/>
              </a:rPr>
              <a:t>•  </a:t>
            </a:r>
            <a:r>
              <a:rPr sz="2000" b="0" i="0">
                <a:solidFill>
                  <a:srgbClr val="222B22"/>
                </a:solidFill>
                <a:latin typeface="Calibri"/>
              </a:rPr>
              <a:t>Not the whole card; the whole card can rest — that is sabbath, not failure</a:t>
            </a:r>
          </a:p>
          <a:p>
            <a:pPr marL="274320" indent="-274320">
              <a:spcAft>
                <a:spcPts val="750"/>
              </a:spcAft>
            </a:pPr>
            <a:r>
              <a:rPr sz="2000" b="1" i="0">
                <a:solidFill>
                  <a:srgbClr val="97BC62"/>
                </a:solidFill>
                <a:latin typeface="Calibri"/>
              </a:rPr>
              <a:t>•  </a:t>
            </a:r>
            <a:r>
              <a:rPr sz="2000" b="0" i="0">
                <a:solidFill>
                  <a:srgbClr val="222B22"/>
                </a:solidFill>
                <a:latin typeface="Calibri"/>
              </a:rPr>
              <a:t>Write it in your journal right now — the practice, and when, and where</a:t>
            </a:r>
          </a:p>
          <a:p>
            <a:pPr marL="274320" indent="-274320">
              <a:spcAft>
                <a:spcPts val="750"/>
              </a:spcAft>
            </a:pPr>
            <a:r>
              <a:rPr sz="2000" b="1" i="0">
                <a:solidFill>
                  <a:srgbClr val="97BC62"/>
                </a:solidFill>
                <a:latin typeface="Calibri"/>
              </a:rPr>
              <a:t>•  </a:t>
            </a:r>
            <a:r>
              <a:rPr sz="2000" b="0" i="0">
                <a:solidFill>
                  <a:srgbClr val="222B22"/>
                </a:solidFill>
                <a:latin typeface="Calibri"/>
              </a:rPr>
              <a:t>Then, one sentence around the circle: the practice you are carrying — “speaking it is part of carrying it”</a:t>
            </a:r>
          </a:p>
          <a:p>
            <a:pPr marL="274320" indent="-274320">
              <a:spcAft>
                <a:spcPts val="750"/>
              </a:spcAft>
            </a:pPr>
            <a:r>
              <a:rPr sz="2000" b="1" i="0">
                <a:solidFill>
                  <a:srgbClr val="97BC62"/>
                </a:solidFill>
                <a:latin typeface="Calibri"/>
              </a:rPr>
              <a:t>•  </a:t>
            </a:r>
            <a:r>
              <a:rPr sz="2000" b="0" i="0">
                <a:solidFill>
                  <a:srgbClr val="222B22"/>
                </a:solidFill>
                <a:latin typeface="Calibri"/>
              </a:rPr>
              <a:t>The Returning Rule travels: begin again on the next available day. At The Return II the first question will be the kind one: what held?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216</a:t>
            </a:r>
            <a:endParaRPr sz="1000" b="1">
              <a:solidFill>
                <a:srgbClr val="7A8A6E"/>
              </a:solidFill>
              <a:latin typeface="Calibri"/>
            </a:endParaRPr>
          </a:p>
        </p:txBody>
      </p:sp>
      <p:pic>
        <p:nvPicPr>
          <p:cNvPr id="270" name="CardImage" descr="the Week 17 check-off card, as handed out"/>
          <p:cNvPicPr>
            <a:picLocks noChangeAspect="1"/>
          </p:cNvPicPr>
          <p:nvPr/>
        </p:nvPicPr>
        <p:blipFill>
          <a:blip r:embed="rId3"/>
          <a:stretch>
            <a:fillRect/>
          </a:stretch>
        </p:blipFill>
        <p:spPr>
          <a:xfrm>
            <a:off x="1158087" y="1554480"/>
            <a:ext cx="9875520" cy="4112634"/>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849994"/>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218</a:t>
            </a:r>
            <a:endParaRPr sz="1000" b="1">
              <a:solidFill>
                <a:srgbClr val="7A8A6E"/>
              </a:solidFill>
              <a:latin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4</a:t>
            </a:r>
          </a:p>
          <a:p>
            <a:pPr algn="l">
              <a:spcAft>
                <a:spcPts val="600"/>
              </a:spcAft>
            </a:pPr>
            <a:r>
              <a:rPr sz="4000" b="1" i="0">
                <a:solidFill>
                  <a:srgbClr val="FFFFFF"/>
                </a:solidFill>
                <a:latin typeface="Cambria"/>
              </a:rPr>
              <a:t>Consolidation &amp; Sending</a:t>
            </a:r>
          </a:p>
          <a:p>
            <a:pPr algn="l">
              <a:spcAft>
                <a:spcPts val="600"/>
              </a:spcAft>
            </a:pPr>
            <a:r>
              <a:rPr sz="1800" b="0" i="1">
                <a:solidFill>
                  <a:srgbClr val="E4EFDA"/>
                </a:solidFill>
                <a:latin typeface="Calibri"/>
              </a:rPr>
              <a:t>Weeks 18–22  ·  Five Wednesdays · the mercy cards, The Long Walk, two commissionings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219</a:t>
            </a:r>
            <a:endParaRPr sz="1000" b="1">
              <a:solidFill>
                <a:srgbClr val="F1F6EC"/>
              </a:solidFill>
              <a:latin typeface="Calibri"/>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sprout.jpg"/>
          <p:cNvPicPr>
            <a:picLocks noChangeAspect="1"/>
          </p:cNvPicPr>
          <p:nvPr/>
        </p:nvPicPr>
        <p:blipFill>
          <a:blip r:embed="rId3"/>
          <a:stretch>
            <a:fillRect/>
          </a:stretch>
        </p:blipFill>
        <p:spPr>
          <a:xfrm>
            <a:off x="6309360" y="1631119"/>
            <a:ext cx="5394960" cy="3595761"/>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18</a:t>
            </a:r>
          </a:p>
          <a:p>
            <a:pPr algn="l">
              <a:spcAft>
                <a:spcPts val="1000"/>
              </a:spcAft>
            </a:pPr>
            <a:r>
              <a:rPr sz="3300" b="1" i="0">
                <a:solidFill>
                  <a:srgbClr val="2C5F2D"/>
                </a:solidFill>
                <a:latin typeface="Cambria"/>
              </a:rPr>
              <a:t>The Return II</a:t>
            </a:r>
          </a:p>
          <a:p>
            <a:pPr algn="l">
              <a:spcAft>
                <a:spcPts val="600"/>
              </a:spcAft>
            </a:pPr>
            <a:r>
              <a:rPr sz="1800" b="0" i="1">
                <a:solidFill>
                  <a:srgbClr val="595959"/>
                </a:solidFill>
                <a:latin typeface="Calibri"/>
              </a:rPr>
              <a:t>A lighter homecoming — the room knows the way now, and the year begins to hand itself over</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220</a:t>
            </a:r>
            <a:endParaRPr sz="1000" b="1">
              <a:solidFill>
                <a:srgbClr val="7A8A6E"/>
              </a:solidFill>
              <a:latin typeface="Calibri"/>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Opening container</a:t>
            </a:r>
          </a:p>
          <a:p>
            <a:pPr>
              <a:spcAft>
                <a:spcPts val="800"/>
              </a:spcAft>
            </a:pPr>
            <a:r>
              <a:rPr sz="2800" b="1">
                <a:solidFill>
                  <a:srgbClr val="97BC62"/>
                </a:solidFill>
                <a:latin typeface="Calibri"/>
              </a:rPr>
              <a:t>2   </a:t>
            </a:r>
            <a:r>
              <a:rPr sz="2800">
                <a:solidFill>
                  <a:srgbClr val="222B22"/>
                </a:solidFill>
                <a:latin typeface="Calibri"/>
              </a:rPr>
              <a:t>Not growing weary — Gal. 6:9, Phil. 1:6</a:t>
            </a:r>
          </a:p>
          <a:p>
            <a:pPr>
              <a:spcAft>
                <a:spcPts val="800"/>
              </a:spcAft>
            </a:pPr>
            <a:r>
              <a:rPr sz="2800" b="1">
                <a:solidFill>
                  <a:srgbClr val="97BC62"/>
                </a:solidFill>
                <a:latin typeface="Calibri"/>
              </a:rPr>
              <a:t>3   </a:t>
            </a:r>
            <a:r>
              <a:rPr sz="2800">
                <a:solidFill>
                  <a:srgbClr val="222B22"/>
                </a:solidFill>
                <a:latin typeface="Calibri"/>
              </a:rPr>
              <a:t>“What held” — the whole room</a:t>
            </a:r>
          </a:p>
          <a:p>
            <a:pPr>
              <a:spcAft>
                <a:spcPts val="800"/>
              </a:spcAft>
            </a:pPr>
            <a:r>
              <a:rPr sz="2800" b="1">
                <a:solidFill>
                  <a:srgbClr val="97BC62"/>
                </a:solidFill>
                <a:latin typeface="Calibri"/>
              </a:rPr>
              <a:t>4   </a:t>
            </a:r>
            <a:r>
              <a:rPr sz="2800">
                <a:solidFill>
                  <a:srgbClr val="222B22"/>
                </a:solidFill>
                <a:latin typeface="Calibri"/>
              </a:rPr>
              <a:t>The final stretch — the map</a:t>
            </a:r>
          </a:p>
          <a:p>
            <a:pPr>
              <a:spcAft>
                <a:spcPts val="800"/>
              </a:spcAft>
            </a:pPr>
            <a:r>
              <a:rPr sz="2800" b="1">
                <a:solidFill>
                  <a:srgbClr val="97BC62"/>
                </a:solidFill>
                <a:latin typeface="Calibri"/>
              </a:rPr>
              <a:t>5   </a:t>
            </a:r>
            <a:r>
              <a:rPr sz="2800">
                <a:solidFill>
                  <a:srgbClr val="222B22"/>
                </a:solidFill>
                <a:latin typeface="Calibri"/>
              </a:rPr>
              <a:t>Between-session practice</a:t>
            </a:r>
          </a:p>
          <a:p>
            <a:pPr>
              <a:spcAft>
                <a:spcPts val="800"/>
              </a:spcAft>
            </a:pPr>
            <a:r>
              <a:rPr sz="2800" b="1">
                <a:solidFill>
                  <a:srgbClr val="97BC62"/>
                </a:solidFill>
                <a:latin typeface="Calibri"/>
              </a:rPr>
              <a:t>6   </a:t>
            </a:r>
            <a:r>
              <a:rPr sz="2800">
                <a:solidFill>
                  <a:srgbClr val="222B22"/>
                </a:solidFill>
                <a:latin typeface="Calibri"/>
              </a:rPr>
              <a:t>Closing container</a:t>
            </a:r>
          </a:p>
          <a:p>
            <a:pPr>
              <a:spcAft>
                <a:spcPts val="800"/>
              </a:spcAft>
            </a:pPr>
            <a:r>
              <a:rPr sz="2800" b="1">
                <a:solidFill>
                  <a:srgbClr val="97BC62"/>
                </a:solidFill>
                <a:latin typeface="Calibri"/>
              </a:rPr>
              <a:t>7   </a:t>
            </a:r>
            <a:r>
              <a:rPr sz="2800">
                <a:solidFill>
                  <a:srgbClr val="222B22"/>
                </a:solidFill>
                <a:latin typeface="Calibri"/>
              </a:rPr>
              <a:t>Leader Feedback Round</a:t>
            </a:r>
          </a:p>
          <a:p>
            <a:pPr>
              <a:spcAft>
                <a:spcPts val="800"/>
              </a:spcAft>
            </a:pPr>
            <a:r>
              <a:rPr sz="2800" b="1">
                <a:solidFill>
                  <a:srgbClr val="97BC62"/>
                </a:solidFill>
                <a:latin typeface="Calibri"/>
              </a:rPr>
              <a:t>8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222</a:t>
            </a:r>
            <a:endParaRPr sz="1000" b="1">
              <a:solidFill>
                <a:srgbClr val="7A8A6E"/>
              </a:solidFill>
              <a:latin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Not Growing Weary — Galatians 6:9 and Philippians 1:6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At the Rhythm week this verse was a warning; tonight, on the far side of a break, it is a receipt — you did not give up. You are here</a:t>
            </a:r>
          </a:p>
          <a:p>
            <a:pPr marL="685800" indent="-274320">
              <a:spcAft>
                <a:spcPts val="600"/>
              </a:spcAft>
            </a:pPr>
            <a:r>
              <a:rPr sz="1800" b="1" i="0">
                <a:solidFill>
                  <a:srgbClr val="97BC62"/>
                </a:solidFill>
                <a:latin typeface="Calibri"/>
              </a:rPr>
              <a:t>–  </a:t>
            </a:r>
            <a:r>
              <a:rPr sz="1800" b="0" i="1">
                <a:solidFill>
                  <a:srgbClr val="222B22"/>
                </a:solidFill>
                <a:latin typeface="Calibri"/>
              </a:rPr>
              <a:t>“And I am sure of this, that he who began a good work in you will bring it to completion at the day of Jesus Christ.” — Philippians 1:6 (ESV)</a:t>
            </a:r>
          </a:p>
          <a:p>
            <a:pPr marL="274320" indent="-274320">
              <a:spcAft>
                <a:spcPts val="800"/>
              </a:spcAft>
            </a:pPr>
            <a:r>
              <a:rPr sz="2000" b="1" i="0">
                <a:solidFill>
                  <a:srgbClr val="97BC62"/>
                </a:solidFill>
                <a:latin typeface="Calibri"/>
              </a:rPr>
              <a:t>•  </a:t>
            </a:r>
            <a:r>
              <a:rPr sz="2000" b="0" i="0">
                <a:solidFill>
                  <a:srgbClr val="222B22"/>
                </a:solidFill>
                <a:latin typeface="Calibri"/>
              </a:rPr>
              <a:t>The not-giving-up is not white-knuckling: the work being completed in you is His. He began it; He finishes it</a:t>
            </a:r>
          </a:p>
          <a:p>
            <a:pPr marL="274320" indent="-274320">
              <a:spcAft>
                <a:spcPts val="800"/>
              </a:spcAft>
            </a:pPr>
            <a:r>
              <a:rPr sz="2000" b="1" i="0">
                <a:solidFill>
                  <a:srgbClr val="97BC62"/>
                </a:solidFill>
                <a:latin typeface="Calibri"/>
              </a:rPr>
              <a:t>•  </a:t>
            </a:r>
            <a:r>
              <a:rPr sz="2000" b="0" i="0">
                <a:solidFill>
                  <a:srgbClr val="222B22"/>
                </a:solidFill>
                <a:latin typeface="Calibri"/>
              </a:rPr>
              <a:t>“Our rhythm is not the engine — it is the showing-up that keeps us where the engine is running.”</a:t>
            </a:r>
          </a:p>
          <a:p>
            <a:pPr marL="274320" indent="-274320">
              <a:spcAft>
                <a:spcPts val="800"/>
              </a:spcAft>
            </a:pPr>
            <a:r>
              <a:rPr sz="2000" b="1" i="0">
                <a:solidFill>
                  <a:srgbClr val="97BC62"/>
                </a:solidFill>
                <a:latin typeface="Calibri"/>
              </a:rPr>
              <a:t>•  </a:t>
            </a:r>
            <a:r>
              <a:rPr sz="2000" b="0" i="0">
                <a:solidFill>
                  <a:srgbClr val="222B22"/>
                </a:solidFill>
                <a:latin typeface="Calibri"/>
              </a:rPr>
              <a:t>The last re-entry of the year — look how fast the room came back. That is what it looks like when the practices start belonging to you</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GALATIANS 6:9 (ESV)</a:t>
            </a:r>
          </a:p>
          <a:p>
            <a:pPr>
              <a:spcAft>
                <a:spcPts val="600"/>
              </a:spcAft>
            </a:pPr>
            <a:r>
              <a:rPr sz="2400" b="0" i="1">
                <a:solidFill>
                  <a:srgbClr val="222B22"/>
                </a:solidFill>
                <a:latin typeface="Cambria"/>
              </a:rPr>
              <a:t>“And let us not grow weary of doing good, for in due season we will reap, if we do not give up.”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223</a:t>
            </a:r>
            <a:endParaRPr sz="1000" b="1">
              <a:solidFill>
                <a:srgbClr val="7A8A6E"/>
              </a:solidFill>
              <a:latin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 — the Whole Room</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One sentence each, full circle — a harvest reading, not an examination</a:t>
            </a:r>
          </a:p>
          <a:p>
            <a:pPr marL="274320" indent="-274320">
              <a:spcAft>
                <a:spcPts val="900"/>
              </a:spcAft>
            </a:pPr>
            <a:r>
              <a:rPr sz="2200" b="1" i="0">
                <a:solidFill>
                  <a:srgbClr val="97BC62"/>
                </a:solidFill>
                <a:latin typeface="Calibri"/>
              </a:rPr>
              <a:t>•  </a:t>
            </a:r>
            <a:r>
              <a:rPr sz="2200" b="0" i="0">
                <a:solidFill>
                  <a:srgbClr val="222B22"/>
                </a:solidFill>
                <a:latin typeface="Calibri"/>
              </a:rPr>
              <a:t>“What held from your card across the break — or what slipped and got begun again?”</a:t>
            </a:r>
          </a:p>
          <a:p>
            <a:pPr marL="274320" indent="-274320">
              <a:spcAft>
                <a:spcPts val="900"/>
              </a:spcAft>
            </a:pPr>
            <a:r>
              <a:rPr sz="2200" b="1" i="0">
                <a:solidFill>
                  <a:srgbClr val="97BC62"/>
                </a:solidFill>
                <a:latin typeface="Calibri"/>
              </a:rPr>
              <a:t>•  </a:t>
            </a:r>
            <a:r>
              <a:rPr sz="2200" b="0" i="0">
                <a:solidFill>
                  <a:srgbClr val="222B22"/>
                </a:solidFill>
                <a:latin typeface="Calibri"/>
              </a:rPr>
              <a:t>Holds and slips are both good news tonight — both mean the card is real and you are reading it honestly</a:t>
            </a:r>
          </a:p>
          <a:p>
            <a:pPr marL="274320" indent="-274320">
              <a:spcAft>
                <a:spcPts val="900"/>
              </a:spcAft>
            </a:pPr>
            <a:r>
              <a:rPr sz="2200" b="1" i="0">
                <a:solidFill>
                  <a:srgbClr val="97BC62"/>
                </a:solidFill>
                <a:latin typeface="Calibri"/>
              </a:rPr>
              <a:t>•  </a:t>
            </a:r>
            <a:r>
              <a:rPr sz="2200" b="0" i="0">
                <a:solidFill>
                  <a:srgbClr val="222B22"/>
                </a:solidFill>
                <a:latin typeface="Calibri"/>
              </a:rPr>
              <a:t>A parent starts; brisk and warm; pass-anytime holds — laughter is allowed and likely</a:t>
            </a:r>
          </a:p>
          <a:p>
            <a:pPr marL="685800" indent="-274320">
              <a:spcAft>
                <a:spcPts val="700"/>
              </a:spcAft>
            </a:pPr>
            <a:r>
              <a:rPr sz="1800" b="1" i="0">
                <a:solidFill>
                  <a:srgbClr val="97BC62"/>
                </a:solidFill>
                <a:latin typeface="Calibri"/>
              </a:rPr>
              <a:t>–  </a:t>
            </a:r>
            <a:r>
              <a:rPr sz="1800" b="0" i="1">
                <a:solidFill>
                  <a:srgbClr val="222B22"/>
                </a:solidFill>
                <a:latin typeface="Calibri"/>
              </a:rPr>
              <a:t>“In September that round would have taken an hour and a crowbar. The practices are yours now.”</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Final Stretch — the Map</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Week 19 — our Companions-in-Formation teach the two mercy cards — the Signs Card and the Path Home Card — in your clusters</a:t>
            </a:r>
          </a:p>
          <a:p>
            <a:pPr marL="342900" indent="-342900">
              <a:spcAft>
                <a:spcPts val="750"/>
              </a:spcAft>
            </a:pPr>
            <a:r>
              <a:rPr sz="2400" b="1" i="0">
                <a:solidFill>
                  <a:srgbClr val="97BC62"/>
                </a:solidFill>
                <a:latin typeface="Calibri"/>
              </a:rPr>
              <a:t>2   </a:t>
            </a:r>
            <a:r>
              <a:rPr sz="2400" b="0" i="0">
                <a:solidFill>
                  <a:srgbClr val="222B22"/>
                </a:solidFill>
                <a:latin typeface="Calibri"/>
              </a:rPr>
              <a:t>Week 20 — The Long Walk: the seniors teach the whole room; journals come along, and the testimony gathering begins</a:t>
            </a:r>
          </a:p>
          <a:p>
            <a:pPr marL="342900" indent="-342900">
              <a:spcAft>
                <a:spcPts val="750"/>
              </a:spcAft>
            </a:pPr>
            <a:r>
              <a:rPr sz="2400" b="1" i="0">
                <a:solidFill>
                  <a:srgbClr val="97BC62"/>
                </a:solidFill>
                <a:latin typeface="Calibri"/>
              </a:rPr>
              <a:t>3   </a:t>
            </a:r>
            <a:r>
              <a:rPr sz="2400" b="0" i="0">
                <a:solidFill>
                  <a:srgbClr val="222B22"/>
                </a:solidFill>
                <a:latin typeface="Calibri"/>
              </a:rPr>
              <a:t>Week 21 — Sending and Blessing: whole families, a longer evening — two hours, 4:15 to 6:15</a:t>
            </a:r>
          </a:p>
          <a:p>
            <a:pPr marL="342900" indent="-342900">
              <a:spcAft>
                <a:spcPts val="750"/>
              </a:spcAft>
            </a:pPr>
            <a:r>
              <a:rPr sz="2400" b="1" i="0">
                <a:solidFill>
                  <a:srgbClr val="97BC62"/>
                </a:solidFill>
                <a:latin typeface="Calibri"/>
              </a:rPr>
              <a:t>4   </a:t>
            </a:r>
            <a:r>
              <a:rPr sz="2400" b="0" i="0">
                <a:solidFill>
                  <a:srgbClr val="222B22"/>
                </a:solidFill>
                <a:latin typeface="Calibri"/>
              </a:rPr>
              <a:t>Week 22 — the Commissioning of the Companions, in front of everybody who watched them grow</a:t>
            </a:r>
          </a:p>
          <a:p>
            <a:pPr marL="274320" indent="-274320">
              <a:spcAft>
                <a:spcPts val="750"/>
              </a:spcAft>
            </a:pPr>
            <a:r>
              <a:rPr sz="2400" b="1" i="0">
                <a:solidFill>
                  <a:srgbClr val="97BC62"/>
                </a:solidFill>
                <a:latin typeface="Calibri"/>
              </a:rPr>
              <a:t>•  </a:t>
            </a:r>
            <a:r>
              <a:rPr sz="2400" b="0" i="0">
                <a:solidFill>
                  <a:srgbClr val="222B22"/>
                </a:solidFill>
                <a:latin typeface="Calibri"/>
              </a:rPr>
              <a:t>Hear the shape of that list: week by week, the people up front stop being us and start being you</a:t>
            </a:r>
          </a:p>
          <a:p>
            <a:pPr marL="274320" indent="-274320">
              <a:spcAft>
                <a:spcPts val="750"/>
              </a:spcAft>
            </a:pPr>
            <a:r>
              <a:rPr sz="2400" b="1" i="0">
                <a:solidFill>
                  <a:srgbClr val="97BC62"/>
                </a:solidFill>
                <a:latin typeface="Calibri"/>
              </a:rPr>
              <a:t>•  </a:t>
            </a:r>
            <a:r>
              <a:rPr sz="2400" b="0" i="0">
                <a:solidFill>
                  <a:srgbClr val="222B22"/>
                </a:solidFill>
                <a:latin typeface="Calibri"/>
              </a:rPr>
              <a:t>The sentence to keep: “the year now begins to hand itself over”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225</a:t>
            </a:r>
            <a:endParaRPr sz="1000" b="1">
              <a:solidFill>
                <a:srgbClr val="7A8A6E"/>
              </a:solidFill>
              <a:latin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Run your Rhythm Card as built — nothing new, nothing extra; if the break knocked a piece loose,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The evening note, one extra flavor: note where you see God already handing pieces of this year over to you</a:t>
            </a:r>
          </a:p>
          <a:p>
            <a:pPr marL="274320" indent="-274320">
              <a:spcAft>
                <a:spcPts val="900"/>
              </a:spcAft>
            </a:pPr>
            <a:r>
              <a:rPr sz="2200" b="1" i="0">
                <a:solidFill>
                  <a:srgbClr val="97BC62"/>
                </a:solidFill>
                <a:latin typeface="Calibri"/>
              </a:rPr>
              <a:t>•  </a:t>
            </a:r>
            <a:r>
              <a:rPr sz="2200" b="0" i="0">
                <a:solidFill>
                  <a:srgbClr val="222B22"/>
                </a:solidFill>
                <a:latin typeface="Calibri"/>
              </a:rPr>
              <a:t>For the parents, said once: the Four Questions door is still open — willing-only, whenever the moment is right; nobody will ever check. The questions keep</a:t>
            </a:r>
          </a:p>
          <a:p>
            <a:pPr marL="274320" indent="-274320">
              <a:spcAft>
                <a:spcPts val="900"/>
              </a:spcAft>
            </a:pPr>
            <a:r>
              <a:rPr sz="2200" b="1" i="0">
                <a:solidFill>
                  <a:srgbClr val="97BC62"/>
                </a:solidFill>
                <a:latin typeface="Calibri"/>
              </a:rPr>
              <a:t>•  </a:t>
            </a:r>
            <a:r>
              <a:rPr sz="2200" b="0" i="0">
                <a:solidFill>
                  <a:srgbClr val="222B22"/>
                </a:solidFill>
                <a:latin typeface="Calibri"/>
              </a:rPr>
              <a:t>Bring your journal — and put Week 21's two hours on the calendar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226</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227</a:t>
            </a:r>
            <a:endParaRPr sz="1000" b="1">
              <a:solidFill>
                <a:srgbClr val="7A8A6E"/>
              </a:solidFill>
              <a:latin typeface="Calibri"/>
            </a:endParaRPr>
          </a:p>
        </p:txBody>
      </p:sp>
      <p:pic>
        <p:nvPicPr>
          <p:cNvPr id="270" name="CardImage" descr="the Week 18 check-off card, as handed out"/>
          <p:cNvPicPr>
            <a:picLocks noChangeAspect="1"/>
          </p:cNvPicPr>
          <p:nvPr/>
        </p:nvPicPr>
        <p:blipFill>
          <a:blip r:embed="rId3"/>
          <a:stretch>
            <a:fillRect/>
          </a:stretch>
        </p:blipFill>
        <p:spPr>
          <a:xfrm>
            <a:off x="1158087" y="1554480"/>
            <a:ext cx="9875520" cy="3898231"/>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635591"/>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228</a:t>
            </a:r>
            <a:endParaRPr sz="1000" b="1">
              <a:solidFill>
                <a:srgbClr val="7A8A6E"/>
              </a:solidFill>
              <a:latin typeface="Calibri"/>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Aaronic Blessing and Sending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800" b="1" i="0">
                <a:solidFill>
                  <a:srgbClr val="97BC62"/>
                </a:solidFill>
                <a:latin typeface="Calibri"/>
              </a:rPr>
              <a:t>•  </a:t>
            </a:r>
            <a:r>
              <a:rPr sz="2800" b="0" i="0">
                <a:solidFill>
                  <a:srgbClr val="222B22"/>
                </a:solidFill>
                <a:latin typeface="Calibri"/>
              </a:rPr>
              <a:t>“One sentence for the road: you came back tonight like people who know the way — because you do now.”</a:t>
            </a:r>
          </a:p>
          <a:p>
            <a:pPr marL="274320" indent="-274320">
              <a:spcAft>
                <a:spcPts val="800"/>
              </a:spcAft>
            </a:pPr>
            <a:r>
              <a:rPr sz="2800" b="1" i="0">
                <a:solidFill>
                  <a:srgbClr val="97BC62"/>
                </a:solidFill>
                <a:latin typeface="Calibri"/>
              </a:rPr>
              <a:t>•  </a:t>
            </a:r>
            <a:r>
              <a:rPr sz="2800" b="0" i="0">
                <a:solidFill>
                  <a:srgbClr val="222B22"/>
                </a:solidFill>
                <a:latin typeface="Calibri"/>
              </a:rPr>
              <a:t>“Five weeks to the sending. Let us not grow weary; the season is His, and it is nearly harvest.”</a:t>
            </a:r>
          </a:p>
          <a:p>
            <a:pPr marL="274320" indent="-274320">
              <a:spcAft>
                <a:spcPts val="800"/>
              </a:spcAft>
            </a:pPr>
            <a:r>
              <a:rPr sz="2800" b="1" i="0">
                <a:solidFill>
                  <a:srgbClr val="97BC62"/>
                </a:solidFill>
                <a:latin typeface="Calibri"/>
              </a:rPr>
              <a:t>•  </a:t>
            </a:r>
            <a:r>
              <a:rPr sz="2800" b="0" i="0">
                <a:solidFill>
                  <a:srgbClr val="222B22"/>
                </a:solidFill>
                <a:latin typeface="Calibri"/>
              </a:rPr>
              <a:t>“See you Wednesday. Week 19 — the teens have the cards.”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NUMBERS 6:24–26</a:t>
            </a:r>
          </a:p>
          <a:p>
            <a:pPr>
              <a:spcAft>
                <a:spcPts val="600"/>
              </a:spcAft>
            </a:pPr>
            <a:r>
              <a:rPr sz="2400" b="0" i="1">
                <a:solidFill>
                  <a:srgbClr val="222B22"/>
                </a:solidFill>
                <a:latin typeface="Cambria"/>
              </a:rPr>
              <a:t>“The Lord bless you and keep you; the Lord make His face shine on you and be gracious to you; the Lord turn His face toward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230</a:t>
            </a:r>
            <a:endParaRPr sz="1000" b="1">
              <a:solidFill>
                <a:srgbClr val="7A8A6E"/>
              </a:solidFill>
              <a:latin typeface="Calibri"/>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19</a:t>
            </a:r>
          </a:p>
          <a:p>
            <a:pPr algn="l">
              <a:spcAft>
                <a:spcPts val="1000"/>
              </a:spcAft>
            </a:pPr>
            <a:r>
              <a:rPr sz="3300" b="1" i="0">
                <a:solidFill>
                  <a:srgbClr val="2C5F2D"/>
                </a:solidFill>
                <a:latin typeface="Cambria"/>
              </a:rPr>
              <a:t>Second Running: Block B</a:t>
            </a:r>
          </a:p>
          <a:p>
            <a:pPr algn="l">
              <a:spcAft>
                <a:spcPts val="600"/>
              </a:spcAft>
            </a:pPr>
            <a:r>
              <a:rPr sz="1800" b="0" i="1">
                <a:solidFill>
                  <a:srgbClr val="595959"/>
                </a:solidFill>
                <a:latin typeface="Calibri"/>
              </a:rPr>
              <a:t>The rehearsal — the Companions-in-Formation teach the two mercy cards in the small room, one week before they teach them in the large</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231</a:t>
            </a:r>
            <a:endParaRPr sz="1000" b="1">
              <a:solidFill>
                <a:srgbClr val="7A8A6E"/>
              </a:solidFill>
              <a:latin typeface="Calibri"/>
            </a:endParaRPr>
          </a:p>
        </p:txBody>
      </p:sp>
      <p:pic>
        <p:nvPicPr>
          <p:cNvPr id="91" name="Picture 91" descr="two candle flames in the dark leaning into one another"/>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19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opening container</a:t>
            </a:r>
          </a:p>
          <a:p>
            <a:pPr>
              <a:spcAft>
                <a:spcPts val="500"/>
              </a:spcAft>
            </a:pPr>
            <a:r>
              <a:rPr sz="2800" b="1">
                <a:solidFill>
                  <a:srgbClr val="97BC62"/>
                </a:solidFill>
                <a:latin typeface="Calibri"/>
              </a:rPr>
              <a:t>2   </a:t>
            </a:r>
            <a:r>
              <a:rPr sz="2800">
                <a:solidFill>
                  <a:srgbClr val="222B22"/>
                </a:solidFill>
                <a:latin typeface="Calibri"/>
              </a:rPr>
              <a:t>The frame — why these two cards</a:t>
            </a:r>
          </a:p>
          <a:p>
            <a:pPr>
              <a:spcAft>
                <a:spcPts val="500"/>
              </a:spcAft>
            </a:pPr>
            <a:r>
              <a:rPr sz="2800" b="1">
                <a:solidFill>
                  <a:srgbClr val="97BC62"/>
                </a:solidFill>
                <a:latin typeface="Calibri"/>
              </a:rPr>
              <a:t>3   </a:t>
            </a:r>
            <a:r>
              <a:rPr sz="2800">
                <a:solidFill>
                  <a:srgbClr val="222B22"/>
                </a:solidFill>
                <a:latin typeface="Calibri"/>
              </a:rPr>
              <a:t>Bridge and split</a:t>
            </a:r>
          </a:p>
          <a:p>
            <a:pPr>
              <a:spcAft>
                <a:spcPts val="500"/>
              </a:spcAft>
            </a:pPr>
            <a:r>
              <a:rPr sz="2800" b="1">
                <a:solidFill>
                  <a:srgbClr val="97BC62"/>
                </a:solidFill>
                <a:latin typeface="Calibri"/>
              </a:rPr>
              <a:t>4   </a:t>
            </a:r>
            <a:r>
              <a:rPr sz="2800">
                <a:solidFill>
                  <a:srgbClr val="222B22"/>
                </a:solidFill>
                <a:latin typeface="Calibri"/>
              </a:rPr>
              <a:t>First teaching rep — both cards</a:t>
            </a:r>
          </a:p>
          <a:p>
            <a:pPr>
              <a:spcAft>
                <a:spcPts val="500"/>
              </a:spcAft>
            </a:pPr>
            <a:r>
              <a:rPr sz="2800" b="1">
                <a:solidFill>
                  <a:srgbClr val="97BC62"/>
                </a:solidFill>
                <a:latin typeface="Calibri"/>
              </a:rPr>
              <a:t>5   </a:t>
            </a:r>
            <a:r>
              <a:rPr sz="2800">
                <a:solidFill>
                  <a:srgbClr val="222B22"/>
                </a:solidFill>
                <a:latin typeface="Calibri"/>
              </a:rPr>
              <a:t>Cluster feedback — one keep, one adjust</a:t>
            </a:r>
          </a:p>
          <a:p>
            <a:pPr>
              <a:spcAft>
                <a:spcPts val="500"/>
              </a:spcAft>
            </a:pPr>
            <a:r>
              <a:rPr sz="2800" b="1">
                <a:solidFill>
                  <a:srgbClr val="97BC62"/>
                </a:solidFill>
                <a:latin typeface="Calibri"/>
              </a:rPr>
              <a:t>6   </a:t>
            </a:r>
            <a:r>
              <a:rPr sz="2800">
                <a:solidFill>
                  <a:srgbClr val="222B22"/>
                </a:solidFill>
                <a:latin typeface="Calibri"/>
              </a:rPr>
              <a:t>Second teaching rep — both cards, tightened</a:t>
            </a:r>
          </a:p>
          <a:p>
            <a:pPr>
              <a:spcAft>
                <a:spcPts val="500"/>
              </a:spcAft>
            </a:pPr>
            <a:r>
              <a:rPr sz="2800" b="1">
                <a:solidFill>
                  <a:srgbClr val="97BC62"/>
                </a:solidFill>
                <a:latin typeface="Calibri"/>
              </a:rPr>
              <a:t>7   </a:t>
            </a:r>
            <a:r>
              <a:rPr sz="2800">
                <a:solidFill>
                  <a:srgbClr val="222B22"/>
                </a:solidFill>
                <a:latin typeface="Calibri"/>
              </a:rPr>
              <a:t>Second cluster feedback</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Closing container</a:t>
            </a:r>
          </a:p>
          <a:p>
            <a:pPr>
              <a:spcAft>
                <a:spcPts val="500"/>
              </a:spcAft>
            </a:pPr>
            <a:r>
              <a:rPr sz="2800" b="1">
                <a:solidFill>
                  <a:srgbClr val="97BC62"/>
                </a:solidFill>
                <a:latin typeface="Calibri"/>
              </a:rPr>
              <a:t>10   </a:t>
            </a:r>
            <a:r>
              <a:rPr sz="2800">
                <a:solidFill>
                  <a:srgbClr val="222B22"/>
                </a:solidFill>
                <a:latin typeface="Calibri"/>
              </a:rPr>
              <a:t>Leader Feedback Round</a:t>
            </a:r>
          </a:p>
          <a:p>
            <a:pPr>
              <a:spcAft>
                <a:spcPts val="500"/>
              </a:spcAft>
            </a:pPr>
            <a:r>
              <a:rPr sz="2800" b="1">
                <a:solidFill>
                  <a:srgbClr val="97BC62"/>
                </a:solidFill>
                <a:latin typeface="Calibri"/>
              </a:rPr>
              <a:t>11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233</a:t>
            </a:r>
            <a:endParaRPr sz="1000" b="1">
              <a:solidFill>
                <a:srgbClr val="7A8A6E"/>
              </a:solidFill>
              <a:latin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Frame — Why These Two Cards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Sooner or later, everyone who walks with God hits a dry season — and the dangerous thing is not the dryness, it is the wrong diagnosis</a:t>
            </a:r>
          </a:p>
          <a:p>
            <a:pPr marL="274320" indent="-274320">
              <a:spcAft>
                <a:spcPts val="650"/>
              </a:spcAft>
            </a:pPr>
            <a:r>
              <a:rPr sz="1800" b="1" i="0">
                <a:solidFill>
                  <a:srgbClr val="97BC62"/>
                </a:solidFill>
                <a:latin typeface="Calibri"/>
              </a:rPr>
              <a:t>•  </a:t>
            </a:r>
            <a:r>
              <a:rPr sz="1800" b="0" i="0">
                <a:solidFill>
                  <a:srgbClr val="222B22"/>
                </a:solidFill>
                <a:latin typeface="Calibri"/>
              </a:rPr>
              <a:t>The Signs Card — so a misread dry season never ends a journey in this room</a:t>
            </a:r>
          </a:p>
          <a:p>
            <a:pPr marL="274320" indent="-274320">
              <a:spcAft>
                <a:spcPts val="650"/>
              </a:spcAft>
            </a:pPr>
            <a:r>
              <a:rPr sz="1800" b="1" i="0">
                <a:solidFill>
                  <a:srgbClr val="97BC62"/>
                </a:solidFill>
                <a:latin typeface="Calibri"/>
              </a:rPr>
              <a:t>•  </a:t>
            </a:r>
            <a:r>
              <a:rPr sz="1800" b="0" i="0">
                <a:solidFill>
                  <a:srgbClr val="222B22"/>
                </a:solidFill>
                <a:latin typeface="Calibri"/>
              </a:rPr>
              <a:t>The Path Home Card — the written door back, and it ends the way Luke 15 ends: the father runs</a:t>
            </a:r>
          </a:p>
          <a:p>
            <a:pPr marL="274320" indent="-274320">
              <a:spcAft>
                <a:spcPts val="650"/>
              </a:spcAft>
            </a:pPr>
            <a:r>
              <a:rPr sz="1800" b="1" i="0">
                <a:solidFill>
                  <a:srgbClr val="97BC62"/>
                </a:solidFill>
                <a:latin typeface="Calibri"/>
              </a:rPr>
              <a:t>•  </a:t>
            </a:r>
            <a:r>
              <a:rPr sz="1800" b="0" i="0">
                <a:solidFill>
                  <a:srgbClr val="222B22"/>
                </a:solidFill>
                <a:latin typeface="Calibri"/>
              </a:rPr>
              <a:t>Tonight is a rehearsal — the small room before the large one. Your cluster is their first congregation.</a:t>
            </a:r>
          </a:p>
          <a:p>
            <a:pPr marL="274320" indent="-274320">
              <a:spcAft>
                <a:spcPts val="650"/>
              </a:spcAft>
            </a:pPr>
            <a:r>
              <a:rPr sz="1800" b="1" i="0">
                <a:solidFill>
                  <a:srgbClr val="97BC62"/>
                </a:solidFill>
                <a:latin typeface="Calibri"/>
              </a:rPr>
              <a:t>•  </a:t>
            </a:r>
            <a:r>
              <a:rPr sz="1800" b="0" i="0">
                <a:solidFill>
                  <a:srgbClr val="222B22"/>
                </a:solidFill>
                <a:latin typeface="Calibri"/>
              </a:rPr>
              <a:t>At the end, your cluster gives its teacher two gifts: one thing to keep, and one thing to adjust</a:t>
            </a:r>
          </a:p>
          <a:p>
            <a:pPr marL="274320" indent="-274320">
              <a:spcAft>
                <a:spcPts val="650"/>
              </a:spcAft>
            </a:pPr>
            <a:r>
              <a:rPr sz="1800" b="1" i="0">
                <a:solidFill>
                  <a:srgbClr val="97BC62"/>
                </a:solidFill>
                <a:latin typeface="Calibri"/>
              </a:rPr>
              <a:t>•  </a:t>
            </a:r>
            <a:r>
              <a:rPr sz="1800" b="0" i="0">
                <a:solidFill>
                  <a:srgbClr val="222B22"/>
                </a:solidFill>
                <a:latin typeface="Calibri"/>
              </a:rPr>
              <a:t>Tonight is about the cards, not anyone’s current season — nobody will be asked where they are</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2 TIMOTHY 2:2</a:t>
            </a:r>
          </a:p>
          <a:p>
            <a:pPr>
              <a:spcAft>
                <a:spcPts val="600"/>
              </a:spcAft>
            </a:pPr>
            <a:r>
              <a:rPr sz="2000" b="0" i="1">
                <a:solidFill>
                  <a:srgbClr val="222B22"/>
                </a:solidFill>
                <a:latin typeface="Cambria"/>
              </a:rPr>
              <a:t>“and what you have heard from me in the presence of many witnesses entrust to faithful men, who will be able to teach others also.”</a:t>
            </a:r>
          </a:p>
          <a:p>
            <a:pPr>
              <a:spcAft>
                <a:spcPts val="600"/>
              </a:spcAft>
            </a:pPr>
            <a:r>
              <a:rPr sz="2000" b="0" i="1">
                <a:solidFill>
                  <a:srgbClr val="222B22"/>
                </a:solidFill>
                <a:latin typeface="Cambria"/>
              </a:rPr>
              <a:t>Four generations in one sentence — Paul, Timothy, the faithful, and the others also. Tonight you are watching the third handoff happen.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234</a:t>
            </a:r>
            <a:endParaRPr sz="1000" b="1">
              <a:solidFill>
                <a:srgbClr val="7A8A6E"/>
              </a:solidFill>
              <a:latin typeface="Calibri"/>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and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Each cluster named — its families, its adult, its first-round Companion-in-Formation</a:t>
            </a:r>
          </a:p>
          <a:p>
            <a:pPr marL="274320" indent="-274320">
              <a:spcAft>
                <a:spcPts val="900"/>
              </a:spcAft>
            </a:pPr>
            <a:r>
              <a:rPr sz="2800" b="1" i="0">
                <a:solidFill>
                  <a:srgbClr val="97BC62"/>
                </a:solidFill>
                <a:latin typeface="Calibri"/>
              </a:rPr>
              <a:t>•  </a:t>
            </a:r>
            <a:r>
              <a:rPr sz="2800" b="0" i="0">
                <a:solidFill>
                  <a:srgbClr val="222B22"/>
                </a:solidFill>
                <a:latin typeface="Calibri"/>
              </a:rPr>
              <a:t>Pray — for the teachers by name, and for any dry ground in the room, unnamed</a:t>
            </a:r>
          </a:p>
          <a:p>
            <a:pPr marL="274320" indent="-274320">
              <a:spcAft>
                <a:spcPts val="900"/>
              </a:spcAft>
            </a:pPr>
            <a:r>
              <a:rPr sz="2800" b="1" i="0">
                <a:solidFill>
                  <a:srgbClr val="97BC62"/>
                </a:solidFill>
                <a:latin typeface="Calibri"/>
              </a:rPr>
              <a:t>•  </a:t>
            </a:r>
            <a:r>
              <a:rPr sz="2800" b="0" i="0">
                <a:solidFill>
                  <a:srgbClr val="222B22"/>
                </a:solidFill>
                <a:latin typeface="Calibri"/>
              </a:rPr>
              <a:t>Then split — receive your teacher, and work the cards with them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235</a:t>
            </a:r>
            <a:endParaRPr sz="1000" b="1">
              <a:solidFill>
                <a:srgbClr val="7A8A6E"/>
              </a:solidFill>
              <a:latin typeface="Calibri"/>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First Teaching Rep — Both Cards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342900" indent="-342900">
              <a:spcAft>
                <a:spcPts val="650"/>
              </a:spcAft>
            </a:pPr>
            <a:r>
              <a:rPr sz="1800" b="1" i="0">
                <a:solidFill>
                  <a:srgbClr val="97BC62"/>
                </a:solidFill>
                <a:latin typeface="Calibri"/>
              </a:rPr>
              <a:t>1   </a:t>
            </a:r>
            <a:r>
              <a:rPr sz="1800" b="0" i="0">
                <a:solidFill>
                  <a:srgbClr val="222B22"/>
                </a:solidFill>
                <a:latin typeface="Calibri"/>
              </a:rPr>
              <a:t>The Signs Card (~13 min) — the one question: “Which way does the desire point?” Then the four kinds of dry, from the card’s own table</a:t>
            </a:r>
          </a:p>
          <a:p>
            <a:pPr marL="685800" indent="-274320">
              <a:spcAft>
                <a:spcPts val="500"/>
              </a:spcAft>
            </a:pPr>
            <a:r>
              <a:rPr sz="1800" b="1" i="0">
                <a:solidFill>
                  <a:srgbClr val="97BC62"/>
                </a:solidFill>
                <a:latin typeface="Calibri"/>
              </a:rPr>
              <a:t>–  </a:t>
            </a:r>
            <a:r>
              <a:rPr sz="1800" b="0" i="1">
                <a:solidFill>
                  <a:srgbClr val="222B22"/>
                </a:solidFill>
                <a:latin typeface="Calibri"/>
              </a:rPr>
              <a:t>Cases 3 and 4 — one says resist, the other says receive; opposite motions. When you cannot tell which you are in, do not decide alone.</a:t>
            </a:r>
          </a:p>
          <a:p>
            <a:pPr marL="342900" indent="-342900">
              <a:spcAft>
                <a:spcPts val="650"/>
              </a:spcAft>
            </a:pPr>
            <a:r>
              <a:rPr sz="1800" b="1" i="0">
                <a:solidFill>
                  <a:srgbClr val="97BC62"/>
                </a:solidFill>
                <a:latin typeface="Calibri"/>
              </a:rPr>
              <a:t>2   </a:t>
            </a:r>
            <a:r>
              <a:rPr sz="1800" b="0" i="0">
                <a:solidFill>
                  <a:srgbClr val="222B22"/>
                </a:solidFill>
                <a:latin typeface="Calibri"/>
              </a:rPr>
              <a:t>The Path Home Card (~10 min) — the five steps, and the reception: it ends with a feast, not a hearing</a:t>
            </a:r>
          </a:p>
          <a:p>
            <a:pPr marL="685800" indent="-274320">
              <a:spcAft>
                <a:spcPts val="500"/>
              </a:spcAft>
            </a:pPr>
            <a:r>
              <a:rPr sz="1800" b="1" i="0">
                <a:solidFill>
                  <a:srgbClr val="97BC62"/>
                </a:solidFill>
                <a:latin typeface="Calibri"/>
              </a:rPr>
              <a:t>–  </a:t>
            </a:r>
            <a:r>
              <a:rPr sz="1800" b="0" i="1">
                <a:solidFill>
                  <a:srgbClr val="222B22"/>
                </a:solidFill>
                <a:latin typeface="Calibri"/>
              </a:rPr>
              <a:t>“The door is not locked. The light is on.”</a:t>
            </a:r>
          </a:p>
          <a:p>
            <a:pPr marL="342900" indent="-342900">
              <a:spcAft>
                <a:spcPts val="650"/>
              </a:spcAft>
            </a:pPr>
            <a:r>
              <a:rPr sz="1800" b="1" i="0">
                <a:solidFill>
                  <a:srgbClr val="97BC62"/>
                </a:solidFill>
                <a:latin typeface="Calibri"/>
              </a:rPr>
              <a:t>3   </a:t>
            </a:r>
            <a:r>
              <a:rPr sz="1800" b="0" i="0">
                <a:solidFill>
                  <a:srgbClr val="222B22"/>
                </a:solidFill>
                <a:latin typeface="Calibri"/>
              </a:rPr>
              <a:t>Close (~2 min) — both cards go home tonight; this week your family gives them a findable spot</a:t>
            </a:r>
          </a:p>
          <a:p>
            <a:pPr marL="274320" indent="-274320">
              <a:spcAft>
                <a:spcPts val="650"/>
              </a:spcAft>
            </a:pPr>
            <a:r>
              <a:rPr sz="1800" b="1" i="0">
                <a:solidFill>
                  <a:srgbClr val="97BC62"/>
                </a:solidFill>
                <a:latin typeface="Calibri"/>
              </a:rPr>
              <a:t>•  </a:t>
            </a:r>
            <a:r>
              <a:rPr sz="1800" b="0" i="0">
                <a:solidFill>
                  <a:srgbClr val="222B22"/>
                </a:solidFill>
                <a:latin typeface="Calibri"/>
              </a:rPr>
              <a:t>Questions of information are welcome — the teacher answers them. The adults hold every door that opens.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“while he was still a long way off, his father saw him and felt compassion, and ran”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236</a:t>
            </a:r>
            <a:endParaRPr sz="1000" b="1">
              <a:solidFill>
                <a:srgbClr val="7A8A6E"/>
              </a:solidFill>
              <a:latin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Cluster Feedback — One Keep, One Adjust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adult models first — one specific keep, one specific adjust</a:t>
            </a:r>
          </a:p>
          <a:p>
            <a:pPr marL="685800" indent="-274320">
              <a:spcAft>
                <a:spcPts val="700"/>
              </a:spcAft>
            </a:pPr>
            <a:r>
              <a:rPr sz="2000" b="1" i="0">
                <a:solidFill>
                  <a:srgbClr val="97BC62"/>
                </a:solidFill>
                <a:latin typeface="Calibri"/>
              </a:rPr>
              <a:t>–  </a:t>
            </a:r>
            <a:r>
              <a:rPr sz="2000" b="0" i="1">
                <a:solidFill>
                  <a:srgbClr val="222B22"/>
                </a:solidFill>
                <a:latin typeface="Calibri"/>
              </a:rPr>
              <a:t>Specific means quotable: “keep the way you paused after the desire question” — not “you did great”</a:t>
            </a:r>
          </a:p>
          <a:p>
            <a:pPr marL="274320" indent="-274320">
              <a:spcAft>
                <a:spcPts val="900"/>
              </a:spcAft>
            </a:pPr>
            <a:r>
              <a:rPr sz="2800" b="1" i="0">
                <a:solidFill>
                  <a:srgbClr val="97BC62"/>
                </a:solidFill>
                <a:latin typeface="Calibri"/>
              </a:rPr>
              <a:t>•  </a:t>
            </a:r>
            <a:r>
              <a:rPr sz="2800" b="0" i="0">
                <a:solidFill>
                  <a:srgbClr val="222B22"/>
                </a:solidFill>
                <a:latin typeface="Calibri"/>
              </a:rPr>
              <a:t>Then a parent adds one; one or two more voices if brief — teens welcome</a:t>
            </a:r>
          </a:p>
          <a:p>
            <a:pPr marL="274320" indent="-274320">
              <a:spcAft>
                <a:spcPts val="900"/>
              </a:spcAft>
            </a:pPr>
            <a:r>
              <a:rPr sz="2800" b="1" i="0">
                <a:solidFill>
                  <a:srgbClr val="97BC62"/>
                </a:solidFill>
                <a:latin typeface="Calibri"/>
              </a:rPr>
              <a:t>•  </a:t>
            </a:r>
            <a:r>
              <a:rPr sz="2800" b="0" i="0">
                <a:solidFill>
                  <a:srgbClr val="222B22"/>
                </a:solidFill>
                <a:latin typeface="Calibri"/>
              </a:rPr>
              <a:t>The teacher receives without defending — “thank you” is the whole response</a:t>
            </a:r>
          </a:p>
          <a:p>
            <a:pPr marL="274320" indent="-274320">
              <a:spcAft>
                <a:spcPts val="900"/>
              </a:spcAft>
            </a:pPr>
            <a:r>
              <a:rPr sz="2800" b="1" i="0">
                <a:solidFill>
                  <a:srgbClr val="97BC62"/>
                </a:solidFill>
                <a:latin typeface="Calibri"/>
              </a:rPr>
              <a:t>•  </a:t>
            </a:r>
            <a:r>
              <a:rPr sz="2800" b="0" i="0">
                <a:solidFill>
                  <a:srgbClr val="222B22"/>
                </a:solidFill>
                <a:latin typeface="Calibri"/>
              </a:rPr>
              <a:t>Both gifts go on the note sheet — this block is the reason the evening exists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237</a:t>
            </a:r>
            <a:endParaRPr sz="1000" b="1">
              <a:solidFill>
                <a:srgbClr val="7A8A6E"/>
              </a:solidFill>
              <a:latin typeface="Calibri"/>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Second Teaching Rep — Both Cards, Tightened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“Teachers, travel.” Each teacher moves one cluster over, adjust in hand — the new cluster is a clean room</a:t>
            </a:r>
          </a:p>
          <a:p>
            <a:pPr marL="274320" indent="-274320">
              <a:spcAft>
                <a:spcPts val="900"/>
              </a:spcAft>
            </a:pPr>
            <a:r>
              <a:rPr sz="2800" b="1" i="0">
                <a:solidFill>
                  <a:srgbClr val="97BC62"/>
                </a:solidFill>
                <a:latin typeface="Calibri"/>
              </a:rPr>
              <a:t>•  </a:t>
            </a:r>
            <a:r>
              <a:rPr sz="2800" b="0" i="0">
                <a:solidFill>
                  <a:srgbClr val="222B22"/>
                </a:solidFill>
                <a:latin typeface="Calibri"/>
              </a:rPr>
              <a:t>The same arc, compressed — Signs ~11 min, Path Home ~8, close ~1</a:t>
            </a:r>
          </a:p>
          <a:p>
            <a:pPr marL="274320" indent="-274320">
              <a:spcAft>
                <a:spcPts val="900"/>
              </a:spcAft>
            </a:pPr>
            <a:r>
              <a:rPr sz="2800" b="1" i="0">
                <a:solidFill>
                  <a:srgbClr val="97BC62"/>
                </a:solidFill>
                <a:latin typeface="Calibri"/>
              </a:rPr>
              <a:t>•  </a:t>
            </a:r>
            <a:r>
              <a:rPr sz="2800" b="0" i="0">
                <a:solidFill>
                  <a:srgbClr val="222B22"/>
                </a:solidFill>
                <a:latin typeface="Calibri"/>
              </a:rPr>
              <a:t>The compression is the second rep’s own skill — same spine, fewer words, the load-bearing minutes untouched</a:t>
            </a:r>
          </a:p>
          <a:p>
            <a:pPr marL="685800" indent="-274320">
              <a:spcAft>
                <a:spcPts val="700"/>
              </a:spcAft>
            </a:pPr>
            <a:r>
              <a:rPr sz="2000" b="1" i="0">
                <a:solidFill>
                  <a:srgbClr val="97BC62"/>
                </a:solidFill>
                <a:latin typeface="Calibri"/>
              </a:rPr>
              <a:t>–  </a:t>
            </a:r>
            <a:r>
              <a:rPr sz="2000" b="0" i="1">
                <a:solidFill>
                  <a:srgbClr val="222B22"/>
                </a:solidFill>
                <a:latin typeface="Calibri"/>
              </a:rPr>
              <a:t>The desire question — resist versus receive — the father runs</a:t>
            </a:r>
          </a:p>
          <a:p>
            <a:pPr marL="274320" indent="-274320">
              <a:spcAft>
                <a:spcPts val="900"/>
              </a:spcAft>
            </a:pPr>
            <a:r>
              <a:rPr sz="2800" b="1" i="0">
                <a:solidFill>
                  <a:srgbClr val="97BC62"/>
                </a:solidFill>
                <a:latin typeface="Calibri"/>
              </a:rPr>
              <a:t>•  </a:t>
            </a:r>
            <a:r>
              <a:rPr sz="2800" b="0" i="0">
                <a:solidFill>
                  <a:srgbClr val="222B22"/>
                </a:solidFill>
                <a:latin typeface="Calibri"/>
              </a:rPr>
              <a:t>The adjust from Round 1 gets tried here, while it is warm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238</a:t>
            </a:r>
            <a:endParaRPr sz="1000" b="1">
              <a:solidFill>
                <a:srgbClr val="7A8A6E"/>
              </a:solidFill>
              <a:latin typeface="Calibri"/>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Second Cluster Feedback</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Same shape, briefer — the adult’s keep and adjust, then one cluster voice</a:t>
            </a:r>
          </a:p>
          <a:p>
            <a:pPr marL="274320" indent="-274320">
              <a:spcAft>
                <a:spcPts val="900"/>
              </a:spcAft>
            </a:pPr>
            <a:r>
              <a:rPr sz="2800" b="1" i="0">
                <a:solidFill>
                  <a:srgbClr val="97BC62"/>
                </a:solidFill>
                <a:latin typeface="Calibri"/>
              </a:rPr>
              <a:t>•  </a:t>
            </a:r>
            <a:r>
              <a:rPr sz="2800" b="0" i="0">
                <a:solidFill>
                  <a:srgbClr val="222B22"/>
                </a:solidFill>
                <a:latin typeface="Calibri"/>
              </a:rPr>
              <a:t>The keep, wherever honest, names the adjust that got tried</a:t>
            </a:r>
          </a:p>
          <a:p>
            <a:pPr marL="274320" indent="-274320">
              <a:spcAft>
                <a:spcPts val="900"/>
              </a:spcAft>
            </a:pPr>
            <a:r>
              <a:rPr sz="2800" b="1" i="0">
                <a:solidFill>
                  <a:srgbClr val="97BC62"/>
                </a:solidFill>
                <a:latin typeface="Calibri"/>
              </a:rPr>
              <a:t>•  </a:t>
            </a:r>
            <a:r>
              <a:rPr sz="2800" b="0" i="0">
                <a:solidFill>
                  <a:srgbClr val="222B22"/>
                </a:solidFill>
                <a:latin typeface="Calibri"/>
              </a:rPr>
              <a:t>Both recorded per teacher — these notes are next week’s prep meeting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239</a:t>
            </a:r>
            <a:endParaRPr sz="1000" b="1">
              <a:solidFill>
                <a:srgbClr val="7A8A6E"/>
              </a:solidFill>
              <a:latin typeface="Calibri"/>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One practice this week — the easiest assignment of the year: the two cards go home and get a spot</a:t>
            </a:r>
          </a:p>
          <a:p>
            <a:pPr marL="274320" indent="-274320">
              <a:spcAft>
                <a:spcPts val="900"/>
              </a:spcAft>
            </a:pPr>
            <a:r>
              <a:rPr sz="2800" b="1" i="0">
                <a:solidFill>
                  <a:srgbClr val="97BC62"/>
                </a:solidFill>
                <a:latin typeface="Calibri"/>
              </a:rPr>
              <a:t>•  </a:t>
            </a:r>
            <a:r>
              <a:rPr sz="2800" b="0" i="0">
                <a:solidFill>
                  <a:srgbClr val="222B22"/>
                </a:solidFill>
                <a:latin typeface="Calibri"/>
              </a:rPr>
              <a:t>Somewhere findable — a drawer everyone knows about, the kitchen cabinet door, inside the family Bible. Decide the spot together.</a:t>
            </a:r>
          </a:p>
          <a:p>
            <a:pPr marL="274320" indent="-274320">
              <a:spcAft>
                <a:spcPts val="900"/>
              </a:spcAft>
            </a:pPr>
            <a:r>
              <a:rPr sz="2800" b="1" i="0">
                <a:solidFill>
                  <a:srgbClr val="97BC62"/>
                </a:solidFill>
                <a:latin typeface="Calibri"/>
              </a:rPr>
              <a:t>•  </a:t>
            </a:r>
            <a:r>
              <a:rPr sz="2800" b="0" i="0">
                <a:solidFill>
                  <a:srgbClr val="222B22"/>
                </a:solidFill>
                <a:latin typeface="Calibri"/>
              </a:rPr>
              <a:t>If all goes well, they will sit there gathering dust for years. That is the job — the cards wait.</a:t>
            </a:r>
          </a:p>
          <a:p>
            <a:pPr marL="274320" indent="-274320">
              <a:spcAft>
                <a:spcPts val="900"/>
              </a:spcAft>
            </a:pPr>
            <a:r>
              <a:rPr sz="2800" b="1" i="0">
                <a:solidFill>
                  <a:srgbClr val="97BC62"/>
                </a:solidFill>
                <a:latin typeface="Calibri"/>
              </a:rPr>
              <a:t>•  </a:t>
            </a:r>
            <a:r>
              <a:rPr sz="2800" b="0" i="0">
                <a:solidFill>
                  <a:srgbClr val="222B22"/>
                </a:solidFill>
                <a:latin typeface="Calibri"/>
              </a:rPr>
              <a:t>Next Wednesday is The Long Walk — the whole room, the whole teaching, these same teachers. Come ready to receive them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240</a:t>
            </a:r>
            <a:endParaRPr sz="1000" b="1">
              <a:solidFill>
                <a:srgbClr val="7A8A6E"/>
              </a:solidFill>
              <a:latin typeface="Calibri"/>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241</a:t>
            </a:r>
            <a:endParaRPr sz="1000" b="1">
              <a:solidFill>
                <a:srgbClr val="7A8A6E"/>
              </a:solidFill>
              <a:latin typeface="Calibri"/>
            </a:endParaRPr>
          </a:p>
        </p:txBody>
      </p:sp>
      <p:pic>
        <p:nvPicPr>
          <p:cNvPr id="270" name="CardImage" descr="the Week 19 check-off card, as handed out"/>
          <p:cNvPicPr>
            <a:picLocks noChangeAspect="1"/>
          </p:cNvPicPr>
          <p:nvPr/>
        </p:nvPicPr>
        <p:blipFill>
          <a:blip r:embed="rId3"/>
          <a:stretch>
            <a:fillRect/>
          </a:stretch>
        </p:blipFill>
        <p:spPr>
          <a:xfrm>
            <a:off x="1158087" y="1554480"/>
            <a:ext cx="9875520" cy="4119131"/>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856491"/>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242</a:t>
            </a:r>
            <a:endParaRPr sz="1000" b="1">
              <a:solidFill>
                <a:srgbClr val="7A8A6E"/>
              </a:solidFill>
              <a:latin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t>
            </a:r>
            <a:endParaRPr sz="1000" b="1">
              <a:solidFill>
                <a:srgbClr val="7A8A6E"/>
              </a:solidFill>
              <a:latin typeface="Calibri"/>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246</a:t>
            </a:r>
            <a:endParaRPr sz="1000" b="1">
              <a:solidFill>
                <a:srgbClr val="7A8A6E"/>
              </a:solidFill>
              <a:latin typeface="Calibri"/>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247</a:t>
            </a:r>
            <a:endParaRPr sz="1000" b="1">
              <a:solidFill>
                <a:srgbClr val="7A8A6E"/>
              </a:solidFill>
              <a:latin typeface="Calibri"/>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248</a:t>
            </a:r>
            <a:endParaRPr sz="1000" b="1">
              <a:solidFill>
                <a:srgbClr val="7A8A6E"/>
              </a:solidFill>
              <a:latin typeface="Calibri"/>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249</a:t>
            </a:r>
            <a:endParaRPr sz="1000" b="1">
              <a:solidFill>
                <a:srgbClr val="7A8A6E"/>
              </a:solidFill>
              <a:latin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250</a:t>
            </a:r>
            <a:endParaRPr sz="1000" b="1">
              <a:solidFill>
                <a:srgbClr val="7A8A6E"/>
              </a:solidFill>
              <a:latin typeface="Calibri"/>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251</a:t>
            </a:r>
            <a:endParaRPr sz="1000" b="1">
              <a:solidFill>
                <a:srgbClr val="7A8A6E"/>
              </a:solidFill>
              <a:latin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252</a:t>
            </a:r>
            <a:endParaRPr sz="1000" b="1">
              <a:solidFill>
                <a:srgbClr val="7A8A6E"/>
              </a:solidFill>
              <a:latin typeface="Calibri"/>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t>
            </a:r>
            <a:endParaRPr sz="1000" b="1">
              <a:solidFill>
                <a:srgbClr val="7A8A6E"/>
              </a:solidFill>
              <a:latin typeface="Calibri"/>
            </a:endParaRPr>
          </a:p>
        </p:txBody>
      </p:sp>
      <p:pic>
        <p:nvPicPr>
          <p:cNvPr id="270" name="CardImage" descr="the Week 20 check-off card, as handed out"/>
          <p:cNvPicPr>
            <a:picLocks noChangeAspect="1"/>
          </p:cNvPicPr>
          <p:nvPr/>
        </p:nvPicPr>
        <p:blipFill>
          <a:blip r:embed="rId3"/>
          <a:stretch>
            <a:fillRect/>
          </a:stretch>
        </p:blipFill>
        <p:spPr>
          <a:xfrm>
            <a:off x="1158087" y="1554480"/>
            <a:ext cx="9875520" cy="4060657"/>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798017"/>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255</a:t>
            </a:r>
            <a:endParaRPr sz="1000" b="1">
              <a:solidFill>
                <a:srgbClr val="7A8A6E"/>
              </a:solidFill>
              <a:latin typeface="Calibri"/>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10-sending.jpg"/>
          <p:cNvPicPr>
            <a:picLocks noChangeAspect="1"/>
          </p:cNvPicPr>
          <p:nvPr/>
        </p:nvPicPr>
        <p:blipFill>
          <a:blip r:embed="rId3"/>
          <a:stretch>
            <a:fillRect/>
          </a:stretch>
        </p:blipFill>
        <p:spPr>
          <a:xfrm>
            <a:off x="6309360" y="1641919"/>
            <a:ext cx="5394960" cy="3574161"/>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21</a:t>
            </a:r>
          </a:p>
          <a:p>
            <a:pPr algn="l">
              <a:spcAft>
                <a:spcPts val="1000"/>
              </a:spcAft>
            </a:pPr>
            <a:r>
              <a:rPr sz="3300" b="1" i="0">
                <a:solidFill>
                  <a:srgbClr val="2C5F2D"/>
                </a:solidFill>
                <a:latin typeface="Cambria"/>
              </a:rPr>
              <a:t>Sending and Blessing</a:t>
            </a:r>
          </a:p>
          <a:p>
            <a:pPr algn="l">
              <a:spcAft>
                <a:spcPts val="600"/>
              </a:spcAft>
            </a:pPr>
            <a:r>
              <a:rPr sz="1800" b="0" i="1">
                <a:solidFill>
                  <a:srgbClr val="595959"/>
                </a:solidFill>
                <a:latin typeface="Calibri"/>
              </a:rPr>
              <a:t>Family commissioning, the integration of the four Connects, and the bridge to Going Deeper</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256</a:t>
            </a:r>
            <a:endParaRPr sz="1000" b="1">
              <a:solidFill>
                <a:srgbClr val="7A8A6E"/>
              </a:solidFill>
              <a:latin typeface="Calibri"/>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21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integration teaching</a:t>
            </a:r>
          </a:p>
          <a:p>
            <a:pPr>
              <a:spcAft>
                <a:spcPts val="800"/>
              </a:spcAft>
            </a:pPr>
            <a:r>
              <a:rPr sz="2800" b="1">
                <a:solidFill>
                  <a:srgbClr val="97BC62"/>
                </a:solidFill>
                <a:latin typeface="Calibri"/>
              </a:rPr>
              <a:t>2   </a:t>
            </a:r>
            <a:r>
              <a:rPr sz="2800">
                <a:solidFill>
                  <a:srgbClr val="222B22"/>
                </a:solidFill>
                <a:latin typeface="Calibri"/>
              </a:rPr>
              <a:t>Brief blessing rehearsal</a:t>
            </a:r>
          </a:p>
          <a:p>
            <a:pPr>
              <a:spcAft>
                <a:spcPts val="800"/>
              </a:spcAft>
            </a:pPr>
            <a:r>
              <a:rPr sz="2800" b="1">
                <a:solidFill>
                  <a:srgbClr val="97BC62"/>
                </a:solidFill>
                <a:latin typeface="Calibri"/>
              </a:rPr>
              <a:t>3   </a:t>
            </a:r>
            <a:r>
              <a:rPr sz="2800">
                <a:solidFill>
                  <a:srgbClr val="222B22"/>
                </a:solidFill>
                <a:latin typeface="Calibri"/>
              </a:rPr>
              <a:t>Reading and prayer</a:t>
            </a:r>
          </a:p>
          <a:p>
            <a:pPr>
              <a:spcAft>
                <a:spcPts val="800"/>
              </a:spcAft>
            </a:pPr>
            <a:r>
              <a:rPr sz="2800" b="1">
                <a:solidFill>
                  <a:srgbClr val="97BC62"/>
                </a:solidFill>
                <a:latin typeface="Calibri"/>
              </a:rPr>
              <a:t>4   </a:t>
            </a:r>
            <a:r>
              <a:rPr sz="2800">
                <a:solidFill>
                  <a:srgbClr val="222B22"/>
                </a:solidFill>
                <a:latin typeface="Calibri"/>
              </a:rPr>
              <a:t>Family commissionings</a:t>
            </a:r>
          </a:p>
          <a:p>
            <a:pPr>
              <a:spcAft>
                <a:spcPts val="800"/>
              </a:spcAft>
            </a:pPr>
            <a:r>
              <a:rPr sz="2800" b="1">
                <a:solidFill>
                  <a:srgbClr val="97BC62"/>
                </a:solidFill>
                <a:latin typeface="Calibri"/>
              </a:rPr>
              <a:t>5   </a:t>
            </a:r>
            <a:r>
              <a:rPr sz="2800">
                <a:solidFill>
                  <a:srgbClr val="222B22"/>
                </a:solidFill>
                <a:latin typeface="Calibri"/>
              </a:rPr>
              <a:t>Final reflection circle</a:t>
            </a:r>
          </a:p>
          <a:p>
            <a:pPr>
              <a:spcAft>
                <a:spcPts val="800"/>
              </a:spcAft>
            </a:pPr>
            <a:r>
              <a:rPr sz="2800" b="1">
                <a:solidFill>
                  <a:srgbClr val="97BC62"/>
                </a:solidFill>
                <a:latin typeface="Calibri"/>
              </a:rPr>
              <a:t>6   </a:t>
            </a:r>
            <a:r>
              <a:rPr sz="2800">
                <a:solidFill>
                  <a:srgbClr val="222B22"/>
                </a:solidFill>
                <a:latin typeface="Calibri"/>
              </a:rPr>
              <a:t>Rhythm Card and Going Deeper bridge</a:t>
            </a:r>
          </a:p>
          <a:p>
            <a:pPr>
              <a:spcAft>
                <a:spcPts val="800"/>
              </a:spcAft>
            </a:pPr>
            <a:r>
              <a:rPr sz="2800" b="1">
                <a:solidFill>
                  <a:srgbClr val="97BC62"/>
                </a:solidFill>
                <a:latin typeface="Calibri"/>
              </a:rPr>
              <a:t>7   </a:t>
            </a:r>
            <a:r>
              <a:rPr sz="2800">
                <a:solidFill>
                  <a:srgbClr val="222B22"/>
                </a:solidFill>
                <a:latin typeface="Calibri"/>
              </a:rPr>
              <a:t>The Leader Feedback Round</a:t>
            </a:r>
          </a:p>
          <a:p>
            <a:pPr>
              <a:spcAft>
                <a:spcPts val="800"/>
              </a:spcAft>
            </a:pPr>
            <a:r>
              <a:rPr sz="2800" b="1">
                <a:solidFill>
                  <a:srgbClr val="97BC62"/>
                </a:solidFill>
                <a:latin typeface="Calibri"/>
              </a:rPr>
              <a:t>8   </a:t>
            </a:r>
            <a:r>
              <a:rPr sz="2800">
                <a:solidFill>
                  <a:srgbClr val="222B22"/>
                </a:solidFill>
                <a:latin typeface="Calibri"/>
              </a:rPr>
              <a:t>Final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and Integration Teaching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Fourteen Wednesdays — the soil of the heart, our stories, confession and restoration, hearing God in scripture, the gardens of our hearts, the quiet doubts, what was prepared for us</a:t>
            </a:r>
          </a:p>
          <a:p>
            <a:pPr marL="274320" indent="-274320">
              <a:spcAft>
                <a:spcPts val="900"/>
              </a:spcAft>
            </a:pPr>
            <a:r>
              <a:rPr sz="2200" b="1" i="0">
                <a:solidFill>
                  <a:srgbClr val="97BC62"/>
                </a:solidFill>
                <a:latin typeface="Calibri"/>
              </a:rPr>
              <a:t>•  </a:t>
            </a:r>
            <a:r>
              <a:rPr sz="2200" b="0" i="0">
                <a:solidFill>
                  <a:srgbClr val="222B22"/>
                </a:solidFill>
                <a:latin typeface="Calibri"/>
              </a:rPr>
              <a:t>Tonight is the integration. The four Connects are not separate disciplines — they are a sequence: Self, Others, God, Mission. Each one creates the conditions for the next.</a:t>
            </a:r>
          </a:p>
          <a:p>
            <a:pPr marL="274320" indent="-274320">
              <a:spcAft>
                <a:spcPts val="900"/>
              </a:spcAft>
            </a:pPr>
            <a:r>
              <a:rPr sz="2200" b="1" i="0">
                <a:solidFill>
                  <a:srgbClr val="97BC62"/>
                </a:solidFill>
                <a:latin typeface="Calibri"/>
              </a:rPr>
              <a:t>•  </a:t>
            </a:r>
            <a:r>
              <a:rPr sz="2200" b="0" i="0">
                <a:solidFill>
                  <a:srgbClr val="222B22"/>
                </a:solidFill>
                <a:latin typeface="Calibri"/>
              </a:rPr>
              <a:t>They are also a way of life — lived in family, witnessed in community</a:t>
            </a:r>
          </a:p>
          <a:p>
            <a:pPr marL="274320" indent="-274320">
              <a:spcAft>
                <a:spcPts val="900"/>
              </a:spcAft>
            </a:pPr>
            <a:r>
              <a:rPr sz="2200" b="1" i="0">
                <a:solidFill>
                  <a:srgbClr val="97BC62"/>
                </a:solidFill>
                <a:latin typeface="Calibri"/>
              </a:rPr>
              <a:t>•  </a:t>
            </a:r>
            <a:r>
              <a:rPr sz="2200" b="0" i="0">
                <a:solidFill>
                  <a:srgbClr val="222B22"/>
                </a:solidFill>
                <a:latin typeface="Calibri"/>
              </a:rPr>
              <a:t>Tonight: each parent-and-teen pair stands in the center; each speaks a specific witnessed blessing over the other; the whole community speaks the Aaronic blessing over each family</a:t>
            </a:r>
          </a:p>
          <a:p>
            <a:pPr marL="274320" indent="-274320">
              <a:spcAft>
                <a:spcPts val="900"/>
              </a:spcAft>
            </a:pPr>
            <a:r>
              <a:rPr sz="2200" b="1" i="0">
                <a:solidFill>
                  <a:srgbClr val="97BC62"/>
                </a:solidFill>
                <a:latin typeface="Calibri"/>
              </a:rPr>
              <a:t>•  </a:t>
            </a:r>
            <a:r>
              <a:rPr sz="2200" b="0" i="0">
                <a:solidFill>
                  <a:srgbClr val="222B22"/>
                </a:solidFill>
                <a:latin typeface="Calibri"/>
              </a:rPr>
              <a:t>If you are new tonight: your job is to bear witness. Your presence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258</a:t>
            </a:r>
            <a:endParaRPr sz="1000" b="1">
              <a:solidFill>
                <a:srgbClr val="7A8A6E"/>
              </a:solidFill>
              <a:latin typeface="Calibri"/>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Brief Blessing Rehearsal — the Form</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Three sentences. Just three. The worksheet you got Friday has the form.</a:t>
            </a:r>
          </a:p>
          <a:p>
            <a:pPr marL="342900" indent="-342900">
              <a:spcAft>
                <a:spcPts val="750"/>
              </a:spcAft>
            </a:pPr>
            <a:r>
              <a:rPr sz="2400" b="1" i="0">
                <a:solidFill>
                  <a:srgbClr val="97BC62"/>
                </a:solidFill>
                <a:latin typeface="Calibri"/>
              </a:rPr>
              <a:t>1   </a:t>
            </a:r>
            <a:r>
              <a:rPr sz="2400" b="0" i="0">
                <a:solidFill>
                  <a:srgbClr val="222B22"/>
                </a:solidFill>
                <a:latin typeface="Calibri"/>
              </a:rPr>
              <a:t>“What I have specifically seen God doing in you across Getting Started is _____.” Something you actually noticed.</a:t>
            </a:r>
          </a:p>
          <a:p>
            <a:pPr marL="342900" indent="-342900">
              <a:spcAft>
                <a:spcPts val="750"/>
              </a:spcAft>
            </a:pPr>
            <a:r>
              <a:rPr sz="2400" b="1" i="0">
                <a:solidFill>
                  <a:srgbClr val="97BC62"/>
                </a:solidFill>
                <a:latin typeface="Calibri"/>
              </a:rPr>
              <a:t>2   </a:t>
            </a:r>
            <a:r>
              <a:rPr sz="2400" b="0" i="0">
                <a:solidFill>
                  <a:srgbClr val="222B22"/>
                </a:solidFill>
                <a:latin typeface="Calibri"/>
              </a:rPr>
              <a:t>“What I bless in you tonight is _____.” Something true about who they are.</a:t>
            </a:r>
          </a:p>
          <a:p>
            <a:pPr marL="342900" indent="-342900">
              <a:spcAft>
                <a:spcPts val="750"/>
              </a:spcAft>
            </a:pPr>
            <a:r>
              <a:rPr sz="2400" b="1" i="0">
                <a:solidFill>
                  <a:srgbClr val="97BC62"/>
                </a:solidFill>
                <a:latin typeface="Calibri"/>
              </a:rPr>
              <a:t>3   </a:t>
            </a:r>
            <a:r>
              <a:rPr sz="2400" b="0" i="0">
                <a:solidFill>
                  <a:srgbClr val="222B22"/>
                </a:solidFill>
                <a:latin typeface="Calibri"/>
              </a:rPr>
              <a:t>“What I commit to you in our relationship moving forward is _____.” Something you will actually do.</a:t>
            </a:r>
          </a:p>
          <a:p>
            <a:pPr marL="274320" indent="-274320">
              <a:spcAft>
                <a:spcPts val="750"/>
              </a:spcAft>
            </a:pPr>
            <a:r>
              <a:rPr sz="2400" b="1" i="0">
                <a:solidFill>
                  <a:srgbClr val="97BC62"/>
                </a:solidFill>
                <a:latin typeface="Calibri"/>
              </a:rPr>
              <a:t>•  </a:t>
            </a:r>
            <a:r>
              <a:rPr sz="2400" b="0" i="0">
                <a:solidFill>
                  <a:srgbClr val="222B22"/>
                </a:solidFill>
                <a:latin typeface="Calibri"/>
              </a:rPr>
              <a:t>The brevity is the discipline — we are not making speeches; we are speaking truth in front of witnesses</a:t>
            </a:r>
          </a:p>
          <a:p>
            <a:pPr marL="274320" indent="-274320">
              <a:spcAft>
                <a:spcPts val="750"/>
              </a:spcAft>
            </a:pPr>
            <a:r>
              <a:rPr sz="2400" b="1" i="0">
                <a:solidFill>
                  <a:srgbClr val="97BC62"/>
                </a:solidFill>
                <a:latin typeface="Calibri"/>
              </a:rPr>
              <a:t>•  </a:t>
            </a:r>
            <a:r>
              <a:rPr sz="2400" b="0" i="0">
                <a:solidFill>
                  <a:srgbClr val="222B22"/>
                </a:solidFill>
                <a:latin typeface="Calibri"/>
              </a:rPr>
              <a:t>Two Companions demo a real blessing, then brief questions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259</a:t>
            </a:r>
            <a:endParaRPr sz="1000" b="1">
              <a:solidFill>
                <a:srgbClr val="7A8A6E"/>
              </a:solidFill>
              <a:latin typeface="Calibri"/>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Reading and Prayer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scriptures before we begin — the blessing itself, and what we are commissioning each other into</a:t>
            </a:r>
          </a:p>
          <a:p>
            <a:pPr marL="274320" indent="-274320">
              <a:spcAft>
                <a:spcPts val="800"/>
              </a:spcAft>
            </a:pPr>
            <a:r>
              <a:rPr sz="2000" b="1" i="0">
                <a:solidFill>
                  <a:srgbClr val="97BC62"/>
                </a:solidFill>
                <a:latin typeface="Calibri"/>
              </a:rPr>
              <a:t>•  </a:t>
            </a:r>
            <a:r>
              <a:rPr sz="2000" b="0" i="0">
                <a:solidFill>
                  <a:srgbClr val="222B22"/>
                </a:solidFill>
                <a:latin typeface="Calibri"/>
              </a:rPr>
              <a:t>The Aaronic blessing is not a generic prayer — it is the specific words God gave Aaron and his sons to speak over Israel. When we speak it over each other, we are not improvising.</a:t>
            </a:r>
          </a:p>
          <a:p>
            <a:pPr marL="274320" indent="-274320">
              <a:spcAft>
                <a:spcPts val="800"/>
              </a:spcAft>
            </a:pPr>
            <a:r>
              <a:rPr sz="2000" b="1" i="0">
                <a:solidFill>
                  <a:srgbClr val="97BC62"/>
                </a:solidFill>
                <a:latin typeface="Calibri"/>
              </a:rPr>
              <a:t>•  </a:t>
            </a:r>
            <a:r>
              <a:rPr sz="2000" b="0" i="0">
                <a:solidFill>
                  <a:srgbClr val="222B22"/>
                </a:solidFill>
                <a:latin typeface="Calibri"/>
              </a:rPr>
              <a:t>Philippians 1:6 — Getting Started is not the completion; it is part of the beginning. The next stretch is a longer work that is His to finish, not ours.</a:t>
            </a:r>
          </a:p>
          <a:p>
            <a:pPr marL="685800" indent="-274320">
              <a:spcAft>
                <a:spcPts val="600"/>
              </a:spcAft>
            </a:pPr>
            <a:r>
              <a:rPr sz="1800" b="1" i="0">
                <a:solidFill>
                  <a:srgbClr val="97BC62"/>
                </a:solidFill>
                <a:latin typeface="Calibri"/>
              </a:rPr>
              <a:t>–  </a:t>
            </a:r>
            <a:r>
              <a:rPr sz="1800" b="0" i="1">
                <a:solidFill>
                  <a:srgbClr val="222B22"/>
                </a:solidFill>
                <a:latin typeface="Calibri"/>
              </a:rPr>
              <a:t>“And I am sure of this, that he who began a good work in you will bring it to completion at the day of Jesus Christ.” — Philippians 1:6</a:t>
            </a:r>
          </a:p>
          <a:p>
            <a:pPr marL="274320" indent="-274320">
              <a:spcAft>
                <a:spcPts val="800"/>
              </a:spcAft>
            </a:pPr>
            <a:r>
              <a:rPr sz="2000" b="1" i="0">
                <a:solidFill>
                  <a:srgbClr val="97BC62"/>
                </a:solidFill>
                <a:latin typeface="Calibri"/>
              </a:rPr>
              <a:t>•  </a:t>
            </a:r>
            <a:r>
              <a:rPr sz="2000" b="0" i="0">
                <a:solidFill>
                  <a:srgbClr val="222B22"/>
                </a:solidFill>
                <a:latin typeface="Calibri"/>
              </a:rPr>
              <a:t>Then prayer over the commissioning to come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260</a:t>
            </a:r>
            <a:endParaRPr sz="1000" b="1">
              <a:solidFill>
                <a:srgbClr val="7A8A6E"/>
              </a:solidFill>
              <a:latin typeface="Calibri"/>
            </a:endParaRP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Family Commissionings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Each family in turn — parent and teen stand in the center; the rest of the family stands behind them in support</a:t>
            </a:r>
          </a:p>
          <a:p>
            <a:pPr marL="342900" indent="-342900">
              <a:spcAft>
                <a:spcPts val="750"/>
              </a:spcAft>
            </a:pPr>
            <a:r>
              <a:rPr sz="2400" b="1" i="0">
                <a:solidFill>
                  <a:srgbClr val="97BC62"/>
                </a:solidFill>
                <a:latin typeface="Calibri"/>
              </a:rPr>
              <a:t>1   </a:t>
            </a:r>
            <a:r>
              <a:rPr sz="2400" b="0" i="0">
                <a:solidFill>
                  <a:srgbClr val="222B22"/>
                </a:solidFill>
                <a:latin typeface="Calibri"/>
              </a:rPr>
              <a:t>Brief framing — “We have walked with [name] through Getting Started; we have seen _____.”</a:t>
            </a:r>
          </a:p>
          <a:p>
            <a:pPr marL="342900" indent="-342900">
              <a:spcAft>
                <a:spcPts val="750"/>
              </a:spcAft>
            </a:pPr>
            <a:r>
              <a:rPr sz="2400" b="1" i="0">
                <a:solidFill>
                  <a:srgbClr val="97BC62"/>
                </a:solidFill>
                <a:latin typeface="Calibri"/>
              </a:rPr>
              <a:t>2   </a:t>
            </a:r>
            <a:r>
              <a:rPr sz="2400" b="0" i="0">
                <a:solidFill>
                  <a:srgbClr val="222B22"/>
                </a:solidFill>
                <a:latin typeface="Calibri"/>
              </a:rPr>
              <a:t>Teen blesses parent first — the three sentences</a:t>
            </a:r>
          </a:p>
          <a:p>
            <a:pPr marL="342900" indent="-342900">
              <a:spcAft>
                <a:spcPts val="750"/>
              </a:spcAft>
            </a:pPr>
            <a:r>
              <a:rPr sz="2400" b="1" i="0">
                <a:solidFill>
                  <a:srgbClr val="97BC62"/>
                </a:solidFill>
                <a:latin typeface="Calibri"/>
              </a:rPr>
              <a:t>3   </a:t>
            </a:r>
            <a:r>
              <a:rPr sz="2400" b="0" i="0">
                <a:solidFill>
                  <a:srgbClr val="222B22"/>
                </a:solidFill>
                <a:latin typeface="Calibri"/>
              </a:rPr>
              <a:t>Parent blesses teen — the three sentences</a:t>
            </a:r>
          </a:p>
          <a:p>
            <a:pPr marL="342900" indent="-342900">
              <a:spcAft>
                <a:spcPts val="750"/>
              </a:spcAft>
            </a:pPr>
            <a:r>
              <a:rPr sz="2400" b="1" i="0">
                <a:solidFill>
                  <a:srgbClr val="97BC62"/>
                </a:solidFill>
                <a:latin typeface="Calibri"/>
              </a:rPr>
              <a:t>4   </a:t>
            </a:r>
            <a:r>
              <a:rPr sz="2400" b="0" i="0">
                <a:solidFill>
                  <a:srgbClr val="222B22"/>
                </a:solidFill>
                <a:latin typeface="Calibri"/>
              </a:rPr>
              <a:t>“Family of [last name], the community now blesses you.” The whole room speaks the Aaronic blessing aloud together, slowly.</a:t>
            </a:r>
          </a:p>
          <a:p>
            <a:pPr marL="274320" indent="-274320">
              <a:spcAft>
                <a:spcPts val="750"/>
              </a:spcAft>
            </a:pPr>
            <a:r>
              <a:rPr sz="2400" b="1" i="0">
                <a:solidFill>
                  <a:srgbClr val="97BC62"/>
                </a:solidFill>
                <a:latin typeface="Calibri"/>
              </a:rPr>
              <a:t>•  </a:t>
            </a:r>
            <a:r>
              <a:rPr sz="2400" b="0" i="0">
                <a:solidFill>
                  <a:srgbClr val="222B22"/>
                </a:solidFill>
                <a:latin typeface="Calibri"/>
              </a:rPr>
              <a:t>If you freeze — take your time, or ask the other person to read your worksheet for you. If you cry, that is fine. The room can wait.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261</a:t>
            </a:r>
            <a:endParaRPr sz="1000" b="1">
              <a:solidFill>
                <a:srgbClr val="7A8A6E"/>
              </a:solidFill>
              <a:latin typeface="Calibri"/>
            </a:endParaRPr>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Final Reflection Circle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each person: one specific takeaway from Getting Started, and one specific next commitment — about thirty seconds each</a:t>
            </a:r>
          </a:p>
          <a:p>
            <a:pPr marL="685800" indent="-274320">
              <a:spcAft>
                <a:spcPts val="700"/>
              </a:spcAft>
            </a:pPr>
            <a:r>
              <a:rPr sz="2000" b="1" i="0">
                <a:solidFill>
                  <a:srgbClr val="97BC62"/>
                </a:solidFill>
                <a:latin typeface="Calibri"/>
              </a:rPr>
              <a:t>–  </a:t>
            </a:r>
            <a:r>
              <a:rPr sz="2000" b="0" i="1">
                <a:solidFill>
                  <a:srgbClr val="222B22"/>
                </a:solidFill>
                <a:latin typeface="Calibri"/>
              </a:rPr>
              <a:t>The takeaway can be small — “I learned that I can name a doubt without losing my faith.” “I learned that my dad sees me.”</a:t>
            </a:r>
          </a:p>
          <a:p>
            <a:pPr marL="685800" indent="-274320">
              <a:spcAft>
                <a:spcPts val="700"/>
              </a:spcAft>
            </a:pPr>
            <a:r>
              <a:rPr sz="2000" b="1" i="0">
                <a:solidFill>
                  <a:srgbClr val="97BC62"/>
                </a:solidFill>
                <a:latin typeface="Calibri"/>
              </a:rPr>
              <a:t>–  </a:t>
            </a:r>
            <a:r>
              <a:rPr sz="2000" b="0" i="1">
                <a:solidFill>
                  <a:srgbClr val="222B22"/>
                </a:solidFill>
                <a:latin typeface="Calibri"/>
              </a:rPr>
              <a:t>The commitment can be small too — “I will keep the morning question.” “I will tell my mom one true thing this week.”</a:t>
            </a:r>
          </a:p>
          <a:p>
            <a:pPr marL="274320" indent="-274320">
              <a:spcAft>
                <a:spcPts val="900"/>
              </a:spcAft>
            </a:pPr>
            <a:r>
              <a:rPr sz="2800" b="1" i="0">
                <a:solidFill>
                  <a:srgbClr val="97BC62"/>
                </a:solidFill>
                <a:latin typeface="Calibri"/>
              </a:rPr>
              <a:t>•  </a:t>
            </a:r>
            <a:r>
              <a:rPr sz="2800" b="0" i="0">
                <a:solidFill>
                  <a:srgbClr val="222B22"/>
                </a:solidFill>
                <a:latin typeface="Calibri"/>
              </a:rPr>
              <a:t>You can pass. Visiting family can pass — or share if you want to. The Cluster Companions go first; a parent opens for the families.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262</a:t>
            </a:r>
            <a:endParaRPr sz="1000" b="1">
              <a:solidFill>
                <a:srgbClr val="7A8A6E"/>
              </a:solidFill>
              <a:latin typeface="Calibri"/>
            </a:endParaRPr>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Rhythm Card and Going Deeper Bridge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400" b="1" i="0">
                <a:solidFill>
                  <a:srgbClr val="97BC62"/>
                </a:solidFill>
                <a:latin typeface="Calibri"/>
              </a:rPr>
              <a:t>1   </a:t>
            </a:r>
            <a:r>
              <a:rPr sz="2400" b="0" i="0">
                <a:solidFill>
                  <a:srgbClr val="222B22"/>
                </a:solidFill>
                <a:latin typeface="Calibri"/>
              </a:rPr>
              <a:t>The Daily / Weekly / Monthly Rhythm Card — daily: the morning question and an evening journal note; weekly: one person who knows what you are working on; monthly: a clearing time. It is your card, in your handwriting.</a:t>
            </a:r>
          </a:p>
          <a:p>
            <a:pPr marL="342900" indent="-342900">
              <a:spcAft>
                <a:spcPts val="900"/>
              </a:spcAft>
            </a:pPr>
            <a:r>
              <a:rPr sz="2400" b="1" i="0">
                <a:solidFill>
                  <a:srgbClr val="97BC62"/>
                </a:solidFill>
                <a:latin typeface="Calibri"/>
              </a:rPr>
              <a:t>2   </a:t>
            </a:r>
            <a:r>
              <a:rPr sz="2400" b="0" i="0">
                <a:solidFill>
                  <a:srgbClr val="222B22"/>
                </a:solidFill>
                <a:latin typeface="Calibri"/>
              </a:rPr>
              <a:t>The Going Deeper bridge — twelve Wednesdays. Decide on your own time. Tonight is not a recruiting pitch.</a:t>
            </a:r>
          </a:p>
          <a:p>
            <a:pPr marL="342900" indent="-342900">
              <a:spcAft>
                <a:spcPts val="900"/>
              </a:spcAft>
            </a:pPr>
            <a:r>
              <a:rPr sz="2400" b="1" i="0">
                <a:solidFill>
                  <a:srgbClr val="97BC62"/>
                </a:solidFill>
                <a:latin typeface="Calibri"/>
              </a:rPr>
              <a:t>3   </a:t>
            </a:r>
            <a:r>
              <a:rPr sz="2400" b="0" i="0">
                <a:solidFill>
                  <a:srgbClr val="222B22"/>
                </a:solidFill>
                <a:latin typeface="Calibri"/>
              </a:rPr>
              <a:t>The Post-Series Survey — the bin at the door tonight, or email it this week. The next group of families benefits from your honesty.</a:t>
            </a:r>
          </a:p>
          <a:p>
            <a:pPr marL="274320" indent="-274320">
              <a:spcAft>
                <a:spcPts val="900"/>
              </a:spcAft>
            </a:pPr>
            <a:r>
              <a:rPr sz="2400" b="1" i="0">
                <a:solidFill>
                  <a:srgbClr val="97BC62"/>
                </a:solidFill>
                <a:latin typeface="Calibri"/>
              </a:rPr>
              <a:t>•  </a:t>
            </a:r>
            <a:r>
              <a:rPr sz="2400" b="0" i="0">
                <a:solidFill>
                  <a:srgbClr val="222B22"/>
                </a:solidFill>
                <a:latin typeface="Calibri"/>
              </a:rPr>
              <a:t>If a daily practice slips — do not start over from scratch; start the next day. Streaks are not the point. Returning is the point.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263</a:t>
            </a:r>
            <a:endParaRPr sz="1000" b="1">
              <a:solidFill>
                <a:srgbClr val="7A8A6E"/>
              </a:solidFill>
              <a:latin typeface="Calibri"/>
            </a:endParaRP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264</a:t>
            </a:r>
            <a:endParaRPr sz="1000" b="1">
              <a:solidFill>
                <a:srgbClr val="7A8A6E"/>
              </a:solidFill>
              <a:latin typeface="Calibri"/>
            </a:endParaRPr>
          </a:p>
        </p:txBody>
      </p:sp>
      <p:pic>
        <p:nvPicPr>
          <p:cNvPr id="270" name="CardImage" descr="the Week 21 check-off card, as handed out"/>
          <p:cNvPicPr>
            <a:picLocks noChangeAspect="1"/>
          </p:cNvPicPr>
          <p:nvPr/>
        </p:nvPicPr>
        <p:blipFill>
          <a:blip r:embed="rId3"/>
          <a:stretch>
            <a:fillRect/>
          </a:stretch>
        </p:blipFill>
        <p:spPr>
          <a:xfrm>
            <a:off x="1475460" y="1554480"/>
            <a:ext cx="9240775"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hands.jpg"/>
          <p:cNvPicPr>
            <a:picLocks noChangeAspect="1"/>
          </p:cNvPicPr>
          <p:nvPr/>
        </p:nvPicPr>
        <p:blipFill>
          <a:blip r:embed="rId3"/>
          <a:stretch>
            <a:fillRect/>
          </a:stretch>
        </p:blipFill>
        <p:spPr>
          <a:xfrm>
            <a:off x="6309360" y="1631119"/>
            <a:ext cx="5394960" cy="3595761"/>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22</a:t>
            </a:r>
          </a:p>
          <a:p>
            <a:pPr algn="l">
              <a:spcAft>
                <a:spcPts val="1000"/>
              </a:spcAft>
            </a:pPr>
            <a:r>
              <a:rPr sz="3300" b="1" i="0">
                <a:solidFill>
                  <a:srgbClr val="2C5F2D"/>
                </a:solidFill>
                <a:latin typeface="Cambria"/>
              </a:rPr>
              <a:t>Commissioning the Companions</a:t>
            </a:r>
          </a:p>
          <a:p>
            <a:pPr algn="l">
              <a:spcAft>
                <a:spcPts val="600"/>
              </a:spcAft>
            </a:pPr>
            <a:r>
              <a:rPr sz="1800" b="0" i="1">
                <a:solidFill>
                  <a:srgbClr val="595959"/>
                </a:solidFill>
                <a:latin typeface="Calibri"/>
              </a:rPr>
              <a:t>The exit gate as a witnessed rite — the seniors leave having begun, not finished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266</a:t>
            </a:r>
            <a:endParaRPr sz="1000" b="1">
              <a:solidFill>
                <a:srgbClr val="7A8A6E"/>
              </a:solidFill>
              <a:latin typeface="Calibri"/>
            </a:endParaRPr>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framing</a:t>
            </a:r>
          </a:p>
          <a:p>
            <a:pPr>
              <a:spcAft>
                <a:spcPts val="500"/>
              </a:spcAft>
            </a:pPr>
            <a:r>
              <a:rPr sz="2800" b="1">
                <a:solidFill>
                  <a:srgbClr val="97BC62"/>
                </a:solidFill>
                <a:latin typeface="Calibri"/>
              </a:rPr>
              <a:t>2   </a:t>
            </a:r>
            <a:r>
              <a:rPr sz="2800">
                <a:solidFill>
                  <a:srgbClr val="222B22"/>
                </a:solidFill>
                <a:latin typeface="Calibri"/>
              </a:rPr>
              <a:t>The final rep — the container opened</a:t>
            </a:r>
          </a:p>
          <a:p>
            <a:pPr>
              <a:spcAft>
                <a:spcPts val="500"/>
              </a:spcAft>
            </a:pPr>
            <a:r>
              <a:rPr sz="2800" b="1">
                <a:solidFill>
                  <a:srgbClr val="97BC62"/>
                </a:solidFill>
                <a:latin typeface="Calibri"/>
              </a:rPr>
              <a:t>3   </a:t>
            </a:r>
            <a:r>
              <a:rPr sz="2800">
                <a:solidFill>
                  <a:srgbClr val="222B22"/>
                </a:solidFill>
                <a:latin typeface="Calibri"/>
              </a:rPr>
              <a:t>The word over the night</a:t>
            </a:r>
          </a:p>
          <a:p>
            <a:pPr>
              <a:spcAft>
                <a:spcPts val="500"/>
              </a:spcAft>
            </a:pPr>
            <a:r>
              <a:rPr sz="2800" b="1">
                <a:solidFill>
                  <a:srgbClr val="97BC62"/>
                </a:solidFill>
                <a:latin typeface="Calibri"/>
              </a:rPr>
              <a:t>4   </a:t>
            </a:r>
            <a:r>
              <a:rPr sz="2800">
                <a:solidFill>
                  <a:srgbClr val="222B22"/>
                </a:solidFill>
                <a:latin typeface="Calibri"/>
              </a:rPr>
              <a:t>The three rules read aloud</a:t>
            </a:r>
          </a:p>
          <a:p>
            <a:pPr>
              <a:spcAft>
                <a:spcPts val="500"/>
              </a:spcAft>
            </a:pPr>
            <a:r>
              <a:rPr sz="2800" b="1">
                <a:solidFill>
                  <a:srgbClr val="97BC62"/>
                </a:solidFill>
                <a:latin typeface="Calibri"/>
              </a:rPr>
              <a:t>5   </a:t>
            </a:r>
            <a:r>
              <a:rPr sz="2800">
                <a:solidFill>
                  <a:srgbClr val="222B22"/>
                </a:solidFill>
                <a:latin typeface="Calibri"/>
              </a:rPr>
              <a:t>The covering named</a:t>
            </a:r>
          </a:p>
          <a:p>
            <a:pPr>
              <a:spcAft>
                <a:spcPts val="500"/>
              </a:spcAft>
            </a:pPr>
            <a:r>
              <a:rPr sz="2800" b="1">
                <a:solidFill>
                  <a:srgbClr val="97BC62"/>
                </a:solidFill>
                <a:latin typeface="Calibri"/>
              </a:rPr>
              <a:t>6   </a:t>
            </a:r>
            <a:r>
              <a:rPr sz="2800">
                <a:solidFill>
                  <a:srgbClr val="222B22"/>
                </a:solidFill>
                <a:latin typeface="Calibri"/>
              </a:rPr>
              <a:t>The commissioning</a:t>
            </a:r>
          </a:p>
          <a:p>
            <a:pPr>
              <a:spcAft>
                <a:spcPts val="500"/>
              </a:spcAft>
            </a:pPr>
            <a:r>
              <a:rPr sz="2800" b="1">
                <a:solidFill>
                  <a:srgbClr val="97BC62"/>
                </a:solidFill>
                <a:latin typeface="Calibri"/>
              </a:rPr>
              <a:t>7   </a:t>
            </a:r>
            <a:r>
              <a:rPr sz="2800">
                <a:solidFill>
                  <a:srgbClr val="222B22"/>
                </a:solidFill>
                <a:latin typeface="Calibri"/>
              </a:rPr>
              <a:t>The first Lab scheduled</a:t>
            </a:r>
          </a:p>
          <a:p>
            <a:pPr>
              <a:spcAft>
                <a:spcPts val="500"/>
              </a:spcAft>
            </a:pPr>
            <a:r>
              <a:rPr sz="2800" b="1">
                <a:solidFill>
                  <a:srgbClr val="97BC62"/>
                </a:solidFill>
                <a:latin typeface="Calibri"/>
              </a:rPr>
              <a:t>8   </a:t>
            </a:r>
            <a:r>
              <a:rPr sz="2800">
                <a:solidFill>
                  <a:srgbClr val="222B22"/>
                </a:solidFill>
                <a:latin typeface="Calibri"/>
              </a:rPr>
              <a:t>The Leader Feedback Round</a:t>
            </a:r>
          </a:p>
          <a:p>
            <a:pPr>
              <a:spcAft>
                <a:spcPts val="500"/>
              </a:spcAft>
            </a:pPr>
            <a:r>
              <a:rPr sz="2800" b="1">
                <a:solidFill>
                  <a:srgbClr val="97BC62"/>
                </a:solidFill>
                <a:latin typeface="Calibri"/>
              </a:rPr>
              <a:t>9   </a:t>
            </a:r>
            <a:r>
              <a:rPr sz="2800">
                <a:solidFill>
                  <a:srgbClr val="222B22"/>
                </a:solidFill>
                <a:latin typeface="Calibri"/>
              </a:rPr>
              <a:t>The final rep — the container closed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and Framing — a Gate, Not a Graduation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Last week we commissioned the families. Tonight we commission the Companions — and this is not a graduation. Nobody is leaving; tonight opens a door further in.</a:t>
            </a:r>
          </a:p>
          <a:p>
            <a:pPr marL="274320" indent="-274320">
              <a:spcAft>
                <a:spcPts val="750"/>
              </a:spcAft>
            </a:pPr>
            <a:r>
              <a:rPr sz="2000" b="1" i="0">
                <a:solidFill>
                  <a:srgbClr val="97BC62"/>
                </a:solidFill>
                <a:latin typeface="Calibri"/>
              </a:rPr>
              <a:t>•  </a:t>
            </a:r>
            <a:r>
              <a:rPr sz="2000" b="0" i="0">
                <a:solidFill>
                  <a:srgbClr val="222B22"/>
                </a:solidFill>
                <a:latin typeface="Calibri"/>
              </a:rPr>
              <a:t>The seniors become FC1 — Formation Companion, Level One: a serving place in this body. Not finishing something — beginning something.</a:t>
            </a:r>
          </a:p>
          <a:p>
            <a:pPr marL="342900" indent="-342900">
              <a:spcAft>
                <a:spcPts val="750"/>
              </a:spcAft>
            </a:pPr>
            <a:r>
              <a:rPr sz="2000" b="1" i="0">
                <a:solidFill>
                  <a:srgbClr val="97BC62"/>
                </a:solidFill>
                <a:latin typeface="Calibri"/>
              </a:rPr>
              <a:t>1   </a:t>
            </a:r>
            <a:r>
              <a:rPr sz="2000" b="0" i="0">
                <a:solidFill>
                  <a:srgbClr val="222B22"/>
                </a:solidFill>
                <a:latin typeface="Calibri"/>
              </a:rPr>
              <a:t>The final rep — the container opened and closed from memory, no script</a:t>
            </a:r>
          </a:p>
          <a:p>
            <a:pPr marL="342900" indent="-342900">
              <a:spcAft>
                <a:spcPts val="750"/>
              </a:spcAft>
            </a:pPr>
            <a:r>
              <a:rPr sz="2000" b="1" i="0">
                <a:solidFill>
                  <a:srgbClr val="97BC62"/>
                </a:solidFill>
                <a:latin typeface="Calibri"/>
              </a:rPr>
              <a:t>2   </a:t>
            </a:r>
            <a:r>
              <a:rPr sz="2000" b="0" i="0">
                <a:solidFill>
                  <a:srgbClr val="222B22"/>
                </a:solidFill>
                <a:latin typeface="Calibri"/>
              </a:rPr>
              <a:t>The three rules that never bend, read aloud to the whole room</a:t>
            </a:r>
          </a:p>
          <a:p>
            <a:pPr marL="342900" indent="-342900">
              <a:spcAft>
                <a:spcPts val="750"/>
              </a:spcAft>
            </a:pPr>
            <a:r>
              <a:rPr sz="2000" b="1" i="0">
                <a:solidFill>
                  <a:srgbClr val="97BC62"/>
                </a:solidFill>
                <a:latin typeface="Calibri"/>
              </a:rPr>
              <a:t>3   </a:t>
            </a:r>
            <a:r>
              <a:rPr sz="2000" b="0" i="0">
                <a:solidFill>
                  <a:srgbClr val="222B22"/>
                </a:solidFill>
                <a:latin typeface="Calibri"/>
              </a:rPr>
              <a:t>The covering named — the adult each new FC1 calls when they are over their head</a:t>
            </a:r>
          </a:p>
          <a:p>
            <a:pPr marL="342900" indent="-342900">
              <a:spcAft>
                <a:spcPts val="750"/>
              </a:spcAft>
            </a:pPr>
            <a:r>
              <a:rPr sz="2000" b="1" i="0">
                <a:solidFill>
                  <a:srgbClr val="97BC62"/>
                </a:solidFill>
                <a:latin typeface="Calibri"/>
              </a:rPr>
              <a:t>4   </a:t>
            </a:r>
            <a:r>
              <a:rPr sz="2000" b="0" i="0">
                <a:solidFill>
                  <a:srgbClr val="222B22"/>
                </a:solidFill>
                <a:latin typeface="Calibri"/>
              </a:rPr>
              <a:t>The commissioning — blessing spoken over each one, and the first Leader Lab on the calendar before anyone leaves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268</a:t>
            </a:r>
            <a:endParaRPr sz="1000" b="1">
              <a:solidFill>
                <a:srgbClr val="7A8A6E"/>
              </a:solidFill>
              <a:latin typeface="Calibri"/>
            </a:endParaRPr>
          </a:p>
        </p:txBody>
      </p:sp>
      <p:pic>
        <p:nvPicPr>
          <p:cNvPr id="34" name="Picture 34" descr="the open door - the same doorway the year began with"/>
          <p:cNvPicPr>
            <a:picLocks noChangeAspect="1"/>
          </p:cNvPicPr>
          <p:nvPr/>
        </p:nvPicPr>
        <p:blipFill>
          <a:blip r:embed="rId3"/>
          <a:stretch>
            <a:fillRect/>
          </a:stretch>
        </p:blipFill>
        <p:spPr>
          <a:xfrm>
            <a:off x="7693904" y="1463040"/>
            <a:ext cx="3672087"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Final Rep — the Container Opened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Container fluency is FC1’s spine competency — Safe, Present, Clear, Intentional, from memory, without a script. Tonight is the witness of it, not the exam.</a:t>
            </a:r>
          </a:p>
          <a:p>
            <a:pPr marL="274320" indent="-274320">
              <a:spcAft>
                <a:spcPts val="750"/>
              </a:spcAft>
            </a:pPr>
            <a:r>
              <a:rPr sz="2200" b="1" i="0">
                <a:solidFill>
                  <a:srgbClr val="97BC62"/>
                </a:solidFill>
                <a:latin typeface="Calibri"/>
              </a:rPr>
              <a:t>•  </a:t>
            </a:r>
            <a:r>
              <a:rPr sz="2200" b="0" i="0">
                <a:solidFill>
                  <a:srgbClr val="222B22"/>
                </a:solidFill>
                <a:latin typeface="Calibri"/>
              </a:rPr>
              <a:t>One senior opens the container whole — welcome, phones, the standing circle, one-word check-in, put out / bring in, the spoken commitment, opening prayer</a:t>
            </a:r>
          </a:p>
          <a:p>
            <a:pPr marL="685800" indent="-274320">
              <a:spcAft>
                <a:spcPts val="550"/>
              </a:spcAft>
            </a:pPr>
            <a:r>
              <a:rPr sz="1800" b="1" i="0">
                <a:solidFill>
                  <a:srgbClr val="97BC62"/>
                </a:solidFill>
                <a:latin typeface="Calibri"/>
              </a:rPr>
              <a:t>–  </a:t>
            </a:r>
            <a:r>
              <a:rPr sz="1800" b="0" i="1">
                <a:solidFill>
                  <a:srgbClr val="222B22"/>
                </a:solidFill>
                <a:latin typeface="Calibri"/>
              </a:rPr>
              <a:t>“I am here. I am paying attention. I am willing to be moved.”</a:t>
            </a:r>
          </a:p>
          <a:p>
            <a:pPr marL="274320" indent="-274320">
              <a:spcAft>
                <a:spcPts val="750"/>
              </a:spcAft>
            </a:pPr>
            <a:r>
              <a:rPr sz="2200" b="1" i="0">
                <a:solidFill>
                  <a:srgbClr val="97BC62"/>
                </a:solidFill>
                <a:latin typeface="Calibri"/>
              </a:rPr>
              <a:t>•  </a:t>
            </a:r>
            <a:r>
              <a:rPr sz="2200" b="0" i="0">
                <a:solidFill>
                  <a:srgbClr val="222B22"/>
                </a:solidFill>
                <a:latin typeface="Calibri"/>
              </a:rPr>
              <a:t>Every other senior speaks one condition from memory — in their own words, with one short true story of holding it while leading this year</a:t>
            </a:r>
          </a:p>
          <a:p>
            <a:pPr marL="274320" indent="-274320">
              <a:spcAft>
                <a:spcPts val="750"/>
              </a:spcAft>
            </a:pPr>
            <a:r>
              <a:rPr sz="2200" b="1" i="0">
                <a:solidFill>
                  <a:srgbClr val="97BC62"/>
                </a:solidFill>
                <a:latin typeface="Calibri"/>
              </a:rPr>
              <a:t>•  </a:t>
            </a:r>
            <a:r>
              <a:rPr sz="2200" b="0" i="0">
                <a:solidFill>
                  <a:srgbClr val="222B22"/>
                </a:solidFill>
                <a:latin typeface="Calibri"/>
              </a:rPr>
              <a:t>One senior is held in reserve — tonight’s close is theirs</a:t>
            </a:r>
          </a:p>
          <a:p>
            <a:pPr marL="274320" indent="-274320">
              <a:spcAft>
                <a:spcPts val="750"/>
              </a:spcAft>
            </a:pPr>
            <a:r>
              <a:rPr sz="2200" b="1" i="0">
                <a:solidFill>
                  <a:srgbClr val="97BC62"/>
                </a:solidFill>
                <a:latin typeface="Calibri"/>
              </a:rPr>
              <a:t>•  </a:t>
            </a:r>
            <a:r>
              <a:rPr sz="2200" b="0" i="0">
                <a:solidFill>
                  <a:srgbClr val="222B22"/>
                </a:solidFill>
                <a:latin typeface="Calibri"/>
              </a:rPr>
              <a:t>The gate is fluency across the arc, not perfection tonight. A stumble is not a fail.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269</a:t>
            </a:r>
            <a:endParaRPr sz="1000" b="1">
              <a:solidFill>
                <a:srgbClr val="7A8A6E"/>
              </a:solidFill>
              <a:latin typeface="Calibri"/>
            </a:endParaRPr>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Word Over the Night</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Count the generations: Paul. Timothy. Faithful ones. Others also. Four generations in a single sentence — and the handing happens “in the presence of many witnesses.” In a room like this one.</a:t>
            </a:r>
          </a:p>
          <a:p>
            <a:pPr marL="274320" indent="-274320">
              <a:spcAft>
                <a:spcPts val="800"/>
              </a:spcAft>
            </a:pPr>
            <a:r>
              <a:rPr sz="2000" b="1" i="0">
                <a:solidFill>
                  <a:srgbClr val="97BC62"/>
                </a:solidFill>
                <a:latin typeface="Calibri"/>
              </a:rPr>
              <a:t>•  </a:t>
            </a:r>
            <a:r>
              <a:rPr sz="2000" b="0" i="0">
                <a:solidFill>
                  <a:srgbClr val="222B22"/>
                </a:solidFill>
                <a:latin typeface="Calibri"/>
              </a:rPr>
              <a:t>Tonight the third generation stands up in front of the second — and the fourth is already sitting in the room</a:t>
            </a:r>
          </a:p>
          <a:p>
            <a:pPr marL="274320" indent="-274320">
              <a:spcAft>
                <a:spcPts val="800"/>
              </a:spcAft>
            </a:pPr>
            <a:r>
              <a:rPr sz="2000" b="1" i="0">
                <a:solidFill>
                  <a:srgbClr val="97BC62"/>
                </a:solidFill>
                <a:latin typeface="Calibri"/>
              </a:rPr>
              <a:t>•  </a:t>
            </a:r>
            <a:r>
              <a:rPr sz="2000" b="0" i="0">
                <a:solidFill>
                  <a:srgbClr val="222B22"/>
                </a:solidFill>
                <a:latin typeface="Calibri"/>
              </a:rPr>
              <a:t>1 Timothy 4:12 — “Let no one despise you for your youth, but set the believers an example in speech, in conduct, in love, in faith, in purity.”</a:t>
            </a:r>
          </a:p>
          <a:p>
            <a:pPr marL="274320" indent="-274320">
              <a:spcAft>
                <a:spcPts val="800"/>
              </a:spcAft>
            </a:pPr>
            <a:r>
              <a:rPr sz="2000" b="1" i="0">
                <a:solidFill>
                  <a:srgbClr val="97BC62"/>
                </a:solidFill>
                <a:latin typeface="Calibri"/>
              </a:rPr>
              <a:t>•  </a:t>
            </a:r>
            <a:r>
              <a:rPr sz="2000" b="0" i="0">
                <a:solidFill>
                  <a:srgbClr val="222B22"/>
                </a:solidFill>
                <a:latin typeface="Calibri"/>
              </a:rPr>
              <a:t>Tonight this room does the opposite of despising. Then prayer over the seniors.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2 TIMOTHY 2:2</a:t>
            </a:r>
          </a:p>
          <a:p>
            <a:pPr>
              <a:spcAft>
                <a:spcPts val="600"/>
              </a:spcAft>
            </a:pPr>
            <a:r>
              <a:rPr sz="2400" b="0" i="1">
                <a:solidFill>
                  <a:srgbClr val="222B22"/>
                </a:solidFill>
                <a:latin typeface="Cambria"/>
              </a:rPr>
              <a:t>“and what you have heard from me in the presence of many witnesses entrust to faithful men, who will be able to teach others also.”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270</a:t>
            </a:r>
            <a:endParaRPr sz="1000" b="1">
              <a:solidFill>
                <a:srgbClr val="7A8A6E"/>
              </a:solidFill>
              <a:latin typeface="Calibri"/>
            </a:endParaRP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Three Rules Read Aloud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The bright line made public — the whole room hears the boundaries its young leaders keep. These rules protect you and your kids as much as they protect the leaders.</a:t>
            </a:r>
          </a:p>
          <a:p>
            <a:pPr marL="342900" indent="-342900">
              <a:spcAft>
                <a:spcPts val="900"/>
              </a:spcAft>
            </a:pPr>
            <a:r>
              <a:rPr sz="2200" b="1" i="0">
                <a:solidFill>
                  <a:srgbClr val="97BC62"/>
                </a:solidFill>
                <a:latin typeface="Calibri"/>
              </a:rPr>
              <a:t>1   </a:t>
            </a:r>
            <a:r>
              <a:rPr sz="2200" b="0" i="0">
                <a:solidFill>
                  <a:srgbClr val="222B22"/>
                </a:solidFill>
                <a:latin typeface="Calibri"/>
              </a:rPr>
              <a:t>A Companion-in-Formation never counts as one of the two adults. “Co-lead” means an adult Companion in the room — not nearby, in the room.</a:t>
            </a:r>
          </a:p>
          <a:p>
            <a:pPr marL="342900" indent="-342900">
              <a:spcAft>
                <a:spcPts val="900"/>
              </a:spcAft>
            </a:pPr>
            <a:r>
              <a:rPr sz="2200" b="1" i="0">
                <a:solidFill>
                  <a:srgbClr val="97BC62"/>
                </a:solidFill>
                <a:latin typeface="Calibri"/>
              </a:rPr>
              <a:t>2   </a:t>
            </a:r>
            <a:r>
              <a:rPr sz="2200" b="0" i="0">
                <a:solidFill>
                  <a:srgbClr val="222B22"/>
                </a:solidFill>
                <a:latin typeface="Calibri"/>
              </a:rPr>
              <a:t>A Companion-in-Formation never takes a disclosure. If something heavy surfaces, their only job is to hand it to the adult immediately. They are not a junior counselor.</a:t>
            </a:r>
          </a:p>
          <a:p>
            <a:pPr marL="342900" indent="-342900">
              <a:spcAft>
                <a:spcPts val="900"/>
              </a:spcAft>
            </a:pPr>
            <a:r>
              <a:rPr sz="2200" b="1" i="0">
                <a:solidFill>
                  <a:srgbClr val="97BC62"/>
                </a:solidFill>
                <a:latin typeface="Calibri"/>
              </a:rPr>
              <a:t>3   </a:t>
            </a:r>
            <a:r>
              <a:rPr sz="2200" b="0" i="0">
                <a:solidFill>
                  <a:srgbClr val="222B22"/>
                </a:solidFill>
                <a:latin typeface="Calibri"/>
              </a:rPr>
              <a:t>Lead only a block you have first received. See it, then lead it.</a:t>
            </a:r>
          </a:p>
          <a:p>
            <a:pPr marL="274320" indent="-274320">
              <a:spcAft>
                <a:spcPts val="900"/>
              </a:spcAft>
            </a:pPr>
            <a:r>
              <a:rPr sz="2200" b="1" i="0">
                <a:solidFill>
                  <a:srgbClr val="97BC62"/>
                </a:solidFill>
                <a:latin typeface="Calibri"/>
              </a:rPr>
              <a:t>•  </a:t>
            </a:r>
            <a:r>
              <a:rPr sz="2200" b="0" i="0">
                <a:solidFill>
                  <a:srgbClr val="222B22"/>
                </a:solidFill>
                <a:latin typeface="Calibri"/>
              </a:rPr>
              <a:t>These rules never bend — not for talent, not for maturity, not for a short-handed night. Handing the heavy thing to your adult is the strong, faithful move — never a failure.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271</a:t>
            </a:r>
            <a:endParaRPr sz="1000" b="1">
              <a:solidFill>
                <a:srgbClr val="7A8A6E"/>
              </a:solidFill>
              <a:latin typeface="Calibri"/>
            </a:endParaRPr>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Covering Named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An FC1 never leads uncovered — an adult with a name and a phone number, who has said yes</a:t>
            </a:r>
          </a:p>
          <a:p>
            <a:pPr marL="274320" indent="-274320">
              <a:spcAft>
                <a:spcPts val="900"/>
              </a:spcAft>
            </a:pPr>
            <a:r>
              <a:rPr sz="2800" b="1" i="0">
                <a:solidFill>
                  <a:srgbClr val="97BC62"/>
                </a:solidFill>
                <a:latin typeface="Calibri"/>
              </a:rPr>
              <a:t>•  </a:t>
            </a:r>
            <a:r>
              <a:rPr sz="2800" b="0" i="0">
                <a:solidFill>
                  <a:srgbClr val="222B22"/>
                </a:solidFill>
                <a:latin typeface="Calibri"/>
              </a:rPr>
              <a:t>A covering that is public is a covering that holds</a:t>
            </a:r>
          </a:p>
          <a:p>
            <a:pPr marL="342900" indent="-342900">
              <a:spcAft>
                <a:spcPts val="900"/>
              </a:spcAft>
            </a:pPr>
            <a:r>
              <a:rPr sz="2800" b="1" i="0">
                <a:solidFill>
                  <a:srgbClr val="97BC62"/>
                </a:solidFill>
                <a:latin typeface="Calibri"/>
              </a:rPr>
              <a:t>1   </a:t>
            </a:r>
            <a:r>
              <a:rPr sz="2800" b="0" i="0">
                <a:solidFill>
                  <a:srgbClr val="222B22"/>
                </a:solidFill>
                <a:latin typeface="Calibri"/>
              </a:rPr>
              <a:t>Each senior stands and says it plainly: “When I am over my head, I call _____.”</a:t>
            </a:r>
          </a:p>
          <a:p>
            <a:pPr marL="342900" indent="-342900">
              <a:spcAft>
                <a:spcPts val="900"/>
              </a:spcAft>
            </a:pPr>
            <a:r>
              <a:rPr sz="2800" b="1" i="0">
                <a:solidFill>
                  <a:srgbClr val="97BC62"/>
                </a:solidFill>
                <a:latin typeface="Calibri"/>
              </a:rPr>
              <a:t>2   </a:t>
            </a:r>
            <a:r>
              <a:rPr sz="2800" b="0" i="0">
                <a:solidFill>
                  <a:srgbClr val="222B22"/>
                </a:solidFill>
                <a:latin typeface="Calibri"/>
              </a:rPr>
              <a:t>The sign-off confirmed publicly — the parent: “I confirm it.” The Lead Companion: “And I confirm it.”</a:t>
            </a:r>
          </a:p>
          <a:p>
            <a:pPr marL="342900" indent="-342900">
              <a:spcAft>
                <a:spcPts val="900"/>
              </a:spcAft>
            </a:pPr>
            <a:r>
              <a:rPr sz="2800" b="1" i="0">
                <a:solidFill>
                  <a:srgbClr val="97BC62"/>
                </a:solidFill>
                <a:latin typeface="Calibri"/>
              </a:rPr>
              <a:t>3   </a:t>
            </a:r>
            <a:r>
              <a:rPr sz="2800" b="0" i="0">
                <a:solidFill>
                  <a:srgbClr val="222B22"/>
                </a:solidFill>
                <a:latin typeface="Calibri"/>
              </a:rPr>
              <a:t>The covering name goes onto the Commissioning Card, there in the circle — ink, not intention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272</a:t>
            </a:r>
            <a:endParaRPr sz="1000" b="1">
              <a:solidFill>
                <a:srgbClr val="7A8A6E"/>
              </a:solidFill>
              <a:latin typeface="Calibri"/>
            </a:endParaRP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Commissioning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200" b="1" i="0">
                <a:solidFill>
                  <a:srgbClr val="97BC62"/>
                </a:solidFill>
                <a:latin typeface="Calibri"/>
              </a:rPr>
              <a:t>1   </a:t>
            </a:r>
            <a:r>
              <a:rPr sz="2200" b="0" i="0">
                <a:solidFill>
                  <a:srgbClr val="222B22"/>
                </a:solidFill>
                <a:latin typeface="Calibri"/>
              </a:rPr>
              <a:t>Each senior stands in the center; their family stands behind them</a:t>
            </a:r>
          </a:p>
          <a:p>
            <a:pPr marL="342900" indent="-342900">
              <a:spcAft>
                <a:spcPts val="750"/>
              </a:spcAft>
            </a:pPr>
            <a:r>
              <a:rPr sz="2200" b="1" i="0">
                <a:solidFill>
                  <a:srgbClr val="97BC62"/>
                </a:solidFill>
                <a:latin typeface="Calibri"/>
              </a:rPr>
              <a:t>2   </a:t>
            </a:r>
            <a:r>
              <a:rPr sz="2200" b="0" i="0">
                <a:solidFill>
                  <a:srgbClr val="222B22"/>
                </a:solidFill>
                <a:latin typeface="Calibri"/>
              </a:rPr>
              <a:t>Two Companions speak their prepared blessings — drawn from specific moments of leading: what we saw, what we bless, what we see coming</a:t>
            </a:r>
          </a:p>
          <a:p>
            <a:pPr marL="342900" indent="-342900">
              <a:spcAft>
                <a:spcPts val="750"/>
              </a:spcAft>
            </a:pPr>
            <a:r>
              <a:rPr sz="2200" b="1" i="0">
                <a:solidFill>
                  <a:srgbClr val="97BC62"/>
                </a:solidFill>
                <a:latin typeface="Calibri"/>
              </a:rPr>
              <a:t>3   </a:t>
            </a:r>
            <a:r>
              <a:rPr sz="2200" b="0" i="0">
                <a:solidFill>
                  <a:srgbClr val="222B22"/>
                </a:solidFill>
                <a:latin typeface="Calibri"/>
              </a:rPr>
              <a:t>The parent may add one sentence. One. It will be the one the teen remembers.</a:t>
            </a:r>
          </a:p>
          <a:p>
            <a:pPr marL="342900" indent="-342900">
              <a:spcAft>
                <a:spcPts val="750"/>
              </a:spcAft>
            </a:pPr>
            <a:r>
              <a:rPr sz="2200" b="1" i="0">
                <a:solidFill>
                  <a:srgbClr val="97BC62"/>
                </a:solidFill>
                <a:latin typeface="Calibri"/>
              </a:rPr>
              <a:t>4   </a:t>
            </a:r>
            <a:r>
              <a:rPr sz="2200" b="0" i="0">
                <a:solidFill>
                  <a:srgbClr val="222B22"/>
                </a:solidFill>
                <a:latin typeface="Calibri"/>
              </a:rPr>
              <a:t>The cohort speaks the Aaronic blessing over the new FC1 — the whole room, slowly, hands extended</a:t>
            </a:r>
          </a:p>
          <a:p>
            <a:pPr marL="342900" indent="-342900">
              <a:spcAft>
                <a:spcPts val="750"/>
              </a:spcAft>
            </a:pPr>
            <a:r>
              <a:rPr sz="2200" b="1" i="0">
                <a:solidFill>
                  <a:srgbClr val="97BC62"/>
                </a:solidFill>
                <a:latin typeface="Calibri"/>
              </a:rPr>
              <a:t>5   </a:t>
            </a:r>
            <a:r>
              <a:rPr sz="2200" b="0" i="0">
                <a:solidFill>
                  <a:srgbClr val="222B22"/>
                </a:solidFill>
                <a:latin typeface="Calibri"/>
              </a:rPr>
              <a:t>“[Name], the team commissions you as Formation Companion, Level One. Serve the body. Keep the rules. Call your covering. Watch the signs.”</a:t>
            </a:r>
          </a:p>
          <a:p>
            <a:pPr marL="274320" indent="-274320">
              <a:spcAft>
                <a:spcPts val="750"/>
              </a:spcAft>
            </a:pPr>
            <a:r>
              <a:rPr sz="2200" b="1" i="0">
                <a:solidFill>
                  <a:srgbClr val="97BC62"/>
                </a:solidFill>
                <a:latin typeface="Calibri"/>
              </a:rPr>
              <a:t>•  </a:t>
            </a:r>
            <a:r>
              <a:rPr sz="2200" b="0" i="0">
                <a:solidFill>
                  <a:srgbClr val="222B22"/>
                </a:solidFill>
                <a:latin typeface="Calibri"/>
              </a:rPr>
              <a:t>Then the charge, once, over all of them — keep your own walk first; keep the three rules when no one is checking; call your covering early, not late; watch the three signs. “FC1 is a real and honorable place to stand… Set the example.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273</a:t>
            </a:r>
            <a:endParaRPr sz="1000" b="1">
              <a:solidFill>
                <a:srgbClr val="7A8A6E"/>
              </a:solidFill>
              <a:latin typeface="Calibri"/>
            </a:endParaRP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Lab Scheduled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Before anyone reaches for a coat — one piece of business, on purpose, in front of everyone</a:t>
            </a:r>
          </a:p>
          <a:p>
            <a:pPr marL="274320" indent="-274320">
              <a:spcAft>
                <a:spcPts val="900"/>
              </a:spcAft>
            </a:pPr>
            <a:r>
              <a:rPr sz="2800" b="1" i="0">
                <a:solidFill>
                  <a:srgbClr val="97BC62"/>
                </a:solidFill>
                <a:latin typeface="Calibri"/>
              </a:rPr>
              <a:t>•  </a:t>
            </a:r>
            <a:r>
              <a:rPr sz="2800" b="0" i="0">
                <a:solidFill>
                  <a:srgbClr val="222B22"/>
                </a:solidFill>
                <a:latin typeface="Calibri"/>
              </a:rPr>
              <a:t>The first Leader Lab of the spring serving cycle: [day], [date], [time], [place]. Write it down now.</a:t>
            </a:r>
          </a:p>
          <a:p>
            <a:pPr marL="274320" indent="-274320">
              <a:spcAft>
                <a:spcPts val="900"/>
              </a:spcAft>
            </a:pPr>
            <a:r>
              <a:rPr sz="2800" b="1" i="0">
                <a:solidFill>
                  <a:srgbClr val="97BC62"/>
                </a:solidFill>
                <a:latin typeface="Calibri"/>
              </a:rPr>
              <a:t>•  </a:t>
            </a:r>
            <a:r>
              <a:rPr sz="2800" b="0" i="0">
                <a:solidFill>
                  <a:srgbClr val="222B22"/>
                </a:solidFill>
                <a:latin typeface="Calibri"/>
              </a:rPr>
              <a:t>The Lab 1 assignment is already set: bring one vital-signs observation from this room, tonight</a:t>
            </a:r>
          </a:p>
          <a:p>
            <a:pPr marL="274320" indent="-274320">
              <a:spcAft>
                <a:spcPts val="900"/>
              </a:spcAft>
            </a:pPr>
            <a:r>
              <a:rPr sz="2800" b="1" i="0">
                <a:solidFill>
                  <a:srgbClr val="97BC62"/>
                </a:solidFill>
                <a:latin typeface="Calibri"/>
              </a:rPr>
              <a:t>•  </a:t>
            </a:r>
            <a:r>
              <a:rPr sz="2800" b="0" i="0">
                <a:solidFill>
                  <a:srgbClr val="222B22"/>
                </a:solidFill>
                <a:latin typeface="Calibri"/>
              </a:rPr>
              <a:t>“Anyone can hold a beautiful ceremony. The proof that tonight was a gate and not a ceremony is a date on a calendar.” The exit is an entrance.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274</a:t>
            </a:r>
            <a:endParaRPr sz="1000" b="1">
              <a:solidFill>
                <a:srgbClr val="7A8A6E"/>
              </a:solidFill>
              <a:latin typeface="Calibri"/>
            </a:endParaRP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275</a:t>
            </a:r>
            <a:endParaRPr sz="1000" b="1">
              <a:solidFill>
                <a:srgbClr val="7A8A6E"/>
              </a:solidFill>
              <a:latin typeface="Calibri"/>
            </a:endParaRPr>
          </a:p>
        </p:txBody>
      </p:sp>
      <p:pic>
        <p:nvPicPr>
          <p:cNvPr id="270" name="CardImage" descr="the Week 22 check-off card, as handed out"/>
          <p:cNvPicPr>
            <a:picLocks noChangeAspect="1"/>
          </p:cNvPicPr>
          <p:nvPr/>
        </p:nvPicPr>
        <p:blipFill>
          <a:blip r:embed="rId3"/>
          <a:stretch>
            <a:fillRect/>
          </a:stretch>
        </p:blipFill>
        <p:spPr>
          <a:xfrm>
            <a:off x="1849930" y="1554480"/>
            <a:ext cx="849183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276</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Final Rep — the Container Closed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reserved senior closes the container from memory — the standing circle, the one-word landing, the one thing, the one practice, the blessing round, the closing prayer and sending</a:t>
            </a:r>
          </a:p>
          <a:p>
            <a:pPr marL="274320" indent="-274320">
              <a:spcAft>
                <a:spcPts val="900"/>
              </a:spcAft>
            </a:pPr>
            <a:r>
              <a:rPr sz="2800" b="1" i="0">
                <a:solidFill>
                  <a:srgbClr val="97BC62"/>
                </a:solidFill>
                <a:latin typeface="Calibri"/>
              </a:rPr>
              <a:t>•  </a:t>
            </a:r>
            <a:r>
              <a:rPr sz="2800" b="0" i="0">
                <a:solidFill>
                  <a:srgbClr val="222B22"/>
                </a:solidFill>
                <a:latin typeface="Calibri"/>
              </a:rPr>
              <a:t>The rite that opened in a senior’s voice ends in a senior’s voice — the last words of Getting Started are spoken by the generation it raised</a:t>
            </a:r>
          </a:p>
          <a:p>
            <a:pPr marL="274320" indent="-274320">
              <a:spcAft>
                <a:spcPts val="900"/>
              </a:spcAft>
            </a:pPr>
            <a:r>
              <a:rPr sz="2800" b="1" i="0">
                <a:solidFill>
                  <a:srgbClr val="97BC62"/>
                </a:solidFill>
                <a:latin typeface="Calibri"/>
              </a:rPr>
              <a:t>•  </a:t>
            </a:r>
            <a:r>
              <a:rPr sz="2800" b="0" i="0">
                <a:solidFill>
                  <a:srgbClr val="222B22"/>
                </a:solidFill>
                <a:latin typeface="Calibri"/>
              </a:rPr>
              <a:t>If the senior sends the room, the room is sent — nothing is added after</a:t>
            </a:r>
          </a:p>
          <a:p>
            <a:pPr marL="274320" indent="-274320">
              <a:spcAft>
                <a:spcPts val="900"/>
              </a:spcAft>
            </a:pPr>
            <a:r>
              <a:rPr sz="2800" b="1" i="0">
                <a:solidFill>
                  <a:srgbClr val="97BC62"/>
                </a:solidFill>
                <a:latin typeface="Calibri"/>
              </a:rPr>
              <a:t>•  </a:t>
            </a:r>
            <a:r>
              <a:rPr sz="2800" b="0" i="0">
                <a:solidFill>
                  <a:srgbClr val="222B22"/>
                </a:solidFill>
                <a:latin typeface="Calibri"/>
              </a:rPr>
              <a:t>After: the signing — everyone signs each new FC1’s keepsake, the way you sign a Bible flyleaf. Then dessert. Stay.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277</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