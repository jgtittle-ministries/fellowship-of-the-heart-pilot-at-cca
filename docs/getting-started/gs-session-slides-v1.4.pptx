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Default Extension="png" ContentType="image/png"/>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334" r:id="rId85"/>
    <p:sldId id="333" r:id="rId84"/>
    <p:sldId id="332" r:id="rId83"/>
    <p:sldId id="331" r:id="rId82"/>
    <p:sldId id="330" r:id="rId81"/>
    <p:sldId id="329" r:id="rId80"/>
    <p:sldId id="328" r:id="rId79"/>
    <p:sldId id="261" r:id="rId12"/>
    <p:sldId id="262" r:id="rId13"/>
    <p:sldId id="335" r:id="rId86"/>
    <p:sldId id="336" r:id="rId87"/>
    <p:sldId id="337" r:id="rId88"/>
    <p:sldId id="338" r:id="rId89"/>
    <p:sldId id="339" r:id="rId90"/>
    <p:sldId id="340" r:id="rId91"/>
    <p:sldId id="341" r:id="rId92"/>
    <p:sldId id="342" r:id="rId93"/>
    <p:sldId id="264" r:id="rId15"/>
    <p:sldId id="265" r:id="rId16"/>
    <p:sldId id="343" r:id="rId94"/>
    <p:sldId id="344" r:id="rId95"/>
    <p:sldId id="345" r:id="rId96"/>
    <p:sldId id="346" r:id="rId97"/>
    <p:sldId id="347" r:id="rId98"/>
    <p:sldId id="348" r:id="rId99"/>
    <p:sldId id="349" r:id="rId100"/>
    <p:sldId id="350" r:id="rId101"/>
    <p:sldId id="351" r:id="rId102"/>
    <p:sldId id="352" r:id="rId103"/>
    <p:sldId id="267" r:id="rId18"/>
    <p:sldId id="268" r:id="rId19"/>
    <p:sldId id="353" r:id="rId104"/>
    <p:sldId id="354" r:id="rId105"/>
    <p:sldId id="355" r:id="rId106"/>
    <p:sldId id="356" r:id="rId107"/>
    <p:sldId id="357" r:id="rId108"/>
    <p:sldId id="358" r:id="rId109"/>
    <p:sldId id="359" r:id="rId110"/>
    <p:sldId id="360" r:id="rId111"/>
    <p:sldId id="361" r:id="rId112"/>
    <p:sldId id="270" r:id="rId21"/>
    <p:sldId id="271" r:id="rId22"/>
    <p:sldId id="362" r:id="rId113"/>
    <p:sldId id="363" r:id="rId114"/>
    <p:sldId id="364" r:id="rId115"/>
    <p:sldId id="365" r:id="rId116"/>
    <p:sldId id="366" r:id="rId117"/>
    <p:sldId id="367" r:id="rId118"/>
    <p:sldId id="368" r:id="rId119"/>
    <p:sldId id="369" r:id="rId120"/>
    <p:sldId id="370" r:id="rId121"/>
    <p:sldId id="273" r:id="rId24"/>
    <p:sldId id="274" r:id="rId25"/>
    <p:sldId id="371" r:id="rId122"/>
    <p:sldId id="372" r:id="rId123"/>
    <p:sldId id="373" r:id="rId124"/>
    <p:sldId id="374" r:id="rId125"/>
    <p:sldId id="375" r:id="rId126"/>
    <p:sldId id="376" r:id="rId127"/>
    <p:sldId id="377" r:id="rId128"/>
    <p:sldId id="378" r:id="rId129"/>
    <p:sldId id="379" r:id="rId130"/>
    <p:sldId id="380" r:id="rId131"/>
    <p:sldId id="276" r:id="rId27"/>
    <p:sldId id="277" r:id="rId28"/>
    <p:sldId id="278" r:id="rId29"/>
    <p:sldId id="279" r:id="rId30"/>
    <p:sldId id="381" r:id="rId132"/>
    <p:sldId id="382" r:id="rId133"/>
    <p:sldId id="383" r:id="rId134"/>
    <p:sldId id="384" r:id="rId135"/>
    <p:sldId id="385" r:id="rId136"/>
    <p:sldId id="386" r:id="rId137"/>
    <p:sldId id="387" r:id="rId138"/>
    <p:sldId id="388" r:id="rId139"/>
    <p:sldId id="389" r:id="rId140"/>
    <p:sldId id="390" r:id="rId141"/>
    <p:sldId id="281" r:id="rId32"/>
    <p:sldId id="282" r:id="rId33"/>
    <p:sldId id="391" r:id="rId142"/>
    <p:sldId id="392" r:id="rId143"/>
    <p:sldId id="393" r:id="rId144"/>
    <p:sldId id="394" r:id="rId145"/>
    <p:sldId id="395" r:id="rId146"/>
    <p:sldId id="396" r:id="rId147"/>
    <p:sldId id="397" r:id="rId148"/>
    <p:sldId id="398" r:id="rId149"/>
    <p:sldId id="399" r:id="rId150"/>
    <p:sldId id="400" r:id="rId151"/>
    <p:sldId id="284" r:id="rId35"/>
    <p:sldId id="285" r:id="rId36"/>
    <p:sldId id="401" r:id="rId152"/>
    <p:sldId id="402" r:id="rId153"/>
    <p:sldId id="403" r:id="rId154"/>
    <p:sldId id="404" r:id="rId155"/>
    <p:sldId id="405" r:id="rId156"/>
    <p:sldId id="406" r:id="rId157"/>
    <p:sldId id="407" r:id="rId158"/>
    <p:sldId id="408" r:id="rId159"/>
    <p:sldId id="409" r:id="rId160"/>
    <p:sldId id="287" r:id="rId38"/>
    <p:sldId id="288" r:id="rId39"/>
    <p:sldId id="410" r:id="rId161"/>
    <p:sldId id="411" r:id="rId162"/>
    <p:sldId id="412" r:id="rId163"/>
    <p:sldId id="413" r:id="rId164"/>
    <p:sldId id="414" r:id="rId165"/>
    <p:sldId id="415" r:id="rId166"/>
    <p:sldId id="416" r:id="rId167"/>
    <p:sldId id="417" r:id="rId168"/>
    <p:sldId id="418" r:id="rId169"/>
    <p:sldId id="290" r:id="rId41"/>
    <p:sldId id="291" r:id="rId42"/>
    <p:sldId id="419" r:id="rId170"/>
    <p:sldId id="420" r:id="rId171"/>
    <p:sldId id="421" r:id="rId172"/>
    <p:sldId id="422" r:id="rId173"/>
    <p:sldId id="423" r:id="rId174"/>
    <p:sldId id="424" r:id="rId175"/>
    <p:sldId id="425" r:id="rId176"/>
    <p:sldId id="426" r:id="rId177"/>
    <p:sldId id="427" r:id="rId178"/>
    <p:sldId id="428" r:id="rId179"/>
    <p:sldId id="293" r:id="rId44"/>
    <p:sldId id="294" r:id="rId45"/>
    <p:sldId id="295" r:id="rId46"/>
    <p:sldId id="429" r:id="rId180"/>
    <p:sldId id="430" r:id="rId181"/>
    <p:sldId id="431" r:id="rId182"/>
    <p:sldId id="432" r:id="rId183"/>
    <p:sldId id="433" r:id="rId184"/>
    <p:sldId id="434" r:id="rId185"/>
    <p:sldId id="435" r:id="rId186"/>
    <p:sldId id="436" r:id="rId187"/>
    <p:sldId id="297" r:id="rId48"/>
    <p:sldId id="298" r:id="rId49"/>
    <p:sldId id="437" r:id="rId188"/>
    <p:sldId id="438" r:id="rId189"/>
    <p:sldId id="439" r:id="rId190"/>
    <p:sldId id="440" r:id="rId191"/>
    <p:sldId id="441" r:id="rId192"/>
    <p:sldId id="442" r:id="rId193"/>
    <p:sldId id="443" r:id="rId194"/>
    <p:sldId id="444" r:id="rId195"/>
    <p:sldId id="445" r:id="rId196"/>
    <p:sldId id="300" r:id="rId51"/>
    <p:sldId id="301" r:id="rId52"/>
    <p:sldId id="446" r:id="rId197"/>
    <p:sldId id="447" r:id="rId198"/>
    <p:sldId id="448" r:id="rId199"/>
    <p:sldId id="449" r:id="rId200"/>
    <p:sldId id="450" r:id="rId201"/>
    <p:sldId id="303" r:id="rId54"/>
    <p:sldId id="304" r:id="rId55"/>
    <p:sldId id="451" r:id="rId202"/>
    <p:sldId id="452" r:id="rId203"/>
    <p:sldId id="453" r:id="rId204"/>
    <p:sldId id="454" r:id="rId205"/>
    <p:sldId id="518" r:id="rId269"/>
    <p:sldId id="455" r:id="rId206"/>
    <p:sldId id="456" r:id="rId207"/>
    <p:sldId id="457" r:id="rId208"/>
    <p:sldId id="458" r:id="rId209"/>
    <p:sldId id="459" r:id="rId210"/>
    <p:sldId id="306" r:id="rId57"/>
    <p:sldId id="307" r:id="rId58"/>
    <p:sldId id="460" r:id="rId211"/>
    <p:sldId id="461" r:id="rId212"/>
    <p:sldId id="462" r:id="rId213"/>
    <p:sldId id="463" r:id="rId214"/>
    <p:sldId id="464" r:id="rId215"/>
    <p:sldId id="465" r:id="rId216"/>
    <p:sldId id="466" r:id="rId217"/>
    <p:sldId id="467" r:id="rId218"/>
    <p:sldId id="309" r:id="rId60"/>
    <p:sldId id="310" r:id="rId61"/>
    <p:sldId id="468" r:id="rId219"/>
    <p:sldId id="469" r:id="rId220"/>
    <p:sldId id="470" r:id="rId221"/>
    <p:sldId id="471" r:id="rId222"/>
    <p:sldId id="472" r:id="rId223"/>
    <p:sldId id="473" r:id="rId224"/>
    <p:sldId id="474" r:id="rId225"/>
    <p:sldId id="312" r:id="rId63"/>
    <p:sldId id="313" r:id="rId64"/>
    <p:sldId id="314" r:id="rId65"/>
    <p:sldId id="475" r:id="rId226"/>
    <p:sldId id="476" r:id="rId227"/>
    <p:sldId id="477" r:id="rId228"/>
    <p:sldId id="478" r:id="rId229"/>
    <p:sldId id="479" r:id="rId230"/>
    <p:sldId id="480" r:id="rId231"/>
    <p:sldId id="481" r:id="rId232"/>
    <p:sldId id="482" r:id="rId233"/>
    <p:sldId id="316" r:id="rId67"/>
    <p:sldId id="317" r:id="rId68"/>
    <p:sldId id="483" r:id="rId234"/>
    <p:sldId id="484" r:id="rId235"/>
    <p:sldId id="485" r:id="rId236"/>
    <p:sldId id="486" r:id="rId237"/>
    <p:sldId id="487" r:id="rId238"/>
    <p:sldId id="488" r:id="rId239"/>
    <p:sldId id="489" r:id="rId240"/>
    <p:sldId id="490" r:id="rId241"/>
    <p:sldId id="491" r:id="rId242"/>
    <p:sldId id="492" r:id="rId243"/>
    <p:sldId id="319" r:id="rId70"/>
    <p:sldId id="320" r:id="rId71"/>
    <p:sldId id="493" r:id="rId244"/>
    <p:sldId id="494" r:id="rId245"/>
    <p:sldId id="495" r:id="rId246"/>
    <p:sldId id="496" r:id="rId247"/>
    <p:sldId id="497" r:id="rId248"/>
    <p:sldId id="498" r:id="rId249"/>
    <p:sldId id="499" r:id="rId250"/>
    <p:sldId id="500" r:id="rId251"/>
    <p:sldId id="501" r:id="rId252"/>
    <p:sldId id="322" r:id="rId73"/>
    <p:sldId id="323" r:id="rId74"/>
    <p:sldId id="502" r:id="rId253"/>
    <p:sldId id="503" r:id="rId254"/>
    <p:sldId id="504" r:id="rId255"/>
    <p:sldId id="505" r:id="rId256"/>
    <p:sldId id="506" r:id="rId257"/>
    <p:sldId id="507" r:id="rId258"/>
    <p:sldId id="508" r:id="rId259"/>
    <p:sldId id="325" r:id="rId76"/>
    <p:sldId id="326" r:id="rId77"/>
    <p:sldId id="509" r:id="rId260"/>
    <p:sldId id="510" r:id="rId261"/>
    <p:sldId id="511" r:id="rId262"/>
    <p:sldId id="512" r:id="rId263"/>
    <p:sldId id="513" r:id="rId264"/>
    <p:sldId id="514" r:id="rId265"/>
    <p:sldId id="515" r:id="rId266"/>
    <p:sldId id="516" r:id="rId267"/>
    <p:sldId id="517" r:id="rId2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2" Type="http://schemas.openxmlformats.org/officeDocument/2006/relationships/slide" Target="slides/slide6.xml"/><Relationship Id="rId13" Type="http://schemas.openxmlformats.org/officeDocument/2006/relationships/slide" Target="slides/slide7.xml"/><Relationship Id="rId15" Type="http://schemas.openxmlformats.org/officeDocument/2006/relationships/slide" Target="slides/slide9.xml"/><Relationship Id="rId16" Type="http://schemas.openxmlformats.org/officeDocument/2006/relationships/slide" Target="slides/slide10.xml"/><Relationship Id="rId18" Type="http://schemas.openxmlformats.org/officeDocument/2006/relationships/slide" Target="slides/slide12.xml"/><Relationship Id="rId19"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16.xml"/><Relationship Id="rId24" Type="http://schemas.openxmlformats.org/officeDocument/2006/relationships/slide" Target="slides/slide18.xml"/><Relationship Id="rId25" Type="http://schemas.openxmlformats.org/officeDocument/2006/relationships/slide" Target="slides/slide19.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2" Type="http://schemas.openxmlformats.org/officeDocument/2006/relationships/slide" Target="slides/slide26.xml"/><Relationship Id="rId33" Type="http://schemas.openxmlformats.org/officeDocument/2006/relationships/slide" Target="slides/slide27.xml"/><Relationship Id="rId35" Type="http://schemas.openxmlformats.org/officeDocument/2006/relationships/slide" Target="slides/slide29.xml"/><Relationship Id="rId36" Type="http://schemas.openxmlformats.org/officeDocument/2006/relationships/slide" Target="slides/slide30.xml"/><Relationship Id="rId38" Type="http://schemas.openxmlformats.org/officeDocument/2006/relationships/slide" Target="slides/slide32.xml"/><Relationship Id="rId39" Type="http://schemas.openxmlformats.org/officeDocument/2006/relationships/slide" Target="slides/slide33.xml"/><Relationship Id="rId41" Type="http://schemas.openxmlformats.org/officeDocument/2006/relationships/slide" Target="slides/slide35.xml"/><Relationship Id="rId42" Type="http://schemas.openxmlformats.org/officeDocument/2006/relationships/slide" Target="slides/slide36.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8" Type="http://schemas.openxmlformats.org/officeDocument/2006/relationships/slide" Target="slides/slide42.xml"/><Relationship Id="rId49" Type="http://schemas.openxmlformats.org/officeDocument/2006/relationships/slide" Target="slides/slide43.xml"/><Relationship Id="rId51" Type="http://schemas.openxmlformats.org/officeDocument/2006/relationships/slide" Target="slides/slide45.xml"/><Relationship Id="rId52" Type="http://schemas.openxmlformats.org/officeDocument/2006/relationships/slide" Target="slides/slide46.xml"/><Relationship Id="rId54" Type="http://schemas.openxmlformats.org/officeDocument/2006/relationships/slide" Target="slides/slide48.xml"/><Relationship Id="rId55" Type="http://schemas.openxmlformats.org/officeDocument/2006/relationships/slide" Target="slides/slide49.xml"/><Relationship Id="rId57" Type="http://schemas.openxmlformats.org/officeDocument/2006/relationships/slide" Target="slides/slide51.xml"/><Relationship Id="rId58" Type="http://schemas.openxmlformats.org/officeDocument/2006/relationships/slide" Target="slides/slide52.xml"/><Relationship Id="rId60" Type="http://schemas.openxmlformats.org/officeDocument/2006/relationships/slide" Target="slides/slide54.xml"/><Relationship Id="rId61" Type="http://schemas.openxmlformats.org/officeDocument/2006/relationships/slide" Target="slides/slide55.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7" Type="http://schemas.openxmlformats.org/officeDocument/2006/relationships/slide" Target="slides/slide61.xml"/><Relationship Id="rId68" Type="http://schemas.openxmlformats.org/officeDocument/2006/relationships/slide" Target="slides/slide62.xml"/><Relationship Id="rId70" Type="http://schemas.openxmlformats.org/officeDocument/2006/relationships/slide" Target="slides/slide64.xml"/><Relationship Id="rId71" Type="http://schemas.openxmlformats.org/officeDocument/2006/relationships/slide" Target="slides/slide65.xml"/><Relationship Id="rId73" Type="http://schemas.openxmlformats.org/officeDocument/2006/relationships/slide" Target="slides/slide67.xml"/><Relationship Id="rId74" Type="http://schemas.openxmlformats.org/officeDocument/2006/relationships/slide" Target="slides/slide68.xml"/><Relationship Id="rId76" Type="http://schemas.openxmlformats.org/officeDocument/2006/relationships/slide" Target="slides/slide70.xml"/><Relationship Id="rId77" Type="http://schemas.openxmlformats.org/officeDocument/2006/relationships/slide" Target="slides/slide71.xml"/>  <Relationship Id="rId79" Type="http://schemas.openxmlformats.org/officeDocument/2006/relationships/slide" Target="slides/slide73.xml"/>
  <Relationship Id="rId80" Type="http://schemas.openxmlformats.org/officeDocument/2006/relationships/slide" Target="slides/slide74.xml"/>
  <Relationship Id="rId81" Type="http://schemas.openxmlformats.org/officeDocument/2006/relationships/slide" Target="slides/slide75.xml"/>
  <Relationship Id="rId82" Type="http://schemas.openxmlformats.org/officeDocument/2006/relationships/slide" Target="slides/slide76.xml"/>
  <Relationship Id="rId83" Type="http://schemas.openxmlformats.org/officeDocument/2006/relationships/slide" Target="slides/slide77.xml"/>
  <Relationship Id="rId84" Type="http://schemas.openxmlformats.org/officeDocument/2006/relationships/slide" Target="slides/slide78.xml"/>
  <Relationship Id="rId85" Type="http://schemas.openxmlformats.org/officeDocument/2006/relationships/slide" Target="slides/slide79.xml"/>
  <Relationship Id="rId86" Type="http://schemas.openxmlformats.org/officeDocument/2006/relationships/slide" Target="slides/slide80.xml"/>
  <Relationship Id="rId87" Type="http://schemas.openxmlformats.org/officeDocument/2006/relationships/slide" Target="slides/slide81.xml"/>
  <Relationship Id="rId88" Type="http://schemas.openxmlformats.org/officeDocument/2006/relationships/slide" Target="slides/slide82.xml"/>
  <Relationship Id="rId89" Type="http://schemas.openxmlformats.org/officeDocument/2006/relationships/slide" Target="slides/slide83.xml"/>
  <Relationship Id="rId90" Type="http://schemas.openxmlformats.org/officeDocument/2006/relationships/slide" Target="slides/slide84.xml"/>
  <Relationship Id="rId91" Type="http://schemas.openxmlformats.org/officeDocument/2006/relationships/slide" Target="slides/slide85.xml"/>
  <Relationship Id="rId92" Type="http://schemas.openxmlformats.org/officeDocument/2006/relationships/slide" Target="slides/slide86.xml"/>
  <Relationship Id="rId93" Type="http://schemas.openxmlformats.org/officeDocument/2006/relationships/slide" Target="slides/slide87.xml"/>
<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gtittle-ministries.github.io/fellowship-of-the-heart-pilot-at-cca/" TargetMode="External"/><Relationship Id="rId3" Type="http://schemas.openxmlformats.org/officeDocument/2006/relationships/image" Target="../media/image18.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39.jpg"/><Relationship Id="rId11" Type="http://schemas.openxmlformats.org/officeDocument/2006/relationships/image" Target="../media/image40.jpg"/><Relationship Id="rId12" Type="http://schemas.openxmlformats.org/officeDocument/2006/relationships/image" Target="../media/image41.jpg"/><Relationship Id="rId13" Type="http://schemas.openxmlformats.org/officeDocument/2006/relationships/image" Target="../media/image4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4c-trail.jpg"/>
          <p:cNvPicPr>
            <a:picLocks noChangeAspect="1"/>
          </p:cNvPicPr>
          <p:nvPr/>
        </p:nvPicPr>
        <p:blipFill>
          <a:blip r:embed="rId2"/>
          <a:stretch>
            <a:fillRect/>
          </a:stretch>
        </p:blipFill>
        <p:spPr>
          <a:xfrm>
            <a:off x="8412480" y="1418285"/>
            <a:ext cx="3291840" cy="4021429"/>
          </a:xfrm>
          <a:prstGeom prst="rect">
            <a:avLst/>
          </a:prstGeom>
        </p:spPr>
      </p:pic>
      <p:sp>
        <p:nvSpPr>
          <p:cNvPr id="4" name="TextBox 3"/>
          <p:cNvSpPr txBox="1"/>
          <p:nvPr/>
        </p:nvSpPr>
        <p:spPr>
          <a:xfrm>
            <a:off x="914400" y="1920240"/>
            <a:ext cx="7223760" cy="2651760"/>
          </a:xfrm>
          <a:prstGeom prst="rect">
            <a:avLst/>
          </a:prstGeom>
          <a:noFill/>
        </p:spPr>
        <p:txBody>
          <a:bodyPr wrap="square">
            <a:spAutoFit/>
          </a:bodyPr>
          <a:lstStyle/>
          <a:p>
            <a:pPr algn="l">
              <a:spcAft>
                <a:spcPts val="600"/>
              </a:spcAft>
            </a:pPr>
            <a:r>
              <a:rPr sz="4000" b="1" i="0">
                <a:solidFill>
                  <a:srgbClr val="FFFFFF"/>
                </a:solidFill>
                <a:latin typeface="Cambria"/>
              </a:rPr>
              <a:t>Fellowship of the Heart</a:t>
            </a:r>
          </a:p>
          <a:p>
            <a:pPr algn="l">
              <a:spcAft>
                <a:spcPts val="600"/>
              </a:spcAft>
            </a:pPr>
            <a:r>
              <a:rPr sz="2000" b="0" i="1">
                <a:solidFill>
                  <a:srgbClr val="E4EFDA"/>
                </a:solidFill>
                <a:latin typeface="Calibri"/>
              </a:rPr>
              <a:t>Getting Started — the Four Connects, walked over twenty-two Wednesday evenings</a:t>
            </a:r>
          </a:p>
          <a:p>
            <a:pPr algn="l">
              <a:spcAft>
                <a:spcPts val="600"/>
              </a:spcAft>
            </a:pPr>
            <a:r>
              <a:rPr sz="1500" b="0" i="0">
                <a:solidFill>
                  <a:srgbClr val="97BC62"/>
                </a:solidFill>
                <a:latin typeface="Calibri"/>
              </a:rPr>
              <a:t>CCA Club Year 2026–27  ·  Session Slides  ·  v1.4 DRAFT</a:t>
            </a:r>
          </a:p>
        </p:txBody>
      </p:sp>
      <p:sp>
        <p:nvSpPr>
          <p:cNvPr id="5" name="TextBox 4"/>
          <p:cNvSpPr txBox="1"/>
          <p:nvPr/>
        </p:nvSpPr>
        <p:spPr>
          <a:xfrm>
            <a:off x="1097280" y="5943600"/>
            <a:ext cx="9966960" cy="548640"/>
          </a:xfrm>
          <a:prstGeom prst="rect">
            <a:avLst/>
          </a:prstGeom>
          <a:noFill/>
        </p:spPr>
        <p:txBody>
          <a:bodyPr wrap="square">
            <a:spAutoFit/>
          </a:bodyPr>
          <a:lstStyle/>
          <a:p>
            <a:pPr algn="l">
              <a:spcAft>
                <a:spcPts val="600"/>
              </a:spcAft>
            </a:pPr>
            <a:r>
              <a:rPr sz="1200" b="0" i="1">
                <a:solidFill>
                  <a:srgbClr val="E4EFDA"/>
                </a:solidFill>
                <a:latin typeface="Calibri"/>
              </a:rPr>
              <a:t>All Scripture: ESV  ·  The Companion lesson plans carry the full scripts — these slides carry the room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F1F6EC"/>
                </a:solidFill>
                <a:latin typeface="Calibri"/>
              </a:rPr>
              <a:t>1</a:t>
            </a:fld>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286000"/>
            <a:ext cx="9966960" cy="2194560"/>
          </a:xfrm>
          <a:prstGeom prst="rect">
            <a:avLst/>
          </a:prstGeom>
          <a:noFill/>
        </p:spPr>
        <p:txBody>
          <a:bodyPr wrap="square">
            <a:spAutoFit/>
          </a:bodyPr>
          <a:lstStyle/>
          <a:p>
            <a:pPr algn="l">
              <a:spcAft>
                <a:spcPts val="600"/>
              </a:spcAft>
            </a:pPr>
            <a:r>
              <a:rPr sz="1800" b="1" i="0">
                <a:solidFill>
                  <a:srgbClr val="97BC62"/>
                </a:solidFill>
                <a:latin typeface="Calibri"/>
              </a:rPr>
              <a:t>Quarter 1</a:t>
            </a:r>
          </a:p>
          <a:p>
            <a:pPr algn="l">
              <a:spcAft>
                <a:spcPts val="600"/>
              </a:spcAft>
            </a:pPr>
            <a:r>
              <a:rPr sz="4000" b="1" i="0">
                <a:solidFill>
                  <a:srgbClr val="FFFFFF"/>
                </a:solidFill>
                <a:latin typeface="Cambria"/>
              </a:rPr>
              <a:t>Connect with Self &amp; Others</a:t>
            </a:r>
          </a:p>
          <a:p>
            <a:pPr algn="l">
              <a:spcAft>
                <a:spcPts val="600"/>
              </a:spcAft>
            </a:pPr>
            <a:r>
              <a:rPr sz="1500" b="0" i="1">
                <a:solidFill>
                  <a:srgbClr val="E4EFDA"/>
                </a:solidFill>
                <a:latin typeface="Calibri"/>
              </a:rPr>
              <a:t>Weeks 1–6  ·  Six Wednesdays · the container is built, the stories are told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F1F6EC"/>
                </a:solidFill>
                <a:latin typeface="Calibri"/>
              </a:rPr>
              <a:t>1</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k01-welcome.jpg"/>
          <p:cNvPicPr>
            <a:picLocks noChangeAspect="1"/>
          </p:cNvPicPr>
          <p:nvPr/>
        </p:nvPicPr>
        <p:blipFill>
          <a:blip r:embed="rId2"/>
          <a:stretch>
            <a:fillRect/>
          </a:stretch>
        </p:blipFill>
        <p:spPr>
          <a:xfrm>
            <a:off x="7050681" y="822960"/>
            <a:ext cx="3912317" cy="5212080"/>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1</a:t>
            </a:r>
          </a:p>
          <a:p>
            <a:pPr algn="l">
              <a:spcAft>
                <a:spcPts val="1000"/>
              </a:spcAft>
            </a:pPr>
            <a:r>
              <a:rPr sz="3300" b="1" i="0">
                <a:solidFill>
                  <a:srgbClr val="2C5F2D"/>
                </a:solidFill>
                <a:latin typeface="Cambria"/>
              </a:rPr>
              <a:t>Welcome to the Journey</a:t>
            </a:r>
          </a:p>
          <a:p>
            <a:pPr algn="l">
              <a:spcAft>
                <a:spcPts val="600"/>
              </a:spcAft>
            </a:pPr>
            <a:r>
              <a:rPr sz="1500" b="0" i="1">
                <a:solidFill>
                  <a:srgbClr val="595959"/>
                </a:solidFill>
                <a:latin typeface="Calibri"/>
              </a:rPr>
              <a:t>Establishing the container; introducing the four Connects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1: Connect with Self &amp; Others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800"/>
              </a:spcAft>
            </a:pPr>
            <a:r>
              <a:rPr b="1" sz="1500">
                <a:solidFill>
                  <a:srgbClr val="97BC62"/>
                </a:solidFill>
                <a:latin typeface="Calibri"/>
              </a:rPr>
              <a:t>1   </a:t>
            </a:r>
            <a:r>
              <a:rPr sz="1500">
                <a:solidFill>
                  <a:srgbClr val="222B22"/>
                </a:solidFill>
                <a:latin typeface="Calibri"/>
              </a:rPr>
              <a:t>Welcome — the very-first-time orientation</a:t>
            </a:r>
          </a:p>
          <a:p>
            <a:pPr>
              <a:spcAft>
                <a:spcPts val="800"/>
              </a:spcAft>
            </a:pPr>
            <a:r>
              <a:rPr b="1" sz="1500">
                <a:solidFill>
                  <a:srgbClr val="97BC62"/>
                </a:solidFill>
                <a:latin typeface="Calibri"/>
              </a:rPr>
              <a:t>2   </a:t>
            </a:r>
            <a:r>
              <a:rPr sz="1500">
                <a:solidFill>
                  <a:srgbClr val="222B22"/>
                </a:solidFill>
                <a:latin typeface="Calibri"/>
              </a:rPr>
              <a:t>The Four Connects — kitchen-table teaching</a:t>
            </a:r>
          </a:p>
          <a:p>
            <a:pPr>
              <a:spcAft>
                <a:spcPts val="800"/>
              </a:spcAft>
            </a:pPr>
            <a:r>
              <a:rPr b="1" sz="1500">
                <a:solidFill>
                  <a:srgbClr val="97BC62"/>
                </a:solidFill>
                <a:latin typeface="Calibri"/>
              </a:rPr>
              <a:t>3   </a:t>
            </a:r>
            <a:r>
              <a:rPr sz="1500">
                <a:solidFill>
                  <a:srgbClr val="222B22"/>
                </a:solidFill>
                <a:latin typeface="Calibri"/>
              </a:rPr>
              <a:t>Container introduction — the first full protocol</a:t>
            </a:r>
          </a:p>
          <a:p>
            <a:pPr>
              <a:spcAft>
                <a:spcPts val="800"/>
              </a:spcAft>
            </a:pPr>
            <a:r>
              <a:rPr b="1" sz="1500">
                <a:solidFill>
                  <a:srgbClr val="97BC62"/>
                </a:solidFill>
                <a:latin typeface="Calibri"/>
              </a:rPr>
              <a:t>4   </a:t>
            </a:r>
            <a:r>
              <a:rPr sz="1500">
                <a:solidFill>
                  <a:srgbClr val="222B22"/>
                </a:solidFill>
                <a:latin typeface="Calibri"/>
              </a:rPr>
              <a:t>One True Sentence — why each of us is here</a:t>
            </a:r>
          </a:p>
          <a:p>
            <a:pPr>
              <a:spcAft>
                <a:spcPts val="800"/>
              </a:spcAft>
            </a:pPr>
            <a:r>
              <a:rPr b="1" sz="1500">
                <a:solidFill>
                  <a:srgbClr val="97BC62"/>
                </a:solidFill>
                <a:latin typeface="Calibri"/>
              </a:rPr>
              <a:t>5   </a:t>
            </a:r>
            <a:r>
              <a:rPr sz="1500">
                <a:solidFill>
                  <a:srgbClr val="222B22"/>
                </a:solidFill>
                <a:latin typeface="Calibri"/>
              </a:rPr>
              <a:t>Between-week practice</a:t>
            </a:r>
          </a:p>
          <a:p>
            <a:pPr>
              <a:spcAft>
                <a:spcPts val="800"/>
              </a:spcAft>
            </a:pPr>
            <a:r>
              <a:rPr b="1" sz="1500">
                <a:solidFill>
                  <a:srgbClr val="97BC62"/>
                </a:solidFill>
                <a:latin typeface="Calibri"/>
              </a:rPr>
              <a:t>6   </a:t>
            </a:r>
            <a:r>
              <a:rPr sz="1500">
                <a:solidFill>
                  <a:srgbClr val="222B22"/>
                </a:solidFill>
                <a:latin typeface="Calibri"/>
              </a:rPr>
              <a:t>The Leader Feedback Round (debut)</a:t>
            </a:r>
          </a:p>
          <a:p>
            <a:pPr>
              <a:spcAft>
                <a:spcPts val="800"/>
              </a:spcAft>
            </a:pPr>
            <a:r>
              <a:rPr b="1" sz="1500">
                <a:solidFill>
                  <a:srgbClr val="97BC62"/>
                </a:solidFill>
                <a:latin typeface="Calibri"/>
              </a:rPr>
              <a:t>7   </a:t>
            </a:r>
            <a:r>
              <a:rPr sz="1500">
                <a:solidFill>
                  <a:srgbClr val="222B22"/>
                </a:solidFill>
                <a:latin typeface="Calibri"/>
              </a:rPr>
              <a:t>Closing container + Aaronic blessing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
        <p:nvSpPr>
          <p:cNvPr id="80" name="TextBox 80"/>
          <p:cNvSpPr txBox="1"/>
          <p:nvPr/>
        </p:nvSpPr>
        <p:spPr>
          <a:xfrm>
            <a:off x="8138160" y="2286000"/>
            <a:ext cx="3291840" cy="2194560"/>
          </a:xfrm>
          <a:prstGeom prst="rect">
            <a:avLst/>
          </a:prstGeom>
          <a:noFill/>
        </p:spPr>
        <p:txBody>
          <a:bodyPr wrap="square" lIns="91440" tIns="91440" rIns="91440" bIns="91440" anchor="t"/>
          <a:lstStyle/>
          <a:p>
            <a:pPr>
              <a:spcAft>
                <a:spcPts val="800"/>
              </a:spcAft>
            </a:pPr>
            <a:r>
              <a:rPr sz="1200" b="1" i="0">
                <a:solidFill>
                  <a:srgbClr val="97BC62"/>
                </a:solidFill>
                <a:latin typeface="Calibri"/>
              </a:rPr>
              <a:t>THIS YEAR, IN ONE LINE</a:t>
            </a:r>
          </a:p>
          <a:p>
            <a:pPr>
              <a:spcAft>
                <a:spcPts val="200"/>
              </a:spcAft>
            </a:pPr>
            <a:r>
              <a:rPr sz="2400" b="1" i="0">
                <a:solidFill>
                  <a:srgbClr val="2C5F2D"/>
                </a:solidFill>
                <a:latin typeface="Cambria"/>
              </a:rPr>
              <a:t>Hearing and obeying God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k02-soil.jpg"/>
          <p:cNvPicPr>
            <a:picLocks noChangeAspect="1"/>
          </p:cNvPicPr>
          <p:nvPr/>
        </p:nvPicPr>
        <p:blipFill>
          <a:blip r:embed="rId2"/>
          <a:stretch>
            <a:fillRect/>
          </a:stretch>
        </p:blipFill>
        <p:spPr>
          <a:xfrm>
            <a:off x="6309360" y="1630118"/>
            <a:ext cx="5394960" cy="3597763"/>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2</a:t>
            </a:r>
          </a:p>
          <a:p>
            <a:pPr algn="l">
              <a:spcAft>
                <a:spcPts val="1000"/>
              </a:spcAft>
            </a:pPr>
            <a:r>
              <a:rPr sz="3300" b="1" i="0">
                <a:solidFill>
                  <a:srgbClr val="2C5F2D"/>
                </a:solidFill>
                <a:latin typeface="Cambria"/>
              </a:rPr>
              <a:t>The Soil of Your Heart</a:t>
            </a:r>
          </a:p>
          <a:p>
            <a:pPr algn="l">
              <a:spcAft>
                <a:spcPts val="600"/>
              </a:spcAft>
            </a:pPr>
            <a:r>
              <a:rPr sz="1500" b="0" i="1">
                <a:solidFill>
                  <a:srgbClr val="595959"/>
                </a:solidFill>
                <a:latin typeface="Calibri"/>
              </a:rPr>
              <a:t>The Heart Soil diagnostic from Mark 4; beginning Connecting with Self</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1: Connect with Self &amp; Others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2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800"/>
              </a:spcAft>
            </a:pPr>
            <a:r>
              <a:rPr b="1" sz="1500">
                <a:solidFill>
                  <a:srgbClr val="97BC62"/>
                </a:solidFill>
                <a:latin typeface="Calibri"/>
              </a:rPr>
              <a:t>1   </a:t>
            </a:r>
            <a:r>
              <a:rPr sz="1500">
                <a:solidFill>
                  <a:srgbClr val="222B22"/>
                </a:solidFill>
                <a:latin typeface="Calibri"/>
              </a:rPr>
              <a:t>Opening container — full eight-step protocol</a:t>
            </a:r>
          </a:p>
          <a:p>
            <a:pPr>
              <a:spcAft>
                <a:spcPts val="800"/>
              </a:spcAft>
            </a:pPr>
            <a:r>
              <a:rPr b="1" sz="1500">
                <a:solidFill>
                  <a:srgbClr val="97BC62"/>
                </a:solidFill>
                <a:latin typeface="Calibri"/>
              </a:rPr>
              <a:t>2   </a:t>
            </a:r>
            <a:r>
              <a:rPr sz="1500">
                <a:solidFill>
                  <a:srgbClr val="222B22"/>
                </a:solidFill>
                <a:latin typeface="Calibri"/>
              </a:rPr>
              <a:t>Check-in on Week 1 practice</a:t>
            </a:r>
          </a:p>
          <a:p>
            <a:pPr>
              <a:spcAft>
                <a:spcPts val="800"/>
              </a:spcAft>
            </a:pPr>
            <a:r>
              <a:rPr b="1" sz="1500">
                <a:solidFill>
                  <a:srgbClr val="97BC62"/>
                </a:solidFill>
                <a:latin typeface="Calibri"/>
              </a:rPr>
              <a:t>3   </a:t>
            </a:r>
            <a:r>
              <a:rPr sz="1500">
                <a:solidFill>
                  <a:srgbClr val="222B22"/>
                </a:solidFill>
                <a:latin typeface="Calibri"/>
              </a:rPr>
              <a:t>Teaching: Mark 4 and the four soils</a:t>
            </a:r>
          </a:p>
          <a:p>
            <a:pPr>
              <a:spcAft>
                <a:spcPts val="800"/>
              </a:spcAft>
            </a:pPr>
            <a:r>
              <a:rPr b="1" sz="1500">
                <a:solidFill>
                  <a:srgbClr val="97BC62"/>
                </a:solidFill>
                <a:latin typeface="Calibri"/>
              </a:rPr>
              <a:t>4   </a:t>
            </a:r>
            <a:r>
              <a:rPr sz="1500">
                <a:solidFill>
                  <a:srgbClr val="222B22"/>
                </a:solidFill>
                <a:latin typeface="Calibri"/>
              </a:rPr>
              <a:t>Family clusters: the Heart Soil diagnostic</a:t>
            </a:r>
          </a:p>
          <a:p>
            <a:pPr>
              <a:spcAft>
                <a:spcPts val="800"/>
              </a:spcAft>
            </a:pPr>
            <a:r>
              <a:rPr b="1" sz="1500">
                <a:solidFill>
                  <a:srgbClr val="97BC62"/>
                </a:solidFill>
                <a:latin typeface="Calibri"/>
              </a:rPr>
              <a:t>5   </a:t>
            </a:r>
            <a:r>
              <a:rPr sz="1500">
                <a:solidFill>
                  <a:srgbClr val="222B22"/>
                </a:solidFill>
                <a:latin typeface="Calibri"/>
              </a:rPr>
              <a:t>Re-merge — shared debrief; Mark 4:20 re-read</a:t>
            </a:r>
          </a:p>
          <a:p>
            <a:pPr>
              <a:spcAft>
                <a:spcPts val="800"/>
              </a:spcAft>
            </a:pPr>
            <a:r>
              <a:rPr b="1" sz="1500">
                <a:solidFill>
                  <a:srgbClr val="97BC62"/>
                </a:solidFill>
                <a:latin typeface="Calibri"/>
              </a:rPr>
              <a:t>6   </a:t>
            </a:r>
            <a:r>
              <a:rPr sz="1500">
                <a:solidFill>
                  <a:srgbClr val="222B22"/>
                </a:solidFill>
                <a:latin typeface="Calibri"/>
              </a:rPr>
              <a:t>Between-week practice</a:t>
            </a:r>
          </a:p>
          <a:p>
            <a:pPr>
              <a:spcAft>
                <a:spcPts val="800"/>
              </a:spcAft>
            </a:pPr>
            <a:r>
              <a:rPr b="1" sz="1500">
                <a:solidFill>
                  <a:srgbClr val="97BC62"/>
                </a:solidFill>
                <a:latin typeface="Calibri"/>
              </a:rPr>
              <a:t>7   </a:t>
            </a:r>
            <a:r>
              <a:rPr sz="1500">
                <a:solidFill>
                  <a:srgbClr val="222B22"/>
                </a:solidFill>
                <a:latin typeface="Calibri"/>
              </a:rPr>
              <a:t>The Leader Feedback Round</a:t>
            </a:r>
          </a:p>
          <a:p>
            <a:pPr>
              <a:spcAft>
                <a:spcPts val="800"/>
              </a:spcAft>
            </a:pPr>
            <a:r>
              <a:rPr b="1" sz="1500">
                <a:solidFill>
                  <a:srgbClr val="97BC62"/>
                </a:solidFill>
                <a:latin typeface="Calibri"/>
              </a:rPr>
              <a:t>8   </a:t>
            </a:r>
            <a:r>
              <a:rPr sz="1500">
                <a:solidFill>
                  <a:srgbClr val="222B22"/>
                </a:solidFill>
                <a:latin typeface="Calibri"/>
              </a:rPr>
              <a:t>Closing container + Aaronic blessing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k03-story.jpg"/>
          <p:cNvPicPr>
            <a:picLocks noChangeAspect="1"/>
          </p:cNvPicPr>
          <p:nvPr/>
        </p:nvPicPr>
        <p:blipFill>
          <a:blip r:embed="rId2"/>
          <a:stretch>
            <a:fillRect/>
          </a:stretch>
        </p:blipFill>
        <p:spPr>
          <a:xfrm>
            <a:off x="6309360" y="1630118"/>
            <a:ext cx="5394960" cy="3597763"/>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3</a:t>
            </a:r>
          </a:p>
          <a:p>
            <a:pPr algn="l">
              <a:spcAft>
                <a:spcPts val="1000"/>
              </a:spcAft>
            </a:pPr>
            <a:r>
              <a:rPr sz="3300" b="1" i="0">
                <a:solidFill>
                  <a:srgbClr val="2C5F2D"/>
                </a:solidFill>
                <a:latin typeface="Cambria"/>
              </a:rPr>
              <a:t>Telling Your Story I</a:t>
            </a:r>
          </a:p>
          <a:p>
            <a:pPr algn="l">
              <a:spcAft>
                <a:spcPts val="600"/>
              </a:spcAft>
            </a:pPr>
            <a:r>
              <a:rPr sz="1500" b="0" i="1">
                <a:solidFill>
                  <a:srgbClr val="595959"/>
                </a:solidFill>
                <a:latin typeface="Calibri"/>
              </a:rPr>
              <a:t>One question, one circle, and the practice of being known — the parents tell first; the teens’ night is Week 4</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1: Connect with Self &amp; Others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3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Welcome and centering</a:t>
            </a:r>
          </a:p>
          <a:p>
            <a:pPr>
              <a:spcAft>
                <a:spcPts val="500"/>
              </a:spcAft>
            </a:pPr>
            <a:r>
              <a:rPr b="1" sz="1300">
                <a:solidFill>
                  <a:srgbClr val="97BC62"/>
                </a:solidFill>
                <a:latin typeface="Calibri"/>
              </a:rPr>
              <a:t>2   </a:t>
            </a:r>
            <a:r>
              <a:rPr sz="1300">
                <a:solidFill>
                  <a:srgbClr val="222B22"/>
                </a:solidFill>
                <a:latin typeface="Calibri"/>
              </a:rPr>
              <a:t>Week 2 check-in</a:t>
            </a:r>
          </a:p>
          <a:p>
            <a:pPr>
              <a:spcAft>
                <a:spcPts val="500"/>
              </a:spcAft>
            </a:pPr>
            <a:r>
              <a:rPr b="1" sz="1300">
                <a:solidFill>
                  <a:srgbClr val="97BC62"/>
                </a:solidFill>
                <a:latin typeface="Calibri"/>
              </a:rPr>
              <a:t>3   </a:t>
            </a:r>
            <a:r>
              <a:rPr sz="1300">
                <a:solidFill>
                  <a:srgbClr val="222B22"/>
                </a:solidFill>
                <a:latin typeface="Calibri"/>
              </a:rPr>
              <a:t>Psalm 139 — being known</a:t>
            </a:r>
          </a:p>
          <a:p>
            <a:pPr>
              <a:spcAft>
                <a:spcPts val="500"/>
              </a:spcAft>
            </a:pPr>
            <a:r>
              <a:rPr b="1" sz="1300">
                <a:solidFill>
                  <a:srgbClr val="97BC62"/>
                </a:solidFill>
                <a:latin typeface="Calibri"/>
              </a:rPr>
              <a:t>4   </a:t>
            </a:r>
            <a:r>
              <a:rPr sz="1300">
                <a:solidFill>
                  <a:srgbClr val="222B22"/>
                </a:solidFill>
                <a:latin typeface="Calibri"/>
              </a:rPr>
              <a:t>Companion demo story</a:t>
            </a:r>
          </a:p>
          <a:p>
            <a:pPr>
              <a:spcAft>
                <a:spcPts val="500"/>
              </a:spcAft>
            </a:pPr>
            <a:r>
              <a:rPr b="1" sz="1300">
                <a:solidFill>
                  <a:srgbClr val="97BC62"/>
                </a:solidFill>
                <a:latin typeface="Calibri"/>
              </a:rPr>
              <a:t>5   </a:t>
            </a:r>
            <a:r>
              <a:rPr sz="1300">
                <a:solidFill>
                  <a:srgbClr val="222B22"/>
                </a:solidFill>
                <a:latin typeface="Calibri"/>
              </a:rPr>
              <a:t>Bridge to the clusters</a:t>
            </a:r>
          </a:p>
          <a:p>
            <a:pPr>
              <a:spcAft>
                <a:spcPts val="500"/>
              </a:spcAft>
            </a:pPr>
            <a:r>
              <a:rPr b="1" sz="1300">
                <a:solidFill>
                  <a:srgbClr val="97BC62"/>
                </a:solidFill>
                <a:latin typeface="Calibri"/>
              </a:rPr>
              <a:t>6   </a:t>
            </a:r>
            <a:r>
              <a:rPr sz="1300">
                <a:solidFill>
                  <a:srgbClr val="222B22"/>
                </a:solidFill>
                <a:latin typeface="Calibri"/>
              </a:rPr>
              <a:t>Stories in family clusters</a:t>
            </a:r>
          </a:p>
          <a:p>
            <a:pPr>
              <a:spcAft>
                <a:spcPts val="500"/>
              </a:spcAft>
            </a:pPr>
            <a:r>
              <a:rPr b="1" sz="1300">
                <a:solidFill>
                  <a:srgbClr val="97BC62"/>
                </a:solidFill>
                <a:latin typeface="Calibri"/>
              </a:rPr>
              <a:t>7   </a:t>
            </a:r>
            <a:r>
              <a:rPr sz="1300">
                <a:solidFill>
                  <a:srgbClr val="222B22"/>
                </a:solidFill>
                <a:latin typeface="Calibri"/>
              </a:rPr>
              <a:t>Merge and shared closing</a:t>
            </a:r>
          </a:p>
          <a:p>
            <a:pPr>
              <a:spcAft>
                <a:spcPts val="500"/>
              </a:spcAft>
            </a:pPr>
            <a:r>
              <a:rPr b="1" sz="1300">
                <a:solidFill>
                  <a:srgbClr val="97BC62"/>
                </a:solidFill>
                <a:latin typeface="Calibri"/>
              </a:rPr>
              <a:t>8   </a:t>
            </a:r>
            <a:r>
              <a:rPr sz="1300">
                <a:solidFill>
                  <a:srgbClr val="222B22"/>
                </a:solidFill>
                <a:latin typeface="Calibri"/>
              </a:rPr>
              <a:t>Between-session practice</a:t>
            </a:r>
          </a:p>
          <a:p>
            <a:pPr>
              <a:spcAft>
                <a:spcPts val="500"/>
              </a:spcAft>
            </a:pPr>
            <a:r>
              <a:rPr b="1" sz="1300">
                <a:solidFill>
                  <a:srgbClr val="97BC62"/>
                </a:solidFill>
                <a:latin typeface="Calibri"/>
              </a:rPr>
              <a:t>9   </a:t>
            </a:r>
            <a:r>
              <a:rPr sz="1300">
                <a:solidFill>
                  <a:srgbClr val="222B22"/>
                </a:solidFill>
                <a:latin typeface="Calibri"/>
              </a:rPr>
              <a:t>The Leader Feedback Round</a:t>
            </a:r>
          </a:p>
          <a:p>
            <a:pPr>
              <a:spcAft>
                <a:spcPts val="500"/>
              </a:spcAft>
            </a:pPr>
            <a:r>
              <a:rPr b="1" sz="1300">
                <a:solidFill>
                  <a:srgbClr val="97BC62"/>
                </a:solidFill>
                <a:latin typeface="Calibri"/>
              </a:rPr>
              <a:t>10   </a:t>
            </a:r>
            <a:r>
              <a:rPr sz="13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k03-story.jpg"/>
          <p:cNvPicPr>
            <a:picLocks noChangeAspect="1"/>
          </p:cNvPicPr>
          <p:nvPr/>
        </p:nvPicPr>
        <p:blipFill>
          <a:blip r:embed="rId2"/>
          <a:stretch>
            <a:fillRect/>
          </a:stretch>
        </p:blipFill>
        <p:spPr>
          <a:xfrm>
            <a:off x="6309360" y="1630118"/>
            <a:ext cx="5394960" cy="3597763"/>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4</a:t>
            </a:r>
          </a:p>
          <a:p>
            <a:pPr algn="l">
              <a:spcAft>
                <a:spcPts val="1000"/>
              </a:spcAft>
            </a:pPr>
            <a:r>
              <a:rPr sz="3300" b="1" i="0">
                <a:solidFill>
                  <a:srgbClr val="2C5F2D"/>
                </a:solidFill>
                <a:latin typeface="Cambria"/>
              </a:rPr>
              <a:t>Telling Your Story II</a:t>
            </a:r>
          </a:p>
          <a:p>
            <a:pPr algn="l">
              <a:spcAft>
                <a:spcPts val="600"/>
              </a:spcAft>
            </a:pPr>
            <a:r>
              <a:rPr sz="1500" b="0" i="1">
                <a:solidFill>
                  <a:srgbClr val="595959"/>
                </a:solidFill>
                <a:latin typeface="Calibri"/>
              </a:rPr>
              <a:t>The second running — the teens tell, the round is completed, and the room watches one of its own hold it</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1: Connect with Self &amp; Others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4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Welcome and centering</a:t>
            </a:r>
          </a:p>
          <a:p>
            <a:pPr>
              <a:spcAft>
                <a:spcPts val="500"/>
              </a:spcAft>
            </a:pPr>
            <a:r>
              <a:rPr b="1" sz="1300">
                <a:solidFill>
                  <a:srgbClr val="97BC62"/>
                </a:solidFill>
                <a:latin typeface="Calibri"/>
              </a:rPr>
              <a:t>2   </a:t>
            </a:r>
            <a:r>
              <a:rPr sz="1300">
                <a:solidFill>
                  <a:srgbClr val="222B22"/>
                </a:solidFill>
                <a:latin typeface="Calibri"/>
              </a:rPr>
              <a:t>Joint Footprints check-in</a:t>
            </a:r>
          </a:p>
          <a:p>
            <a:pPr>
              <a:spcAft>
                <a:spcPts val="500"/>
              </a:spcAft>
            </a:pPr>
            <a:r>
              <a:rPr b="1" sz="1300">
                <a:solidFill>
                  <a:srgbClr val="97BC62"/>
                </a:solidFill>
                <a:latin typeface="Calibri"/>
              </a:rPr>
              <a:t>3   </a:t>
            </a:r>
            <a:r>
              <a:rPr sz="1300">
                <a:solidFill>
                  <a:srgbClr val="222B22"/>
                </a:solidFill>
                <a:latin typeface="Calibri"/>
              </a:rPr>
              <a:t>Psalm 139 — being known, again</a:t>
            </a:r>
          </a:p>
          <a:p>
            <a:pPr>
              <a:spcAft>
                <a:spcPts val="500"/>
              </a:spcAft>
            </a:pPr>
            <a:r>
              <a:rPr b="1" sz="1300">
                <a:solidFill>
                  <a:srgbClr val="97BC62"/>
                </a:solidFill>
                <a:latin typeface="Calibri"/>
              </a:rPr>
              <a:t>4   </a:t>
            </a:r>
            <a:r>
              <a:rPr sz="1300">
                <a:solidFill>
                  <a:srgbClr val="222B22"/>
                </a:solidFill>
                <a:latin typeface="Calibri"/>
              </a:rPr>
              <a:t>Bridge to the split</a:t>
            </a:r>
          </a:p>
          <a:p>
            <a:pPr>
              <a:spcAft>
                <a:spcPts val="500"/>
              </a:spcAft>
            </a:pPr>
            <a:r>
              <a:rPr b="1" sz="1300">
                <a:solidFill>
                  <a:srgbClr val="97BC62"/>
                </a:solidFill>
                <a:latin typeface="Calibri"/>
              </a:rPr>
              <a:t>5   </a:t>
            </a:r>
            <a:r>
              <a:rPr sz="1300">
                <a:solidFill>
                  <a:srgbClr val="222B22"/>
                </a:solidFill>
                <a:latin typeface="Calibri"/>
              </a:rPr>
              <a:t>Stories in family clusters</a:t>
            </a:r>
          </a:p>
          <a:p>
            <a:pPr>
              <a:spcAft>
                <a:spcPts val="500"/>
              </a:spcAft>
            </a:pPr>
            <a:r>
              <a:rPr b="1" sz="1300">
                <a:solidFill>
                  <a:srgbClr val="97BC62"/>
                </a:solidFill>
                <a:latin typeface="Calibri"/>
              </a:rPr>
              <a:t>6   </a:t>
            </a:r>
            <a:r>
              <a:rPr sz="1300">
                <a:solidFill>
                  <a:srgbClr val="222B22"/>
                </a:solidFill>
                <a:latin typeface="Calibri"/>
              </a:rPr>
              <a:t>Merge and one-word landing</a:t>
            </a:r>
          </a:p>
          <a:p>
            <a:pPr>
              <a:spcAft>
                <a:spcPts val="500"/>
              </a:spcAft>
            </a:pPr>
            <a:r>
              <a:rPr b="1" sz="1300">
                <a:solidFill>
                  <a:srgbClr val="97BC62"/>
                </a:solidFill>
                <a:latin typeface="Calibri"/>
              </a:rPr>
              <a:t>7   </a:t>
            </a:r>
            <a:r>
              <a:rPr sz="1300">
                <a:solidFill>
                  <a:srgbClr val="222B22"/>
                </a:solidFill>
                <a:latin typeface="Calibri"/>
              </a:rPr>
              <a:t>Between-session practice</a:t>
            </a:r>
          </a:p>
          <a:p>
            <a:pPr>
              <a:spcAft>
                <a:spcPts val="500"/>
              </a:spcAft>
            </a:pPr>
            <a:r>
              <a:rPr b="1" sz="1300">
                <a:solidFill>
                  <a:srgbClr val="97BC62"/>
                </a:solidFill>
                <a:latin typeface="Calibri"/>
              </a:rPr>
              <a:t>8   </a:t>
            </a:r>
            <a:r>
              <a:rPr sz="1300">
                <a:solidFill>
                  <a:srgbClr val="222B22"/>
                </a:solidFill>
                <a:latin typeface="Calibri"/>
              </a:rPr>
              <a:t>The Leader Feedback Round</a:t>
            </a:r>
          </a:p>
          <a:p>
            <a:pPr>
              <a:spcAft>
                <a:spcPts val="500"/>
              </a:spcAft>
            </a:pPr>
            <a:r>
              <a:rPr b="1" sz="1300">
                <a:solidFill>
                  <a:srgbClr val="97BC62"/>
                </a:solidFill>
                <a:latin typeface="Calibri"/>
              </a:rPr>
              <a:t>9   </a:t>
            </a:r>
            <a:r>
              <a:rPr sz="13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k04-known.jpg"/>
          <p:cNvPicPr>
            <a:picLocks noChangeAspect="1"/>
          </p:cNvPicPr>
          <p:nvPr/>
        </p:nvPicPr>
        <p:blipFill>
          <a:blip r:embed="rId2"/>
          <a:stretch>
            <a:fillRect/>
          </a:stretch>
        </p:blipFill>
        <p:spPr>
          <a:xfrm>
            <a:off x="7268937" y="822960"/>
            <a:ext cx="3475805" cy="5212080"/>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5</a:t>
            </a:r>
          </a:p>
          <a:p>
            <a:pPr algn="l">
              <a:spcAft>
                <a:spcPts val="1000"/>
              </a:spcAft>
            </a:pPr>
            <a:r>
              <a:rPr sz="3300" b="1" i="0">
                <a:solidFill>
                  <a:srgbClr val="2C5F2D"/>
                </a:solidFill>
                <a:latin typeface="Cambria"/>
              </a:rPr>
              <a:t>Knowing and Being Known</a:t>
            </a:r>
          </a:p>
          <a:p>
            <a:pPr algn="l">
              <a:spcAft>
                <a:spcPts val="600"/>
              </a:spcAft>
            </a:pPr>
            <a:r>
              <a:rPr sz="1500" b="0" i="1">
                <a:solidFill>
                  <a:srgbClr val="595959"/>
                </a:solidFill>
                <a:latin typeface="Calibri"/>
              </a:rPr>
              <a:t>The four conditions of a container, applied to your real friendships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1: Connect with Self &amp; Others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5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Welcome and centering</a:t>
            </a:r>
          </a:p>
          <a:p>
            <a:pPr>
              <a:spcAft>
                <a:spcPts val="500"/>
              </a:spcAft>
            </a:pPr>
            <a:r>
              <a:rPr b="1" sz="1300">
                <a:solidFill>
                  <a:srgbClr val="97BC62"/>
                </a:solidFill>
                <a:latin typeface="Calibri"/>
              </a:rPr>
              <a:t>2   </a:t>
            </a:r>
            <a:r>
              <a:rPr sz="1300">
                <a:solidFill>
                  <a:srgbClr val="222B22"/>
                </a:solidFill>
                <a:latin typeface="Calibri"/>
              </a:rPr>
              <a:t>Week 4 check-in</a:t>
            </a:r>
          </a:p>
          <a:p>
            <a:pPr>
              <a:spcAft>
                <a:spcPts val="500"/>
              </a:spcAft>
            </a:pPr>
            <a:r>
              <a:rPr b="1" sz="1300">
                <a:solidFill>
                  <a:srgbClr val="97BC62"/>
                </a:solidFill>
                <a:latin typeface="Calibri"/>
              </a:rPr>
              <a:t>3   </a:t>
            </a:r>
            <a:r>
              <a:rPr sz="1300">
                <a:solidFill>
                  <a:srgbClr val="222B22"/>
                </a:solidFill>
                <a:latin typeface="Calibri"/>
              </a:rPr>
              <a:t>The four conditions — teaching</a:t>
            </a:r>
          </a:p>
          <a:p>
            <a:pPr>
              <a:spcAft>
                <a:spcPts val="500"/>
              </a:spcAft>
            </a:pPr>
            <a:r>
              <a:rPr b="1" sz="1300">
                <a:solidFill>
                  <a:srgbClr val="97BC62"/>
                </a:solidFill>
                <a:latin typeface="Calibri"/>
              </a:rPr>
              <a:t>4   </a:t>
            </a:r>
            <a:r>
              <a:rPr sz="1300">
                <a:solidFill>
                  <a:srgbClr val="222B22"/>
                </a:solidFill>
                <a:latin typeface="Calibri"/>
              </a:rPr>
              <a:t>Bridge to split</a:t>
            </a:r>
          </a:p>
          <a:p>
            <a:pPr>
              <a:spcAft>
                <a:spcPts val="500"/>
              </a:spcAft>
            </a:pPr>
            <a:r>
              <a:rPr b="1" sz="1300">
                <a:solidFill>
                  <a:srgbClr val="97BC62"/>
                </a:solidFill>
                <a:latin typeface="Calibri"/>
              </a:rPr>
              <a:t>5   </a:t>
            </a:r>
            <a:r>
              <a:rPr sz="1300">
                <a:solidFill>
                  <a:srgbClr val="222B22"/>
                </a:solidFill>
                <a:latin typeface="Calibri"/>
              </a:rPr>
              <a:t>Friendship-mapping exercise</a:t>
            </a:r>
          </a:p>
          <a:p>
            <a:pPr>
              <a:spcAft>
                <a:spcPts val="500"/>
              </a:spcAft>
            </a:pPr>
            <a:r>
              <a:rPr b="1" sz="1300">
                <a:solidFill>
                  <a:srgbClr val="97BC62"/>
                </a:solidFill>
                <a:latin typeface="Calibri"/>
              </a:rPr>
              <a:t>6   </a:t>
            </a:r>
            <a:r>
              <a:rPr sz="1300">
                <a:solidFill>
                  <a:srgbClr val="222B22"/>
                </a:solidFill>
                <a:latin typeface="Calibri"/>
              </a:rPr>
              <a:t>Merge and surface common patterns</a:t>
            </a:r>
          </a:p>
          <a:p>
            <a:pPr>
              <a:spcAft>
                <a:spcPts val="500"/>
              </a:spcAft>
            </a:pPr>
            <a:r>
              <a:rPr b="1" sz="1300">
                <a:solidFill>
                  <a:srgbClr val="97BC62"/>
                </a:solidFill>
                <a:latin typeface="Calibri"/>
              </a:rPr>
              <a:t>7   </a:t>
            </a:r>
            <a:r>
              <a:rPr sz="1300">
                <a:solidFill>
                  <a:srgbClr val="222B22"/>
                </a:solidFill>
                <a:latin typeface="Calibri"/>
              </a:rPr>
              <a:t>Between-session practice</a:t>
            </a:r>
          </a:p>
          <a:p>
            <a:pPr>
              <a:spcAft>
                <a:spcPts val="500"/>
              </a:spcAft>
            </a:pPr>
            <a:r>
              <a:rPr b="1" sz="1300">
                <a:solidFill>
                  <a:srgbClr val="97BC62"/>
                </a:solidFill>
                <a:latin typeface="Calibri"/>
              </a:rPr>
              <a:t>8   </a:t>
            </a:r>
            <a:r>
              <a:rPr sz="1300">
                <a:solidFill>
                  <a:srgbClr val="222B22"/>
                </a:solidFill>
                <a:latin typeface="Calibri"/>
              </a:rPr>
              <a:t>The Leader Feedback Round</a:t>
            </a:r>
          </a:p>
          <a:p>
            <a:pPr>
              <a:spcAft>
                <a:spcPts val="500"/>
              </a:spcAft>
            </a:pPr>
            <a:r>
              <a:rPr b="1" sz="1300">
                <a:solidFill>
                  <a:srgbClr val="97BC62"/>
                </a:solidFill>
                <a:latin typeface="Calibri"/>
              </a:rPr>
              <a:t>9   </a:t>
            </a:r>
            <a:r>
              <a:rPr sz="13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k05-brave.jpg"/>
          <p:cNvPicPr>
            <a:picLocks noChangeAspect="1"/>
          </p:cNvPicPr>
          <p:nvPr/>
        </p:nvPicPr>
        <p:blipFill>
          <a:blip r:embed="rId2"/>
          <a:stretch>
            <a:fillRect/>
          </a:stretch>
        </p:blipFill>
        <p:spPr>
          <a:xfrm>
            <a:off x="7052310" y="822960"/>
            <a:ext cx="3909060" cy="5212080"/>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6</a:t>
            </a:r>
          </a:p>
          <a:p>
            <a:pPr algn="l">
              <a:spcAft>
                <a:spcPts val="1000"/>
              </a:spcAft>
            </a:pPr>
            <a:r>
              <a:rPr sz="3300" b="1" i="0">
                <a:solidFill>
                  <a:srgbClr val="2C5F2D"/>
                </a:solidFill>
                <a:latin typeface="Cambria"/>
              </a:rPr>
              <a:t>Safe and Brave Together</a:t>
            </a:r>
          </a:p>
          <a:p>
            <a:pPr algn="l">
              <a:spcAft>
                <a:spcPts val="600"/>
              </a:spcAft>
            </a:pPr>
            <a:r>
              <a:rPr sz="1500" b="0" i="1">
                <a:solidFill>
                  <a:srgbClr val="595959"/>
                </a:solidFill>
                <a:latin typeface="Calibri"/>
              </a:rPr>
              <a:t>Confession and restoration in an age-appropriate community</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1: Connect with Self &amp; Others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6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Welcome and centering</a:t>
            </a:r>
          </a:p>
          <a:p>
            <a:pPr>
              <a:spcAft>
                <a:spcPts val="500"/>
              </a:spcAft>
            </a:pPr>
            <a:r>
              <a:rPr b="1" sz="1300">
                <a:solidFill>
                  <a:srgbClr val="97BC62"/>
                </a:solidFill>
                <a:latin typeface="Calibri"/>
              </a:rPr>
              <a:t>2   </a:t>
            </a:r>
            <a:r>
              <a:rPr sz="1300">
                <a:solidFill>
                  <a:srgbClr val="222B22"/>
                </a:solidFill>
                <a:latin typeface="Calibri"/>
              </a:rPr>
              <a:t>Wk 5 check-in</a:t>
            </a:r>
          </a:p>
          <a:p>
            <a:pPr>
              <a:spcAft>
                <a:spcPts val="500"/>
              </a:spcAft>
            </a:pPr>
            <a:r>
              <a:rPr b="1" sz="1300">
                <a:solidFill>
                  <a:srgbClr val="97BC62"/>
                </a:solidFill>
                <a:latin typeface="Calibri"/>
              </a:rPr>
              <a:t>3   </a:t>
            </a:r>
            <a:r>
              <a:rPr sz="1300">
                <a:solidFill>
                  <a:srgbClr val="222B22"/>
                </a:solidFill>
                <a:latin typeface="Calibri"/>
              </a:rPr>
              <a:t>James 5:16 and 1 John 1:9 — confession as architecture</a:t>
            </a:r>
          </a:p>
          <a:p>
            <a:pPr>
              <a:spcAft>
                <a:spcPts val="500"/>
              </a:spcAft>
            </a:pPr>
            <a:r>
              <a:rPr b="1" sz="1300">
                <a:solidFill>
                  <a:srgbClr val="97BC62"/>
                </a:solidFill>
                <a:latin typeface="Calibri"/>
              </a:rPr>
              <a:t>4   </a:t>
            </a:r>
            <a:r>
              <a:rPr sz="1300">
                <a:solidFill>
                  <a:srgbClr val="222B22"/>
                </a:solidFill>
                <a:latin typeface="Calibri"/>
              </a:rPr>
              <a:t>Companion demo</a:t>
            </a:r>
          </a:p>
          <a:p>
            <a:pPr>
              <a:spcAft>
                <a:spcPts val="500"/>
              </a:spcAft>
            </a:pPr>
            <a:r>
              <a:rPr b="1" sz="1300">
                <a:solidFill>
                  <a:srgbClr val="97BC62"/>
                </a:solidFill>
                <a:latin typeface="Calibri"/>
              </a:rPr>
              <a:t>5   </a:t>
            </a:r>
            <a:r>
              <a:rPr sz="1300">
                <a:solidFill>
                  <a:srgbClr val="222B22"/>
                </a:solidFill>
                <a:latin typeface="Calibri"/>
              </a:rPr>
              <a:t>Bridge to the split</a:t>
            </a:r>
          </a:p>
          <a:p>
            <a:pPr>
              <a:spcAft>
                <a:spcPts val="500"/>
              </a:spcAft>
            </a:pPr>
            <a:r>
              <a:rPr b="1" sz="1300">
                <a:solidFill>
                  <a:srgbClr val="97BC62"/>
                </a:solidFill>
                <a:latin typeface="Calibri"/>
              </a:rPr>
              <a:t>6   </a:t>
            </a:r>
            <a:r>
              <a:rPr sz="1300">
                <a:solidFill>
                  <a:srgbClr val="222B22"/>
                </a:solidFill>
                <a:latin typeface="Calibri"/>
              </a:rPr>
              <a:t>Confession-and-restoration in family clusters</a:t>
            </a:r>
          </a:p>
          <a:p>
            <a:pPr>
              <a:spcAft>
                <a:spcPts val="500"/>
              </a:spcAft>
            </a:pPr>
            <a:r>
              <a:rPr b="1" sz="1300">
                <a:solidFill>
                  <a:srgbClr val="97BC62"/>
                </a:solidFill>
                <a:latin typeface="Calibri"/>
              </a:rPr>
              <a:t>7   </a:t>
            </a:r>
            <a:r>
              <a:rPr sz="1300">
                <a:solidFill>
                  <a:srgbClr val="222B22"/>
                </a:solidFill>
                <a:latin typeface="Calibri"/>
              </a:rPr>
              <a:t>Merge and shared blessing</a:t>
            </a:r>
          </a:p>
          <a:p>
            <a:pPr>
              <a:spcAft>
                <a:spcPts val="500"/>
              </a:spcAft>
            </a:pPr>
            <a:r>
              <a:rPr b="1" sz="1300">
                <a:solidFill>
                  <a:srgbClr val="97BC62"/>
                </a:solidFill>
                <a:latin typeface="Calibri"/>
              </a:rPr>
              <a:t>8   </a:t>
            </a:r>
            <a:r>
              <a:rPr sz="1300">
                <a:solidFill>
                  <a:srgbClr val="222B22"/>
                </a:solidFill>
                <a:latin typeface="Calibri"/>
              </a:rPr>
              <a:t>Between-session practice</a:t>
            </a:r>
          </a:p>
          <a:p>
            <a:pPr>
              <a:spcAft>
                <a:spcPts val="500"/>
              </a:spcAft>
            </a:pPr>
            <a:r>
              <a:rPr b="1" sz="1300">
                <a:solidFill>
                  <a:srgbClr val="97BC62"/>
                </a:solidFill>
                <a:latin typeface="Calibri"/>
              </a:rPr>
              <a:t>9   </a:t>
            </a:r>
            <a:r>
              <a:rPr sz="1300">
                <a:solidFill>
                  <a:srgbClr val="222B22"/>
                </a:solidFill>
                <a:latin typeface="Calibri"/>
              </a:rPr>
              <a:t>The Leader Feedback Round</a:t>
            </a:r>
          </a:p>
          <a:p>
            <a:pPr>
              <a:spcAft>
                <a:spcPts val="500"/>
              </a:spcAft>
            </a:pPr>
            <a:r>
              <a:rPr b="1" sz="1300">
                <a:solidFill>
                  <a:srgbClr val="97BC62"/>
                </a:solidFill>
                <a:latin typeface="Calibri"/>
              </a:rPr>
              <a:t>10   </a:t>
            </a:r>
            <a:r>
              <a:rPr sz="13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286000"/>
            <a:ext cx="9966960" cy="2194560"/>
          </a:xfrm>
          <a:prstGeom prst="rect">
            <a:avLst/>
          </a:prstGeom>
          <a:noFill/>
        </p:spPr>
        <p:txBody>
          <a:bodyPr wrap="square">
            <a:spAutoFit/>
          </a:bodyPr>
          <a:lstStyle/>
          <a:p>
            <a:pPr algn="l">
              <a:spcAft>
                <a:spcPts val="600"/>
              </a:spcAft>
            </a:pPr>
            <a:r>
              <a:rPr sz="1800" b="1" i="0">
                <a:solidFill>
                  <a:srgbClr val="97BC62"/>
                </a:solidFill>
                <a:latin typeface="Calibri"/>
              </a:rPr>
              <a:t>Quarter 2</a:t>
            </a:r>
          </a:p>
          <a:p>
            <a:pPr algn="l">
              <a:spcAft>
                <a:spcPts val="600"/>
              </a:spcAft>
            </a:pPr>
            <a:r>
              <a:rPr sz="4000" b="1" i="0">
                <a:solidFill>
                  <a:srgbClr val="FFFFFF"/>
                </a:solidFill>
                <a:latin typeface="Cambria"/>
              </a:rPr>
              <a:t>Connect with God</a:t>
            </a:r>
          </a:p>
          <a:p>
            <a:pPr algn="l">
              <a:spcAft>
                <a:spcPts val="600"/>
              </a:spcAft>
            </a:pPr>
            <a:r>
              <a:rPr sz="1500" b="0" i="1">
                <a:solidFill>
                  <a:srgbClr val="E4EFDA"/>
                </a:solidFill>
                <a:latin typeface="Calibri"/>
              </a:rPr>
              <a:t>Weeks 7–11  ·  Five Wednesdays · PROAPT, the Garden, Any Doubts? · ends at the year’s midpoint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F1F6EC"/>
                </a:solidFill>
                <a:latin typeface="Calibri"/>
              </a:rPr>
              <a:t>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k06-proapt.jpg"/>
          <p:cNvPicPr>
            <a:picLocks noChangeAspect="1"/>
          </p:cNvPicPr>
          <p:nvPr/>
        </p:nvPicPr>
        <p:blipFill>
          <a:blip r:embed="rId2"/>
          <a:stretch>
            <a:fillRect/>
          </a:stretch>
        </p:blipFill>
        <p:spPr>
          <a:xfrm>
            <a:off x="6309360" y="1405889"/>
            <a:ext cx="5394960" cy="4046220"/>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7</a:t>
            </a:r>
          </a:p>
          <a:p>
            <a:pPr algn="l">
              <a:spcAft>
                <a:spcPts val="1000"/>
              </a:spcAft>
            </a:pPr>
            <a:r>
              <a:rPr sz="3300" b="1" i="0">
                <a:solidFill>
                  <a:srgbClr val="2C5F2D"/>
                </a:solidFill>
                <a:latin typeface="Cambria"/>
              </a:rPr>
              <a:t>Hearing God in Scripture — PROAPT I</a:t>
            </a:r>
          </a:p>
          <a:p>
            <a:pPr algn="l">
              <a:spcAft>
                <a:spcPts val="600"/>
              </a:spcAft>
            </a:pPr>
            <a:r>
              <a:rPr sz="1500" b="0" i="1">
                <a:solidFill>
                  <a:srgbClr val="595959"/>
                </a:solidFill>
                <a:latin typeface="Calibri"/>
              </a:rPr>
              <a:t>PROAPT — the systematic practice of hearing; the first walk-through, received before it is led</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2: Connect with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7 — My Story: The Eye Test</a:t>
            </a:r>
          </a:p>
        </p:txBody>
      </p:sp>
      <p:pic>
        <p:nvPicPr>
          <p:cNvPr id="4" name="Picture 3" descr="4c-phoropter.jpg"/>
          <p:cNvPicPr>
            <a:picLocks noChangeAspect="1"/>
          </p:cNvPicPr>
          <p:nvPr/>
        </p:nvPicPr>
        <p:blipFill>
          <a:blip r:embed="rId2"/>
          <a:stretch>
            <a:fillRect/>
          </a:stretch>
        </p:blipFill>
        <p:spPr>
          <a:xfrm>
            <a:off x="822960" y="1645920"/>
            <a:ext cx="4754880" cy="3566160"/>
          </a:xfrm>
          <a:prstGeom prst="rect">
            <a:avLst/>
          </a:prstGeom>
        </p:spPr>
      </p:pic>
      <p:pic>
        <p:nvPicPr>
          <p:cNvPr id="5" name="Picture 4" descr="4c-eyechart.jpg"/>
          <p:cNvPicPr>
            <a:picLocks noChangeAspect="1"/>
          </p:cNvPicPr>
          <p:nvPr/>
        </p:nvPicPr>
        <p:blipFill>
          <a:blip r:embed="rId3"/>
          <a:stretch>
            <a:fillRect/>
          </a:stretch>
        </p:blipFill>
        <p:spPr>
          <a:xfrm>
            <a:off x="5971032" y="1645920"/>
            <a:ext cx="2139696" cy="3566160"/>
          </a:xfrm>
          <a:prstGeom prst="rect">
            <a:avLst/>
          </a:prstGeom>
        </p:spPr>
      </p:pic>
      <p:sp>
        <p:nvSpPr>
          <p:cNvPr id="6" name="TextBox 5"/>
          <p:cNvSpPr txBox="1"/>
          <p:nvPr/>
        </p:nvSpPr>
        <p:spPr>
          <a:xfrm>
            <a:off x="8503920" y="1737360"/>
            <a:ext cx="3108960" cy="3566160"/>
          </a:xfrm>
          <a:prstGeom prst="rect">
            <a:avLst/>
          </a:prstGeom>
          <a:noFill/>
        </p:spPr>
        <p:txBody>
          <a:bodyPr wrap="square" anchor="ctr">
            <a:spAutoFit/>
          </a:bodyPr>
          <a:lstStyle/>
          <a:p>
            <a:pPr algn="l">
              <a:spcAft>
                <a:spcPts val="600"/>
              </a:spcAft>
            </a:pPr>
            <a:r>
              <a:rPr sz="1900" b="1" i="1">
                <a:solidFill>
                  <a:srgbClr val="2C5F2D"/>
                </a:solidFill>
                <a:latin typeface="Calibri"/>
              </a:rPr>
              <a:t>“The more I obey what I have heard, the finer print I can read.”</a:t>
            </a:r>
          </a:p>
          <a:p>
            <a:pPr algn="l">
              <a:spcAft>
                <a:spcPts val="600"/>
              </a:spcAft>
            </a:pPr>
            <a:r>
              <a:rPr sz="1200" b="0" i="1">
                <a:solidFill>
                  <a:srgbClr val="595959"/>
                </a:solidFill>
                <a:latin typeface="Calibri"/>
              </a:rPr>
              <a:t>— the founder’s story, told live</a:t>
            </a:r>
          </a:p>
        </p:txBody>
      </p:sp>
      <p:sp>
        <p:nvSpPr>
          <p:cNvPr id="7" name="TextBox 6"/>
          <p:cNvSpPr txBox="1"/>
          <p:nvPr/>
        </p:nvSpPr>
        <p:spPr>
          <a:xfrm>
            <a:off x="822960" y="5669280"/>
            <a:ext cx="10607040" cy="822960"/>
          </a:xfrm>
          <a:prstGeom prst="rect">
            <a:avLst/>
          </a:prstGeom>
          <a:noFill/>
        </p:spPr>
        <p:txBody>
          <a:bodyPr wrap="square">
            <a:spAutoFit/>
          </a:bodyPr>
          <a:lstStyle/>
          <a:p>
            <a:pPr algn="l">
              <a:spcAft>
                <a:spcPts val="600"/>
              </a:spcAft>
            </a:pPr>
            <a:r>
              <a:rPr sz="1400" b="0" i="1">
                <a:solidFill>
                  <a:srgbClr val="222B22"/>
                </a:solidFill>
                <a:latin typeface="Calibri"/>
              </a:rPr>
              <a:t>Hearing God is a practice that grows with obedience — tonight we learn the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7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Welcome and centering</a:t>
            </a:r>
          </a:p>
          <a:p>
            <a:pPr>
              <a:spcAft>
                <a:spcPts val="500"/>
              </a:spcAft>
            </a:pPr>
            <a:r>
              <a:rPr b="1" sz="1300">
                <a:solidFill>
                  <a:srgbClr val="97BC62"/>
                </a:solidFill>
                <a:latin typeface="Calibri"/>
              </a:rPr>
              <a:t>2   </a:t>
            </a:r>
            <a:r>
              <a:rPr sz="1300">
                <a:solidFill>
                  <a:srgbClr val="222B22"/>
                </a:solidFill>
                <a:latin typeface="Calibri"/>
              </a:rPr>
              <a:t>Re-entry check-in</a:t>
            </a:r>
          </a:p>
          <a:p>
            <a:pPr>
              <a:spcAft>
                <a:spcPts val="500"/>
              </a:spcAft>
            </a:pPr>
            <a:r>
              <a:rPr b="1" sz="1300">
                <a:solidFill>
                  <a:srgbClr val="97BC62"/>
                </a:solidFill>
                <a:latin typeface="Calibri"/>
              </a:rPr>
              <a:t>3   </a:t>
            </a:r>
            <a:r>
              <a:rPr sz="1300">
                <a:solidFill>
                  <a:srgbClr val="222B22"/>
                </a:solidFill>
                <a:latin typeface="Calibri"/>
              </a:rPr>
              <a:t>Romans 10:17 — the chain</a:t>
            </a:r>
          </a:p>
          <a:p>
            <a:pPr>
              <a:spcAft>
                <a:spcPts val="500"/>
              </a:spcAft>
            </a:pPr>
            <a:r>
              <a:rPr b="1" sz="1300">
                <a:solidFill>
                  <a:srgbClr val="97BC62"/>
                </a:solidFill>
                <a:latin typeface="Calibri"/>
              </a:rPr>
              <a:t>4   </a:t>
            </a:r>
            <a:r>
              <a:rPr sz="1300">
                <a:solidFill>
                  <a:srgbClr val="222B22"/>
                </a:solidFill>
                <a:latin typeface="Calibri"/>
              </a:rPr>
              <a:t>PROAPT walked together</a:t>
            </a:r>
          </a:p>
          <a:p>
            <a:pPr>
              <a:spcAft>
                <a:spcPts val="500"/>
              </a:spcAft>
            </a:pPr>
            <a:r>
              <a:rPr b="1" sz="1300">
                <a:solidFill>
                  <a:srgbClr val="97BC62"/>
                </a:solidFill>
                <a:latin typeface="Calibri"/>
              </a:rPr>
              <a:t>5   </a:t>
            </a:r>
            <a:r>
              <a:rPr sz="1300">
                <a:solidFill>
                  <a:srgbClr val="222B22"/>
                </a:solidFill>
                <a:latin typeface="Calibri"/>
              </a:rPr>
              <a:t>Bridge to the clusters and pair structure</a:t>
            </a:r>
          </a:p>
          <a:p>
            <a:pPr>
              <a:spcAft>
                <a:spcPts val="500"/>
              </a:spcAft>
            </a:pPr>
            <a:r>
              <a:rPr b="1" sz="1300">
                <a:solidFill>
                  <a:srgbClr val="97BC62"/>
                </a:solidFill>
                <a:latin typeface="Calibri"/>
              </a:rPr>
              <a:t>6   </a:t>
            </a:r>
            <a:r>
              <a:rPr sz="1300">
                <a:solidFill>
                  <a:srgbClr val="222B22"/>
                </a:solidFill>
                <a:latin typeface="Calibri"/>
              </a:rPr>
              <a:t>PROAPT in family pairs in family clusters</a:t>
            </a:r>
          </a:p>
          <a:p>
            <a:pPr>
              <a:spcAft>
                <a:spcPts val="500"/>
              </a:spcAft>
            </a:pPr>
            <a:r>
              <a:rPr b="1" sz="1300">
                <a:solidFill>
                  <a:srgbClr val="97BC62"/>
                </a:solidFill>
                <a:latin typeface="Calibri"/>
              </a:rPr>
              <a:t>7   </a:t>
            </a:r>
            <a:r>
              <a:rPr sz="1300">
                <a:solidFill>
                  <a:srgbClr val="222B22"/>
                </a:solidFill>
                <a:latin typeface="Calibri"/>
              </a:rPr>
              <a:t>Tell step — sharing in the cluster</a:t>
            </a:r>
          </a:p>
          <a:p>
            <a:pPr>
              <a:spcAft>
                <a:spcPts val="500"/>
              </a:spcAft>
            </a:pPr>
            <a:r>
              <a:rPr b="1" sz="1300">
                <a:solidFill>
                  <a:srgbClr val="97BC62"/>
                </a:solidFill>
                <a:latin typeface="Calibri"/>
              </a:rPr>
              <a:t>8   </a:t>
            </a:r>
            <a:r>
              <a:rPr sz="1300">
                <a:solidFill>
                  <a:srgbClr val="222B22"/>
                </a:solidFill>
                <a:latin typeface="Calibri"/>
              </a:rPr>
              <a:t>Merge and between-session</a:t>
            </a:r>
          </a:p>
          <a:p>
            <a:pPr>
              <a:spcAft>
                <a:spcPts val="500"/>
              </a:spcAft>
            </a:pPr>
            <a:r>
              <a:rPr b="1" sz="1300">
                <a:solidFill>
                  <a:srgbClr val="97BC62"/>
                </a:solidFill>
                <a:latin typeface="Calibri"/>
              </a:rPr>
              <a:t>9   </a:t>
            </a:r>
            <a:r>
              <a:rPr sz="1300">
                <a:solidFill>
                  <a:srgbClr val="222B22"/>
                </a:solidFill>
                <a:latin typeface="Calibri"/>
              </a:rPr>
              <a:t>The Leader Feedback Round</a:t>
            </a:r>
          </a:p>
          <a:p>
            <a:pPr>
              <a:spcAft>
                <a:spcPts val="500"/>
              </a:spcAft>
            </a:pPr>
            <a:r>
              <a:rPr b="1" sz="1300">
                <a:solidFill>
                  <a:srgbClr val="97BC62"/>
                </a:solidFill>
                <a:latin typeface="Calibri"/>
              </a:rPr>
              <a:t>10   </a:t>
            </a:r>
            <a:r>
              <a:rPr sz="13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k06-proapt.jpg"/>
          <p:cNvPicPr>
            <a:picLocks noChangeAspect="1"/>
          </p:cNvPicPr>
          <p:nvPr/>
        </p:nvPicPr>
        <p:blipFill>
          <a:blip r:embed="rId2"/>
          <a:stretch>
            <a:fillRect/>
          </a:stretch>
        </p:blipFill>
        <p:spPr>
          <a:xfrm>
            <a:off x="6309360" y="1405889"/>
            <a:ext cx="5394960" cy="4046220"/>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8</a:t>
            </a:r>
          </a:p>
          <a:p>
            <a:pPr algn="l">
              <a:spcAft>
                <a:spcPts val="1000"/>
              </a:spcAft>
            </a:pPr>
            <a:r>
              <a:rPr sz="3300" b="1" i="0">
                <a:solidFill>
                  <a:srgbClr val="2C5F2D"/>
                </a:solidFill>
                <a:latin typeface="Cambria"/>
              </a:rPr>
              <a:t>Hearing God — PROAPT II</a:t>
            </a:r>
          </a:p>
          <a:p>
            <a:pPr algn="l">
              <a:spcAft>
                <a:spcPts val="600"/>
              </a:spcAft>
            </a:pPr>
            <a:r>
              <a:rPr sz="1500" b="0" i="1">
                <a:solidFill>
                  <a:srgbClr val="595959"/>
                </a:solidFill>
                <a:latin typeface="Calibri"/>
              </a:rPr>
              <a:t>The second running — the practice received last week is led this week, by one of the room's own seniors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2: Connect with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8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Welcome and centering</a:t>
            </a:r>
          </a:p>
          <a:p>
            <a:pPr>
              <a:spcAft>
                <a:spcPts val="500"/>
              </a:spcAft>
            </a:pPr>
            <a:r>
              <a:rPr b="1" sz="1300">
                <a:solidFill>
                  <a:srgbClr val="97BC62"/>
                </a:solidFill>
                <a:latin typeface="Calibri"/>
              </a:rPr>
              <a:t>2   </a:t>
            </a:r>
            <a:r>
              <a:rPr sz="1300">
                <a:solidFill>
                  <a:srgbClr val="222B22"/>
                </a:solidFill>
                <a:latin typeface="Calibri"/>
              </a:rPr>
              <a:t>Daily-practice check-in</a:t>
            </a:r>
          </a:p>
          <a:p>
            <a:pPr>
              <a:spcAft>
                <a:spcPts val="500"/>
              </a:spcAft>
            </a:pPr>
            <a:r>
              <a:rPr b="1" sz="1300">
                <a:solidFill>
                  <a:srgbClr val="97BC62"/>
                </a:solidFill>
                <a:latin typeface="Calibri"/>
              </a:rPr>
              <a:t>3   </a:t>
            </a:r>
            <a:r>
              <a:rPr sz="1300">
                <a:solidFill>
                  <a:srgbClr val="222B22"/>
                </a:solidFill>
                <a:latin typeface="Calibri"/>
              </a:rPr>
              <a:t>Why a second running</a:t>
            </a:r>
          </a:p>
          <a:p>
            <a:pPr>
              <a:spcAft>
                <a:spcPts val="500"/>
              </a:spcAft>
            </a:pPr>
            <a:r>
              <a:rPr b="1" sz="1300">
                <a:solidFill>
                  <a:srgbClr val="97BC62"/>
                </a:solidFill>
                <a:latin typeface="Calibri"/>
              </a:rPr>
              <a:t>4   </a:t>
            </a:r>
            <a:r>
              <a:rPr sz="1300">
                <a:solidFill>
                  <a:srgbClr val="222B22"/>
                </a:solidFill>
                <a:latin typeface="Calibri"/>
              </a:rPr>
              <a:t>PROAPT walked together — Mark 2:1–12</a:t>
            </a:r>
          </a:p>
          <a:p>
            <a:pPr>
              <a:spcAft>
                <a:spcPts val="500"/>
              </a:spcAft>
            </a:pPr>
            <a:r>
              <a:rPr b="1" sz="1300">
                <a:solidFill>
                  <a:srgbClr val="97BC62"/>
                </a:solidFill>
                <a:latin typeface="Calibri"/>
              </a:rPr>
              <a:t>5   </a:t>
            </a:r>
            <a:r>
              <a:rPr sz="1300">
                <a:solidFill>
                  <a:srgbClr val="222B22"/>
                </a:solidFill>
                <a:latin typeface="Calibri"/>
              </a:rPr>
              <a:t>Bridge to the clusters and pair structure</a:t>
            </a:r>
          </a:p>
          <a:p>
            <a:pPr>
              <a:spcAft>
                <a:spcPts val="500"/>
              </a:spcAft>
            </a:pPr>
            <a:r>
              <a:rPr b="1" sz="1300">
                <a:solidFill>
                  <a:srgbClr val="97BC62"/>
                </a:solidFill>
                <a:latin typeface="Calibri"/>
              </a:rPr>
              <a:t>6   </a:t>
            </a:r>
            <a:r>
              <a:rPr sz="1300">
                <a:solidFill>
                  <a:srgbClr val="222B22"/>
                </a:solidFill>
                <a:latin typeface="Calibri"/>
              </a:rPr>
              <a:t>PROAPT in family pairs in family clusters</a:t>
            </a:r>
          </a:p>
          <a:p>
            <a:pPr>
              <a:spcAft>
                <a:spcPts val="500"/>
              </a:spcAft>
            </a:pPr>
            <a:r>
              <a:rPr b="1" sz="1300">
                <a:solidFill>
                  <a:srgbClr val="97BC62"/>
                </a:solidFill>
                <a:latin typeface="Calibri"/>
              </a:rPr>
              <a:t>7   </a:t>
            </a:r>
            <a:r>
              <a:rPr sz="1300">
                <a:solidFill>
                  <a:srgbClr val="222B22"/>
                </a:solidFill>
                <a:latin typeface="Calibri"/>
              </a:rPr>
              <a:t>Tell step — sharing in the cluster</a:t>
            </a:r>
          </a:p>
          <a:p>
            <a:pPr>
              <a:spcAft>
                <a:spcPts val="500"/>
              </a:spcAft>
            </a:pPr>
            <a:r>
              <a:rPr b="1" sz="1300">
                <a:solidFill>
                  <a:srgbClr val="97BC62"/>
                </a:solidFill>
                <a:latin typeface="Calibri"/>
              </a:rPr>
              <a:t>8   </a:t>
            </a:r>
            <a:r>
              <a:rPr sz="1300">
                <a:solidFill>
                  <a:srgbClr val="222B22"/>
                </a:solidFill>
                <a:latin typeface="Calibri"/>
              </a:rPr>
              <a:t>Merge and between-session</a:t>
            </a:r>
          </a:p>
          <a:p>
            <a:pPr>
              <a:spcAft>
                <a:spcPts val="500"/>
              </a:spcAft>
            </a:pPr>
            <a:r>
              <a:rPr b="1" sz="1300">
                <a:solidFill>
                  <a:srgbClr val="97BC62"/>
                </a:solidFill>
                <a:latin typeface="Calibri"/>
              </a:rPr>
              <a:t>9   </a:t>
            </a:r>
            <a:r>
              <a:rPr sz="1300">
                <a:solidFill>
                  <a:srgbClr val="222B22"/>
                </a:solidFill>
                <a:latin typeface="Calibri"/>
              </a:rPr>
              <a:t>The Leader Feedback Round</a:t>
            </a:r>
          </a:p>
          <a:p>
            <a:pPr>
              <a:spcAft>
                <a:spcPts val="500"/>
              </a:spcAft>
            </a:pPr>
            <a:r>
              <a:rPr b="1" sz="1300">
                <a:solidFill>
                  <a:srgbClr val="97BC62"/>
                </a:solidFill>
                <a:latin typeface="Calibri"/>
              </a:rPr>
              <a:t>10   </a:t>
            </a:r>
            <a:r>
              <a:rPr sz="13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4c-garden.jpg"/>
          <p:cNvPicPr>
            <a:picLocks noChangeAspect="1"/>
          </p:cNvPicPr>
          <p:nvPr/>
        </p:nvPicPr>
        <p:blipFill>
          <a:blip r:embed="rId2"/>
          <a:stretch>
            <a:fillRect/>
          </a:stretch>
        </p:blipFill>
        <p:spPr>
          <a:xfrm>
            <a:off x="6309360" y="1408493"/>
            <a:ext cx="5394960" cy="4041012"/>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9</a:t>
            </a:r>
          </a:p>
          <a:p>
            <a:pPr algn="l">
              <a:spcAft>
                <a:spcPts val="1000"/>
              </a:spcAft>
            </a:pPr>
            <a:r>
              <a:rPr sz="3300" b="1" i="0">
                <a:solidFill>
                  <a:srgbClr val="2C5F2D"/>
                </a:solidFill>
                <a:latin typeface="Cambria"/>
              </a:rPr>
              <a:t>The Garden of Your Heart I</a:t>
            </a:r>
          </a:p>
          <a:p>
            <a:pPr algn="l">
              <a:spcAft>
                <a:spcPts val="600"/>
              </a:spcAft>
            </a:pPr>
            <a:r>
              <a:rPr sz="1500" b="0" i="1">
                <a:solidFill>
                  <a:srgbClr val="595959"/>
                </a:solidFill>
                <a:latin typeface="Calibri"/>
              </a:rPr>
              <a:t>An experiential encounter with Jesus in your interior space — the first guided run; a senior leads the second next week</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2: Connect with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9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Welcome and centering</a:t>
            </a:r>
          </a:p>
          <a:p>
            <a:pPr>
              <a:spcAft>
                <a:spcPts val="500"/>
              </a:spcAft>
            </a:pPr>
            <a:r>
              <a:rPr b="1" sz="1300">
                <a:solidFill>
                  <a:srgbClr val="97BC62"/>
                </a:solidFill>
                <a:latin typeface="Calibri"/>
              </a:rPr>
              <a:t>2   </a:t>
            </a:r>
            <a:r>
              <a:rPr sz="1300">
                <a:solidFill>
                  <a:srgbClr val="222B22"/>
                </a:solidFill>
                <a:latin typeface="Calibri"/>
              </a:rPr>
              <a:t>Week 7 check-in</a:t>
            </a:r>
          </a:p>
          <a:p>
            <a:pPr>
              <a:spcAft>
                <a:spcPts val="500"/>
              </a:spcAft>
            </a:pPr>
            <a:r>
              <a:rPr b="1" sz="1300">
                <a:solidFill>
                  <a:srgbClr val="97BC62"/>
                </a:solidFill>
                <a:latin typeface="Calibri"/>
              </a:rPr>
              <a:t>3   </a:t>
            </a:r>
            <a:r>
              <a:rPr sz="1300">
                <a:solidFill>
                  <a:srgbClr val="222B22"/>
                </a:solidFill>
                <a:latin typeface="Calibri"/>
              </a:rPr>
              <a:t>Scripture and framing</a:t>
            </a:r>
          </a:p>
          <a:p>
            <a:pPr>
              <a:spcAft>
                <a:spcPts val="500"/>
              </a:spcAft>
            </a:pPr>
            <a:r>
              <a:rPr b="1" sz="1300">
                <a:solidFill>
                  <a:srgbClr val="97BC62"/>
                </a:solidFill>
                <a:latin typeface="Calibri"/>
              </a:rPr>
              <a:t>4   </a:t>
            </a:r>
            <a:r>
              <a:rPr sz="1300">
                <a:solidFill>
                  <a:srgbClr val="222B22"/>
                </a:solidFill>
                <a:latin typeface="Calibri"/>
              </a:rPr>
              <a:t>Bridge into the exercise</a:t>
            </a:r>
          </a:p>
          <a:p>
            <a:pPr>
              <a:spcAft>
                <a:spcPts val="500"/>
              </a:spcAft>
            </a:pPr>
            <a:r>
              <a:rPr b="1" sz="1300">
                <a:solidFill>
                  <a:srgbClr val="97BC62"/>
                </a:solidFill>
                <a:latin typeface="Calibri"/>
              </a:rPr>
              <a:t>5   </a:t>
            </a:r>
            <a:r>
              <a:rPr sz="1300">
                <a:solidFill>
                  <a:srgbClr val="222B22"/>
                </a:solidFill>
                <a:latin typeface="Calibri"/>
              </a:rPr>
              <a:t>The Garden exercise — whole room, then clusters</a:t>
            </a:r>
          </a:p>
          <a:p>
            <a:pPr>
              <a:spcAft>
                <a:spcPts val="500"/>
              </a:spcAft>
            </a:pPr>
            <a:r>
              <a:rPr b="1" sz="1300">
                <a:solidFill>
                  <a:srgbClr val="97BC62"/>
                </a:solidFill>
                <a:latin typeface="Calibri"/>
              </a:rPr>
              <a:t>6   </a:t>
            </a:r>
            <a:r>
              <a:rPr sz="1300">
                <a:solidFill>
                  <a:srgbClr val="222B22"/>
                </a:solidFill>
                <a:latin typeface="Calibri"/>
              </a:rPr>
              <a:t>Merge and one-word landing</a:t>
            </a:r>
          </a:p>
          <a:p>
            <a:pPr>
              <a:spcAft>
                <a:spcPts val="500"/>
              </a:spcAft>
            </a:pPr>
            <a:r>
              <a:rPr b="1" sz="1300">
                <a:solidFill>
                  <a:srgbClr val="97BC62"/>
                </a:solidFill>
                <a:latin typeface="Calibri"/>
              </a:rPr>
              <a:t>7   </a:t>
            </a:r>
            <a:r>
              <a:rPr sz="1300">
                <a:solidFill>
                  <a:srgbClr val="222B22"/>
                </a:solidFill>
                <a:latin typeface="Calibri"/>
              </a:rPr>
              <a:t>Between-session practice</a:t>
            </a:r>
          </a:p>
          <a:p>
            <a:pPr>
              <a:spcAft>
                <a:spcPts val="500"/>
              </a:spcAft>
            </a:pPr>
            <a:r>
              <a:rPr b="1" sz="1300">
                <a:solidFill>
                  <a:srgbClr val="97BC62"/>
                </a:solidFill>
                <a:latin typeface="Calibri"/>
              </a:rPr>
              <a:t>8   </a:t>
            </a:r>
            <a:r>
              <a:rPr sz="1300">
                <a:solidFill>
                  <a:srgbClr val="222B22"/>
                </a:solidFill>
                <a:latin typeface="Calibri"/>
              </a:rPr>
              <a:t>The Leader Feedback Round</a:t>
            </a:r>
          </a:p>
          <a:p>
            <a:pPr>
              <a:spcAft>
                <a:spcPts val="500"/>
              </a:spcAft>
            </a:pPr>
            <a:r>
              <a:rPr b="1" sz="1300">
                <a:solidFill>
                  <a:srgbClr val="97BC62"/>
                </a:solidFill>
                <a:latin typeface="Calibri"/>
              </a:rPr>
              <a:t>9   </a:t>
            </a:r>
            <a:r>
              <a:rPr sz="13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4c-garden.jpg"/>
          <p:cNvPicPr>
            <a:picLocks noChangeAspect="1"/>
          </p:cNvPicPr>
          <p:nvPr/>
        </p:nvPicPr>
        <p:blipFill>
          <a:blip r:embed="rId2"/>
          <a:stretch>
            <a:fillRect/>
          </a:stretch>
        </p:blipFill>
        <p:spPr>
          <a:xfrm>
            <a:off x="6309360" y="1408493"/>
            <a:ext cx="5394960" cy="4041012"/>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10</a:t>
            </a:r>
          </a:p>
          <a:p>
            <a:pPr algn="l">
              <a:spcAft>
                <a:spcPts val="1000"/>
              </a:spcAft>
            </a:pPr>
            <a:r>
              <a:rPr sz="3300" b="1" i="0">
                <a:solidFill>
                  <a:srgbClr val="2C5F2D"/>
                </a:solidFill>
                <a:latin typeface="Cambria"/>
              </a:rPr>
              <a:t>The Garden of Your Heart II</a:t>
            </a:r>
          </a:p>
          <a:p>
            <a:pPr algn="l">
              <a:spcAft>
                <a:spcPts val="600"/>
              </a:spcAft>
            </a:pPr>
            <a:r>
              <a:rPr sz="1500" b="0" i="1">
                <a:solidFill>
                  <a:srgbClr val="595959"/>
                </a:solidFill>
                <a:latin typeface="Calibri"/>
              </a:rPr>
              <a:t>The second guided run — the room returns to the garden deeper for a week of practice; a Companion-in-Formation leads the walk-through, and the adults hold the debrief</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2: Connect with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10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Welcome and centering</a:t>
            </a:r>
          </a:p>
          <a:p>
            <a:pPr>
              <a:spcAft>
                <a:spcPts val="500"/>
              </a:spcAft>
            </a:pPr>
            <a:r>
              <a:rPr b="1" sz="1300">
                <a:solidFill>
                  <a:srgbClr val="97BC62"/>
                </a:solidFill>
                <a:latin typeface="Calibri"/>
              </a:rPr>
              <a:t>2   </a:t>
            </a:r>
            <a:r>
              <a:rPr sz="1300">
                <a:solidFill>
                  <a:srgbClr val="222B22"/>
                </a:solidFill>
                <a:latin typeface="Calibri"/>
              </a:rPr>
              <a:t>Garden week check-in</a:t>
            </a:r>
          </a:p>
          <a:p>
            <a:pPr>
              <a:spcAft>
                <a:spcPts val="500"/>
              </a:spcAft>
            </a:pPr>
            <a:r>
              <a:rPr b="1" sz="1300">
                <a:solidFill>
                  <a:srgbClr val="97BC62"/>
                </a:solidFill>
                <a:latin typeface="Calibri"/>
              </a:rPr>
              <a:t>3   </a:t>
            </a:r>
            <a:r>
              <a:rPr sz="1300">
                <a:solidFill>
                  <a:srgbClr val="222B22"/>
                </a:solidFill>
                <a:latin typeface="Calibri"/>
              </a:rPr>
              <a:t>Scripture and brief re-framing</a:t>
            </a:r>
          </a:p>
          <a:p>
            <a:pPr>
              <a:spcAft>
                <a:spcPts val="500"/>
              </a:spcAft>
            </a:pPr>
            <a:r>
              <a:rPr b="1" sz="1300">
                <a:solidFill>
                  <a:srgbClr val="97BC62"/>
                </a:solidFill>
                <a:latin typeface="Calibri"/>
              </a:rPr>
              <a:t>4   </a:t>
            </a:r>
            <a:r>
              <a:rPr sz="1300">
                <a:solidFill>
                  <a:srgbClr val="222B22"/>
                </a:solidFill>
                <a:latin typeface="Calibri"/>
              </a:rPr>
              <a:t>Bridge to the exercise</a:t>
            </a:r>
          </a:p>
          <a:p>
            <a:pPr>
              <a:spcAft>
                <a:spcPts val="500"/>
              </a:spcAft>
            </a:pPr>
            <a:r>
              <a:rPr b="1" sz="1300">
                <a:solidFill>
                  <a:srgbClr val="97BC62"/>
                </a:solidFill>
                <a:latin typeface="Calibri"/>
              </a:rPr>
              <a:t>5   </a:t>
            </a:r>
            <a:r>
              <a:rPr sz="1300">
                <a:solidFill>
                  <a:srgbClr val="222B22"/>
                </a:solidFill>
                <a:latin typeface="Calibri"/>
              </a:rPr>
              <a:t>The Garden exercise — whole room, then family clusters</a:t>
            </a:r>
          </a:p>
          <a:p>
            <a:pPr>
              <a:spcAft>
                <a:spcPts val="500"/>
              </a:spcAft>
            </a:pPr>
            <a:r>
              <a:rPr b="1" sz="1300">
                <a:solidFill>
                  <a:srgbClr val="97BC62"/>
                </a:solidFill>
                <a:latin typeface="Calibri"/>
              </a:rPr>
              <a:t>6   </a:t>
            </a:r>
            <a:r>
              <a:rPr sz="1300">
                <a:solidFill>
                  <a:srgbClr val="222B22"/>
                </a:solidFill>
                <a:latin typeface="Calibri"/>
              </a:rPr>
              <a:t>Merge and one-word landing</a:t>
            </a:r>
          </a:p>
          <a:p>
            <a:pPr>
              <a:spcAft>
                <a:spcPts val="500"/>
              </a:spcAft>
            </a:pPr>
            <a:r>
              <a:rPr b="1" sz="1300">
                <a:solidFill>
                  <a:srgbClr val="97BC62"/>
                </a:solidFill>
                <a:latin typeface="Calibri"/>
              </a:rPr>
              <a:t>7   </a:t>
            </a:r>
            <a:r>
              <a:rPr sz="1300">
                <a:solidFill>
                  <a:srgbClr val="222B22"/>
                </a:solidFill>
                <a:latin typeface="Calibri"/>
              </a:rPr>
              <a:t>Between-session practice</a:t>
            </a:r>
          </a:p>
          <a:p>
            <a:pPr>
              <a:spcAft>
                <a:spcPts val="500"/>
              </a:spcAft>
            </a:pPr>
            <a:r>
              <a:rPr b="1" sz="1300">
                <a:solidFill>
                  <a:srgbClr val="97BC62"/>
                </a:solidFill>
                <a:latin typeface="Calibri"/>
              </a:rPr>
              <a:t>8   </a:t>
            </a:r>
            <a:r>
              <a:rPr sz="1300">
                <a:solidFill>
                  <a:srgbClr val="222B22"/>
                </a:solidFill>
                <a:latin typeface="Calibri"/>
              </a:rPr>
              <a:t>Leader Feedback Round</a:t>
            </a:r>
          </a:p>
          <a:p>
            <a:pPr>
              <a:spcAft>
                <a:spcPts val="500"/>
              </a:spcAft>
            </a:pPr>
            <a:r>
              <a:rPr b="1" sz="1300">
                <a:solidFill>
                  <a:srgbClr val="97BC62"/>
                </a:solidFill>
                <a:latin typeface="Calibri"/>
              </a:rPr>
              <a:t>9   </a:t>
            </a:r>
            <a:r>
              <a:rPr sz="13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k08-doubts.jpg"/>
          <p:cNvPicPr>
            <a:picLocks noChangeAspect="1"/>
          </p:cNvPicPr>
          <p:nvPr/>
        </p:nvPicPr>
        <p:blipFill>
          <a:blip r:embed="rId2"/>
          <a:stretch>
            <a:fillRect/>
          </a:stretch>
        </p:blipFill>
        <p:spPr>
          <a:xfrm>
            <a:off x="6309360" y="1630118"/>
            <a:ext cx="5394960" cy="3597763"/>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11</a:t>
            </a:r>
          </a:p>
          <a:p>
            <a:pPr algn="l">
              <a:spcAft>
                <a:spcPts val="1000"/>
              </a:spcAft>
            </a:pPr>
            <a:r>
              <a:rPr sz="3300" b="1" i="0">
                <a:solidFill>
                  <a:srgbClr val="2C5F2D"/>
                </a:solidFill>
                <a:latin typeface="Cambria"/>
              </a:rPr>
              <a:t>Any Doubts?</a:t>
            </a:r>
          </a:p>
          <a:p>
            <a:pPr algn="l">
              <a:spcAft>
                <a:spcPts val="600"/>
              </a:spcAft>
            </a:pPr>
            <a:r>
              <a:rPr sz="1500" b="0" i="1">
                <a:solidFill>
                  <a:srgbClr val="595959"/>
                </a:solidFill>
                <a:latin typeface="Calibri"/>
              </a:rPr>
              <a:t>Bringing the real question, and bringing it to God</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2: Connect with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11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Welcome and centering</a:t>
            </a:r>
          </a:p>
          <a:p>
            <a:pPr>
              <a:spcAft>
                <a:spcPts val="500"/>
              </a:spcAft>
            </a:pPr>
            <a:r>
              <a:rPr b="1" sz="1300">
                <a:solidFill>
                  <a:srgbClr val="97BC62"/>
                </a:solidFill>
                <a:latin typeface="Calibri"/>
              </a:rPr>
              <a:t>2   </a:t>
            </a:r>
            <a:r>
              <a:rPr sz="1300">
                <a:solidFill>
                  <a:srgbClr val="222B22"/>
                </a:solidFill>
                <a:latin typeface="Calibri"/>
              </a:rPr>
              <a:t>Week 9 check-in</a:t>
            </a:r>
          </a:p>
          <a:p>
            <a:pPr>
              <a:spcAft>
                <a:spcPts val="500"/>
              </a:spcAft>
            </a:pPr>
            <a:r>
              <a:rPr b="1" sz="1300">
                <a:solidFill>
                  <a:srgbClr val="97BC62"/>
                </a:solidFill>
                <a:latin typeface="Calibri"/>
              </a:rPr>
              <a:t>3   </a:t>
            </a:r>
            <a:r>
              <a:rPr sz="1300">
                <a:solidFill>
                  <a:srgbClr val="222B22"/>
                </a:solidFill>
                <a:latin typeface="Calibri"/>
              </a:rPr>
              <a:t>Mark 9:14–29 — the scripture ground</a:t>
            </a:r>
          </a:p>
          <a:p>
            <a:pPr>
              <a:spcAft>
                <a:spcPts val="500"/>
              </a:spcAft>
            </a:pPr>
            <a:r>
              <a:rPr b="1" sz="1300">
                <a:solidFill>
                  <a:srgbClr val="97BC62"/>
                </a:solidFill>
                <a:latin typeface="Calibri"/>
              </a:rPr>
              <a:t>4   </a:t>
            </a:r>
            <a:r>
              <a:rPr sz="1300">
                <a:solidFill>
                  <a:srgbClr val="222B22"/>
                </a:solidFill>
                <a:latin typeface="Calibri"/>
              </a:rPr>
              <a:t>The Any Doubts? practice — teaching</a:t>
            </a:r>
          </a:p>
          <a:p>
            <a:pPr>
              <a:spcAft>
                <a:spcPts val="500"/>
              </a:spcAft>
            </a:pPr>
            <a:r>
              <a:rPr b="1" sz="1300">
                <a:solidFill>
                  <a:srgbClr val="97BC62"/>
                </a:solidFill>
                <a:latin typeface="Calibri"/>
              </a:rPr>
              <a:t>5   </a:t>
            </a:r>
            <a:r>
              <a:rPr sz="1300">
                <a:solidFill>
                  <a:srgbClr val="222B22"/>
                </a:solidFill>
                <a:latin typeface="Calibri"/>
              </a:rPr>
              <a:t>Bridge to split</a:t>
            </a:r>
          </a:p>
          <a:p>
            <a:pPr>
              <a:spcAft>
                <a:spcPts val="500"/>
              </a:spcAft>
            </a:pPr>
            <a:r>
              <a:rPr b="1" sz="1300">
                <a:solidFill>
                  <a:srgbClr val="97BC62"/>
                </a:solidFill>
                <a:latin typeface="Calibri"/>
              </a:rPr>
              <a:t>6   </a:t>
            </a:r>
            <a:r>
              <a:rPr sz="1300">
                <a:solidFill>
                  <a:srgbClr val="222B22"/>
                </a:solidFill>
                <a:latin typeface="Calibri"/>
              </a:rPr>
              <a:t>Any Doubts? in pairs within families</a:t>
            </a:r>
          </a:p>
          <a:p>
            <a:pPr>
              <a:spcAft>
                <a:spcPts val="500"/>
              </a:spcAft>
            </a:pPr>
            <a:r>
              <a:rPr b="1" sz="1300">
                <a:solidFill>
                  <a:srgbClr val="97BC62"/>
                </a:solidFill>
                <a:latin typeface="Calibri"/>
              </a:rPr>
              <a:t>7   </a:t>
            </a:r>
            <a:r>
              <a:rPr sz="1300">
                <a:solidFill>
                  <a:srgbClr val="222B22"/>
                </a:solidFill>
                <a:latin typeface="Calibri"/>
              </a:rPr>
              <a:t>Merge and surface</a:t>
            </a:r>
          </a:p>
          <a:p>
            <a:pPr>
              <a:spcAft>
                <a:spcPts val="500"/>
              </a:spcAft>
            </a:pPr>
            <a:r>
              <a:rPr b="1" sz="1300">
                <a:solidFill>
                  <a:srgbClr val="97BC62"/>
                </a:solidFill>
                <a:latin typeface="Calibri"/>
              </a:rPr>
              <a:t>8   </a:t>
            </a:r>
            <a:r>
              <a:rPr sz="1300">
                <a:solidFill>
                  <a:srgbClr val="222B22"/>
                </a:solidFill>
                <a:latin typeface="Calibri"/>
              </a:rPr>
              <a:t>Between-session practice</a:t>
            </a:r>
          </a:p>
          <a:p>
            <a:pPr>
              <a:spcAft>
                <a:spcPts val="500"/>
              </a:spcAft>
            </a:pPr>
            <a:r>
              <a:rPr b="1" sz="1300">
                <a:solidFill>
                  <a:srgbClr val="97BC62"/>
                </a:solidFill>
                <a:latin typeface="Calibri"/>
              </a:rPr>
              <a:t>9   </a:t>
            </a:r>
            <a:r>
              <a:rPr sz="1300">
                <a:solidFill>
                  <a:srgbClr val="222B22"/>
                </a:solidFill>
                <a:latin typeface="Calibri"/>
              </a:rPr>
              <a:t>Leader Feedback Round</a:t>
            </a:r>
          </a:p>
          <a:p>
            <a:pPr>
              <a:spcAft>
                <a:spcPts val="500"/>
              </a:spcAft>
            </a:pPr>
            <a:r>
              <a:rPr b="1" sz="1300">
                <a:solidFill>
                  <a:srgbClr val="97BC62"/>
                </a:solidFill>
                <a:latin typeface="Calibri"/>
              </a:rPr>
              <a:t>10   </a:t>
            </a:r>
            <a:r>
              <a:rPr sz="13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286000"/>
            <a:ext cx="9966960" cy="2194560"/>
          </a:xfrm>
          <a:prstGeom prst="rect">
            <a:avLst/>
          </a:prstGeom>
          <a:noFill/>
        </p:spPr>
        <p:txBody>
          <a:bodyPr wrap="square">
            <a:spAutoFit/>
          </a:bodyPr>
          <a:lstStyle/>
          <a:p>
            <a:pPr algn="l">
              <a:spcAft>
                <a:spcPts val="600"/>
              </a:spcAft>
            </a:pPr>
            <a:r>
              <a:rPr sz="1800" b="1" i="0">
                <a:solidFill>
                  <a:srgbClr val="97BC62"/>
                </a:solidFill>
                <a:latin typeface="Calibri"/>
              </a:rPr>
              <a:t>Quarter 3</a:t>
            </a:r>
          </a:p>
          <a:p>
            <a:pPr algn="l">
              <a:spcAft>
                <a:spcPts val="600"/>
              </a:spcAft>
            </a:pPr>
            <a:r>
              <a:rPr sz="4000" b="1" i="0">
                <a:solidFill>
                  <a:srgbClr val="FFFFFF"/>
                </a:solidFill>
                <a:latin typeface="Cambria"/>
              </a:rPr>
              <a:t>Mission &amp; Rhythm</a:t>
            </a:r>
          </a:p>
          <a:p>
            <a:pPr algn="l">
              <a:spcAft>
                <a:spcPts val="600"/>
              </a:spcAft>
            </a:pPr>
            <a:r>
              <a:rPr sz="1500" b="0" i="1">
                <a:solidFill>
                  <a:srgbClr val="E4EFDA"/>
                </a:solidFill>
                <a:latin typeface="Calibri"/>
              </a:rPr>
              <a:t>Weeks 12–17  ·  Six Wednesdays · The Return, Mission, the Rhythm and the Four Questions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F1F6EC"/>
                </a:solidFill>
                <a:latin typeface="Calibri"/>
              </a:rPr>
              <a:t>1</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12</a:t>
            </a:r>
          </a:p>
          <a:p>
            <a:pPr algn="l">
              <a:spcAft>
                <a:spcPts val="1000"/>
              </a:spcAft>
            </a:pPr>
            <a:r>
              <a:rPr sz="3300" b="1" i="0">
                <a:solidFill>
                  <a:srgbClr val="2C5F2D"/>
                </a:solidFill>
                <a:latin typeface="Cambria"/>
              </a:rPr>
              <a:t>The Return</a:t>
            </a:r>
          </a:p>
          <a:p>
            <a:pPr algn="l">
              <a:spcAft>
                <a:spcPts val="600"/>
              </a:spcAft>
            </a:pPr>
            <a:r>
              <a:rPr sz="1500" b="0" i="1">
                <a:solidFill>
                  <a:srgbClr val="595959"/>
                </a:solidFill>
                <a:latin typeface="Calibri"/>
              </a:rPr>
              <a:t>Coming home after the break — reading honestly what held, welcoming every walker back, and beginning again</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3: Mission &amp;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91" name="Picture 91" descr="a snowy road between tall pines with dawn light at its end"/>
          <p:cNvPicPr>
            <a:picLocks noChangeAspect="1"/>
          </p:cNvPicPr>
          <p:nvPr/>
        </p:nvPicPr>
        <p:blipFill>
          <a:blip r:embed="rId2"/>
          <a:stretch>
            <a:fillRect/>
          </a:stretch>
        </p:blipFill>
        <p:spPr>
          <a:xfrm>
            <a:off x="6309360" y="1630118"/>
            <a:ext cx="5394960" cy="3597763"/>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12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Opening container — run slow</a:t>
            </a:r>
          </a:p>
          <a:p>
            <a:pPr>
              <a:spcAft>
                <a:spcPts val="500"/>
              </a:spcAft>
            </a:pPr>
            <a:r>
              <a:rPr b="1" sz="1300">
                <a:solidFill>
                  <a:srgbClr val="97BC62"/>
                </a:solidFill>
                <a:latin typeface="Calibri"/>
              </a:rPr>
              <a:t>2   </a:t>
            </a:r>
            <a:r>
              <a:rPr sz="1300">
                <a:solidFill>
                  <a:srgbClr val="222B22"/>
                </a:solidFill>
                <a:latin typeface="Calibri"/>
              </a:rPr>
              <a:t>New every morning — Lam. 3:22–23, Ps. 126</a:t>
            </a:r>
          </a:p>
          <a:p>
            <a:pPr>
              <a:spcAft>
                <a:spcPts val="500"/>
              </a:spcAft>
            </a:pPr>
            <a:r>
              <a:rPr b="1" sz="1300">
                <a:solidFill>
                  <a:srgbClr val="97BC62"/>
                </a:solidFill>
                <a:latin typeface="Calibri"/>
              </a:rPr>
              <a:t>3   </a:t>
            </a:r>
            <a:r>
              <a:rPr sz="1300">
                <a:solidFill>
                  <a:srgbClr val="222B22"/>
                </a:solidFill>
                <a:latin typeface="Calibri"/>
              </a:rPr>
              <a:t>“What held?”</a:t>
            </a:r>
          </a:p>
          <a:p>
            <a:pPr>
              <a:spcAft>
                <a:spcPts val="500"/>
              </a:spcAft>
            </a:pPr>
            <a:r>
              <a:rPr b="1" sz="1300">
                <a:solidFill>
                  <a:srgbClr val="97BC62"/>
                </a:solidFill>
                <a:latin typeface="Calibri"/>
              </a:rPr>
              <a:t>4   </a:t>
            </a:r>
            <a:r>
              <a:rPr sz="1300">
                <a:solidFill>
                  <a:srgbClr val="222B22"/>
                </a:solidFill>
                <a:latin typeface="Calibri"/>
              </a:rPr>
              <a:t>The walk home</a:t>
            </a:r>
          </a:p>
          <a:p>
            <a:pPr>
              <a:spcAft>
                <a:spcPts val="500"/>
              </a:spcAft>
            </a:pPr>
            <a:r>
              <a:rPr b="1" sz="1300">
                <a:solidFill>
                  <a:srgbClr val="97BC62"/>
                </a:solidFill>
                <a:latin typeface="Calibri"/>
              </a:rPr>
              <a:t>5   </a:t>
            </a:r>
            <a:r>
              <a:rPr sz="1300">
                <a:solidFill>
                  <a:srgbClr val="222B22"/>
                </a:solidFill>
                <a:latin typeface="Calibri"/>
              </a:rPr>
              <a:t>Re-anchoring the year</a:t>
            </a:r>
          </a:p>
          <a:p>
            <a:pPr>
              <a:spcAft>
                <a:spcPts val="500"/>
              </a:spcAft>
            </a:pPr>
            <a:r>
              <a:rPr b="1" sz="1300">
                <a:solidFill>
                  <a:srgbClr val="97BC62"/>
                </a:solidFill>
                <a:latin typeface="Calibri"/>
              </a:rPr>
              <a:t>6   </a:t>
            </a:r>
            <a:r>
              <a:rPr sz="1300">
                <a:solidFill>
                  <a:srgbClr val="222B22"/>
                </a:solidFill>
                <a:latin typeface="Calibri"/>
              </a:rPr>
              <a:t>Between-session practice — restart one</a:t>
            </a:r>
          </a:p>
          <a:p>
            <a:pPr>
              <a:spcAft>
                <a:spcPts val="500"/>
              </a:spcAft>
            </a:pPr>
            <a:r>
              <a:rPr b="1" sz="1300">
                <a:solidFill>
                  <a:srgbClr val="97BC62"/>
                </a:solidFill>
                <a:latin typeface="Calibri"/>
              </a:rPr>
              <a:t>7   </a:t>
            </a:r>
            <a:r>
              <a:rPr sz="1300">
                <a:solidFill>
                  <a:srgbClr val="222B22"/>
                </a:solidFill>
                <a:latin typeface="Calibri"/>
              </a:rPr>
              <a:t>Closing container</a:t>
            </a:r>
          </a:p>
          <a:p>
            <a:pPr>
              <a:spcAft>
                <a:spcPts val="500"/>
              </a:spcAft>
            </a:pPr>
            <a:r>
              <a:rPr b="1" sz="1300">
                <a:solidFill>
                  <a:srgbClr val="97BC62"/>
                </a:solidFill>
                <a:latin typeface="Calibri"/>
              </a:rPr>
              <a:t>8   </a:t>
            </a:r>
            <a:r>
              <a:rPr sz="1300">
                <a:solidFill>
                  <a:srgbClr val="222B22"/>
                </a:solidFill>
                <a:latin typeface="Calibri"/>
              </a:rPr>
              <a:t>Leader Feedback Round</a:t>
            </a:r>
          </a:p>
          <a:p>
            <a:pPr>
              <a:spcAft>
                <a:spcPts val="500"/>
              </a:spcAft>
            </a:pPr>
            <a:r>
              <a:rPr b="1" sz="1300">
                <a:solidFill>
                  <a:srgbClr val="97BC62"/>
                </a:solidFill>
                <a:latin typeface="Calibri"/>
              </a:rPr>
              <a:t>9   </a:t>
            </a:r>
            <a:r>
              <a:rPr sz="1300">
                <a:solidFill>
                  <a:srgbClr val="222B22"/>
                </a:solidFill>
                <a:latin typeface="Calibri"/>
              </a:rPr>
              <a:t>Aaronic blessing and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k09-mission.jpg"/>
          <p:cNvPicPr>
            <a:picLocks noChangeAspect="1"/>
          </p:cNvPicPr>
          <p:nvPr/>
        </p:nvPicPr>
        <p:blipFill>
          <a:blip r:embed="rId2"/>
          <a:stretch>
            <a:fillRect/>
          </a:stretch>
        </p:blipFill>
        <p:spPr>
          <a:xfrm>
            <a:off x="7268937" y="822960"/>
            <a:ext cx="3475805" cy="5212080"/>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13</a:t>
            </a:r>
          </a:p>
          <a:p>
            <a:pPr algn="l">
              <a:spcAft>
                <a:spcPts val="1000"/>
              </a:spcAft>
            </a:pPr>
            <a:r>
              <a:rPr sz="3300" b="1" i="0">
                <a:solidFill>
                  <a:srgbClr val="2C5F2D"/>
                </a:solidFill>
                <a:latin typeface="Cambria"/>
              </a:rPr>
              <a:t>What Was Prepared for You</a:t>
            </a:r>
          </a:p>
          <a:p>
            <a:pPr algn="l">
              <a:spcAft>
                <a:spcPts val="600"/>
              </a:spcAft>
            </a:pPr>
            <a:r>
              <a:rPr sz="1500" b="0" i="1">
                <a:solidFill>
                  <a:srgbClr val="595959"/>
                </a:solidFill>
                <a:latin typeface="Calibri"/>
              </a:rPr>
              <a:t>Connecting with Mission — uphill, downhill, and the works prepared beforehand</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3: Mission &amp;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13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Welcome and centering</a:t>
            </a:r>
          </a:p>
          <a:p>
            <a:pPr>
              <a:spcAft>
                <a:spcPts val="500"/>
              </a:spcAft>
            </a:pPr>
            <a:r>
              <a:rPr b="1" sz="1300">
                <a:solidFill>
                  <a:srgbClr val="97BC62"/>
                </a:solidFill>
                <a:latin typeface="Calibri"/>
              </a:rPr>
              <a:t>2   </a:t>
            </a:r>
            <a:r>
              <a:rPr sz="1300">
                <a:solidFill>
                  <a:srgbClr val="222B22"/>
                </a:solidFill>
                <a:latin typeface="Calibri"/>
              </a:rPr>
              <a:t>Week 11 check-in</a:t>
            </a:r>
          </a:p>
          <a:p>
            <a:pPr>
              <a:spcAft>
                <a:spcPts val="500"/>
              </a:spcAft>
            </a:pPr>
            <a:r>
              <a:rPr b="1" sz="1300">
                <a:solidFill>
                  <a:srgbClr val="97BC62"/>
                </a:solidFill>
                <a:latin typeface="Calibri"/>
              </a:rPr>
              <a:t>3   </a:t>
            </a:r>
            <a:r>
              <a:rPr sz="1300">
                <a:solidFill>
                  <a:srgbClr val="222B22"/>
                </a:solidFill>
                <a:latin typeface="Calibri"/>
              </a:rPr>
              <a:t>Ephesians 2:10 and the uphill/downhill distinction</a:t>
            </a:r>
          </a:p>
          <a:p>
            <a:pPr>
              <a:spcAft>
                <a:spcPts val="500"/>
              </a:spcAft>
            </a:pPr>
            <a:r>
              <a:rPr b="1" sz="1300">
                <a:solidFill>
                  <a:srgbClr val="97BC62"/>
                </a:solidFill>
                <a:latin typeface="Calibri"/>
              </a:rPr>
              <a:t>4   </a:t>
            </a:r>
            <a:r>
              <a:rPr sz="1300">
                <a:solidFill>
                  <a:srgbClr val="222B22"/>
                </a:solidFill>
                <a:latin typeface="Calibri"/>
              </a:rPr>
              <a:t>Bridge to split</a:t>
            </a:r>
          </a:p>
          <a:p>
            <a:pPr>
              <a:spcAft>
                <a:spcPts val="500"/>
              </a:spcAft>
            </a:pPr>
            <a:r>
              <a:rPr b="1" sz="1300">
                <a:solidFill>
                  <a:srgbClr val="97BC62"/>
                </a:solidFill>
                <a:latin typeface="Calibri"/>
              </a:rPr>
              <a:t>5   </a:t>
            </a:r>
            <a:r>
              <a:rPr sz="1300">
                <a:solidFill>
                  <a:srgbClr val="222B22"/>
                </a:solidFill>
                <a:latin typeface="Calibri"/>
              </a:rPr>
              <a:t>Gifts and Downhill in family clusters</a:t>
            </a:r>
          </a:p>
          <a:p>
            <a:pPr>
              <a:spcAft>
                <a:spcPts val="500"/>
              </a:spcAft>
            </a:pPr>
            <a:r>
              <a:rPr b="1" sz="1300">
                <a:solidFill>
                  <a:srgbClr val="97BC62"/>
                </a:solidFill>
                <a:latin typeface="Calibri"/>
              </a:rPr>
              <a:t>6   </a:t>
            </a:r>
            <a:r>
              <a:rPr sz="1300">
                <a:solidFill>
                  <a:srgbClr val="222B22"/>
                </a:solidFill>
                <a:latin typeface="Calibri"/>
              </a:rPr>
              <a:t>Merge and surface</a:t>
            </a:r>
          </a:p>
          <a:p>
            <a:pPr>
              <a:spcAft>
                <a:spcPts val="500"/>
              </a:spcAft>
            </a:pPr>
            <a:r>
              <a:rPr b="1" sz="1300">
                <a:solidFill>
                  <a:srgbClr val="97BC62"/>
                </a:solidFill>
                <a:latin typeface="Calibri"/>
              </a:rPr>
              <a:t>7   </a:t>
            </a:r>
            <a:r>
              <a:rPr sz="1300">
                <a:solidFill>
                  <a:srgbClr val="222B22"/>
                </a:solidFill>
                <a:latin typeface="Calibri"/>
              </a:rPr>
              <a:t>Between-session practice and closing-weeks logistics</a:t>
            </a:r>
          </a:p>
          <a:p>
            <a:pPr>
              <a:spcAft>
                <a:spcPts val="500"/>
              </a:spcAft>
            </a:pPr>
            <a:r>
              <a:rPr b="1" sz="1300">
                <a:solidFill>
                  <a:srgbClr val="97BC62"/>
                </a:solidFill>
                <a:latin typeface="Calibri"/>
              </a:rPr>
              <a:t>8   </a:t>
            </a:r>
            <a:r>
              <a:rPr sz="1300">
                <a:solidFill>
                  <a:srgbClr val="222B22"/>
                </a:solidFill>
                <a:latin typeface="Calibri"/>
              </a:rPr>
              <a:t>Leader Feedback Round</a:t>
            </a:r>
          </a:p>
          <a:p>
            <a:pPr>
              <a:spcAft>
                <a:spcPts val="500"/>
              </a:spcAft>
            </a:pPr>
            <a:r>
              <a:rPr b="1" sz="1300">
                <a:solidFill>
                  <a:srgbClr val="97BC62"/>
                </a:solidFill>
                <a:latin typeface="Calibri"/>
              </a:rPr>
              <a:t>9   </a:t>
            </a:r>
            <a:r>
              <a:rPr sz="13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14</a:t>
            </a:r>
          </a:p>
          <a:p>
            <a:pPr algn="l">
              <a:spcAft>
                <a:spcPts val="1000"/>
              </a:spcAft>
            </a:pPr>
            <a:r>
              <a:rPr sz="3300" b="1" i="0">
                <a:solidFill>
                  <a:srgbClr val="2C5F2D"/>
                </a:solidFill>
                <a:latin typeface="Cambria"/>
              </a:rPr>
              <a:t>Second Running: Block A</a:t>
            </a:r>
          </a:p>
          <a:p>
            <a:pPr algn="l">
              <a:spcAft>
                <a:spcPts val="600"/>
              </a:spcAft>
            </a:pPr>
            <a:r>
              <a:rPr sz="1500" b="0" i="1">
                <a:solidFill>
                  <a:srgbClr val="595959"/>
                </a:solidFill>
                <a:latin typeface="Calibri"/>
              </a:rPr>
              <a:t>The rotation’s evening — another willing teen takes a full leading rep with a practice the room already owns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3: Mission &amp;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91" name="Picture 91" descr="a baton passed from a grown hand into a younger hand, sun behind"/>
          <p:cNvPicPr>
            <a:picLocks noChangeAspect="1"/>
          </p:cNvPicPr>
          <p:nvPr/>
        </p:nvPicPr>
        <p:blipFill>
          <a:blip r:embed="rId2"/>
          <a:stretch>
            <a:fillRect/>
          </a:stretch>
        </p:blipFill>
        <p:spPr>
          <a:xfrm>
            <a:off x="6309360" y="1630118"/>
            <a:ext cx="5394960" cy="3597763"/>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14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800"/>
              </a:spcAft>
            </a:pPr>
            <a:r>
              <a:rPr b="1" sz="1500">
                <a:solidFill>
                  <a:srgbClr val="97BC62"/>
                </a:solidFill>
                <a:latin typeface="Calibri"/>
              </a:rPr>
              <a:t>1   </a:t>
            </a:r>
            <a:r>
              <a:rPr sz="1500">
                <a:solidFill>
                  <a:srgbClr val="222B22"/>
                </a:solidFill>
                <a:latin typeface="Calibri"/>
              </a:rPr>
              <a:t>Welcome and opening container</a:t>
            </a:r>
          </a:p>
          <a:p>
            <a:pPr>
              <a:spcAft>
                <a:spcPts val="800"/>
              </a:spcAft>
            </a:pPr>
            <a:r>
              <a:rPr b="1" sz="1500">
                <a:solidFill>
                  <a:srgbClr val="97BC62"/>
                </a:solidFill>
                <a:latin typeface="Calibri"/>
              </a:rPr>
              <a:t>2   </a:t>
            </a:r>
            <a:r>
              <a:rPr sz="1500">
                <a:solidFill>
                  <a:srgbClr val="222B22"/>
                </a:solidFill>
                <a:latin typeface="Calibri"/>
              </a:rPr>
              <a:t>The mission round</a:t>
            </a:r>
          </a:p>
          <a:p>
            <a:pPr>
              <a:spcAft>
                <a:spcPts val="800"/>
              </a:spcAft>
            </a:pPr>
            <a:r>
              <a:rPr b="1" sz="1500">
                <a:solidFill>
                  <a:srgbClr val="97BC62"/>
                </a:solidFill>
                <a:latin typeface="Calibri"/>
              </a:rPr>
              <a:t>3   </a:t>
            </a:r>
            <a:r>
              <a:rPr sz="1500">
                <a:solidFill>
                  <a:srgbClr val="222B22"/>
                </a:solidFill>
                <a:latin typeface="Calibri"/>
              </a:rPr>
              <a:t>Why tonight — the rotation’s charter</a:t>
            </a:r>
          </a:p>
          <a:p>
            <a:pPr>
              <a:spcAft>
                <a:spcPts val="800"/>
              </a:spcAft>
            </a:pPr>
            <a:r>
              <a:rPr b="1" sz="1500">
                <a:solidFill>
                  <a:srgbClr val="97BC62"/>
                </a:solidFill>
                <a:latin typeface="Calibri"/>
              </a:rPr>
              <a:t>4   </a:t>
            </a:r>
            <a:r>
              <a:rPr sz="1500">
                <a:solidFill>
                  <a:srgbClr val="222B22"/>
                </a:solidFill>
                <a:latin typeface="Calibri"/>
              </a:rPr>
              <a:t>Closing container</a:t>
            </a:r>
          </a:p>
          <a:p>
            <a:pPr>
              <a:spcAft>
                <a:spcPts val="800"/>
              </a:spcAft>
            </a:pPr>
            <a:r>
              <a:rPr b="1" sz="1500">
                <a:solidFill>
                  <a:srgbClr val="97BC62"/>
                </a:solidFill>
                <a:latin typeface="Calibri"/>
              </a:rPr>
              <a:t>5   </a:t>
            </a:r>
            <a:r>
              <a:rPr sz="1500">
                <a:solidFill>
                  <a:srgbClr val="222B22"/>
                </a:solidFill>
                <a:latin typeface="Calibri"/>
              </a:rPr>
              <a:t>Leader Feedback Round</a:t>
            </a:r>
          </a:p>
          <a:p>
            <a:pPr>
              <a:spcAft>
                <a:spcPts val="800"/>
              </a:spcAft>
            </a:pPr>
            <a:r>
              <a:rPr b="1" sz="1500">
                <a:solidFill>
                  <a:srgbClr val="97BC62"/>
                </a:solidFill>
                <a:latin typeface="Calibri"/>
              </a:rPr>
              <a:t>6   </a:t>
            </a:r>
            <a:r>
              <a:rPr sz="1500">
                <a:solidFill>
                  <a:srgbClr val="222B22"/>
                </a:solidFill>
                <a:latin typeface="Calibri"/>
              </a:rPr>
              <a:t>Aaronic blessing and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15</a:t>
            </a:r>
          </a:p>
          <a:p>
            <a:pPr algn="l">
              <a:spcAft>
                <a:spcPts val="1000"/>
              </a:spcAft>
            </a:pPr>
            <a:r>
              <a:rPr sz="3300" b="1" i="0">
                <a:solidFill>
                  <a:srgbClr val="2C5F2D"/>
                </a:solidFill>
                <a:latin typeface="Cambria"/>
              </a:rPr>
              <a:t>The Rhythm and the Four Questions</a:t>
            </a:r>
          </a:p>
          <a:p>
            <a:pPr algn="l">
              <a:spcAft>
                <a:spcPts val="600"/>
              </a:spcAft>
            </a:pPr>
            <a:r>
              <a:rPr sz="1500" b="0" i="1">
                <a:solidFill>
                  <a:srgbClr val="595959"/>
                </a:solidFill>
                <a:latin typeface="Calibri"/>
              </a:rPr>
              <a:t>The long walk installed before the sending — and four questions a parent dares to ask at their own kitchen table</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3: Mission &amp;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91" name="Picture 91" descr="a long open road running to the horizon in early morning light"/>
          <p:cNvPicPr>
            <a:picLocks noChangeAspect="1"/>
          </p:cNvPicPr>
          <p:nvPr/>
        </p:nvPicPr>
        <p:blipFill>
          <a:blip r:embed="rId2"/>
          <a:stretch>
            <a:fillRect/>
          </a:stretch>
        </p:blipFill>
        <p:spPr>
          <a:xfrm>
            <a:off x="6309360" y="1630118"/>
            <a:ext cx="5394960" cy="3597763"/>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15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Welcome and centering</a:t>
            </a:r>
          </a:p>
          <a:p>
            <a:pPr>
              <a:spcAft>
                <a:spcPts val="500"/>
              </a:spcAft>
            </a:pPr>
            <a:r>
              <a:rPr b="1" sz="1300">
                <a:solidFill>
                  <a:srgbClr val="97BC62"/>
                </a:solidFill>
                <a:latin typeface="Calibri"/>
              </a:rPr>
              <a:t>2   </a:t>
            </a:r>
            <a:r>
              <a:rPr sz="1300">
                <a:solidFill>
                  <a:srgbClr val="222B22"/>
                </a:solidFill>
                <a:latin typeface="Calibri"/>
              </a:rPr>
              <a:t>Week 13 completion</a:t>
            </a:r>
          </a:p>
          <a:p>
            <a:pPr>
              <a:spcAft>
                <a:spcPts val="500"/>
              </a:spcAft>
            </a:pPr>
            <a:r>
              <a:rPr b="1" sz="1300">
                <a:solidFill>
                  <a:srgbClr val="97BC62"/>
                </a:solidFill>
                <a:latin typeface="Calibri"/>
              </a:rPr>
              <a:t>3   </a:t>
            </a:r>
            <a:r>
              <a:rPr sz="1300">
                <a:solidFill>
                  <a:srgbClr val="222B22"/>
                </a:solidFill>
                <a:latin typeface="Calibri"/>
              </a:rPr>
              <a:t>The long walk — Gal. 6:9</a:t>
            </a:r>
          </a:p>
          <a:p>
            <a:pPr>
              <a:spcAft>
                <a:spcPts val="500"/>
              </a:spcAft>
            </a:pPr>
            <a:r>
              <a:rPr b="1" sz="1300">
                <a:solidFill>
                  <a:srgbClr val="97BC62"/>
                </a:solidFill>
                <a:latin typeface="Calibri"/>
              </a:rPr>
              <a:t>4   </a:t>
            </a:r>
            <a:r>
              <a:rPr sz="1300">
                <a:solidFill>
                  <a:srgbClr val="222B22"/>
                </a:solidFill>
                <a:latin typeface="Calibri"/>
              </a:rPr>
              <a:t>The Rhythm Card introduced</a:t>
            </a:r>
          </a:p>
          <a:p>
            <a:pPr>
              <a:spcAft>
                <a:spcPts val="500"/>
              </a:spcAft>
            </a:pPr>
            <a:r>
              <a:rPr b="1" sz="1300">
                <a:solidFill>
                  <a:srgbClr val="97BC62"/>
                </a:solidFill>
                <a:latin typeface="Calibri"/>
              </a:rPr>
              <a:t>5   </a:t>
            </a:r>
            <a:r>
              <a:rPr sz="1300">
                <a:solidFill>
                  <a:srgbClr val="222B22"/>
                </a:solidFill>
                <a:latin typeface="Calibri"/>
              </a:rPr>
              <a:t>Building your Rhythm Card</a:t>
            </a:r>
          </a:p>
          <a:p>
            <a:pPr>
              <a:spcAft>
                <a:spcPts val="500"/>
              </a:spcAft>
            </a:pPr>
            <a:r>
              <a:rPr b="1" sz="1300">
                <a:solidFill>
                  <a:srgbClr val="97BC62"/>
                </a:solidFill>
                <a:latin typeface="Calibri"/>
              </a:rPr>
              <a:t>6   </a:t>
            </a:r>
            <a:r>
              <a:rPr sz="1300">
                <a:solidFill>
                  <a:srgbClr val="222B22"/>
                </a:solidFill>
                <a:latin typeface="Calibri"/>
              </a:rPr>
              <a:t>The Four Questions</a:t>
            </a:r>
          </a:p>
          <a:p>
            <a:pPr>
              <a:spcAft>
                <a:spcPts val="500"/>
              </a:spcAft>
            </a:pPr>
            <a:r>
              <a:rPr b="1" sz="1300">
                <a:solidFill>
                  <a:srgbClr val="97BC62"/>
                </a:solidFill>
                <a:latin typeface="Calibri"/>
              </a:rPr>
              <a:t>7   </a:t>
            </a:r>
            <a:r>
              <a:rPr sz="1300">
                <a:solidFill>
                  <a:srgbClr val="222B22"/>
                </a:solidFill>
                <a:latin typeface="Calibri"/>
              </a:rPr>
              <a:t>The Leader Feedback Round</a:t>
            </a:r>
          </a:p>
          <a:p>
            <a:pPr>
              <a:spcAft>
                <a:spcPts val="500"/>
              </a:spcAft>
            </a:pPr>
            <a:r>
              <a:rPr b="1" sz="1300">
                <a:solidFill>
                  <a:srgbClr val="97BC62"/>
                </a:solidFill>
                <a:latin typeface="Calibri"/>
              </a:rPr>
              <a:t>8   </a:t>
            </a:r>
            <a:r>
              <a:rPr sz="1300">
                <a:solidFill>
                  <a:srgbClr val="222B22"/>
                </a:solidFill>
                <a:latin typeface="Calibri"/>
              </a:rPr>
              <a:t>Closing container</a:t>
            </a:r>
          </a:p>
          <a:p>
            <a:pPr>
              <a:spcAft>
                <a:spcPts val="500"/>
              </a:spcAft>
            </a:pPr>
            <a:r>
              <a:rPr b="1" sz="1300">
                <a:solidFill>
                  <a:srgbClr val="97BC62"/>
                </a:solidFill>
                <a:latin typeface="Calibri"/>
              </a:rPr>
              <a:t>9   </a:t>
            </a:r>
            <a:r>
              <a:rPr sz="1300">
                <a:solidFill>
                  <a:srgbClr val="222B22"/>
                </a:solidFill>
                <a:latin typeface="Calibri"/>
              </a:rPr>
              <a:t>Between-week practice — the Rhythm Card begins; the Four Questions go home with the willing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16</a:t>
            </a:r>
          </a:p>
          <a:p>
            <a:pPr algn="l">
              <a:spcAft>
                <a:spcPts val="1000"/>
              </a:spcAft>
            </a:pPr>
            <a:r>
              <a:rPr sz="3300" b="1" i="0">
                <a:solidFill>
                  <a:srgbClr val="2C5F2D"/>
                </a:solidFill>
                <a:latin typeface="Cambria"/>
              </a:rPr>
              <a:t>Family Conversation Night</a:t>
            </a:r>
          </a:p>
          <a:p>
            <a:pPr algn="l">
              <a:spcAft>
                <a:spcPts val="600"/>
              </a:spcAft>
            </a:pPr>
            <a:r>
              <a:rPr sz="1500" b="0" i="1">
                <a:solidFill>
                  <a:srgbClr val="595959"/>
                </a:solidFill>
                <a:latin typeface="Calibri"/>
              </a:rPr>
              <a:t>Cards and a shared meal — the night the year exhales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3: Mission &amp;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91" name="Picture 91" descr="two pairs of hands breaking one loaf of bread at the table"/>
          <p:cNvPicPr>
            <a:picLocks noChangeAspect="1"/>
          </p:cNvPicPr>
          <p:nvPr/>
        </p:nvPicPr>
        <p:blipFill>
          <a:blip r:embed="rId2"/>
          <a:stretch>
            <a:fillRect/>
          </a:stretch>
        </p:blipFill>
        <p:spPr>
          <a:xfrm>
            <a:off x="6309360" y="1630118"/>
            <a:ext cx="5394960" cy="3597763"/>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16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800"/>
              </a:spcAft>
            </a:pPr>
            <a:r>
              <a:rPr b="1" sz="1500">
                <a:solidFill>
                  <a:srgbClr val="97BC62"/>
                </a:solidFill>
                <a:latin typeface="Calibri"/>
              </a:rPr>
              <a:t>1   </a:t>
            </a:r>
            <a:r>
              <a:rPr sz="1500">
                <a:solidFill>
                  <a:srgbClr val="222B22"/>
                </a:solidFill>
                <a:latin typeface="Calibri"/>
              </a:rPr>
              <a:t>Welcome and opening container</a:t>
            </a:r>
          </a:p>
          <a:p>
            <a:pPr>
              <a:spcAft>
                <a:spcPts val="800"/>
              </a:spcAft>
            </a:pPr>
            <a:r>
              <a:rPr b="1" sz="1500">
                <a:solidFill>
                  <a:srgbClr val="97BC62"/>
                </a:solidFill>
                <a:latin typeface="Calibri"/>
              </a:rPr>
              <a:t>2   </a:t>
            </a:r>
            <a:r>
              <a:rPr sz="1500">
                <a:solidFill>
                  <a:srgbClr val="222B22"/>
                </a:solidFill>
                <a:latin typeface="Calibri"/>
              </a:rPr>
              <a:t>Rhythm-noticing round</a:t>
            </a:r>
          </a:p>
          <a:p>
            <a:pPr>
              <a:spcAft>
                <a:spcPts val="800"/>
              </a:spcAft>
            </a:pPr>
            <a:r>
              <a:rPr b="1" sz="1500">
                <a:solidFill>
                  <a:srgbClr val="97BC62"/>
                </a:solidFill>
                <a:latin typeface="Calibri"/>
              </a:rPr>
              <a:t>3   </a:t>
            </a:r>
            <a:r>
              <a:rPr sz="1500">
                <a:solidFill>
                  <a:srgbClr val="222B22"/>
                </a:solidFill>
                <a:latin typeface="Calibri"/>
              </a:rPr>
              <a:t>Acts 2:46 and the table grace</a:t>
            </a:r>
          </a:p>
          <a:p>
            <a:pPr>
              <a:spcAft>
                <a:spcPts val="800"/>
              </a:spcAft>
            </a:pPr>
            <a:r>
              <a:rPr b="1" sz="1500">
                <a:solidFill>
                  <a:srgbClr val="97BC62"/>
                </a:solidFill>
                <a:latin typeface="Calibri"/>
              </a:rPr>
              <a:t>4   </a:t>
            </a:r>
            <a:r>
              <a:rPr sz="1500">
                <a:solidFill>
                  <a:srgbClr val="222B22"/>
                </a:solidFill>
                <a:latin typeface="Calibri"/>
              </a:rPr>
              <a:t>The meal</a:t>
            </a:r>
          </a:p>
          <a:p>
            <a:pPr>
              <a:spcAft>
                <a:spcPts val="800"/>
              </a:spcAft>
            </a:pPr>
            <a:r>
              <a:rPr b="1" sz="1500">
                <a:solidFill>
                  <a:srgbClr val="97BC62"/>
                </a:solidFill>
                <a:latin typeface="Calibri"/>
              </a:rPr>
              <a:t>5   </a:t>
            </a:r>
            <a:r>
              <a:rPr sz="1500">
                <a:solidFill>
                  <a:srgbClr val="222B22"/>
                </a:solidFill>
                <a:latin typeface="Calibri"/>
              </a:rPr>
              <a:t>Cards over dessert</a:t>
            </a:r>
          </a:p>
          <a:p>
            <a:pPr>
              <a:spcAft>
                <a:spcPts val="800"/>
              </a:spcAft>
            </a:pPr>
            <a:r>
              <a:rPr b="1" sz="1500">
                <a:solidFill>
                  <a:srgbClr val="97BC62"/>
                </a:solidFill>
                <a:latin typeface="Calibri"/>
              </a:rPr>
              <a:t>6   </a:t>
            </a:r>
            <a:r>
              <a:rPr sz="1500">
                <a:solidFill>
                  <a:srgbClr val="222B22"/>
                </a:solidFill>
                <a:latin typeface="Calibri"/>
              </a:rPr>
              <a:t>Pulse 3 framed and sent home</a:t>
            </a:r>
          </a:p>
          <a:p>
            <a:pPr>
              <a:spcAft>
                <a:spcPts val="800"/>
              </a:spcAft>
            </a:pPr>
            <a:r>
              <a:rPr b="1" sz="1500">
                <a:solidFill>
                  <a:srgbClr val="97BC62"/>
                </a:solidFill>
                <a:latin typeface="Calibri"/>
              </a:rPr>
              <a:t>7   </a:t>
            </a:r>
            <a:r>
              <a:rPr sz="1500">
                <a:solidFill>
                  <a:srgbClr val="222B22"/>
                </a:solidFill>
                <a:latin typeface="Calibri"/>
              </a:rPr>
              <a:t>Leader Feedback Round</a:t>
            </a:r>
          </a:p>
          <a:p>
            <a:pPr>
              <a:spcAft>
                <a:spcPts val="800"/>
              </a:spcAft>
            </a:pPr>
            <a:r>
              <a:rPr b="1" sz="1500">
                <a:solidFill>
                  <a:srgbClr val="97BC62"/>
                </a:solidFill>
                <a:latin typeface="Calibri"/>
              </a:rPr>
              <a:t>8   </a:t>
            </a:r>
            <a:r>
              <a:rPr sz="15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17</a:t>
            </a:r>
          </a:p>
          <a:p>
            <a:pPr algn="l">
              <a:spcAft>
                <a:spcPts val="1000"/>
              </a:spcAft>
            </a:pPr>
            <a:r>
              <a:rPr sz="3300" b="1" i="0">
                <a:solidFill>
                  <a:srgbClr val="2C5F2D"/>
                </a:solidFill>
                <a:latin typeface="Cambria"/>
              </a:rPr>
              <a:t>The Float</a:t>
            </a:r>
          </a:p>
          <a:p>
            <a:pPr algn="l">
              <a:spcAft>
                <a:spcPts val="600"/>
              </a:spcAft>
            </a:pPr>
            <a:r>
              <a:rPr sz="1500" b="0" i="1">
                <a:solidFill>
                  <a:srgbClr val="595959"/>
                </a:solidFill>
                <a:latin typeface="Calibri"/>
              </a:rPr>
              <a:t>The evening that absorbs the year’s surprises — or walks the rhythm together</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3: Mission &amp;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91" name="Picture 91" descr="raindrops on a windowpane with warm lights glowing behind"/>
          <p:cNvPicPr>
            <a:picLocks noChangeAspect="1"/>
          </p:cNvPicPr>
          <p:nvPr/>
        </p:nvPicPr>
        <p:blipFill>
          <a:blip r:embed="rId2"/>
          <a:stretch>
            <a:fillRect/>
          </a:stretch>
        </p:blipFill>
        <p:spPr>
          <a:xfrm>
            <a:off x="6309360" y="1630118"/>
            <a:ext cx="5394960" cy="3597763"/>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17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800"/>
              </a:spcAft>
            </a:pPr>
            <a:r>
              <a:rPr b="1" sz="1500">
                <a:solidFill>
                  <a:srgbClr val="97BC62"/>
                </a:solidFill>
                <a:latin typeface="Calibri"/>
              </a:rPr>
              <a:t>1   </a:t>
            </a:r>
            <a:r>
              <a:rPr sz="1500">
                <a:solidFill>
                  <a:srgbClr val="222B22"/>
                </a:solidFill>
                <a:latin typeface="Calibri"/>
              </a:rPr>
              <a:t>Mode A — a missed evening’s plan runs tonight, whole and unchanged</a:t>
            </a:r>
          </a:p>
          <a:p>
            <a:pPr>
              <a:spcAft>
                <a:spcPts val="800"/>
              </a:spcAft>
            </a:pPr>
            <a:r>
              <a:rPr b="1" sz="1500">
                <a:solidFill>
                  <a:srgbClr val="97BC62"/>
                </a:solidFill>
                <a:latin typeface="Calibri"/>
              </a:rPr>
              <a:t>2   </a:t>
            </a:r>
            <a:r>
              <a:rPr sz="1500">
                <a:solidFill>
                  <a:srgbClr val="222B22"/>
                </a:solidFill>
                <a:latin typeface="Calibri"/>
              </a:rPr>
              <a:t>Mode B — the live Rhythm-Card walk: leaders first, slipped cards welcome</a:t>
            </a:r>
          </a:p>
          <a:p>
            <a:pPr>
              <a:spcAft>
                <a:spcPts val="800"/>
              </a:spcAft>
            </a:pPr>
            <a:r>
              <a:rPr b="1" sz="1500">
                <a:solidFill>
                  <a:srgbClr val="97BC62"/>
                </a:solidFill>
                <a:latin typeface="Calibri"/>
              </a:rPr>
              <a:t>3   </a:t>
            </a:r>
            <a:r>
              <a:rPr sz="1500">
                <a:solidFill>
                  <a:srgbClr val="222B22"/>
                </a:solidFill>
                <a:latin typeface="Calibri"/>
              </a:rPr>
              <a:t>The borrow round — take ideas from each other’s cards shamelessly</a:t>
            </a:r>
          </a:p>
          <a:p>
            <a:pPr>
              <a:spcAft>
                <a:spcPts val="800"/>
              </a:spcAft>
            </a:pPr>
            <a:r>
              <a:rPr b="1" sz="1500">
                <a:solidFill>
                  <a:srgbClr val="97BC62"/>
                </a:solidFill>
                <a:latin typeface="Calibri"/>
              </a:rPr>
              <a:t>4   </a:t>
            </a:r>
            <a:r>
              <a:rPr sz="1500">
                <a:solidFill>
                  <a:srgbClr val="222B22"/>
                </a:solidFill>
                <a:latin typeface="Calibri"/>
              </a:rPr>
              <a:t>Quarterly Pulse returns to the bin at the door</a:t>
            </a:r>
          </a:p>
          <a:p>
            <a:pPr>
              <a:spcAft>
                <a:spcPts val="800"/>
              </a:spcAft>
            </a:pPr>
            <a:r>
              <a:rPr b="1" sz="1500">
                <a:solidFill>
                  <a:srgbClr val="97BC62"/>
                </a:solidFill>
                <a:latin typeface="Calibri"/>
              </a:rPr>
              <a:t>5   </a:t>
            </a:r>
            <a:r>
              <a:rPr sz="1500">
                <a:solidFill>
                  <a:srgbClr val="222B22"/>
                </a:solidFill>
                <a:latin typeface="Calibri"/>
              </a:rPr>
              <a:t>One practice chosen to carry across the break</a:t>
            </a:r>
          </a:p>
          <a:p>
            <a:pPr>
              <a:spcAft>
                <a:spcPts val="800"/>
              </a:spcAft>
            </a:pPr>
            <a:r>
              <a:rPr b="1" sz="1500">
                <a:solidFill>
                  <a:srgbClr val="97BC62"/>
                </a:solidFill>
                <a:latin typeface="Calibri"/>
              </a:rPr>
              <a:t>6   </a:t>
            </a:r>
            <a:r>
              <a:rPr sz="1500">
                <a:solidFill>
                  <a:srgbClr val="222B22"/>
                </a:solidFill>
                <a:latin typeface="Calibri"/>
              </a:rPr>
              <a:t>The Leader Feedback Round</a:t>
            </a:r>
          </a:p>
          <a:p>
            <a:pPr>
              <a:spcAft>
                <a:spcPts val="800"/>
              </a:spcAft>
            </a:pPr>
            <a:r>
              <a:rPr b="1" sz="1500">
                <a:solidFill>
                  <a:srgbClr val="97BC62"/>
                </a:solidFill>
                <a:latin typeface="Calibri"/>
              </a:rPr>
              <a:t>7   </a:t>
            </a:r>
            <a:r>
              <a:rPr sz="1500">
                <a:solidFill>
                  <a:srgbClr val="222B22"/>
                </a:solidFill>
                <a:latin typeface="Calibri"/>
              </a:rPr>
              <a:t>Closing container + Aaronic blessing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286000"/>
            <a:ext cx="9966960" cy="2194560"/>
          </a:xfrm>
          <a:prstGeom prst="rect">
            <a:avLst/>
          </a:prstGeom>
          <a:noFill/>
        </p:spPr>
        <p:txBody>
          <a:bodyPr wrap="square">
            <a:spAutoFit/>
          </a:bodyPr>
          <a:lstStyle/>
          <a:p>
            <a:pPr algn="l">
              <a:spcAft>
                <a:spcPts val="600"/>
              </a:spcAft>
            </a:pPr>
            <a:r>
              <a:rPr sz="1800" b="1" i="0">
                <a:solidFill>
                  <a:srgbClr val="97BC62"/>
                </a:solidFill>
                <a:latin typeface="Calibri"/>
              </a:rPr>
              <a:t>Quarter 4</a:t>
            </a:r>
          </a:p>
          <a:p>
            <a:pPr algn="l">
              <a:spcAft>
                <a:spcPts val="600"/>
              </a:spcAft>
            </a:pPr>
            <a:r>
              <a:rPr sz="4000" b="1" i="0">
                <a:solidFill>
                  <a:srgbClr val="FFFFFF"/>
                </a:solidFill>
                <a:latin typeface="Cambria"/>
              </a:rPr>
              <a:t>Consolidation &amp; Sending</a:t>
            </a:r>
          </a:p>
          <a:p>
            <a:pPr algn="l">
              <a:spcAft>
                <a:spcPts val="600"/>
              </a:spcAft>
            </a:pPr>
            <a:r>
              <a:rPr sz="1500" b="0" i="1">
                <a:solidFill>
                  <a:srgbClr val="E4EFDA"/>
                </a:solidFill>
                <a:latin typeface="Calibri"/>
              </a:rPr>
              <a:t>Weeks 18–22  ·  Five Wednesdays · the mercy cards, The Long Walk, two commissionings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F1F6EC"/>
                </a:solidFill>
                <a:latin typeface="Calibri"/>
              </a:rPr>
              <a:t>1</a:t>
            </a:fld>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4c-sprout.jpg"/>
          <p:cNvPicPr>
            <a:picLocks noChangeAspect="1"/>
          </p:cNvPicPr>
          <p:nvPr/>
        </p:nvPicPr>
        <p:blipFill>
          <a:blip r:embed="rId2"/>
          <a:stretch>
            <a:fillRect/>
          </a:stretch>
        </p:blipFill>
        <p:spPr>
          <a:xfrm>
            <a:off x="6309360" y="1631119"/>
            <a:ext cx="5394960" cy="3595761"/>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18</a:t>
            </a:r>
          </a:p>
          <a:p>
            <a:pPr algn="l">
              <a:spcAft>
                <a:spcPts val="1000"/>
              </a:spcAft>
            </a:pPr>
            <a:r>
              <a:rPr sz="3300" b="1" i="0">
                <a:solidFill>
                  <a:srgbClr val="2C5F2D"/>
                </a:solidFill>
                <a:latin typeface="Cambria"/>
              </a:rPr>
              <a:t>The Return II</a:t>
            </a:r>
          </a:p>
          <a:p>
            <a:pPr algn="l">
              <a:spcAft>
                <a:spcPts val="600"/>
              </a:spcAft>
            </a:pPr>
            <a:r>
              <a:rPr sz="1500" b="0" i="1">
                <a:solidFill>
                  <a:srgbClr val="595959"/>
                </a:solidFill>
                <a:latin typeface="Calibri"/>
              </a:rPr>
              <a:t>A lighter homecoming — the room knows the way now, and the year begins to hand itself over</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4: Consolidation &amp;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18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800"/>
              </a:spcAft>
            </a:pPr>
            <a:r>
              <a:rPr b="1" sz="1500">
                <a:solidFill>
                  <a:srgbClr val="97BC62"/>
                </a:solidFill>
                <a:latin typeface="Calibri"/>
              </a:rPr>
              <a:t>1   </a:t>
            </a:r>
            <a:r>
              <a:rPr sz="1500">
                <a:solidFill>
                  <a:srgbClr val="222B22"/>
                </a:solidFill>
                <a:latin typeface="Calibri"/>
              </a:rPr>
              <a:t>Opening container</a:t>
            </a:r>
          </a:p>
          <a:p>
            <a:pPr>
              <a:spcAft>
                <a:spcPts val="800"/>
              </a:spcAft>
            </a:pPr>
            <a:r>
              <a:rPr b="1" sz="1500">
                <a:solidFill>
                  <a:srgbClr val="97BC62"/>
                </a:solidFill>
                <a:latin typeface="Calibri"/>
              </a:rPr>
              <a:t>2   </a:t>
            </a:r>
            <a:r>
              <a:rPr sz="1500">
                <a:solidFill>
                  <a:srgbClr val="222B22"/>
                </a:solidFill>
                <a:latin typeface="Calibri"/>
              </a:rPr>
              <a:t>Not growing weary — Gal. 6:9, Phil. 1:6</a:t>
            </a:r>
          </a:p>
          <a:p>
            <a:pPr>
              <a:spcAft>
                <a:spcPts val="800"/>
              </a:spcAft>
            </a:pPr>
            <a:r>
              <a:rPr b="1" sz="1500">
                <a:solidFill>
                  <a:srgbClr val="97BC62"/>
                </a:solidFill>
                <a:latin typeface="Calibri"/>
              </a:rPr>
              <a:t>3   </a:t>
            </a:r>
            <a:r>
              <a:rPr sz="1500">
                <a:solidFill>
                  <a:srgbClr val="222B22"/>
                </a:solidFill>
                <a:latin typeface="Calibri"/>
              </a:rPr>
              <a:t>“What held” — the whole room</a:t>
            </a:r>
          </a:p>
          <a:p>
            <a:pPr>
              <a:spcAft>
                <a:spcPts val="800"/>
              </a:spcAft>
            </a:pPr>
            <a:r>
              <a:rPr b="1" sz="1500">
                <a:solidFill>
                  <a:srgbClr val="97BC62"/>
                </a:solidFill>
                <a:latin typeface="Calibri"/>
              </a:rPr>
              <a:t>4   </a:t>
            </a:r>
            <a:r>
              <a:rPr sz="1500">
                <a:solidFill>
                  <a:srgbClr val="222B22"/>
                </a:solidFill>
                <a:latin typeface="Calibri"/>
              </a:rPr>
              <a:t>The final stretch — the map</a:t>
            </a:r>
          </a:p>
          <a:p>
            <a:pPr>
              <a:spcAft>
                <a:spcPts val="800"/>
              </a:spcAft>
            </a:pPr>
            <a:r>
              <a:rPr b="1" sz="1500">
                <a:solidFill>
                  <a:srgbClr val="97BC62"/>
                </a:solidFill>
                <a:latin typeface="Calibri"/>
              </a:rPr>
              <a:t>5   </a:t>
            </a:r>
            <a:r>
              <a:rPr sz="1500">
                <a:solidFill>
                  <a:srgbClr val="222B22"/>
                </a:solidFill>
                <a:latin typeface="Calibri"/>
              </a:rPr>
              <a:t>Between-session practice</a:t>
            </a:r>
          </a:p>
          <a:p>
            <a:pPr>
              <a:spcAft>
                <a:spcPts val="800"/>
              </a:spcAft>
            </a:pPr>
            <a:r>
              <a:rPr b="1" sz="1500">
                <a:solidFill>
                  <a:srgbClr val="97BC62"/>
                </a:solidFill>
                <a:latin typeface="Calibri"/>
              </a:rPr>
              <a:t>6   </a:t>
            </a:r>
            <a:r>
              <a:rPr sz="1500">
                <a:solidFill>
                  <a:srgbClr val="222B22"/>
                </a:solidFill>
                <a:latin typeface="Calibri"/>
              </a:rPr>
              <a:t>Closing container</a:t>
            </a:r>
          </a:p>
          <a:p>
            <a:pPr>
              <a:spcAft>
                <a:spcPts val="800"/>
              </a:spcAft>
            </a:pPr>
            <a:r>
              <a:rPr b="1" sz="1500">
                <a:solidFill>
                  <a:srgbClr val="97BC62"/>
                </a:solidFill>
                <a:latin typeface="Calibri"/>
              </a:rPr>
              <a:t>7   </a:t>
            </a:r>
            <a:r>
              <a:rPr sz="1500">
                <a:solidFill>
                  <a:srgbClr val="222B22"/>
                </a:solidFill>
                <a:latin typeface="Calibri"/>
              </a:rPr>
              <a:t>Leader Feedback Round</a:t>
            </a:r>
          </a:p>
          <a:p>
            <a:pPr>
              <a:spcAft>
                <a:spcPts val="800"/>
              </a:spcAft>
            </a:pPr>
            <a:r>
              <a:rPr b="1" sz="1500">
                <a:solidFill>
                  <a:srgbClr val="97BC62"/>
                </a:solidFill>
                <a:latin typeface="Calibri"/>
              </a:rPr>
              <a:t>8   </a:t>
            </a:r>
            <a:r>
              <a:rPr sz="1500">
                <a:solidFill>
                  <a:srgbClr val="222B22"/>
                </a:solidFill>
                <a:latin typeface="Calibri"/>
              </a:rPr>
              <a:t>Aaronic blessing and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19</a:t>
            </a:r>
          </a:p>
          <a:p>
            <a:pPr algn="l">
              <a:spcAft>
                <a:spcPts val="1000"/>
              </a:spcAft>
            </a:pPr>
            <a:r>
              <a:rPr sz="3300" b="1" i="0">
                <a:solidFill>
                  <a:srgbClr val="2C5F2D"/>
                </a:solidFill>
                <a:latin typeface="Cambria"/>
              </a:rPr>
              <a:t>Second Running: Block B</a:t>
            </a:r>
          </a:p>
          <a:p>
            <a:pPr algn="l">
              <a:spcAft>
                <a:spcPts val="600"/>
              </a:spcAft>
            </a:pPr>
            <a:r>
              <a:rPr sz="1500" b="0" i="1">
                <a:solidFill>
                  <a:srgbClr val="595959"/>
                </a:solidFill>
                <a:latin typeface="Calibri"/>
              </a:rPr>
              <a:t>The rehearsal — the Companions-in-Formation teach the two mercy cards in the small room, one week before they teach them in the large</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4: Consolidation &amp;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91" name="Picture 91" descr="two candle flames in the dark leaning into one another"/>
          <p:cNvPicPr>
            <a:picLocks noChangeAspect="1"/>
          </p:cNvPicPr>
          <p:nvPr/>
        </p:nvPicPr>
        <p:blipFill>
          <a:blip r:embed="rId2"/>
          <a:stretch>
            <a:fillRect/>
          </a:stretch>
        </p:blipFill>
        <p:spPr>
          <a:xfrm>
            <a:off x="6309360" y="1630118"/>
            <a:ext cx="5394960" cy="3597763"/>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19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Welcome and opening container</a:t>
            </a:r>
          </a:p>
          <a:p>
            <a:pPr>
              <a:spcAft>
                <a:spcPts val="500"/>
              </a:spcAft>
            </a:pPr>
            <a:r>
              <a:rPr b="1" sz="1300">
                <a:solidFill>
                  <a:srgbClr val="97BC62"/>
                </a:solidFill>
                <a:latin typeface="Calibri"/>
              </a:rPr>
              <a:t>2   </a:t>
            </a:r>
            <a:r>
              <a:rPr sz="1300">
                <a:solidFill>
                  <a:srgbClr val="222B22"/>
                </a:solidFill>
                <a:latin typeface="Calibri"/>
              </a:rPr>
              <a:t>The frame — why these two cards</a:t>
            </a:r>
          </a:p>
          <a:p>
            <a:pPr>
              <a:spcAft>
                <a:spcPts val="500"/>
              </a:spcAft>
            </a:pPr>
            <a:r>
              <a:rPr b="1" sz="1300">
                <a:solidFill>
                  <a:srgbClr val="97BC62"/>
                </a:solidFill>
                <a:latin typeface="Calibri"/>
              </a:rPr>
              <a:t>3   </a:t>
            </a:r>
            <a:r>
              <a:rPr sz="1300">
                <a:solidFill>
                  <a:srgbClr val="222B22"/>
                </a:solidFill>
                <a:latin typeface="Calibri"/>
              </a:rPr>
              <a:t>Bridge and split</a:t>
            </a:r>
          </a:p>
          <a:p>
            <a:pPr>
              <a:spcAft>
                <a:spcPts val="500"/>
              </a:spcAft>
            </a:pPr>
            <a:r>
              <a:rPr b="1" sz="1300">
                <a:solidFill>
                  <a:srgbClr val="97BC62"/>
                </a:solidFill>
                <a:latin typeface="Calibri"/>
              </a:rPr>
              <a:t>4   </a:t>
            </a:r>
            <a:r>
              <a:rPr sz="1300">
                <a:solidFill>
                  <a:srgbClr val="222B22"/>
                </a:solidFill>
                <a:latin typeface="Calibri"/>
              </a:rPr>
              <a:t>First teaching rep — both cards</a:t>
            </a:r>
          </a:p>
          <a:p>
            <a:pPr>
              <a:spcAft>
                <a:spcPts val="500"/>
              </a:spcAft>
            </a:pPr>
            <a:r>
              <a:rPr b="1" sz="1300">
                <a:solidFill>
                  <a:srgbClr val="97BC62"/>
                </a:solidFill>
                <a:latin typeface="Calibri"/>
              </a:rPr>
              <a:t>5   </a:t>
            </a:r>
            <a:r>
              <a:rPr sz="1300">
                <a:solidFill>
                  <a:srgbClr val="222B22"/>
                </a:solidFill>
                <a:latin typeface="Calibri"/>
              </a:rPr>
              <a:t>Cluster feedback — one keep, one adjust</a:t>
            </a:r>
          </a:p>
          <a:p>
            <a:pPr>
              <a:spcAft>
                <a:spcPts val="500"/>
              </a:spcAft>
            </a:pPr>
            <a:r>
              <a:rPr b="1" sz="1300">
                <a:solidFill>
                  <a:srgbClr val="97BC62"/>
                </a:solidFill>
                <a:latin typeface="Calibri"/>
              </a:rPr>
              <a:t>6   </a:t>
            </a:r>
            <a:r>
              <a:rPr sz="1300">
                <a:solidFill>
                  <a:srgbClr val="222B22"/>
                </a:solidFill>
                <a:latin typeface="Calibri"/>
              </a:rPr>
              <a:t>Second teaching rep — both cards, tightened</a:t>
            </a:r>
          </a:p>
          <a:p>
            <a:pPr>
              <a:spcAft>
                <a:spcPts val="500"/>
              </a:spcAft>
            </a:pPr>
            <a:r>
              <a:rPr b="1" sz="1300">
                <a:solidFill>
                  <a:srgbClr val="97BC62"/>
                </a:solidFill>
                <a:latin typeface="Calibri"/>
              </a:rPr>
              <a:t>7   </a:t>
            </a:r>
            <a:r>
              <a:rPr sz="1300">
                <a:solidFill>
                  <a:srgbClr val="222B22"/>
                </a:solidFill>
                <a:latin typeface="Calibri"/>
              </a:rPr>
              <a:t>Second cluster feedback</a:t>
            </a:r>
          </a:p>
          <a:p>
            <a:pPr>
              <a:spcAft>
                <a:spcPts val="500"/>
              </a:spcAft>
            </a:pPr>
            <a:r>
              <a:rPr b="1" sz="1300">
                <a:solidFill>
                  <a:srgbClr val="97BC62"/>
                </a:solidFill>
                <a:latin typeface="Calibri"/>
              </a:rPr>
              <a:t>8   </a:t>
            </a:r>
            <a:r>
              <a:rPr sz="1300">
                <a:solidFill>
                  <a:srgbClr val="222B22"/>
                </a:solidFill>
                <a:latin typeface="Calibri"/>
              </a:rPr>
              <a:t>Merge and between-session</a:t>
            </a:r>
          </a:p>
          <a:p>
            <a:pPr>
              <a:spcAft>
                <a:spcPts val="500"/>
              </a:spcAft>
            </a:pPr>
            <a:r>
              <a:rPr b="1" sz="1300">
                <a:solidFill>
                  <a:srgbClr val="97BC62"/>
                </a:solidFill>
                <a:latin typeface="Calibri"/>
              </a:rPr>
              <a:t>9   </a:t>
            </a:r>
            <a:r>
              <a:rPr sz="1300">
                <a:solidFill>
                  <a:srgbClr val="222B22"/>
                </a:solidFill>
                <a:latin typeface="Calibri"/>
              </a:rPr>
              <a:t>Closing container</a:t>
            </a:r>
          </a:p>
          <a:p>
            <a:pPr>
              <a:spcAft>
                <a:spcPts val="500"/>
              </a:spcAft>
            </a:pPr>
            <a:r>
              <a:rPr b="1" sz="1300">
                <a:solidFill>
                  <a:srgbClr val="97BC62"/>
                </a:solidFill>
                <a:latin typeface="Calibri"/>
              </a:rPr>
              <a:t>10   </a:t>
            </a:r>
            <a:r>
              <a:rPr sz="1300">
                <a:solidFill>
                  <a:srgbClr val="222B22"/>
                </a:solidFill>
                <a:latin typeface="Calibri"/>
              </a:rPr>
              <a:t>Leader Feedback Round</a:t>
            </a:r>
          </a:p>
          <a:p>
            <a:pPr>
              <a:spcAft>
                <a:spcPts val="500"/>
              </a:spcAft>
            </a:pPr>
            <a:r>
              <a:rPr b="1" sz="1300">
                <a:solidFill>
                  <a:srgbClr val="97BC62"/>
                </a:solidFill>
                <a:latin typeface="Calibri"/>
              </a:rPr>
              <a:t>11   </a:t>
            </a:r>
            <a:r>
              <a:rPr sz="1300">
                <a:solidFill>
                  <a:srgbClr val="222B22"/>
                </a:solidFill>
                <a:latin typeface="Calibri"/>
              </a:rPr>
              <a:t>Aaronic blessing and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4c-trail.jpg"/>
          <p:cNvPicPr>
            <a:picLocks noChangeAspect="1"/>
          </p:cNvPicPr>
          <p:nvPr/>
        </p:nvPicPr>
        <p:blipFill>
          <a:blip r:embed="rId2"/>
          <a:stretch>
            <a:fillRect/>
          </a:stretch>
        </p:blipFill>
        <p:spPr>
          <a:xfrm>
            <a:off x="6873602" y="822960"/>
            <a:ext cx="4266475" cy="5212080"/>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20</a:t>
            </a:r>
          </a:p>
          <a:p>
            <a:pPr algn="l">
              <a:spcAft>
                <a:spcPts val="1000"/>
              </a:spcAft>
            </a:pPr>
            <a:r>
              <a:rPr sz="3300" b="1" i="0">
                <a:solidFill>
                  <a:srgbClr val="2C5F2D"/>
                </a:solidFill>
                <a:latin typeface="Cambria"/>
              </a:rPr>
              <a:t>The Long Walk</a:t>
            </a:r>
          </a:p>
          <a:p>
            <a:pPr algn="l">
              <a:spcAft>
                <a:spcPts val="600"/>
              </a:spcAft>
            </a:pPr>
            <a:r>
              <a:rPr sz="1500" b="0" i="1">
                <a:solidFill>
                  <a:srgbClr val="595959"/>
                </a:solidFill>
                <a:latin typeface="Calibri"/>
              </a:rPr>
              <a:t>The dry-season teaching comes home — taught to the whole room by its own senior teens, the night before the sendings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4: Consolidation &amp;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20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Welcome and centering</a:t>
            </a:r>
          </a:p>
          <a:p>
            <a:pPr>
              <a:spcAft>
                <a:spcPts val="500"/>
              </a:spcAft>
            </a:pPr>
            <a:r>
              <a:rPr b="1" sz="1300">
                <a:solidFill>
                  <a:srgbClr val="97BC62"/>
                </a:solidFill>
                <a:latin typeface="Calibri"/>
              </a:rPr>
              <a:t>2   </a:t>
            </a:r>
            <a:r>
              <a:rPr sz="1300">
                <a:solidFill>
                  <a:srgbClr val="222B22"/>
                </a:solidFill>
                <a:latin typeface="Calibri"/>
              </a:rPr>
              <a:t>Why tonight — Isaiah 50:10</a:t>
            </a:r>
          </a:p>
          <a:p>
            <a:pPr>
              <a:spcAft>
                <a:spcPts val="500"/>
              </a:spcAft>
            </a:pPr>
            <a:r>
              <a:rPr b="1" sz="1300">
                <a:solidFill>
                  <a:srgbClr val="97BC62"/>
                </a:solidFill>
                <a:latin typeface="Calibri"/>
              </a:rPr>
              <a:t>3   </a:t>
            </a:r>
            <a:r>
              <a:rPr sz="1300">
                <a:solidFill>
                  <a:srgbClr val="222B22"/>
                </a:solidFill>
                <a:latin typeface="Calibri"/>
              </a:rPr>
              <a:t>The Signs Card — taught by a CiF</a:t>
            </a:r>
          </a:p>
          <a:p>
            <a:pPr>
              <a:spcAft>
                <a:spcPts val="500"/>
              </a:spcAft>
            </a:pPr>
            <a:r>
              <a:rPr b="1" sz="1300">
                <a:solidFill>
                  <a:srgbClr val="97BC62"/>
                </a:solidFill>
                <a:latin typeface="Calibri"/>
              </a:rPr>
              <a:t>4   </a:t>
            </a:r>
            <a:r>
              <a:rPr sz="1300">
                <a:solidFill>
                  <a:srgbClr val="222B22"/>
                </a:solidFill>
                <a:latin typeface="Calibri"/>
              </a:rPr>
              <a:t>The Path Home Card — taught by a CiF</a:t>
            </a:r>
          </a:p>
          <a:p>
            <a:pPr>
              <a:spcAft>
                <a:spcPts val="500"/>
              </a:spcAft>
            </a:pPr>
            <a:r>
              <a:rPr b="1" sz="1300">
                <a:solidFill>
                  <a:srgbClr val="97BC62"/>
                </a:solidFill>
                <a:latin typeface="Calibri"/>
              </a:rPr>
              <a:t>5   </a:t>
            </a:r>
            <a:r>
              <a:rPr sz="1300">
                <a:solidFill>
                  <a:srgbClr val="222B22"/>
                </a:solidFill>
                <a:latin typeface="Calibri"/>
              </a:rPr>
              <a:t>The journal arc review</a:t>
            </a:r>
          </a:p>
          <a:p>
            <a:pPr>
              <a:spcAft>
                <a:spcPts val="500"/>
              </a:spcAft>
            </a:pPr>
            <a:r>
              <a:rPr b="1" sz="1300">
                <a:solidFill>
                  <a:srgbClr val="97BC62"/>
                </a:solidFill>
                <a:latin typeface="Calibri"/>
              </a:rPr>
              <a:t>6   </a:t>
            </a:r>
            <a:r>
              <a:rPr sz="1300">
                <a:solidFill>
                  <a:srgbClr val="222B22"/>
                </a:solidFill>
                <a:latin typeface="Calibri"/>
              </a:rPr>
              <a:t>One sentence, and the testimony gathering</a:t>
            </a:r>
          </a:p>
          <a:p>
            <a:pPr>
              <a:spcAft>
                <a:spcPts val="500"/>
              </a:spcAft>
            </a:pPr>
            <a:r>
              <a:rPr b="1" sz="1300">
                <a:solidFill>
                  <a:srgbClr val="97BC62"/>
                </a:solidFill>
                <a:latin typeface="Calibri"/>
              </a:rPr>
              <a:t>7   </a:t>
            </a:r>
            <a:r>
              <a:rPr sz="1300">
                <a:solidFill>
                  <a:srgbClr val="222B22"/>
                </a:solidFill>
                <a:latin typeface="Calibri"/>
              </a:rPr>
              <a:t>The Post-Series Survey</a:t>
            </a:r>
          </a:p>
          <a:p>
            <a:pPr>
              <a:spcAft>
                <a:spcPts val="500"/>
              </a:spcAft>
            </a:pPr>
            <a:r>
              <a:rPr b="1" sz="1300">
                <a:solidFill>
                  <a:srgbClr val="97BC62"/>
                </a:solidFill>
                <a:latin typeface="Calibri"/>
              </a:rPr>
              <a:t>8   </a:t>
            </a:r>
            <a:r>
              <a:rPr sz="1300">
                <a:solidFill>
                  <a:srgbClr val="222B22"/>
                </a:solidFill>
                <a:latin typeface="Calibri"/>
              </a:rPr>
              <a:t>The Leader Feedback Round</a:t>
            </a:r>
          </a:p>
          <a:p>
            <a:pPr>
              <a:spcAft>
                <a:spcPts val="500"/>
              </a:spcAft>
            </a:pPr>
            <a:r>
              <a:rPr b="1" sz="1300">
                <a:solidFill>
                  <a:srgbClr val="97BC62"/>
                </a:solidFill>
                <a:latin typeface="Calibri"/>
              </a:rPr>
              <a:t>9   </a:t>
            </a:r>
            <a:r>
              <a:rPr sz="13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k10-sending.jpg"/>
          <p:cNvPicPr>
            <a:picLocks noChangeAspect="1"/>
          </p:cNvPicPr>
          <p:nvPr/>
        </p:nvPicPr>
        <p:blipFill>
          <a:blip r:embed="rId2"/>
          <a:stretch>
            <a:fillRect/>
          </a:stretch>
        </p:blipFill>
        <p:spPr>
          <a:xfrm>
            <a:off x="6309360" y="1641919"/>
            <a:ext cx="5394960" cy="3574161"/>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21</a:t>
            </a:r>
          </a:p>
          <a:p>
            <a:pPr algn="l">
              <a:spcAft>
                <a:spcPts val="1000"/>
              </a:spcAft>
            </a:pPr>
            <a:r>
              <a:rPr sz="3300" b="1" i="0">
                <a:solidFill>
                  <a:srgbClr val="2C5F2D"/>
                </a:solidFill>
                <a:latin typeface="Cambria"/>
              </a:rPr>
              <a:t>Sending and Blessing</a:t>
            </a:r>
          </a:p>
          <a:p>
            <a:pPr algn="l">
              <a:spcAft>
                <a:spcPts val="600"/>
              </a:spcAft>
            </a:pPr>
            <a:r>
              <a:rPr sz="1500" b="0" i="1">
                <a:solidFill>
                  <a:srgbClr val="595959"/>
                </a:solidFill>
                <a:latin typeface="Calibri"/>
              </a:rPr>
              <a:t>Family commissioning, the integration of the four Connects, and the bridge to Going Deeper</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4: Consolidation &amp;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21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800"/>
              </a:spcAft>
            </a:pPr>
            <a:r>
              <a:rPr b="1" sz="1500">
                <a:solidFill>
                  <a:srgbClr val="97BC62"/>
                </a:solidFill>
                <a:latin typeface="Calibri"/>
              </a:rPr>
              <a:t>1   </a:t>
            </a:r>
            <a:r>
              <a:rPr sz="1500">
                <a:solidFill>
                  <a:srgbClr val="222B22"/>
                </a:solidFill>
                <a:latin typeface="Calibri"/>
              </a:rPr>
              <a:t>Welcome and integration teaching</a:t>
            </a:r>
          </a:p>
          <a:p>
            <a:pPr>
              <a:spcAft>
                <a:spcPts val="800"/>
              </a:spcAft>
            </a:pPr>
            <a:r>
              <a:rPr b="1" sz="1500">
                <a:solidFill>
                  <a:srgbClr val="97BC62"/>
                </a:solidFill>
                <a:latin typeface="Calibri"/>
              </a:rPr>
              <a:t>2   </a:t>
            </a:r>
            <a:r>
              <a:rPr sz="1500">
                <a:solidFill>
                  <a:srgbClr val="222B22"/>
                </a:solidFill>
                <a:latin typeface="Calibri"/>
              </a:rPr>
              <a:t>Brief blessing rehearsal</a:t>
            </a:r>
          </a:p>
          <a:p>
            <a:pPr>
              <a:spcAft>
                <a:spcPts val="800"/>
              </a:spcAft>
            </a:pPr>
            <a:r>
              <a:rPr b="1" sz="1500">
                <a:solidFill>
                  <a:srgbClr val="97BC62"/>
                </a:solidFill>
                <a:latin typeface="Calibri"/>
              </a:rPr>
              <a:t>3   </a:t>
            </a:r>
            <a:r>
              <a:rPr sz="1500">
                <a:solidFill>
                  <a:srgbClr val="222B22"/>
                </a:solidFill>
                <a:latin typeface="Calibri"/>
              </a:rPr>
              <a:t>Reading and prayer</a:t>
            </a:r>
          </a:p>
          <a:p>
            <a:pPr>
              <a:spcAft>
                <a:spcPts val="800"/>
              </a:spcAft>
            </a:pPr>
            <a:r>
              <a:rPr b="1" sz="1500">
                <a:solidFill>
                  <a:srgbClr val="97BC62"/>
                </a:solidFill>
                <a:latin typeface="Calibri"/>
              </a:rPr>
              <a:t>4   </a:t>
            </a:r>
            <a:r>
              <a:rPr sz="1500">
                <a:solidFill>
                  <a:srgbClr val="222B22"/>
                </a:solidFill>
                <a:latin typeface="Calibri"/>
              </a:rPr>
              <a:t>Family commissionings</a:t>
            </a:r>
          </a:p>
          <a:p>
            <a:pPr>
              <a:spcAft>
                <a:spcPts val="800"/>
              </a:spcAft>
            </a:pPr>
            <a:r>
              <a:rPr b="1" sz="1500">
                <a:solidFill>
                  <a:srgbClr val="97BC62"/>
                </a:solidFill>
                <a:latin typeface="Calibri"/>
              </a:rPr>
              <a:t>5   </a:t>
            </a:r>
            <a:r>
              <a:rPr sz="1500">
                <a:solidFill>
                  <a:srgbClr val="222B22"/>
                </a:solidFill>
                <a:latin typeface="Calibri"/>
              </a:rPr>
              <a:t>Final reflection circle</a:t>
            </a:r>
          </a:p>
          <a:p>
            <a:pPr>
              <a:spcAft>
                <a:spcPts val="800"/>
              </a:spcAft>
            </a:pPr>
            <a:r>
              <a:rPr b="1" sz="1500">
                <a:solidFill>
                  <a:srgbClr val="97BC62"/>
                </a:solidFill>
                <a:latin typeface="Calibri"/>
              </a:rPr>
              <a:t>6   </a:t>
            </a:r>
            <a:r>
              <a:rPr sz="1500">
                <a:solidFill>
                  <a:srgbClr val="222B22"/>
                </a:solidFill>
                <a:latin typeface="Calibri"/>
              </a:rPr>
              <a:t>Rhythm Card and Going Deeper bridge</a:t>
            </a:r>
          </a:p>
          <a:p>
            <a:pPr>
              <a:spcAft>
                <a:spcPts val="800"/>
              </a:spcAft>
            </a:pPr>
            <a:r>
              <a:rPr b="1" sz="1500">
                <a:solidFill>
                  <a:srgbClr val="97BC62"/>
                </a:solidFill>
                <a:latin typeface="Calibri"/>
              </a:rPr>
              <a:t>7   </a:t>
            </a:r>
            <a:r>
              <a:rPr sz="1500">
                <a:solidFill>
                  <a:srgbClr val="222B22"/>
                </a:solidFill>
                <a:latin typeface="Calibri"/>
              </a:rPr>
              <a:t>The Leader Feedback Round</a:t>
            </a:r>
          </a:p>
          <a:p>
            <a:pPr>
              <a:spcAft>
                <a:spcPts val="800"/>
              </a:spcAft>
            </a:pPr>
            <a:r>
              <a:rPr b="1" sz="1500">
                <a:solidFill>
                  <a:srgbClr val="97BC62"/>
                </a:solidFill>
                <a:latin typeface="Calibri"/>
              </a:rPr>
              <a:t>8   </a:t>
            </a:r>
            <a:r>
              <a:rPr sz="1500">
                <a:solidFill>
                  <a:srgbClr val="222B22"/>
                </a:solidFill>
                <a:latin typeface="Calibri"/>
              </a:rPr>
              <a:t>Final blessing and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4c-hands.jpg"/>
          <p:cNvPicPr>
            <a:picLocks noChangeAspect="1"/>
          </p:cNvPicPr>
          <p:nvPr/>
        </p:nvPicPr>
        <p:blipFill>
          <a:blip r:embed="rId2"/>
          <a:stretch>
            <a:fillRect/>
          </a:stretch>
        </p:blipFill>
        <p:spPr>
          <a:xfrm>
            <a:off x="6309360" y="1631119"/>
            <a:ext cx="5394960" cy="3595761"/>
          </a:xfrm>
          <a:prstGeom prst="rect">
            <a:avLst/>
          </a:prstGeom>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700" b="1" i="0">
                <a:solidFill>
                  <a:srgbClr val="97BC62"/>
                </a:solidFill>
                <a:latin typeface="Calibri"/>
              </a:rPr>
              <a:t>WEEK 22</a:t>
            </a:r>
          </a:p>
          <a:p>
            <a:pPr algn="l">
              <a:spcAft>
                <a:spcPts val="1000"/>
              </a:spcAft>
            </a:pPr>
            <a:r>
              <a:rPr sz="3300" b="1" i="0">
                <a:solidFill>
                  <a:srgbClr val="2C5F2D"/>
                </a:solidFill>
                <a:latin typeface="Cambria"/>
              </a:rPr>
              <a:t>Commissioning the Companions</a:t>
            </a:r>
          </a:p>
          <a:p>
            <a:pPr algn="l">
              <a:spcAft>
                <a:spcPts val="600"/>
              </a:spcAft>
            </a:pPr>
            <a:r>
              <a:rPr sz="1500" b="0" i="1">
                <a:solidFill>
                  <a:srgbClr val="595959"/>
                </a:solidFill>
                <a:latin typeface="Calibri"/>
              </a:rPr>
              <a:t>The exit gate as a witnessed rite — the seniors leave having begun, not finished</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100" b="0" i="0">
                <a:solidFill>
                  <a:srgbClr val="595959"/>
                </a:solidFill>
                <a:latin typeface="Calibri"/>
              </a:rPr>
              <a:t>Quarter 4: Consolidation &amp;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22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b="1" sz="1300">
                <a:solidFill>
                  <a:srgbClr val="97BC62"/>
                </a:solidFill>
                <a:latin typeface="Calibri"/>
              </a:rPr>
              <a:t>1   </a:t>
            </a:r>
            <a:r>
              <a:rPr sz="1300">
                <a:solidFill>
                  <a:srgbClr val="222B22"/>
                </a:solidFill>
                <a:latin typeface="Calibri"/>
              </a:rPr>
              <a:t>Welcome and framing</a:t>
            </a:r>
          </a:p>
          <a:p>
            <a:pPr>
              <a:spcAft>
                <a:spcPts val="500"/>
              </a:spcAft>
            </a:pPr>
            <a:r>
              <a:rPr b="1" sz="1300">
                <a:solidFill>
                  <a:srgbClr val="97BC62"/>
                </a:solidFill>
                <a:latin typeface="Calibri"/>
              </a:rPr>
              <a:t>2   </a:t>
            </a:r>
            <a:r>
              <a:rPr sz="1300">
                <a:solidFill>
                  <a:srgbClr val="222B22"/>
                </a:solidFill>
                <a:latin typeface="Calibri"/>
              </a:rPr>
              <a:t>The final rep — the container opened</a:t>
            </a:r>
          </a:p>
          <a:p>
            <a:pPr>
              <a:spcAft>
                <a:spcPts val="500"/>
              </a:spcAft>
            </a:pPr>
            <a:r>
              <a:rPr b="1" sz="1300">
                <a:solidFill>
                  <a:srgbClr val="97BC62"/>
                </a:solidFill>
                <a:latin typeface="Calibri"/>
              </a:rPr>
              <a:t>3   </a:t>
            </a:r>
            <a:r>
              <a:rPr sz="1300">
                <a:solidFill>
                  <a:srgbClr val="222B22"/>
                </a:solidFill>
                <a:latin typeface="Calibri"/>
              </a:rPr>
              <a:t>The word over the night</a:t>
            </a:r>
          </a:p>
          <a:p>
            <a:pPr>
              <a:spcAft>
                <a:spcPts val="500"/>
              </a:spcAft>
            </a:pPr>
            <a:r>
              <a:rPr b="1" sz="1300">
                <a:solidFill>
                  <a:srgbClr val="97BC62"/>
                </a:solidFill>
                <a:latin typeface="Calibri"/>
              </a:rPr>
              <a:t>4   </a:t>
            </a:r>
            <a:r>
              <a:rPr sz="1300">
                <a:solidFill>
                  <a:srgbClr val="222B22"/>
                </a:solidFill>
                <a:latin typeface="Calibri"/>
              </a:rPr>
              <a:t>The three rules read aloud</a:t>
            </a:r>
          </a:p>
          <a:p>
            <a:pPr>
              <a:spcAft>
                <a:spcPts val="500"/>
              </a:spcAft>
            </a:pPr>
            <a:r>
              <a:rPr b="1" sz="1300">
                <a:solidFill>
                  <a:srgbClr val="97BC62"/>
                </a:solidFill>
                <a:latin typeface="Calibri"/>
              </a:rPr>
              <a:t>5   </a:t>
            </a:r>
            <a:r>
              <a:rPr sz="1300">
                <a:solidFill>
                  <a:srgbClr val="222B22"/>
                </a:solidFill>
                <a:latin typeface="Calibri"/>
              </a:rPr>
              <a:t>The covering named</a:t>
            </a:r>
          </a:p>
          <a:p>
            <a:pPr>
              <a:spcAft>
                <a:spcPts val="500"/>
              </a:spcAft>
            </a:pPr>
            <a:r>
              <a:rPr b="1" sz="1300">
                <a:solidFill>
                  <a:srgbClr val="97BC62"/>
                </a:solidFill>
                <a:latin typeface="Calibri"/>
              </a:rPr>
              <a:t>6   </a:t>
            </a:r>
            <a:r>
              <a:rPr sz="1300">
                <a:solidFill>
                  <a:srgbClr val="222B22"/>
                </a:solidFill>
                <a:latin typeface="Calibri"/>
              </a:rPr>
              <a:t>The commissioning</a:t>
            </a:r>
          </a:p>
          <a:p>
            <a:pPr>
              <a:spcAft>
                <a:spcPts val="500"/>
              </a:spcAft>
            </a:pPr>
            <a:r>
              <a:rPr b="1" sz="1300">
                <a:solidFill>
                  <a:srgbClr val="97BC62"/>
                </a:solidFill>
                <a:latin typeface="Calibri"/>
              </a:rPr>
              <a:t>7   </a:t>
            </a:r>
            <a:r>
              <a:rPr sz="1300">
                <a:solidFill>
                  <a:srgbClr val="222B22"/>
                </a:solidFill>
                <a:latin typeface="Calibri"/>
              </a:rPr>
              <a:t>The first Lab scheduled</a:t>
            </a:r>
          </a:p>
          <a:p>
            <a:pPr>
              <a:spcAft>
                <a:spcPts val="500"/>
              </a:spcAft>
            </a:pPr>
            <a:r>
              <a:rPr b="1" sz="1300">
                <a:solidFill>
                  <a:srgbClr val="97BC62"/>
                </a:solidFill>
                <a:latin typeface="Calibri"/>
              </a:rPr>
              <a:t>8   </a:t>
            </a:r>
            <a:r>
              <a:rPr sz="1300">
                <a:solidFill>
                  <a:srgbClr val="222B22"/>
                </a:solidFill>
                <a:latin typeface="Calibri"/>
              </a:rPr>
              <a:t>The Leader Feedback Round</a:t>
            </a:r>
          </a:p>
          <a:p>
            <a:pPr>
              <a:spcAft>
                <a:spcPts val="500"/>
              </a:spcAft>
            </a:pPr>
            <a:r>
              <a:rPr b="1" sz="1300">
                <a:solidFill>
                  <a:srgbClr val="97BC62"/>
                </a:solidFill>
                <a:latin typeface="Calibri"/>
              </a:rPr>
              <a:t>9   </a:t>
            </a:r>
            <a:r>
              <a:rPr sz="1300">
                <a:solidFill>
                  <a:srgbClr val="222B22"/>
                </a:solidFill>
                <a:latin typeface="Calibri"/>
              </a:rPr>
              <a:t>The final rep — the container closed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1" name="Picture 31" descr="the open container bowl"/>
          <p:cNvPicPr>
            <a:picLocks noChangeAspect="1"/>
          </p:cNvPicPr>
          <p:nvPr/>
        </p:nvPicPr>
        <p:blipFill>
          <a:blip r:embed="rId2"/>
          <a:stretch>
            <a:fillRect/>
          </a:stretch>
        </p:blipFill>
        <p:spPr>
          <a:xfrm>
            <a:off x="8001000" y="1554480"/>
            <a:ext cx="3017520" cy="452628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20624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800"/>
              </a:spcAft>
            </a:pPr>
            <a:r>
              <a:rPr sz="1600" b="1" i="0">
                <a:solidFill>
                  <a:srgbClr val="97BC62"/>
                </a:solidFill>
                <a:latin typeface="Calibri"/>
              </a:rPr>
              <a:t>–  </a:t>
            </a:r>
            <a:r>
              <a:rPr sz="1500" b="0" i="0">
                <a:solidFill>
                  <a:srgbClr val="222B22"/>
                </a:solidFill>
                <a:latin typeface="Calibri"/>
              </a:rPr>
              <a:t>The practice, said together: </a:t>
            </a:r>
            <a:r>
              <a:rPr sz="1500" b="0" i="1">
                <a:solidFill>
                  <a:srgbClr val="222B22"/>
                </a:solidFill>
                <a:latin typeface="Calibri"/>
              </a:rPr>
              <a:t>“Father, what are you up to today, and what do you want me to notice?”</a:t>
            </a:r>
          </a:p>
          <a:p>
            <a:pPr marL="274320" indent="-274320">
              <a:spcAft>
                <a:spcPts val="800"/>
              </a:spcAft>
            </a:pPr>
            <a:r>
              <a:rPr sz="1600" b="1" i="0">
                <a:solidFill>
                  <a:srgbClr val="97BC62"/>
                </a:solidFill>
                <a:latin typeface="Calibri"/>
              </a:rPr>
              <a:t>•  </a:t>
            </a:r>
            <a:r>
              <a:rPr sz="1600" b="0" i="0">
                <a:solidFill>
                  <a:srgbClr val="222B22"/>
                </a:solidFill>
                <a:latin typeface="Calibri"/>
              </a:rPr>
              <a:t>Then the blessing — spoken over each other, face to face</a:t>
            </a:r>
          </a:p>
        </p:txBody>
      </p:sp>
      <p:sp>
        <p:nvSpPr>
          <p:cNvPr id="6" name="TextBox 6"/>
          <p:cNvSpPr txBox="1"/>
          <p:nvPr/>
        </p:nvSpPr>
        <p:spPr>
          <a:xfrm>
            <a:off x="6766560" y="1737360"/>
            <a:ext cx="4663440" cy="3657600"/>
          </a:xfrm>
          <a:prstGeom prst="rect">
            <a:avLst/>
          </a:prstGeom>
          <a:solidFill>
            <a:srgbClr val="F1F6EC"/>
          </a:solidFill>
        </p:spPr>
        <p:txBody>
          <a:bodyPr wrap="square" lIns="91440" tIns="91440" rIns="91440" bIns="91440" anchor="ctr"/>
          <a:lstStyle/>
          <a:p>
            <a:pPr>
              <a:spcAft>
                <a:spcPts val="1000"/>
              </a:spcAft>
            </a:pPr>
            <a:r>
              <a:rPr sz="1200" b="1" i="0">
                <a:solidFill>
                  <a:srgbClr val="97BC62"/>
                </a:solidFill>
                <a:latin typeface="Calibri"/>
              </a:rPr>
              <a:t>THE AARONIC BLESSING — NUMBERS 6:24–26</a:t>
            </a:r>
          </a:p>
          <a:p>
            <a:pPr>
              <a:spcAft>
                <a:spcPts val="700"/>
              </a:spcAft>
            </a:pPr>
            <a:r>
              <a:rPr sz="1800" b="0" i="1">
                <a:solidFill>
                  <a:srgbClr val="222B22"/>
                </a:solidFill>
                <a:latin typeface="Cambria"/>
              </a:rPr>
              <a:t>“The Lord bless you and keep you;</a:t>
            </a:r>
          </a:p>
          <a:p>
            <a:pPr>
              <a:spcAft>
                <a:spcPts val="700"/>
              </a:spcAft>
            </a:pPr>
            <a:r>
              <a:rPr sz="1800" b="0" i="1">
                <a:solidFill>
                  <a:srgbClr val="222B22"/>
                </a:solidFill>
                <a:latin typeface="Cambria"/>
              </a:rPr>
              <a:t>the Lord make his face to shine upon you, and be gracious to you;</a:t>
            </a:r>
          </a:p>
          <a:p>
            <a:pPr>
              <a:spcAft>
                <a:spcPts val="700"/>
              </a:spcAft>
            </a:pPr>
            <a:r>
              <a:rPr sz="18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 from here on</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Between-Week Practice</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One practice this week — the simplest we will give you in all of Getting Started</a:t>
            </a:r>
          </a:p>
          <a:p>
            <a:pPr marL="274320" indent="-274320">
              <a:spcAft>
                <a:spcPts val="900"/>
              </a:spcAft>
            </a:pPr>
            <a:r>
              <a:rPr sz="1800" b="1" i="0">
                <a:solidFill>
                  <a:srgbClr val="97BC62"/>
                </a:solidFill>
                <a:latin typeface="Calibri"/>
              </a:rPr>
              <a:t>•  </a:t>
            </a:r>
            <a:r>
              <a:rPr sz="1800" b="0" i="0">
                <a:solidFill>
                  <a:srgbClr val="222B22"/>
                </a:solidFill>
                <a:latin typeface="Calibri"/>
              </a:rPr>
              <a:t>Each morning, before the phone: five quiet minutes</a:t>
            </a:r>
          </a:p>
          <a:p>
            <a:pPr marL="685800" indent="-274320">
              <a:spcAft>
                <a:spcPts val="700"/>
              </a:spcAft>
            </a:pPr>
            <a:r>
              <a:rPr sz="1600" b="1" i="0">
                <a:solidFill>
                  <a:srgbClr val="97BC62"/>
                </a:solidFill>
                <a:latin typeface="Calibri"/>
              </a:rPr>
              <a:t>–  </a:t>
            </a:r>
            <a:r>
              <a:rPr sz="1600" b="0" i="0">
                <a:solidFill>
                  <a:srgbClr val="222B22"/>
                </a:solidFill>
                <a:latin typeface="Calibri"/>
              </a:rPr>
              <a:t>Ask one question: </a:t>
            </a:r>
            <a:r>
              <a:rPr sz="1600" b="0" i="1">
                <a:solidFill>
                  <a:srgbClr val="222B22"/>
                </a:solidFill>
                <a:latin typeface="Calibri"/>
              </a:rPr>
              <a:t>“Father, what are you up to today, and what do you want me to notice?”</a:t>
            </a:r>
          </a:p>
          <a:p>
            <a:pPr marL="685800" indent="-274320">
              <a:spcAft>
                <a:spcPts val="700"/>
              </a:spcAft>
            </a:pPr>
            <a:r>
              <a:rPr sz="1600" b="1" i="0">
                <a:solidFill>
                  <a:srgbClr val="97BC62"/>
                </a:solidFill>
                <a:latin typeface="Calibri"/>
              </a:rPr>
              <a:t>–  </a:t>
            </a:r>
            <a:r>
              <a:rPr sz="1600" b="0" i="0">
                <a:solidFill>
                  <a:srgbClr val="222B22"/>
                </a:solidFill>
                <a:latin typeface="Calibri"/>
              </a:rPr>
              <a:t>Then sit. Listen. The asking is the practice.</a:t>
            </a:r>
          </a:p>
          <a:p>
            <a:pPr marL="274320" indent="-274320">
              <a:spcAft>
                <a:spcPts val="900"/>
              </a:spcAft>
            </a:pPr>
            <a:r>
              <a:rPr sz="1800" b="1" i="0">
                <a:solidFill>
                  <a:srgbClr val="97BC62"/>
                </a:solidFill>
                <a:latin typeface="Calibri"/>
              </a:rPr>
              <a:t>•  </a:t>
            </a:r>
            <a:r>
              <a:rPr sz="1800" b="0" i="0">
                <a:solidFill>
                  <a:srgbClr val="222B22"/>
                </a:solidFill>
                <a:latin typeface="Calibri"/>
              </a:rPr>
              <a:t>Each evening, sixty seconds: one specific sentence in the journal — what did I notice today?</a:t>
            </a:r>
          </a:p>
          <a:p>
            <a:pPr marL="274320" indent="-274320">
              <a:spcAft>
                <a:spcPts val="900"/>
              </a:spcAft>
            </a:pPr>
            <a:r>
              <a:rPr sz="1800" b="1" i="0">
                <a:solidFill>
                  <a:srgbClr val="97BC62"/>
                </a:solidFill>
                <a:latin typeface="Calibri"/>
              </a:rPr>
              <a:t>•  </a:t>
            </a:r>
            <a:r>
              <a:rPr sz="1800" b="0" i="0">
                <a:solidFill>
                  <a:srgbClr val="222B22"/>
                </a:solidFill>
                <a:latin typeface="Calibri"/>
              </a:rPr>
              <a:t>Parents are doing this too — we check in next Wednesday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0" name="Picture 30" descr="journal and coffee by window"/>
          <p:cNvPicPr>
            <a:picLocks noChangeAspect="1"/>
          </p:cNvPicPr>
          <p:nvPr/>
        </p:nvPicPr>
        <p:blipFill>
          <a:blip r:embed="rId2"/>
          <a:stretch>
            <a:fillRect/>
          </a:stretch>
        </p:blipFill>
        <p:spPr>
          <a:xfrm>
            <a:off x="7818120" y="1463040"/>
            <a:ext cx="3262379" cy="489204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One True Sentence — Why Each of Us Is Here</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Around the circle: one true sentence about why you are here tonight</a:t>
            </a:r>
          </a:p>
          <a:p>
            <a:pPr marL="274320" indent="-274320">
              <a:spcAft>
                <a:spcPts val="900"/>
              </a:spcAft>
            </a:pPr>
            <a:r>
              <a:rPr sz="1800" b="1" i="0">
                <a:solidFill>
                  <a:srgbClr val="97BC62"/>
                </a:solidFill>
                <a:latin typeface="Calibri"/>
              </a:rPr>
              <a:t>•  </a:t>
            </a:r>
            <a:r>
              <a:rPr sz="1800" b="0" i="0">
                <a:solidFill>
                  <a:srgbClr val="222B22"/>
                </a:solidFill>
                <a:latin typeface="Calibri"/>
              </a:rPr>
              <a:t>One sentence — not a paragraph, not a story</a:t>
            </a:r>
          </a:p>
          <a:p>
            <a:pPr marL="274320" indent="-274320">
              <a:spcAft>
                <a:spcPts val="900"/>
              </a:spcAft>
            </a:pPr>
            <a:r>
              <a:rPr sz="1800" b="1" i="0">
                <a:solidFill>
                  <a:srgbClr val="97BC62"/>
                </a:solidFill>
                <a:latin typeface="Calibri"/>
              </a:rPr>
              <a:t>•  </a:t>
            </a:r>
            <a:r>
              <a:rPr sz="1800" b="0" i="0">
                <a:solidFill>
                  <a:srgbClr val="222B22"/>
                </a:solidFill>
                <a:latin typeface="Calibri"/>
              </a:rPr>
              <a:t>The word that matters is “true” — not what you think we want to hear</a:t>
            </a:r>
          </a:p>
          <a:p>
            <a:pPr marL="274320" indent="-274320">
              <a:spcAft>
                <a:spcPts val="900"/>
              </a:spcAft>
            </a:pPr>
            <a:r>
              <a:rPr sz="1800" b="1" i="0">
                <a:solidFill>
                  <a:srgbClr val="97BC62"/>
                </a:solidFill>
                <a:latin typeface="Calibri"/>
              </a:rPr>
              <a:t>•  </a:t>
            </a:r>
            <a:r>
              <a:rPr sz="1800" b="0" i="0">
                <a:solidFill>
                  <a:srgbClr val="222B22"/>
                </a:solidFill>
                <a:latin typeface="Calibri"/>
              </a:rPr>
              <a:t>“Because Mom said I had to be here” counts. “I don’t know yet” counts.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0" name="Picture 30" descr="circle of chairs"/>
          <p:cNvPicPr>
            <a:picLocks noChangeAspect="1"/>
          </p:cNvPicPr>
          <p:nvPr/>
        </p:nvPicPr>
        <p:blipFill>
          <a:blip r:embed="rId2"/>
          <a:stretch>
            <a:fillRect/>
          </a:stretch>
        </p:blipFill>
        <p:spPr>
          <a:xfrm>
            <a:off x="7818120" y="1463040"/>
            <a:ext cx="3262379" cy="489204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Container Introduction</a:t>
            </a:r>
          </a:p>
        </p:txBody>
      </p:sp>
      <p:sp>
        <p:nvSpPr>
          <p:cNvPr id="4" name="TextBox 4"/>
          <p:cNvSpPr txBox="1"/>
          <p:nvPr/>
        </p:nvSpPr>
        <p:spPr>
          <a:xfrm>
            <a:off x="822960" y="1417320"/>
            <a:ext cx="6675120" cy="5029200"/>
          </a:xfrm>
          <a:prstGeom prst="rect">
            <a:avLst/>
          </a:prstGeom>
          <a:noFill/>
        </p:spPr>
        <p:txBody>
          <a:bodyPr wrap="square" lIns="91440" tIns="91440" rIns="91440" bIns="91440"/>
          <a:lstStyle/>
          <a:p>
            <a:pPr>
              <a:spcAft>
                <a:spcPts val="100"/>
              </a:spcAft>
            </a:pPr>
            <a:r>
              <a:rPr sz="2600" b="1" i="0">
                <a:solidFill>
                  <a:srgbClr val="2C5F2D"/>
                </a:solidFill>
                <a:latin typeface="Calibri"/>
              </a:rPr>
              <a:t>Safe</a:t>
            </a:r>
          </a:p>
          <a:p>
            <a:pPr marL="685800" indent="-274320">
              <a:spcAft>
                <a:spcPts val="100"/>
              </a:spcAft>
            </a:pPr>
            <a:r>
              <a:rPr sz="1800" b="1" i="0">
                <a:solidFill>
                  <a:srgbClr val="97BC62"/>
                </a:solidFill>
                <a:latin typeface="Calibri"/>
              </a:rPr>
              <a:t>–  </a:t>
            </a:r>
            <a:r>
              <a:rPr sz="1800" b="0" i="0">
                <a:solidFill>
                  <a:srgbClr val="222B22"/>
                </a:solidFill>
                <a:latin typeface="Calibri"/>
              </a:rPr>
              <a:t>What is shared in this room stays in this room — no judging, no fixing, no interrupting</a:t>
            </a:r>
          </a:p>
          <a:p>
            <a:pPr marL="685800" indent="-274320">
              <a:spcAft>
                <a:spcPts val="800"/>
              </a:spcAft>
            </a:pPr>
            <a:r>
              <a:rPr sz="1800" b="1" i="0">
                <a:solidFill>
                  <a:srgbClr val="97BC62"/>
                </a:solidFill>
                <a:latin typeface="Calibri"/>
              </a:rPr>
              <a:t>–  </a:t>
            </a:r>
            <a:r>
              <a:rPr sz="1800" b="0" i="0">
                <a:solidFill>
                  <a:srgbClr val="222B22"/>
                </a:solidFill>
                <a:latin typeface="Calibri"/>
              </a:rPr>
              <a:t>No shaming</a:t>
            </a:r>
          </a:p>
          <a:p>
            <a:pPr>
              <a:spcAft>
                <a:spcPts val="100"/>
              </a:spcAft>
            </a:pPr>
            <a:r>
              <a:rPr sz="2600" b="1" i="0">
                <a:solidFill>
                  <a:srgbClr val="2C5F2D"/>
                </a:solidFill>
                <a:latin typeface="Calibri"/>
              </a:rPr>
              <a:t>Present</a:t>
            </a:r>
          </a:p>
          <a:p>
            <a:pPr marL="685800" indent="-274320">
              <a:spcAft>
                <a:spcPts val="100"/>
              </a:spcAft>
            </a:pPr>
            <a:r>
              <a:rPr sz="1800" b="1" i="0">
                <a:solidFill>
                  <a:srgbClr val="97BC62"/>
                </a:solidFill>
                <a:latin typeface="Calibri"/>
              </a:rPr>
              <a:t>–  </a:t>
            </a:r>
            <a:r>
              <a:rPr sz="1800" b="0" i="0">
                <a:solidFill>
                  <a:srgbClr val="222B22"/>
                </a:solidFill>
                <a:latin typeface="Calibri"/>
              </a:rPr>
              <a:t>Focused here — in this room, with these people</a:t>
            </a:r>
          </a:p>
          <a:p>
            <a:pPr marL="685800" indent="-274320">
              <a:spcAft>
                <a:spcPts val="800"/>
              </a:spcAft>
            </a:pPr>
            <a:r>
              <a:rPr sz="1800" b="1" i="0">
                <a:solidFill>
                  <a:srgbClr val="97BC62"/>
                </a:solidFill>
                <a:latin typeface="Calibri"/>
              </a:rPr>
              <a:t>–  </a:t>
            </a:r>
            <a:r>
              <a:rPr sz="1800" b="0" i="0">
                <a:solidFill>
                  <a:srgbClr val="222B22"/>
                </a:solidFill>
                <a:latin typeface="Calibri"/>
              </a:rPr>
              <a:t>Phones silent and put away</a:t>
            </a:r>
          </a:p>
          <a:p>
            <a:pPr>
              <a:spcAft>
                <a:spcPts val="100"/>
              </a:spcAft>
            </a:pPr>
            <a:r>
              <a:rPr sz="2600" b="1" i="0">
                <a:solidFill>
                  <a:srgbClr val="2C5F2D"/>
                </a:solidFill>
                <a:latin typeface="Calibri"/>
              </a:rPr>
              <a:t>Clear</a:t>
            </a:r>
          </a:p>
          <a:p>
            <a:pPr marL="685800" indent="-274320">
              <a:spcAft>
                <a:spcPts val="800"/>
              </a:spcAft>
            </a:pPr>
            <a:r>
              <a:rPr sz="1800" b="1" i="0">
                <a:solidFill>
                  <a:srgbClr val="97BC62"/>
                </a:solidFill>
                <a:latin typeface="Calibri"/>
              </a:rPr>
              <a:t>–  </a:t>
            </a:r>
            <a:r>
              <a:rPr sz="1800" b="0" i="0">
                <a:solidFill>
                  <a:srgbClr val="222B22"/>
                </a:solidFill>
                <a:latin typeface="Calibri"/>
              </a:rPr>
              <a:t>Releasing any roadblocks to hearing — set them aside intentionally</a:t>
            </a:r>
          </a:p>
          <a:p>
            <a:pPr>
              <a:spcAft>
                <a:spcPts val="100"/>
              </a:spcAft>
            </a:pPr>
            <a:r>
              <a:rPr sz="2600" b="1" i="0">
                <a:solidFill>
                  <a:srgbClr val="2C5F2D"/>
                </a:solidFill>
                <a:latin typeface="Calibri"/>
              </a:rPr>
              <a:t>Intentional</a:t>
            </a:r>
          </a:p>
          <a:p>
            <a:pPr marL="685800" indent="-274320">
              <a:spcAft>
                <a:spcPts val="800"/>
              </a:spcAft>
            </a:pPr>
            <a:r>
              <a:rPr sz="1600" b="1" i="0">
                <a:solidFill>
                  <a:srgbClr val="97BC62"/>
                </a:solidFill>
                <a:latin typeface="Calibri"/>
              </a:rPr>
              <a:t>–  </a:t>
            </a:r>
            <a:r>
              <a:rPr sz="1800" b="0" i="1">
                <a:solidFill>
                  <a:srgbClr val="222B22"/>
                </a:solidFill>
                <a:latin typeface="Calibri"/>
              </a:rPr>
              <a:t>“I’m leaning in. I’m looking for what God has for me in the next ninety minutes.”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0" name="Picture 30" descr="clay jar"/>
          <p:cNvPicPr>
            <a:picLocks noChangeAspect="1"/>
          </p:cNvPicPr>
          <p:nvPr/>
        </p:nvPicPr>
        <p:blipFill>
          <a:blip r:embed="rId2"/>
          <a:stretch>
            <a:fillRect/>
          </a:stretch>
        </p:blipFill>
        <p:spPr>
          <a:xfrm>
            <a:off x="7818120" y="1463040"/>
            <a:ext cx="3262379" cy="489204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Four Connects</a:t>
            </a:r>
          </a:p>
        </p:txBody>
      </p:sp>
      <p:pic>
        <p:nvPicPr>
          <p:cNvPr id="5" name="Picture 4" descr="four-connects diagram"/>
          <p:cNvPicPr>
            <a:picLocks noChangeAspect="1"/>
          </p:cNvPicPr>
          <p:nvPr/>
        </p:nvPicPr>
        <p:blipFill>
          <a:blip r:embed="rId2"/>
          <a:stretch>
            <a:fillRect/>
          </a:stretch>
        </p:blipFill>
        <p:spPr>
          <a:xfrm>
            <a:off x="822960" y="1463040"/>
            <a:ext cx="10515600" cy="3771900"/>
          </a:xfrm>
          <a:prstGeom prst="rect">
            <a:avLst/>
          </a:prstGeom>
        </p:spPr>
      </p:pic>
      <p:sp>
        <p:nvSpPr>
          <p:cNvPr id="4" name="TextBox 4"/>
          <p:cNvSpPr txBox="1"/>
          <p:nvPr/>
        </p:nvSpPr>
        <p:spPr>
          <a:xfrm>
            <a:off x="822960" y="5372100"/>
            <a:ext cx="10515600" cy="640080"/>
          </a:xfrm>
          <a:prstGeom prst="rect">
            <a:avLst/>
          </a:prstGeom>
          <a:noFill/>
        </p:spPr>
        <p:txBody>
          <a:bodyPr wrap="square" lIns="91440" tIns="91440" rIns="91440" bIns="91440"/>
          <a:lstStyle/>
          <a:p>
            <a:pPr>
              <a:spcAft>
                <a:spcPts val="900"/>
              </a:spcAft>
            </a:pPr>
            <a:r>
              <a:rPr sz="1400" b="1" i="0">
                <a:solidFill>
                  <a:srgbClr val="97BC62"/>
                </a:solidFill>
                <a:latin typeface="Calibri"/>
              </a:rPr>
              <a:t>THE SOWER — THREE WITNESSES:  </a:t>
            </a:r>
            <a:r>
              <a:rPr sz="1800" b="1" i="0">
                <a:solidFill>
                  <a:srgbClr val="2C5F2D"/>
                </a:solidFill>
                <a:latin typeface="Calibri"/>
              </a:rPr>
              <a:t>Mark 4:1–20</a:t>
            </a:r>
            <a:r>
              <a:rPr sz="1800" b="0" i="0">
                <a:solidFill>
                  <a:srgbClr val="222B22"/>
                </a:solidFill>
                <a:latin typeface="Calibri"/>
              </a:rPr>
              <a:t>   ·   Matthew 13:1–23   ·   Luke 8:4–15</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Welcome — the Very-First-Time Orientation</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1">
                <a:solidFill>
                  <a:srgbClr val="222B22"/>
                </a:solidFill>
                <a:latin typeface="Calibri"/>
              </a:rPr>
              <a:t>“I came that they may have life and have it abundantly.”</a:t>
            </a:r>
            <a:r>
              <a:rPr sz="1600" b="1" i="0">
                <a:solidFill>
                  <a:srgbClr val="97BC62"/>
                </a:solidFill>
                <a:latin typeface="Calibri"/>
              </a:rPr>
              <a:t>  — John 10:10</a:t>
            </a:r>
          </a:p>
          <a:p>
            <a:pPr marL="274320" indent="-274320">
              <a:spcAft>
                <a:spcPts val="900"/>
              </a:spcAft>
            </a:pPr>
            <a:r>
              <a:rPr sz="1800" b="1" i="0">
                <a:solidFill>
                  <a:srgbClr val="97BC62"/>
                </a:solidFill>
                <a:latin typeface="Calibri"/>
              </a:rPr>
              <a:t>•  </a:t>
            </a:r>
            <a:r>
              <a:rPr sz="1800" b="0" i="0">
                <a:solidFill>
                  <a:srgbClr val="222B22"/>
                </a:solidFill>
                <a:latin typeface="Calibri"/>
              </a:rPr>
              <a:t>This is a journey of exploration</a:t>
            </a:r>
          </a:p>
          <a:p>
            <a:pPr marL="685800" indent="-274320">
              <a:spcAft>
                <a:spcPts val="700"/>
              </a:spcAft>
            </a:pPr>
            <a:r>
              <a:rPr sz="1600" b="1" i="0">
                <a:solidFill>
                  <a:srgbClr val="97BC62"/>
                </a:solidFill>
                <a:latin typeface="Calibri"/>
              </a:rPr>
              <a:t>–  </a:t>
            </a:r>
            <a:r>
              <a:rPr sz="1600" b="0" i="0">
                <a:solidFill>
                  <a:srgbClr val="222B22"/>
                </a:solidFill>
                <a:latin typeface="Calibri"/>
              </a:rPr>
              <a:t>Your heart</a:t>
            </a:r>
          </a:p>
          <a:p>
            <a:pPr marL="685800" indent="-274320">
              <a:spcAft>
                <a:spcPts val="700"/>
              </a:spcAft>
            </a:pPr>
            <a:r>
              <a:rPr sz="1600" b="1" i="0">
                <a:solidFill>
                  <a:srgbClr val="97BC62"/>
                </a:solidFill>
                <a:latin typeface="Calibri"/>
              </a:rPr>
              <a:t>–  </a:t>
            </a:r>
            <a:r>
              <a:rPr sz="1600" b="0" i="0">
                <a:solidFill>
                  <a:srgbClr val="222B22"/>
                </a:solidFill>
                <a:latin typeface="Calibri"/>
              </a:rPr>
              <a:t>This process — the plans, practices, and pages live at </a:t>
            </a:r>
            <a:r>
              <a:rPr sz="1600" b="0" i="0" u="sng">
                <a:solidFill>
                  <a:srgbClr val="2C5F2D"/>
                </a:solidFill>
                <a:latin typeface="Calibri"/>
                <a:hlinkClick xmlns:r="http://schemas.openxmlformats.org/officeDocument/2006/relationships" r:id="rId2"/>
              </a:rPr>
              <a:t>the Fellowship of the Heart website</a:t>
            </a:r>
          </a:p>
          <a:p>
            <a:pPr marL="685800" indent="-274320">
              <a:spcAft>
                <a:spcPts val="700"/>
              </a:spcAft>
            </a:pPr>
            <a:r>
              <a:rPr sz="1600" b="1" i="0">
                <a:solidFill>
                  <a:srgbClr val="97BC62"/>
                </a:solidFill>
                <a:latin typeface="Calibri"/>
              </a:rPr>
              <a:t>–  </a:t>
            </a:r>
            <a:r>
              <a:rPr sz="1600" b="0" i="0">
                <a:solidFill>
                  <a:srgbClr val="222B22"/>
                </a:solidFill>
                <a:latin typeface="Calibri"/>
              </a:rPr>
              <a:t>This group</a:t>
            </a:r>
          </a:p>
          <a:p>
            <a:pPr marL="274320" indent="-274320">
              <a:spcAft>
                <a:spcPts val="900"/>
              </a:spcAft>
            </a:pPr>
            <a:r>
              <a:rPr sz="1800" b="1" i="0">
                <a:solidFill>
                  <a:srgbClr val="97BC62"/>
                </a:solidFill>
                <a:latin typeface="Calibri"/>
              </a:rPr>
              <a:t>•  </a:t>
            </a:r>
            <a:r>
              <a:rPr sz="1800" b="0" i="0">
                <a:solidFill>
                  <a:srgbClr val="222B22"/>
                </a:solidFill>
                <a:latin typeface="Calibri"/>
              </a:rPr>
              <a:t>This is not a youth group</a:t>
            </a:r>
          </a:p>
          <a:p>
            <a:pPr marL="274320" indent="-274320">
              <a:spcAft>
                <a:spcPts val="900"/>
              </a:spcAft>
            </a:pPr>
            <a:r>
              <a:rPr sz="1800" b="1" i="0">
                <a:solidFill>
                  <a:srgbClr val="97BC62"/>
                </a:solidFill>
                <a:latin typeface="Calibri"/>
              </a:rPr>
              <a:t>•  </a:t>
            </a:r>
            <a:r>
              <a:rPr sz="1800" b="0" i="0">
                <a:solidFill>
                  <a:srgbClr val="222B22"/>
                </a:solidFill>
                <a:latin typeface="Calibri"/>
              </a:rPr>
              <a:t>It is family formation and growth in Christ</a:t>
            </a:r>
          </a:p>
          <a:p>
            <a:pPr marL="274320" indent="-274320">
              <a:spcAft>
                <a:spcPts val="900"/>
              </a:spcAft>
            </a:pPr>
            <a:r>
              <a:rPr sz="1800" b="1" i="0">
                <a:solidFill>
                  <a:srgbClr val="97BC62"/>
                </a:solidFill>
                <a:latin typeface="Calibri"/>
              </a:rPr>
              <a:t>•  </a:t>
            </a:r>
            <a:r>
              <a:rPr sz="1800" b="0" i="0">
                <a:solidFill>
                  <a:srgbClr val="222B22"/>
                </a:solidFill>
                <a:latin typeface="Calibri"/>
              </a:rPr>
              <a:t>An offer of leadership opportunity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0" name="Picture 30" descr="forest trail at sunrise"/>
          <p:cNvPicPr>
            <a:picLocks noChangeAspect="1"/>
          </p:cNvPicPr>
          <p:nvPr/>
        </p:nvPicPr>
        <p:blipFill>
          <a:blip r:embed="rId3"/>
          <a:stretch>
            <a:fillRect/>
          </a:stretch>
        </p:blipFill>
        <p:spPr>
          <a:xfrm>
            <a:off x="7635240" y="2377440"/>
            <a:ext cx="3977639" cy="2652588"/>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Full Eight Steps</a:t>
            </a:r>
          </a:p>
        </p:txBody>
      </p:sp>
      <p:sp>
        <p:nvSpPr>
          <p:cNvPr id="4" name="TextBox 4"/>
          <p:cNvSpPr txBox="1"/>
          <p:nvPr/>
        </p:nvSpPr>
        <p:spPr>
          <a:xfrm>
            <a:off x="822960" y="1554480"/>
            <a:ext cx="10515600" cy="4754880"/>
          </a:xfrm>
          <a:prstGeom prst="rect">
            <a:avLst/>
          </a:prstGeom>
          <a:noFill/>
        </p:spPr>
        <p:txBody>
          <a:bodyPr wrap="square" lIns="91440" tIns="91440" rIns="91440" bIns="91440"/>
          <a:lstStyle/>
          <a:p>
            <a:pPr marL="342900" indent="-342900">
              <a:spcAft>
                <a:spcPts val="750"/>
              </a:spcAft>
            </a:pPr>
            <a:r>
              <a:rPr sz="1700" b="1" i="0">
                <a:solidFill>
                  <a:srgbClr val="97BC62"/>
                </a:solidFill>
                <a:latin typeface="Calibri"/>
              </a:rPr>
              <a:t>1   </a:t>
            </a:r>
            <a:r>
              <a:rPr sz="1700" b="0" i="0">
                <a:solidFill>
                  <a:srgbClr val="222B22"/>
                </a:solidFill>
                <a:latin typeface="Calibri"/>
              </a:rPr>
              <a:t>Welcome — five minutes to open the container</a:t>
            </a:r>
          </a:p>
          <a:p>
            <a:pPr marL="342900" indent="-342900">
              <a:spcAft>
                <a:spcPts val="750"/>
              </a:spcAft>
            </a:pPr>
            <a:r>
              <a:rPr sz="1700" b="1" i="0">
                <a:solidFill>
                  <a:srgbClr val="97BC62"/>
                </a:solidFill>
                <a:latin typeface="Calibri"/>
              </a:rPr>
              <a:t>2   </a:t>
            </a:r>
            <a:r>
              <a:rPr sz="1700" b="0" i="0">
                <a:solidFill>
                  <a:srgbClr val="222B22"/>
                </a:solidFill>
                <a:latin typeface="Calibri"/>
              </a:rPr>
              <a:t>Phones silenced and put away</a:t>
            </a:r>
          </a:p>
          <a:p>
            <a:pPr marL="342900" indent="-342900">
              <a:spcAft>
                <a:spcPts val="750"/>
              </a:spcAft>
            </a:pPr>
            <a:r>
              <a:rPr sz="1700" b="1" i="0">
                <a:solidFill>
                  <a:srgbClr val="97BC62"/>
                </a:solidFill>
                <a:latin typeface="Calibri"/>
              </a:rPr>
              <a:t>3   </a:t>
            </a:r>
            <a:r>
              <a:rPr sz="1700" b="0" i="0">
                <a:solidFill>
                  <a:srgbClr val="222B22"/>
                </a:solidFill>
                <a:latin typeface="Calibri"/>
              </a:rPr>
              <a:t>Stand in a circle</a:t>
            </a:r>
          </a:p>
          <a:p>
            <a:pPr marL="342900" indent="-342900">
              <a:spcAft>
                <a:spcPts val="750"/>
              </a:spcAft>
            </a:pPr>
            <a:r>
              <a:rPr sz="1700" b="1" i="0">
                <a:solidFill>
                  <a:srgbClr val="97BC62"/>
                </a:solidFill>
                <a:latin typeface="Calibri"/>
              </a:rPr>
              <a:t>4   </a:t>
            </a:r>
            <a:r>
              <a:rPr sz="1700" b="0" i="0">
                <a:solidFill>
                  <a:srgbClr val="222B22"/>
                </a:solidFill>
                <a:latin typeface="Calibri"/>
              </a:rPr>
              <a:t>One-word check-in — how you actually are, right now</a:t>
            </a:r>
          </a:p>
          <a:p>
            <a:pPr marL="342900" indent="-342900">
              <a:spcAft>
                <a:spcPts val="750"/>
              </a:spcAft>
            </a:pPr>
            <a:r>
              <a:rPr sz="1700" b="1" i="0">
                <a:solidFill>
                  <a:srgbClr val="97BC62"/>
                </a:solidFill>
                <a:latin typeface="Calibri"/>
              </a:rPr>
              <a:t>5   </a:t>
            </a:r>
            <a:r>
              <a:rPr sz="1700" b="0" i="0">
                <a:solidFill>
                  <a:srgbClr val="222B22"/>
                </a:solidFill>
                <a:latin typeface="Calibri"/>
              </a:rPr>
              <a:t>Put out / bring in — set something down; bring a blessing in</a:t>
            </a:r>
          </a:p>
          <a:p>
            <a:pPr marL="342900" indent="-342900">
              <a:spcAft>
                <a:spcPts val="750"/>
              </a:spcAft>
            </a:pPr>
            <a:r>
              <a:rPr sz="1700" b="1" i="0">
                <a:solidFill>
                  <a:srgbClr val="97BC62"/>
                </a:solidFill>
                <a:latin typeface="Calibri"/>
              </a:rPr>
              <a:t>6   </a:t>
            </a:r>
            <a:r>
              <a:rPr sz="1700" b="0" i="0">
                <a:solidFill>
                  <a:srgbClr val="222B22"/>
                </a:solidFill>
                <a:latin typeface="Calibri"/>
              </a:rPr>
              <a:t>Spoken commitment: “I am here. I am paying attention. I am willing to be moved.”</a:t>
            </a:r>
          </a:p>
          <a:p>
            <a:pPr marL="342900" indent="-342900">
              <a:spcAft>
                <a:spcPts val="750"/>
              </a:spcAft>
            </a:pPr>
            <a:r>
              <a:rPr sz="1700" b="1" i="0">
                <a:solidFill>
                  <a:srgbClr val="97BC62"/>
                </a:solidFill>
                <a:latin typeface="Calibri"/>
              </a:rPr>
              <a:t>7   </a:t>
            </a:r>
            <a:r>
              <a:rPr sz="1700" b="0" i="0">
                <a:solidFill>
                  <a:srgbClr val="222B22"/>
                </a:solidFill>
                <a:latin typeface="Calibri"/>
              </a:rPr>
              <a:t>Opening prayer — “Holy Spirit, you are welcome here. Speak. We are listening.”</a:t>
            </a:r>
          </a:p>
          <a:p>
            <a:pPr marL="342900" indent="-342900">
              <a:spcAft>
                <a:spcPts val="750"/>
              </a:spcAft>
            </a:pPr>
            <a:r>
              <a:rPr sz="1700" b="1" i="0">
                <a:solidFill>
                  <a:srgbClr val="97BC62"/>
                </a:solidFill>
                <a:latin typeface="Calibri"/>
              </a:rPr>
              <a:t>8   </a:t>
            </a:r>
            <a:r>
              <a:rPr sz="17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Check-In on Week 1 Practice</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One quick round, one sentence each — a parent starts</a:t>
            </a:r>
          </a:p>
          <a:p>
            <a:pPr marL="685800" indent="-274320">
              <a:spcAft>
                <a:spcPts val="700"/>
              </a:spcAft>
            </a:pPr>
            <a:r>
              <a:rPr sz="1600" b="1" i="0">
                <a:solidFill>
                  <a:srgbClr val="97BC62"/>
                </a:solidFill>
                <a:latin typeface="Calibri"/>
              </a:rPr>
              <a:t>–  </a:t>
            </a:r>
            <a:r>
              <a:rPr sz="1600" b="0" i="1">
                <a:solidFill>
                  <a:srgbClr val="222B22"/>
                </a:solidFill>
                <a:latin typeface="Calibri"/>
              </a:rPr>
              <a:t>“One thing I noticed this week when I asked the morning question …”</a:t>
            </a:r>
          </a:p>
          <a:p>
            <a:pPr marL="685800" indent="-274320">
              <a:spcAft>
                <a:spcPts val="700"/>
              </a:spcAft>
            </a:pPr>
            <a:r>
              <a:rPr sz="1600" b="1" i="0">
                <a:solidFill>
                  <a:srgbClr val="97BC62"/>
                </a:solidFill>
                <a:latin typeface="Calibri"/>
              </a:rPr>
              <a:t>–  </a:t>
            </a:r>
            <a:r>
              <a:rPr sz="1600" b="0" i="0">
                <a:solidFill>
                  <a:srgbClr val="222B22"/>
                </a:solidFill>
                <a:latin typeface="Calibri"/>
              </a:rPr>
              <a:t>Or one thing about the practice itself — “I forgot it three days running” is a real answer</a:t>
            </a:r>
          </a:p>
          <a:p>
            <a:pPr marL="274320" indent="-274320">
              <a:spcAft>
                <a:spcPts val="900"/>
              </a:spcAft>
            </a:pPr>
            <a:r>
              <a:rPr sz="1800" b="1" i="0">
                <a:solidFill>
                  <a:srgbClr val="97BC62"/>
                </a:solidFill>
                <a:latin typeface="Calibri"/>
              </a:rPr>
              <a:t>•  </a:t>
            </a:r>
            <a:r>
              <a:rPr sz="1800" b="0" i="0">
                <a:solidFill>
                  <a:srgbClr val="222B22"/>
                </a:solidFill>
                <a:latin typeface="Calibri"/>
              </a:rPr>
              <a:t>No grades, no lectures — honesty over performance</a:t>
            </a:r>
          </a:p>
          <a:p>
            <a:pPr marL="274320" indent="-274320">
              <a:spcAft>
                <a:spcPts val="900"/>
              </a:spcAft>
            </a:pPr>
            <a:r>
              <a:rPr sz="1800" b="1" i="0">
                <a:solidFill>
                  <a:srgbClr val="97BC62"/>
                </a:solidFill>
                <a:latin typeface="Calibri"/>
              </a:rPr>
              <a:t>•  </a:t>
            </a:r>
            <a:r>
              <a:rPr sz="1800" b="0" i="0">
                <a:solidFill>
                  <a:srgbClr val="222B22"/>
                </a:solidFill>
                <a:latin typeface="Calibri"/>
              </a:rPr>
              <a:t>Missed it? “Thanks for the honesty. Pick it back up tomorrow.”</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2" name="Picture 32" descr="trail cairn - the weekly check-in"/>
          <p:cNvPicPr>
            <a:picLocks noChangeAspect="1"/>
          </p:cNvPicPr>
          <p:nvPr/>
        </p:nvPicPr>
        <p:blipFill>
          <a:blip r:embed="rId2"/>
          <a:stretch>
            <a:fillRect/>
          </a:stretch>
        </p:blipFill>
        <p:spPr>
          <a:xfrm>
            <a:off x="8103612" y="1463040"/>
            <a:ext cx="3262379" cy="4892040"/>
          </a:xfrm>
          <a:prstGeom prst="rect">
            <a:avLst/>
          </a:prstGeom>
        </p:spPr>
      </p:pic>
      <p:sp>
        <p:nvSpPr>
          <p:cNvPr id="91" name="JoshuaCard"/>
          <p:cNvSpPr txBox="1"/>
          <p:nvPr/>
        </p:nvSpPr>
        <p:spPr>
          <a:xfrm>
            <a:off x="822960" y="5230368"/>
            <a:ext cx="6675120" cy="1078992"/>
          </a:xfrm>
          <a:prstGeom prst="rect">
            <a:avLst/>
          </a:prstGeom>
          <a:solidFill>
            <a:srgbClr val="F1F6EC"/>
          </a:solidFill>
        </p:spPr>
        <p:txBody>
          <a:bodyPr wrap="square" lIns="137160" tIns="73152" rIns="137160" bIns="73152" anchor="ctr"/>
          <a:lstStyle/>
          <a:p>
            <a:pPr algn="l"/>
            <a:r>
              <a:rPr lang="en-US" sz="1500" i="1">
                <a:solidFill>
                  <a:srgbClr val="222B22"/>
                </a:solidFill>
                <a:latin typeface="Cambria"/>
              </a:rPr>
              <a:t>“When your children ask their fathers in times to come, ‘What do these stones mean?’”</a:t>
            </a:r>
          </a:p>
          <a:p>
            <a:pPr algn="l"/>
            <a:r>
              <a:rPr lang="en-US" sz="1100" b="1">
                <a:solidFill>
                  <a:srgbClr val="97BC62"/>
                </a:solidFill>
                <a:latin typeface="Calibri"/>
              </a:rPr>
              <a:t>— JOSHUA 4:21 (ESV)</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Teaching — Mark 4 and the Four Soils</a:t>
            </a:r>
          </a:p>
        </p:txBody>
      </p:sp>
      <p:pic>
        <p:nvPicPr>
          <p:cNvPr id="5" name="Picture 4" descr="four soils diagram"/>
          <p:cNvPicPr>
            <a:picLocks noChangeAspect="1"/>
          </p:cNvPicPr>
          <p:nvPr/>
        </p:nvPicPr>
        <p:blipFill>
          <a:blip r:embed="rId2"/>
          <a:stretch>
            <a:fillRect/>
          </a:stretch>
        </p:blipFill>
        <p:spPr>
          <a:xfrm>
            <a:off x="822960" y="1737360"/>
            <a:ext cx="10515600" cy="3771900"/>
          </a:xfrm>
          <a:prstGeom prst="rect">
            <a:avLst/>
          </a:prstGeom>
        </p:spPr>
      </p:pic>
      <p:sp>
        <p:nvSpPr>
          <p:cNvPr id="4" name="TextBox 4"/>
          <p:cNvSpPr txBox="1"/>
          <p:nvPr/>
        </p:nvSpPr>
        <p:spPr>
          <a:xfrm>
            <a:off x="822960" y="5623560"/>
            <a:ext cx="10515600" cy="640080"/>
          </a:xfrm>
          <a:prstGeom prst="rect">
            <a:avLst/>
          </a:prstGeom>
          <a:noFill/>
        </p:spPr>
        <p:txBody>
          <a:bodyPr wrap="square" lIns="91440" tIns="91440" rIns="91440" bIns="91440"/>
          <a:lstStyle/>
          <a:p>
            <a:pPr>
              <a:spcAft>
                <a:spcPts val="900"/>
              </a:spcAft>
            </a:pPr>
            <a:r>
              <a:rPr sz="1500" b="0" i="0">
                <a:solidFill>
                  <a:srgbClr val="222B22"/>
                </a:solidFill>
                <a:latin typeface="Calibri"/>
              </a:rPr>
              <a:t>Read Mark 4:1–20 in full, slowly — all twenty verses, no commentary. </a:t>
            </a:r>
            <a:r>
              <a:rPr sz="1500" b="1" i="0">
                <a:solidFill>
                  <a:srgbClr val="222B22"/>
                </a:solidFill>
                <a:latin typeface="Calibri"/>
              </a:rPr>
              <a:t>Then walk the four soils.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Family Clusters — the Heart Soil Diagnostic</a:t>
            </a:r>
          </a:p>
        </p:txBody>
      </p:sp>
      <p:sp>
        <p:nvSpPr>
          <p:cNvPr id="4" name="TextBox 4"/>
          <p:cNvSpPr txBox="1"/>
          <p:nvPr/>
        </p:nvSpPr>
        <p:spPr>
          <a:xfrm>
            <a:off x="822960" y="1508760"/>
            <a:ext cx="6675120" cy="4937760"/>
          </a:xfrm>
          <a:prstGeom prst="rect">
            <a:avLst/>
          </a:prstGeom>
          <a:noFill/>
        </p:spPr>
        <p:txBody>
          <a:bodyPr wrap="square" lIns="91440" tIns="91440" rIns="91440" bIns="91440"/>
          <a:lstStyle/>
          <a:p>
            <a:pPr marL="274320" indent="-274320">
              <a:spcAft>
                <a:spcPts val="800"/>
              </a:spcAft>
            </a:pPr>
            <a:r>
              <a:rPr sz="1800" b="1" i="0">
                <a:solidFill>
                  <a:srgbClr val="97BC62"/>
                </a:solidFill>
                <a:latin typeface="Calibri"/>
              </a:rPr>
              <a:t>•  </a:t>
            </a:r>
            <a:r>
              <a:rPr sz="1600" b="0" i="0">
                <a:solidFill>
                  <a:srgbClr val="222B22"/>
                </a:solidFill>
                <a:latin typeface="Calibri"/>
              </a:rPr>
              <a:t>Not </a:t>
            </a:r>
            <a:r>
              <a:rPr sz="1600" b="0" i="1">
                <a:solidFill>
                  <a:srgbClr val="222B22"/>
                </a:solidFill>
                <a:latin typeface="Calibri"/>
              </a:rPr>
              <a:t>“which soil am I?”</a:t>
            </a:r>
            <a:r>
              <a:rPr sz="1600" b="0" i="0">
                <a:solidFill>
                  <a:srgbClr val="222B22"/>
                </a:solidFill>
                <a:latin typeface="Calibri"/>
              </a:rPr>
              <a:t> — where does each soil show up in my life right now? Specifically.</a:t>
            </a:r>
          </a:p>
          <a:p>
            <a:pPr marL="342900" indent="-342900">
              <a:spcAft>
                <a:spcPts val="650"/>
              </a:spcAft>
            </a:pPr>
            <a:r>
              <a:rPr sz="1600" b="1" i="0">
                <a:solidFill>
                  <a:srgbClr val="97BC62"/>
                </a:solidFill>
                <a:latin typeface="Calibri"/>
              </a:rPr>
              <a:t>1   </a:t>
            </a:r>
            <a:r>
              <a:rPr sz="1600" b="0" i="0">
                <a:solidFill>
                  <a:srgbClr val="222B22"/>
                </a:solidFill>
                <a:latin typeface="Calibri"/>
              </a:rPr>
              <a:t>Path — where is the ground hard right now? One specific place, this week</a:t>
            </a:r>
          </a:p>
          <a:p>
            <a:pPr marL="342900" indent="-342900">
              <a:spcAft>
                <a:spcPts val="650"/>
              </a:spcAft>
            </a:pPr>
            <a:r>
              <a:rPr sz="1600" b="1" i="0">
                <a:solidFill>
                  <a:srgbClr val="97BC62"/>
                </a:solidFill>
                <a:latin typeface="Calibri"/>
              </a:rPr>
              <a:t>2   </a:t>
            </a:r>
            <a:r>
              <a:rPr sz="1600" b="0" i="0">
                <a:solidFill>
                  <a:srgbClr val="222B22"/>
                </a:solidFill>
                <a:latin typeface="Calibri"/>
              </a:rPr>
              <a:t>Rocky — where has a season with God not lasted? What sun revealed the missing roots?</a:t>
            </a:r>
          </a:p>
          <a:p>
            <a:pPr marL="342900" indent="-342900">
              <a:spcAft>
                <a:spcPts val="650"/>
              </a:spcAft>
            </a:pPr>
            <a:r>
              <a:rPr sz="1600" b="1" i="0">
                <a:solidFill>
                  <a:srgbClr val="97BC62"/>
                </a:solidFill>
                <a:latin typeface="Calibri"/>
              </a:rPr>
              <a:t>3   </a:t>
            </a:r>
            <a:r>
              <a:rPr sz="1600" b="0" i="0">
                <a:solidFill>
                  <a:srgbClr val="222B22"/>
                </a:solidFill>
                <a:latin typeface="Calibri"/>
              </a:rPr>
              <a:t>Thorny — what is choking me right now: cares, riches, other desires? Which is loudest?</a:t>
            </a:r>
          </a:p>
          <a:p>
            <a:pPr marL="342900" indent="-342900">
              <a:spcAft>
                <a:spcPts val="650"/>
              </a:spcAft>
            </a:pPr>
            <a:r>
              <a:rPr sz="1600" b="1" i="0">
                <a:solidFill>
                  <a:srgbClr val="97BC62"/>
                </a:solidFill>
                <a:latin typeface="Calibri"/>
              </a:rPr>
              <a:t>4   </a:t>
            </a:r>
            <a:r>
              <a:rPr sz="1600" b="0" i="0">
                <a:solidFill>
                  <a:srgbClr val="222B22"/>
                </a:solidFill>
                <a:latin typeface="Calibri"/>
              </a:rPr>
              <a:t>Good — where has something God planted actually grown? Name one real piece of fruit</a:t>
            </a:r>
          </a:p>
          <a:p>
            <a:pPr marL="274320" indent="-274320">
              <a:spcAft>
                <a:spcPts val="650"/>
              </a:spcAft>
            </a:pPr>
            <a:r>
              <a:rPr sz="1600" b="1" i="0">
                <a:solidFill>
                  <a:srgbClr val="97BC62"/>
                </a:solidFill>
                <a:latin typeface="Calibri"/>
              </a:rPr>
              <a:t>•  </a:t>
            </a:r>
            <a:r>
              <a:rPr sz="1600" b="0" i="0">
                <a:solidFill>
                  <a:srgbClr val="222B22"/>
                </a:solidFill>
                <a:latin typeface="Calibri"/>
              </a:rPr>
              <a:t>Journal two minutes, then share — a parent answers first, every round</a:t>
            </a:r>
          </a:p>
          <a:p>
            <a:pPr marL="274320" indent="-274320">
              <a:spcAft>
                <a:spcPts val="650"/>
              </a:spcAft>
            </a:pPr>
            <a:r>
              <a:rPr sz="1600" b="1" i="0">
                <a:solidFill>
                  <a:srgbClr val="97BC62"/>
                </a:solidFill>
                <a:latin typeface="Calibri"/>
              </a:rPr>
              <a:t>•  </a:t>
            </a:r>
            <a:r>
              <a:rPr sz="1600" b="0" i="0">
                <a:solidFill>
                  <a:srgbClr val="222B22"/>
                </a:solidFill>
                <a:latin typeface="Calibri"/>
              </a:rPr>
              <a:t>“I’d rather not share that one” is a complete answer — a gift, not ammunition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0" name="Picture 30" descr="hands examining soil and seed"/>
          <p:cNvPicPr>
            <a:picLocks noChangeAspect="1"/>
          </p:cNvPicPr>
          <p:nvPr/>
        </p:nvPicPr>
        <p:blipFill>
          <a:blip r:embed="rId2"/>
          <a:stretch>
            <a:fillRect/>
          </a:stretch>
        </p:blipFill>
        <p:spPr>
          <a:xfrm>
            <a:off x="7818120" y="1463040"/>
            <a:ext cx="3264408" cy="489204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Re-Merge — One Word, Then the Verse</a:t>
            </a:r>
          </a:p>
        </p:txBody>
      </p:sp>
      <p:sp>
        <p:nvSpPr>
          <p:cNvPr id="4" name="TextBox 4"/>
          <p:cNvSpPr txBox="1"/>
          <p:nvPr/>
        </p:nvSpPr>
        <p:spPr>
          <a:xfrm>
            <a:off x="822960" y="1600200"/>
            <a:ext cx="5669280" cy="402336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What surfaced stays in your cluster — here, just one word from each of us</a:t>
            </a:r>
          </a:p>
          <a:p>
            <a:pPr marL="274320" indent="-274320">
              <a:spcAft>
                <a:spcPts val="800"/>
              </a:spcAft>
            </a:pPr>
            <a:r>
              <a:rPr sz="1600" b="1" i="0">
                <a:solidFill>
                  <a:srgbClr val="97BC62"/>
                </a:solidFill>
                <a:latin typeface="Calibri"/>
              </a:rPr>
              <a:t>•  </a:t>
            </a:r>
            <a:r>
              <a:rPr sz="1600" b="0" i="0">
                <a:solidFill>
                  <a:srgbClr val="222B22"/>
                </a:solidFill>
                <a:latin typeface="Calibri"/>
              </a:rPr>
              <a:t>Then the verse Jesus ends with, read slowly — listen for the word that lands</a:t>
            </a:r>
          </a:p>
          <a:p>
            <a:pPr marL="274320" indent="-274320">
              <a:spcAft>
                <a:spcPts val="800"/>
              </a:spcAft>
            </a:pPr>
            <a:r>
              <a:rPr sz="1600" b="1" i="0">
                <a:solidFill>
                  <a:srgbClr val="97BC62"/>
                </a:solidFill>
                <a:latin typeface="Calibri"/>
              </a:rPr>
              <a:t>•  </a:t>
            </a:r>
            <a:r>
              <a:rPr sz="1600" b="0" i="0">
                <a:solidFill>
                  <a:srgbClr val="222B22"/>
                </a:solidFill>
                <a:latin typeface="Calibri"/>
              </a:rPr>
              <a:t>Noticing rocks and thorns is not the opposite of good soil — it is what good soil does</a:t>
            </a:r>
          </a:p>
        </p:txBody>
      </p:sp>
      <p:sp>
        <p:nvSpPr>
          <p:cNvPr id="6" name="TextBox 6"/>
          <p:cNvSpPr txBox="1"/>
          <p:nvPr/>
        </p:nvSpPr>
        <p:spPr>
          <a:xfrm>
            <a:off x="6766560" y="1737360"/>
            <a:ext cx="4663440" cy="3291840"/>
          </a:xfrm>
          <a:prstGeom prst="rect">
            <a:avLst/>
          </a:prstGeom>
          <a:solidFill>
            <a:srgbClr val="F1F6EC"/>
          </a:solidFill>
        </p:spPr>
        <p:txBody>
          <a:bodyPr wrap="square" lIns="91440" tIns="91440" rIns="91440" bIns="91440" anchor="ctr"/>
          <a:lstStyle/>
          <a:p>
            <a:pPr>
              <a:spcAft>
                <a:spcPts val="1000"/>
              </a:spcAft>
            </a:pPr>
            <a:r>
              <a:rPr sz="1200" b="1" i="0">
                <a:solidFill>
                  <a:srgbClr val="97BC62"/>
                </a:solidFill>
                <a:latin typeface="Calibri"/>
              </a:rPr>
              <a:t>MARK 4:20</a:t>
            </a:r>
          </a:p>
          <a:p>
            <a:pPr>
              <a:spcAft>
                <a:spcPts val="600"/>
              </a:spcAft>
            </a:pPr>
            <a:r>
              <a:rPr sz="1700" b="0" i="1">
                <a:solidFill>
                  <a:srgbClr val="222B22"/>
                </a:solidFill>
                <a:latin typeface="Cambria"/>
              </a:rPr>
              <a:t>“But those that were sown on the good soil are the ones who hear the word and accept it and bear fruit, thirtyfold and sixtyfold and a hundredfold.”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0" name="Picture 30" descr="a single apple on the branch"/>
          <p:cNvPicPr>
            <a:picLocks noChangeAspect="1"/>
          </p:cNvPicPr>
          <p:nvPr/>
        </p:nvPicPr>
        <p:blipFill>
          <a:blip r:embed="rId2"/>
          <a:stretch>
            <a:fillRect/>
          </a:stretch>
        </p:blipFill>
        <p:spPr>
          <a:xfrm>
            <a:off x="822960" y="4160520"/>
            <a:ext cx="4206240" cy="2368296"/>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Between-Week Practice</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Soil Journal — three times this week, five minutes each. Not every day; three times.</a:t>
            </a:r>
          </a:p>
          <a:p>
            <a:pPr marL="685800" indent="-274320">
              <a:spcAft>
                <a:spcPts val="700"/>
              </a:spcAft>
            </a:pPr>
            <a:r>
              <a:rPr sz="1600" b="1" i="0">
                <a:solidFill>
                  <a:srgbClr val="97BC62"/>
                </a:solidFill>
                <a:latin typeface="Calibri"/>
              </a:rPr>
              <a:t>–  </a:t>
            </a:r>
            <a:r>
              <a:rPr sz="1600" b="0" i="1">
                <a:solidFill>
                  <a:srgbClr val="222B22"/>
                </a:solidFill>
                <a:latin typeface="Calibri"/>
              </a:rPr>
              <a:t>Today, where did the path show up? The rocky? The thorny? The good soil?</a:t>
            </a:r>
          </a:p>
          <a:p>
            <a:pPr marL="685800" indent="-274320">
              <a:spcAft>
                <a:spcPts val="700"/>
              </a:spcAft>
            </a:pPr>
            <a:r>
              <a:rPr sz="1600" b="1" i="0">
                <a:solidFill>
                  <a:srgbClr val="97BC62"/>
                </a:solidFill>
                <a:latin typeface="Calibri"/>
              </a:rPr>
              <a:t>–  </a:t>
            </a:r>
            <a:r>
              <a:rPr sz="1600" b="0" i="0">
                <a:solidFill>
                  <a:srgbClr val="222B22"/>
                </a:solidFill>
                <a:latin typeface="Calibri"/>
              </a:rPr>
              <a:t>One sentence per soil. Specific, not general.</a:t>
            </a:r>
          </a:p>
          <a:p>
            <a:pPr marL="274320" indent="-274320">
              <a:spcAft>
                <a:spcPts val="900"/>
              </a:spcAft>
            </a:pPr>
            <a:r>
              <a:rPr sz="1800" b="1" i="0">
                <a:solidFill>
                  <a:srgbClr val="97BC62"/>
                </a:solidFill>
                <a:latin typeface="Calibri"/>
              </a:rPr>
              <a:t>•  </a:t>
            </a:r>
            <a:r>
              <a:rPr sz="1800" b="0" i="0">
                <a:solidFill>
                  <a:srgbClr val="222B22"/>
                </a:solidFill>
                <a:latin typeface="Calibri"/>
              </a:rPr>
              <a:t>No fixing. We notice; the Spirit fixes.</a:t>
            </a:r>
          </a:p>
          <a:p>
            <a:pPr marL="274320" indent="-274320">
              <a:spcAft>
                <a:spcPts val="900"/>
              </a:spcAft>
            </a:pPr>
            <a:r>
              <a:rPr sz="1800" b="1" i="0">
                <a:solidFill>
                  <a:srgbClr val="97BC62"/>
                </a:solidFill>
                <a:latin typeface="Calibri"/>
              </a:rPr>
              <a:t>•  </a:t>
            </a:r>
            <a:r>
              <a:rPr sz="1800" b="0" i="0">
                <a:solidFill>
                  <a:srgbClr val="222B22"/>
                </a:solidFill>
                <a:latin typeface="Calibri"/>
              </a:rPr>
              <a:t>Keep the morning question going too: </a:t>
            </a:r>
            <a:r>
              <a:rPr sz="1800" b="0" i="1">
                <a:solidFill>
                  <a:srgbClr val="222B22"/>
                </a:solidFill>
                <a:latin typeface="Calibri"/>
              </a:rPr>
              <a:t>“Father, what are you up to today?”</a:t>
            </a:r>
            <a:r>
              <a:rPr sz="1800" b="0" i="0">
                <a:solidFill>
                  <a:srgbClr val="222B22"/>
                </a:solidFill>
                <a:latin typeface="Calibri"/>
              </a:rPr>
              <a:t> The practices stack.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0" name="Picture 30" descr="sprouts emerging from dark soil"/>
          <p:cNvPicPr>
            <a:picLocks noChangeAspect="1"/>
          </p:cNvPicPr>
          <p:nvPr/>
        </p:nvPicPr>
        <p:blipFill>
          <a:blip r:embed="rId2"/>
          <a:stretch>
            <a:fillRect/>
          </a:stretch>
        </p:blipFill>
        <p:spPr>
          <a:xfrm>
            <a:off x="7818120" y="1463040"/>
            <a:ext cx="3264408" cy="489204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20624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8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3657600"/>
          </a:xfrm>
          <a:prstGeom prst="rect">
            <a:avLst/>
          </a:prstGeom>
          <a:solidFill>
            <a:srgbClr val="F1F6EC"/>
          </a:solidFill>
        </p:spPr>
        <p:txBody>
          <a:bodyPr wrap="square" lIns="91440" tIns="91440" rIns="91440" bIns="91440" anchor="ctr"/>
          <a:lstStyle/>
          <a:p>
            <a:pPr>
              <a:spcAft>
                <a:spcPts val="1000"/>
              </a:spcAft>
            </a:pPr>
            <a:r>
              <a:rPr sz="1200" b="1" i="0">
                <a:solidFill>
                  <a:srgbClr val="97BC62"/>
                </a:solidFill>
                <a:latin typeface="Calibri"/>
              </a:rPr>
              <a:t>THE AARONIC BLESSING — NUMBERS 6:24–26</a:t>
            </a:r>
          </a:p>
          <a:p>
            <a:pPr>
              <a:spcAft>
                <a:spcPts val="700"/>
              </a:spcAft>
            </a:pPr>
            <a:r>
              <a:rPr sz="1800" b="0" i="1">
                <a:solidFill>
                  <a:srgbClr val="222B22"/>
                </a:solidFill>
                <a:latin typeface="Cambria"/>
              </a:rPr>
              <a:t>“The Lord bless you and keep you;</a:t>
            </a:r>
          </a:p>
          <a:p>
            <a:pPr>
              <a:spcAft>
                <a:spcPts val="700"/>
              </a:spcAft>
            </a:pPr>
            <a:r>
              <a:rPr sz="1800" b="0" i="1">
                <a:solidFill>
                  <a:srgbClr val="222B22"/>
                </a:solidFill>
                <a:latin typeface="Cambria"/>
              </a:rPr>
              <a:t>the Lord make his face to shine upon you, and be gracious to you;</a:t>
            </a:r>
          </a:p>
          <a:p>
            <a:pPr>
              <a:spcAft>
                <a:spcPts val="700"/>
              </a:spcAft>
            </a:pPr>
            <a:r>
              <a:rPr sz="18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2 Check-In — Heart Soil</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“Some of you journaled this week. Some of you didn’t. Both are fine.”</a:t>
            </a:r>
          </a:p>
          <a:p>
            <a:pPr marL="274320" indent="-274320">
              <a:spcAft>
                <a:spcPts val="900"/>
              </a:spcAft>
            </a:pPr>
            <a:r>
              <a:rPr sz="1800" b="1" i="0">
                <a:solidFill>
                  <a:srgbClr val="97BC62"/>
                </a:solidFill>
                <a:latin typeface="Calibri"/>
              </a:rPr>
              <a:t>•  </a:t>
            </a:r>
            <a:r>
              <a:rPr sz="1800" b="0" i="0">
                <a:solidFill>
                  <a:srgbClr val="222B22"/>
                </a:solidFill>
                <a:latin typeface="Calibri"/>
              </a:rPr>
              <a:t>One sentence about what showed up — optional, no pressure</a:t>
            </a:r>
          </a:p>
          <a:p>
            <a:pPr marL="685800" indent="-274320">
              <a:spcAft>
                <a:spcPts val="700"/>
              </a:spcAft>
            </a:pPr>
            <a:r>
              <a:rPr sz="1600" b="1" i="0">
                <a:solidFill>
                  <a:srgbClr val="97BC62"/>
                </a:solidFill>
                <a:latin typeface="Calibri"/>
              </a:rPr>
              <a:t>–  </a:t>
            </a:r>
            <a:r>
              <a:rPr sz="1600" b="0" i="1">
                <a:solidFill>
                  <a:srgbClr val="222B22"/>
                </a:solidFill>
                <a:latin typeface="Calibri"/>
              </a:rPr>
              <a:t>“‘Path soil at school’ — just one sentence. Anyone?”</a:t>
            </a:r>
          </a:p>
          <a:p>
            <a:pPr marL="274320" indent="-274320">
              <a:spcAft>
                <a:spcPts val="900"/>
              </a:spcAft>
            </a:pPr>
            <a:r>
              <a:rPr sz="1800" b="1" i="0">
                <a:solidFill>
                  <a:srgbClr val="97BC62"/>
                </a:solidFill>
                <a:latin typeface="Calibri"/>
              </a:rPr>
              <a:t>•  </a:t>
            </a:r>
            <a:r>
              <a:rPr sz="1800" b="0" i="0">
                <a:solidFill>
                  <a:srgbClr val="222B22"/>
                </a:solidFill>
                <a:latin typeface="Calibri"/>
              </a:rPr>
              <a:t>“The work is happening, whether or not we name it tonight.”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2" name="Picture 32" descr="trail cairn - the weekly check-in"/>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Psalm 139 — Being Known</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Psalm 139 is the psalm of being completely known by God — and the psalmist’s response is not panic. It is wonder</a:t>
            </a:r>
          </a:p>
          <a:p>
            <a:pPr marL="274320" indent="-274320">
              <a:spcAft>
                <a:spcPts val="800"/>
              </a:spcAft>
            </a:pPr>
            <a:r>
              <a:rPr sz="1600" b="1" i="0">
                <a:solidFill>
                  <a:srgbClr val="97BC62"/>
                </a:solidFill>
                <a:latin typeface="Calibri"/>
              </a:rPr>
              <a:t>•  </a:t>
            </a:r>
            <a:r>
              <a:rPr sz="1600" b="0" i="0">
                <a:solidFill>
                  <a:srgbClr val="222B22"/>
                </a:solidFill>
                <a:latin typeface="Calibri"/>
              </a:rPr>
              <a:t>Most of us have parts we hope nobody has noticed. The psalmist invites God to look further</a:t>
            </a:r>
          </a:p>
          <a:p>
            <a:pPr marL="274320" indent="-274320">
              <a:spcAft>
                <a:spcPts val="800"/>
              </a:spcAft>
            </a:pPr>
            <a:r>
              <a:rPr sz="1600" b="1" i="0">
                <a:solidFill>
                  <a:srgbClr val="97BC62"/>
                </a:solidFill>
                <a:latin typeface="Calibri"/>
              </a:rPr>
              <a:t>•  </a:t>
            </a:r>
            <a:r>
              <a:rPr sz="1600" b="0" i="0">
                <a:solidFill>
                  <a:srgbClr val="222B22"/>
                </a:solidFill>
                <a:latin typeface="Calibri"/>
              </a:rPr>
              <a:t>The opposite of being hidden is not being exposed — it is being seen and being safe at the same time. That is what the circle is</a:t>
            </a:r>
          </a:p>
          <a:p>
            <a:pPr marL="274320" indent="-274320">
              <a:spcAft>
                <a:spcPts val="800"/>
              </a:spcAft>
            </a:pPr>
            <a:r>
              <a:rPr sz="1600" b="1" i="0">
                <a:solidFill>
                  <a:srgbClr val="97BC62"/>
                </a:solidFill>
                <a:latin typeface="Calibri"/>
              </a:rPr>
              <a:t>•  </a:t>
            </a:r>
            <a:r>
              <a:rPr sz="1600" b="0" i="0">
                <a:solidFill>
                  <a:srgbClr val="222B22"/>
                </a:solidFill>
                <a:latin typeface="Calibri"/>
              </a:rPr>
              <a:t>Tonight is a small practice of Psalm 139 — parents answer one question, with what they are willing to say</a:t>
            </a:r>
          </a:p>
        </p:txBody>
      </p:sp>
      <p:sp>
        <p:nvSpPr>
          <p:cNvPr id="6" name="TextBox 6"/>
          <p:cNvSpPr txBox="1"/>
          <p:nvPr/>
        </p:nvSpPr>
        <p:spPr>
          <a:xfrm>
            <a:off x="6766560" y="1737360"/>
            <a:ext cx="4663440" cy="2542032"/>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PSALM 139:23–24</a:t>
            </a:r>
          </a:p>
          <a:p>
            <a:pPr>
              <a:spcAft>
                <a:spcPts val="600"/>
              </a:spcAft>
            </a:pPr>
            <a:r>
              <a:rPr sz="1600" b="0" i="1">
                <a:solidFill>
                  <a:srgbClr val="222B22"/>
                </a:solidFill>
                <a:latin typeface="Cambria"/>
              </a:rPr>
              <a:t>“Search me, O God, and know my heart! Try me and know my thoughts! And see if there be any grievous way in me, and lead me in the way everlasting!”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Companion Demo Story</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Lead Companion tells their own story — five minutes, modeling the form</a:t>
            </a:r>
          </a:p>
          <a:p>
            <a:pPr marL="274320" indent="-274320">
              <a:spcAft>
                <a:spcPts val="900"/>
              </a:spcAft>
            </a:pPr>
            <a:r>
              <a:rPr sz="1800" b="1" i="0">
                <a:solidFill>
                  <a:srgbClr val="97BC62"/>
                </a:solidFill>
                <a:latin typeface="Calibri"/>
              </a:rPr>
              <a:t>•  </a:t>
            </a:r>
            <a:r>
              <a:rPr sz="1800" b="0" i="0">
                <a:solidFill>
                  <a:srgbClr val="222B22"/>
                </a:solidFill>
                <a:latin typeface="Calibri"/>
              </a:rPr>
              <a:t>The one question: “tell the story of how you got here — today, as you are. What has shaped you into who you are today?”</a:t>
            </a:r>
          </a:p>
          <a:p>
            <a:pPr marL="274320" indent="-274320">
              <a:spcAft>
                <a:spcPts val="900"/>
              </a:spcAft>
            </a:pPr>
            <a:r>
              <a:rPr sz="1800" b="1" i="0">
                <a:solidFill>
                  <a:srgbClr val="97BC62"/>
                </a:solidFill>
                <a:latin typeface="Calibri"/>
              </a:rPr>
              <a:t>•  </a:t>
            </a:r>
            <a:r>
              <a:rPr sz="1800" b="0" i="0">
                <a:solidFill>
                  <a:srgbClr val="222B22"/>
                </a:solidFill>
                <a:latin typeface="Calibri"/>
              </a:rPr>
              <a:t>Be specific — “I grew up in a house where I learned to read a slammed cabinet door”</a:t>
            </a:r>
          </a:p>
          <a:p>
            <a:pPr marL="274320" indent="-274320">
              <a:spcAft>
                <a:spcPts val="900"/>
              </a:spcAft>
            </a:pPr>
            <a:r>
              <a:rPr sz="1800" b="1" i="0">
                <a:solidFill>
                  <a:srgbClr val="97BC62"/>
                </a:solidFill>
                <a:latin typeface="Calibri"/>
              </a:rPr>
              <a:t>•  </a:t>
            </a:r>
            <a:r>
              <a:rPr sz="1800" b="0" i="0">
                <a:solidFill>
                  <a:srgbClr val="222B22"/>
                </a:solidFill>
                <a:latin typeface="Calibri"/>
              </a:rPr>
              <a:t>Not the hero, not the victim — what happened, and where you see God in it now, looking back</a:t>
            </a:r>
          </a:p>
          <a:p>
            <a:pPr marL="274320" indent="-274320">
              <a:spcAft>
                <a:spcPts val="900"/>
              </a:spcAft>
            </a:pPr>
            <a:r>
              <a:rPr sz="1800" b="1" i="0">
                <a:solidFill>
                  <a:srgbClr val="97BC62"/>
                </a:solidFill>
                <a:latin typeface="Calibri"/>
              </a:rPr>
              <a:t>•  </a:t>
            </a:r>
            <a:r>
              <a:rPr sz="1800" b="0" i="0">
                <a:solidFill>
                  <a:srgbClr val="222B22"/>
                </a:solidFill>
                <a:latin typeface="Calibri"/>
              </a:rPr>
              <a:t>“That is the form. Parents, you’ll do this in your cluster tonight. Teens, this is yours next week. Yours doesn’t have to look like mine.”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Clusters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900"/>
              </a:spcAft>
            </a:pPr>
            <a:r>
              <a:rPr sz="1800" b="1" i="0">
                <a:solidFill>
                  <a:srgbClr val="97BC62"/>
                </a:solidFill>
                <a:latin typeface="Calibri"/>
              </a:rPr>
              <a:t>1   </a:t>
            </a:r>
            <a:r>
              <a:rPr sz="1800" b="0" i="0">
                <a:solidFill>
                  <a:srgbClr val="222B22"/>
                </a:solidFill>
                <a:latin typeface="Calibri"/>
              </a:rPr>
              <a:t>One question — how you got here, and what has shaped you. The depth is yours to choose</a:t>
            </a:r>
          </a:p>
          <a:p>
            <a:pPr marL="342900" indent="-342900">
              <a:spcAft>
                <a:spcPts val="900"/>
              </a:spcAft>
            </a:pPr>
            <a:r>
              <a:rPr sz="1800" b="1" i="0">
                <a:solidFill>
                  <a:srgbClr val="97BC62"/>
                </a:solidFill>
                <a:latin typeface="Calibri"/>
              </a:rPr>
              <a:t>2   </a:t>
            </a:r>
            <a:r>
              <a:rPr sz="1800" b="0" i="0">
                <a:solidFill>
                  <a:srgbClr val="222B22"/>
                </a:solidFill>
                <a:latin typeface="Calibri"/>
              </a:rPr>
              <a:t>Listening — do not fix. Do not advise. Do not say “that happened to me too.” Receive, then bless</a:t>
            </a:r>
          </a:p>
          <a:p>
            <a:pPr marL="342900" indent="-342900">
              <a:spcAft>
                <a:spcPts val="900"/>
              </a:spcAft>
            </a:pPr>
            <a:r>
              <a:rPr sz="1800" b="1" i="0">
                <a:solidFill>
                  <a:srgbClr val="97BC62"/>
                </a:solidFill>
                <a:latin typeface="Calibri"/>
              </a:rPr>
              <a:t>3   </a:t>
            </a:r>
            <a:r>
              <a:rPr sz="1800" b="0" i="0">
                <a:solidFill>
                  <a:srgbClr val="222B22"/>
                </a:solidFill>
                <a:latin typeface="Calibri"/>
              </a:rPr>
              <a:t>Nothing leaves your circle. “Not a phrase, not a name, not a story.”</a:t>
            </a:r>
          </a:p>
          <a:p>
            <a:pPr marL="274320" indent="-274320">
              <a:spcAft>
                <a:spcPts val="900"/>
              </a:spcAft>
            </a:pPr>
            <a:r>
              <a:rPr sz="1800" b="1" i="0">
                <a:solidFill>
                  <a:srgbClr val="97BC62"/>
                </a:solidFill>
                <a:latin typeface="Calibri"/>
              </a:rPr>
              <a:t>•  </a:t>
            </a:r>
            <a:r>
              <a:rPr sz="1800" b="0" i="0">
                <a:solidFill>
                  <a:srgbClr val="222B22"/>
                </a:solidFill>
                <a:latin typeface="Calibri"/>
              </a:rPr>
              <a:t>Teens — your own storytelling card goes home tonight; next Wednesday is your night</a:t>
            </a:r>
          </a:p>
          <a:p>
            <a:pPr marL="274320" indent="-274320">
              <a:spcAft>
                <a:spcPts val="900"/>
              </a:spcAft>
            </a:pPr>
            <a:r>
              <a:rPr sz="1800" b="1" i="0">
                <a:solidFill>
                  <a:srgbClr val="97BC62"/>
                </a:solidFill>
                <a:latin typeface="Calibri"/>
              </a:rPr>
              <a:t>•  </a:t>
            </a:r>
            <a:r>
              <a:rPr sz="1800" b="0" i="0">
                <a:solidFill>
                  <a:srgbClr val="222B22"/>
                </a:solidFill>
                <a:latin typeface="Calibri"/>
              </a:rPr>
              <a:t>Two or three families together, your own family stays with you — thirty-five minutes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Stories in Family Clusters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Tonight’s tellers: the parents — plus any Companion-in-Formation. The Cluster Companion goes first</a:t>
            </a:r>
          </a:p>
          <a:p>
            <a:pPr marL="342900" indent="-342900">
              <a:spcAft>
                <a:spcPts val="750"/>
              </a:spcAft>
            </a:pPr>
            <a:r>
              <a:rPr sz="1600" b="1" i="0">
                <a:solidFill>
                  <a:srgbClr val="97BC62"/>
                </a:solidFill>
                <a:latin typeface="Calibri"/>
              </a:rPr>
              <a:t>1   </a:t>
            </a:r>
            <a:r>
              <a:rPr sz="1600" b="0" i="0">
                <a:solidFill>
                  <a:srgbClr val="222B22"/>
                </a:solidFill>
                <a:latin typeface="Calibri"/>
              </a:rPr>
              <a:t>Story — 5–7 minutes. The teller speaks; nobody interrupts, even the silences</a:t>
            </a:r>
          </a:p>
          <a:p>
            <a:pPr marL="342900" indent="-342900">
              <a:spcAft>
                <a:spcPts val="750"/>
              </a:spcAft>
            </a:pPr>
            <a:r>
              <a:rPr sz="1600" b="1" i="0">
                <a:solidFill>
                  <a:srgbClr val="97BC62"/>
                </a:solidFill>
                <a:latin typeface="Calibri"/>
              </a:rPr>
              <a:t>2   </a:t>
            </a:r>
            <a:r>
              <a:rPr sz="1600" b="0" i="0">
                <a:solidFill>
                  <a:srgbClr val="222B22"/>
                </a:solidFill>
                <a:latin typeface="Calibri"/>
              </a:rPr>
              <a:t>Silence — ten seconds</a:t>
            </a:r>
          </a:p>
          <a:p>
            <a:pPr marL="342900" indent="-342900">
              <a:spcAft>
                <a:spcPts val="750"/>
              </a:spcAft>
            </a:pPr>
            <a:r>
              <a:rPr sz="1600" b="1" i="0">
                <a:solidFill>
                  <a:srgbClr val="97BC62"/>
                </a:solidFill>
                <a:latin typeface="Calibri"/>
              </a:rPr>
              <a:t>3   </a:t>
            </a:r>
            <a:r>
              <a:rPr sz="1600" b="0" i="0">
                <a:solidFill>
                  <a:srgbClr val="222B22"/>
                </a:solidFill>
                <a:latin typeface="Calibri"/>
              </a:rPr>
              <a:t>Blessing round — one or two sentences each, teens included: “What I want to bless about your story is...”</a:t>
            </a:r>
          </a:p>
          <a:p>
            <a:pPr marL="274320" indent="-274320">
              <a:spcAft>
                <a:spcPts val="750"/>
              </a:spcAft>
            </a:pPr>
            <a:r>
              <a:rPr sz="1600" b="1" i="0">
                <a:solidFill>
                  <a:srgbClr val="97BC62"/>
                </a:solidFill>
                <a:latin typeface="Calibri"/>
              </a:rPr>
              <a:t>•  </a:t>
            </a:r>
            <a:r>
              <a:rPr sz="1600" b="0" i="0">
                <a:solidFill>
                  <a:srgbClr val="222B22"/>
                </a:solidFill>
                <a:latin typeface="Calibri"/>
              </a:rPr>
              <a:t>“Inside this cluster, what is said stays in this cluster. Not even back to the main room, and not back up in the car this week.”</a:t>
            </a:r>
          </a:p>
          <a:p>
            <a:pPr marL="274320" indent="-274320">
              <a:spcAft>
                <a:spcPts val="750"/>
              </a:spcAft>
            </a:pPr>
            <a:r>
              <a:rPr sz="1600" b="1" i="0">
                <a:solidFill>
                  <a:srgbClr val="97BC62"/>
                </a:solidFill>
                <a:latin typeface="Calibri"/>
              </a:rPr>
              <a:t>•  </a:t>
            </a:r>
            <a:r>
              <a:rPr sz="1600" b="0" i="0">
                <a:solidFill>
                  <a:srgbClr val="222B22"/>
                </a:solidFill>
                <a:latin typeface="Calibri"/>
              </a:rPr>
              <a:t>“When someone is telling their story... we are looking at them. We are receiving. That’s the practice.”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0" name="Picture 30" descr="stepping stones across a stream"/>
          <p:cNvPicPr>
            <a:picLocks noChangeAspect="1"/>
          </p:cNvPicPr>
          <p:nvPr/>
        </p:nvPicPr>
        <p:blipFill>
          <a:blip r:embed="rId2"/>
          <a:stretch>
            <a:fillRect/>
          </a:stretch>
        </p:blipFill>
        <p:spPr>
          <a:xfrm>
            <a:off x="7696962" y="1463040"/>
            <a:ext cx="3669030" cy="4892040"/>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Shared Closing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What happened in your circle stays in your circle</a:t>
            </a:r>
          </a:p>
          <a:p>
            <a:pPr marL="274320" indent="-274320">
              <a:spcAft>
                <a:spcPts val="900"/>
              </a:spcAft>
            </a:pPr>
            <a:r>
              <a:rPr sz="1800" b="1" i="0">
                <a:solidFill>
                  <a:srgbClr val="97BC62"/>
                </a:solidFill>
                <a:latin typeface="Calibri"/>
              </a:rPr>
              <a:t>•  </a:t>
            </a:r>
            <a:r>
              <a:rPr sz="1800" b="0" i="0">
                <a:solidFill>
                  <a:srgbClr val="222B22"/>
                </a:solidFill>
                <a:latin typeface="Calibri"/>
              </a:rPr>
              <a:t>One word — just one — about what tonight was like for you. You can pass</a:t>
            </a:r>
          </a:p>
          <a:p>
            <a:pPr marL="685800" indent="-274320">
              <a:spcAft>
                <a:spcPts val="700"/>
              </a:spcAft>
            </a:pPr>
            <a:r>
              <a:rPr sz="1600" b="1" i="0">
                <a:solidFill>
                  <a:srgbClr val="97BC62"/>
                </a:solidFill>
                <a:latin typeface="Calibri"/>
              </a:rPr>
              <a:t>–  </a:t>
            </a:r>
            <a:r>
              <a:rPr sz="1600" b="0" i="1">
                <a:solidFill>
                  <a:srgbClr val="222B22"/>
                </a:solidFill>
                <a:latin typeface="Calibri"/>
              </a:rPr>
              <a:t>“Heavy.” “Seen.” “Surprising.” “Tender.” “Hard.” Whatever the true word is</a:t>
            </a:r>
          </a:p>
          <a:p>
            <a:pPr marL="274320" indent="-274320">
              <a:spcAft>
                <a:spcPts val="900"/>
              </a:spcAft>
            </a:pPr>
            <a:r>
              <a:rPr sz="1800" b="1" i="0">
                <a:solidFill>
                  <a:srgbClr val="97BC62"/>
                </a:solidFill>
                <a:latin typeface="Calibri"/>
              </a:rPr>
              <a:t>•  </a:t>
            </a:r>
            <a:r>
              <a:rPr sz="1800" b="0" i="0">
                <a:solidFill>
                  <a:srgbClr val="222B22"/>
                </a:solidFill>
                <a:latin typeface="Calibri"/>
              </a:rPr>
              <a:t>“Each of you brought something true into this room tonight, and each of you received something true. That’s rare. It’s also the kind of room God shows up 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 — Joint Footprints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Joint Footprints — each parent-and-teen pair sits together once this week. Twenty minutes total</a:t>
            </a:r>
          </a:p>
          <a:p>
            <a:pPr marL="274320" indent="-274320">
              <a:spcAft>
                <a:spcPts val="750"/>
              </a:spcAft>
            </a:pPr>
            <a:r>
              <a:rPr sz="1600" b="1" i="0">
                <a:solidFill>
                  <a:srgbClr val="97BC62"/>
                </a:solidFill>
                <a:latin typeface="Calibri"/>
              </a:rPr>
              <a:t>•  </a:t>
            </a:r>
            <a:r>
              <a:rPr sz="1600" b="0" i="0">
                <a:solidFill>
                  <a:srgbClr val="222B22"/>
                </a:solidFill>
                <a:latin typeface="Calibri"/>
              </a:rPr>
              <a:t>Not in the car, not at dinner, not while the TV is on. Phones away</a:t>
            </a:r>
          </a:p>
          <a:p>
            <a:pPr marL="342900" indent="-342900">
              <a:spcAft>
                <a:spcPts val="750"/>
              </a:spcAft>
            </a:pPr>
            <a:r>
              <a:rPr sz="1600" b="1" i="0">
                <a:solidFill>
                  <a:srgbClr val="97BC62"/>
                </a:solidFill>
                <a:latin typeface="Calibri"/>
              </a:rPr>
              <a:t>1   </a:t>
            </a:r>
            <a:r>
              <a:rPr sz="1600" b="0" i="0">
                <a:solidFill>
                  <a:srgbClr val="222B22"/>
                </a:solidFill>
                <a:latin typeface="Calibri"/>
              </a:rPr>
              <a:t>Five minutes telling the footprints question — where you grew up, who shaped you, what places and people made you who you are</a:t>
            </a:r>
          </a:p>
          <a:p>
            <a:pPr marL="342900" indent="-342900">
              <a:spcAft>
                <a:spcPts val="750"/>
              </a:spcAft>
            </a:pPr>
            <a:r>
              <a:rPr sz="1600" b="1" i="0">
                <a:solidFill>
                  <a:srgbClr val="97BC62"/>
                </a:solidFill>
                <a:latin typeface="Calibri"/>
              </a:rPr>
              <a:t>2   </a:t>
            </a:r>
            <a:r>
              <a:rPr sz="1600" b="0" i="0">
                <a:solidFill>
                  <a:srgbClr val="222B22"/>
                </a:solidFill>
                <a:latin typeface="Calibri"/>
              </a:rPr>
              <a:t>The listener asks one or two follow-ups, then one sentence: “What I love about your footprints is...”</a:t>
            </a:r>
          </a:p>
          <a:p>
            <a:pPr marL="342900" indent="-342900">
              <a:spcAft>
                <a:spcPts val="750"/>
              </a:spcAft>
            </a:pPr>
            <a:r>
              <a:rPr sz="1600" b="1" i="0">
                <a:solidFill>
                  <a:srgbClr val="97BC62"/>
                </a:solidFill>
                <a:latin typeface="Calibri"/>
              </a:rPr>
              <a:t>3   </a:t>
            </a:r>
            <a:r>
              <a:rPr sz="1600" b="0" i="0">
                <a:solidFill>
                  <a:srgbClr val="222B22"/>
                </a:solidFill>
                <a:latin typeface="Calibri"/>
              </a:rPr>
              <a:t>Then swap — the other person tells, the first listens and blesses</a:t>
            </a:r>
          </a:p>
          <a:p>
            <a:pPr marL="274320" indent="-274320">
              <a:spcAft>
                <a:spcPts val="750"/>
              </a:spcAft>
            </a:pPr>
            <a:r>
              <a:rPr sz="1600" b="1" i="0">
                <a:solidFill>
                  <a:srgbClr val="97BC62"/>
                </a:solidFill>
                <a:latin typeface="Calibri"/>
              </a:rPr>
              <a:t>•  </a:t>
            </a:r>
            <a:r>
              <a:rPr sz="1600" b="0" i="0">
                <a:solidFill>
                  <a:srgbClr val="222B22"/>
                </a:solidFill>
                <a:latin typeface="Calibri"/>
              </a:rPr>
              <a:t>The morning question and evening journal note continue daily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0" name="Picture 30" descr="two pairs of footprints in sand"/>
          <p:cNvPicPr>
            <a:picLocks noChangeAspect="1"/>
          </p:cNvPicPr>
          <p:nvPr/>
        </p:nvPicPr>
        <p:blipFill>
          <a:blip r:embed="rId2"/>
          <a:stretch>
            <a:fillRect/>
          </a:stretch>
        </p:blipFill>
        <p:spPr>
          <a:xfrm>
            <a:off x="8008829" y="1463040"/>
            <a:ext cx="3357162" cy="4892040"/>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Joint Footprints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“Some of you got to it. Some of you didn’t. Both are fine — ‘we didn’t get to it’ is honest, and honest is what we do here.”</a:t>
            </a:r>
          </a:p>
          <a:p>
            <a:pPr marL="274320" indent="-274320">
              <a:spcAft>
                <a:spcPts val="900"/>
              </a:spcAft>
            </a:pPr>
            <a:r>
              <a:rPr sz="1800" b="1" i="0">
                <a:solidFill>
                  <a:srgbClr val="97BC62"/>
                </a:solidFill>
                <a:latin typeface="Calibri"/>
              </a:rPr>
              <a:t>•  </a:t>
            </a:r>
            <a:r>
              <a:rPr sz="1800" b="0" i="0">
                <a:solidFill>
                  <a:srgbClr val="222B22"/>
                </a:solidFill>
                <a:latin typeface="Calibri"/>
              </a:rPr>
              <a:t>One sentence about what it was like — “not what was said — that’s yours — just what it was like”</a:t>
            </a:r>
          </a:p>
          <a:p>
            <a:pPr marL="274320" indent="-274320">
              <a:spcAft>
                <a:spcPts val="900"/>
              </a:spcAft>
            </a:pPr>
            <a:r>
              <a:rPr sz="1800" b="1" i="0">
                <a:solidFill>
                  <a:srgbClr val="97BC62"/>
                </a:solidFill>
                <a:latin typeface="Calibri"/>
              </a:rPr>
              <a:t>•  </a:t>
            </a:r>
            <a:r>
              <a:rPr sz="1800" b="0" i="0">
                <a:solidFill>
                  <a:srgbClr val="222B22"/>
                </a:solidFill>
                <a:latin typeface="Calibri"/>
              </a:rPr>
              <a:t>An arranged parent starts; then it’s open, and optional</a:t>
            </a:r>
          </a:p>
          <a:p>
            <a:pPr marL="274320" indent="-274320">
              <a:spcAft>
                <a:spcPts val="900"/>
              </a:spcAft>
            </a:pPr>
            <a:r>
              <a:rPr sz="1800" b="1" i="0">
                <a:solidFill>
                  <a:srgbClr val="97BC62"/>
                </a:solidFill>
                <a:latin typeface="Calibri"/>
              </a:rPr>
              <a:t>•  </a:t>
            </a:r>
            <a:r>
              <a:rPr sz="1800" b="0" i="0">
                <a:solidFill>
                  <a:srgbClr val="222B22"/>
                </a:solidFill>
                <a:latin typeface="Calibri"/>
              </a:rPr>
              <a:t>“The work is happening, whether or not we name it tonight.”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2" name="Picture 32" descr="trail cairn - the weekly check-in"/>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Psalm 139 — Being Known, Again</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Same psalm as last week, on purpose — nothing new tonight; we’re completing the round</a:t>
            </a:r>
          </a:p>
          <a:p>
            <a:pPr marL="274320" indent="-274320">
              <a:spcAft>
                <a:spcPts val="800"/>
              </a:spcAft>
            </a:pPr>
            <a:r>
              <a:rPr sz="1600" b="1" i="0">
                <a:solidFill>
                  <a:srgbClr val="97BC62"/>
                </a:solidFill>
                <a:latin typeface="Calibri"/>
              </a:rPr>
              <a:t>•  </a:t>
            </a:r>
            <a:r>
              <a:rPr sz="1600" b="0" i="0">
                <a:solidFill>
                  <a:srgbClr val="222B22"/>
                </a:solidFill>
                <a:latin typeface="Calibri"/>
              </a:rPr>
              <a:t>One idea, repeated: the opposite of being hidden is not being exposed — it is being seen and being safe at the same time</a:t>
            </a:r>
          </a:p>
          <a:p>
            <a:pPr marL="274320" indent="-274320">
              <a:spcAft>
                <a:spcPts val="800"/>
              </a:spcAft>
            </a:pPr>
            <a:r>
              <a:rPr sz="1600" b="1" i="0">
                <a:solidFill>
                  <a:srgbClr val="97BC62"/>
                </a:solidFill>
                <a:latin typeface="Calibri"/>
              </a:rPr>
              <a:t>•  </a:t>
            </a:r>
            <a:r>
              <a:rPr sz="1600" b="0" i="0">
                <a:solidFill>
                  <a:srgbClr val="222B22"/>
                </a:solidFill>
                <a:latin typeface="Calibri"/>
              </a:rPr>
              <a:t>The parents practiced that last Wednesday. Tonight the teens do</a:t>
            </a:r>
          </a:p>
          <a:p>
            <a:pPr marL="274320" indent="-274320">
              <a:spcAft>
                <a:spcPts val="800"/>
              </a:spcAft>
            </a:pPr>
            <a:r>
              <a:rPr sz="1600" b="1" i="0">
                <a:solidFill>
                  <a:srgbClr val="97BC62"/>
                </a:solidFill>
                <a:latin typeface="Calibri"/>
              </a:rPr>
              <a:t>•  </a:t>
            </a:r>
            <a:r>
              <a:rPr sz="1600" b="0" i="0">
                <a:solidFill>
                  <a:srgbClr val="222B22"/>
                </a:solidFill>
                <a:latin typeface="Calibri"/>
              </a:rPr>
              <a:t>Put the comparison down — “Every story is its own. … The story you tell tonight is not in competition with any story told in this building last week. Tell yours.”</a:t>
            </a:r>
          </a:p>
        </p:txBody>
      </p:sp>
      <p:sp>
        <p:nvSpPr>
          <p:cNvPr id="6" name="TextBox 6"/>
          <p:cNvSpPr txBox="1"/>
          <p:nvPr/>
        </p:nvSpPr>
        <p:spPr>
          <a:xfrm>
            <a:off x="6766560" y="1737360"/>
            <a:ext cx="4663440" cy="2542032"/>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PSALM 139:23–24</a:t>
            </a:r>
          </a:p>
          <a:p>
            <a:pPr>
              <a:spcAft>
                <a:spcPts val="600"/>
              </a:spcAft>
            </a:pPr>
            <a:r>
              <a:rPr sz="1600" b="0" i="1">
                <a:solidFill>
                  <a:srgbClr val="222B22"/>
                </a:solidFill>
                <a:latin typeface="Cambria"/>
              </a:rPr>
              <a:t>“Search me, O God, and know my heart! Try me and know my thoughts! And see if there be any grievous way in me, and lead me in the way everlasting!”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Split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900"/>
              </a:spcAft>
            </a:pPr>
            <a:r>
              <a:rPr sz="1800" b="1" i="0">
                <a:solidFill>
                  <a:srgbClr val="97BC62"/>
                </a:solidFill>
                <a:latin typeface="Calibri"/>
              </a:rPr>
              <a:t>1   </a:t>
            </a:r>
            <a:r>
              <a:rPr sz="1800" b="0" i="0">
                <a:solidFill>
                  <a:srgbClr val="222B22"/>
                </a:solidFill>
                <a:latin typeface="Calibri"/>
              </a:rPr>
              <a:t>“It’s one question — tell the story of how you got here, and what has shaped you.” The depth is yours to choose</a:t>
            </a:r>
          </a:p>
          <a:p>
            <a:pPr marL="342900" indent="-342900">
              <a:spcAft>
                <a:spcPts val="900"/>
              </a:spcAft>
            </a:pPr>
            <a:r>
              <a:rPr sz="1800" b="1" i="0">
                <a:solidFill>
                  <a:srgbClr val="97BC62"/>
                </a:solidFill>
                <a:latin typeface="Calibri"/>
              </a:rPr>
              <a:t>2   </a:t>
            </a:r>
            <a:r>
              <a:rPr sz="1800" b="0" i="0">
                <a:solidFill>
                  <a:srgbClr val="222B22"/>
                </a:solidFill>
                <a:latin typeface="Calibri"/>
              </a:rPr>
              <a:t>“When you’re listening — don’t fix, don’t advise, don’t relate back. Receive, and after each story, bless.”</a:t>
            </a:r>
          </a:p>
          <a:p>
            <a:pPr marL="342900" indent="-342900">
              <a:spcAft>
                <a:spcPts val="900"/>
              </a:spcAft>
            </a:pPr>
            <a:r>
              <a:rPr sz="1800" b="1" i="0">
                <a:solidFill>
                  <a:srgbClr val="97BC62"/>
                </a:solidFill>
                <a:latin typeface="Calibri"/>
              </a:rPr>
              <a:t>3   </a:t>
            </a:r>
            <a:r>
              <a:rPr sz="1800" b="0" i="0">
                <a:solidFill>
                  <a:srgbClr val="222B22"/>
                </a:solidFill>
                <a:latin typeface="Calibri"/>
              </a:rPr>
              <a:t>“Nothing leaves your cluster. Not a phrase, not a name, not a story.”</a:t>
            </a:r>
          </a:p>
          <a:p>
            <a:pPr marL="274320" indent="-274320">
              <a:spcAft>
                <a:spcPts val="900"/>
              </a:spcAft>
            </a:pPr>
            <a:r>
              <a:rPr sz="1800" b="1" i="0">
                <a:solidFill>
                  <a:srgbClr val="97BC62"/>
                </a:solidFill>
                <a:latin typeface="Calibri"/>
              </a:rPr>
              <a:t>•  </a:t>
            </a:r>
            <a:r>
              <a:rPr sz="1800" b="0" i="0">
                <a:solidFill>
                  <a:srgbClr val="222B22"/>
                </a:solidFill>
                <a:latin typeface="Calibri"/>
              </a:rPr>
              <a:t>Same clusters and same rooms as last week — your family stays with you</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Stories in Family Clusters — the Teens Tell</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The teens tell — same clusters, same single question, same blessing. Second running</a:t>
            </a:r>
          </a:p>
          <a:p>
            <a:pPr marL="342900" indent="-342900">
              <a:spcAft>
                <a:spcPts val="750"/>
              </a:spcAft>
            </a:pPr>
            <a:r>
              <a:rPr sz="1600" b="1" i="0">
                <a:solidFill>
                  <a:srgbClr val="97BC62"/>
                </a:solidFill>
                <a:latin typeface="Calibri"/>
              </a:rPr>
              <a:t>1   </a:t>
            </a:r>
            <a:r>
              <a:rPr sz="1600" b="0" i="0">
                <a:solidFill>
                  <a:srgbClr val="222B22"/>
                </a:solidFill>
                <a:latin typeface="Calibri"/>
              </a:rPr>
              <a:t>Story — 5–7 minutes. Nobody interrupts, even the silences</a:t>
            </a:r>
          </a:p>
          <a:p>
            <a:pPr marL="342900" indent="-342900">
              <a:spcAft>
                <a:spcPts val="750"/>
              </a:spcAft>
            </a:pPr>
            <a:r>
              <a:rPr sz="1600" b="1" i="0">
                <a:solidFill>
                  <a:srgbClr val="97BC62"/>
                </a:solidFill>
                <a:latin typeface="Calibri"/>
              </a:rPr>
              <a:t>2   </a:t>
            </a:r>
            <a:r>
              <a:rPr sz="1600" b="0" i="0">
                <a:solidFill>
                  <a:srgbClr val="222B22"/>
                </a:solidFill>
                <a:latin typeface="Calibri"/>
              </a:rPr>
              <a:t>Silence — ten seconds</a:t>
            </a:r>
          </a:p>
          <a:p>
            <a:pPr marL="342900" indent="-342900">
              <a:spcAft>
                <a:spcPts val="750"/>
              </a:spcAft>
            </a:pPr>
            <a:r>
              <a:rPr sz="1600" b="1" i="0">
                <a:solidFill>
                  <a:srgbClr val="97BC62"/>
                </a:solidFill>
                <a:latin typeface="Calibri"/>
              </a:rPr>
              <a:t>3   </a:t>
            </a:r>
            <a:r>
              <a:rPr sz="1600" b="0" i="0">
                <a:solidFill>
                  <a:srgbClr val="222B22"/>
                </a:solidFill>
                <a:latin typeface="Calibri"/>
              </a:rPr>
              <a:t>Blessing round — the arranged parent blesses first, then the circle: one or two sentences each</a:t>
            </a:r>
          </a:p>
          <a:p>
            <a:pPr marL="274320" indent="-274320">
              <a:spcAft>
                <a:spcPts val="750"/>
              </a:spcAft>
            </a:pPr>
            <a:r>
              <a:rPr sz="1600" b="1" i="0">
                <a:solidFill>
                  <a:srgbClr val="97BC62"/>
                </a:solidFill>
                <a:latin typeface="Calibri"/>
              </a:rPr>
              <a:t>•  </a:t>
            </a:r>
            <a:r>
              <a:rPr sz="1600" b="0" i="0">
                <a:solidFill>
                  <a:srgbClr val="222B22"/>
                </a:solidFill>
                <a:latin typeface="Calibri"/>
              </a:rPr>
              <a:t>Parents tonight: receive and bless — no correcting the record, no filling silences</a:t>
            </a:r>
          </a:p>
          <a:p>
            <a:pPr marL="274320" indent="-274320">
              <a:spcAft>
                <a:spcPts val="750"/>
              </a:spcAft>
            </a:pPr>
            <a:r>
              <a:rPr sz="1600" b="1" i="0">
                <a:solidFill>
                  <a:srgbClr val="97BC62"/>
                </a:solidFill>
                <a:latin typeface="Calibri"/>
              </a:rPr>
              <a:t>•  </a:t>
            </a:r>
            <a:r>
              <a:rPr sz="1600" b="0" i="0">
                <a:solidFill>
                  <a:srgbClr val="222B22"/>
                </a:solidFill>
                <a:latin typeface="Calibri"/>
              </a:rPr>
              <a:t>“What’s said in this circle stays in this circle. And when someone is telling, we’re looking at them. We’re receiving.”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One-Word Landing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What happened in your cluster stays in your cluster</a:t>
            </a:r>
          </a:p>
          <a:p>
            <a:pPr marL="274320" indent="-274320">
              <a:spcAft>
                <a:spcPts val="900"/>
              </a:spcAft>
            </a:pPr>
            <a:r>
              <a:rPr sz="1800" b="1" i="0">
                <a:solidFill>
                  <a:srgbClr val="97BC62"/>
                </a:solidFill>
                <a:latin typeface="Calibri"/>
              </a:rPr>
              <a:t>•  </a:t>
            </a:r>
            <a:r>
              <a:rPr sz="1800" b="0" i="0">
                <a:solidFill>
                  <a:srgbClr val="222B22"/>
                </a:solidFill>
                <a:latin typeface="Calibri"/>
              </a:rPr>
              <a:t>One word, when you’re ready, about what tonight was like — an arranged parent starts. You can pass</a:t>
            </a:r>
          </a:p>
          <a:p>
            <a:pPr marL="274320" indent="-274320">
              <a:spcAft>
                <a:spcPts val="900"/>
              </a:spcAft>
            </a:pPr>
            <a:r>
              <a:rPr sz="1800" b="1" i="0">
                <a:solidFill>
                  <a:srgbClr val="97BC62"/>
                </a:solidFill>
                <a:latin typeface="Calibri"/>
              </a:rPr>
              <a:t>•  </a:t>
            </a:r>
            <a:r>
              <a:rPr sz="1800" b="0" i="0">
                <a:solidFill>
                  <a:srgbClr val="222B22"/>
                </a:solidFill>
                <a:latin typeface="Calibri"/>
              </a:rPr>
              <a:t>“The round is complete — every person in this room, parent and teen, has now told a piece of their story to a circle that blessed them for it.”</a:t>
            </a:r>
          </a:p>
          <a:p>
            <a:pPr marL="274320" indent="-274320">
              <a:spcAft>
                <a:spcPts val="900"/>
              </a:spcAft>
            </a:pPr>
            <a:r>
              <a:rPr sz="1800" b="1" i="0">
                <a:solidFill>
                  <a:srgbClr val="97BC62"/>
                </a:solidFill>
                <a:latin typeface="Calibri"/>
              </a:rPr>
              <a:t>•  </a:t>
            </a:r>
            <a:r>
              <a:rPr sz="1800" b="0" i="0">
                <a:solidFill>
                  <a:srgbClr val="222B22"/>
                </a:solidFill>
                <a:latin typeface="Calibri"/>
              </a:rPr>
              <a:t>“Rooms like this one are rare. They’re also the kind of room God shows up 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Joint Footprints — for every family that hasn’t done it yet. Parent and teen, twenty minutes, sometime this week</a:t>
            </a:r>
          </a:p>
          <a:p>
            <a:pPr marL="274320" indent="-274320">
              <a:spcAft>
                <a:spcPts val="900"/>
              </a:spcAft>
            </a:pPr>
            <a:r>
              <a:rPr sz="1800" b="1" i="0">
                <a:solidFill>
                  <a:srgbClr val="97BC62"/>
                </a:solidFill>
                <a:latin typeface="Calibri"/>
              </a:rPr>
              <a:t>•  </a:t>
            </a:r>
            <a:r>
              <a:rPr sz="1800" b="0" i="0">
                <a:solidFill>
                  <a:srgbClr val="222B22"/>
                </a:solidFill>
                <a:latin typeface="Calibri"/>
              </a:rPr>
              <a:t>Not in the car, not in front of a screen. Phones away</a:t>
            </a:r>
          </a:p>
          <a:p>
            <a:pPr marL="274320" indent="-274320">
              <a:spcAft>
                <a:spcPts val="900"/>
              </a:spcAft>
            </a:pPr>
            <a:r>
              <a:rPr sz="1800" b="1" i="0">
                <a:solidFill>
                  <a:srgbClr val="97BC62"/>
                </a:solidFill>
                <a:latin typeface="Calibri"/>
              </a:rPr>
              <a:t>•  </a:t>
            </a:r>
            <a:r>
              <a:rPr sz="1800" b="0" i="0">
                <a:solidFill>
                  <a:srgbClr val="222B22"/>
                </a:solidFill>
                <a:latin typeface="Calibri"/>
              </a:rPr>
              <a:t>Five minutes telling, a follow-up question or two, and one sentence: “What I love about your footprints is...” Then swap</a:t>
            </a:r>
          </a:p>
          <a:p>
            <a:pPr marL="274320" indent="-274320">
              <a:spcAft>
                <a:spcPts val="900"/>
              </a:spcAft>
            </a:pPr>
            <a:r>
              <a:rPr sz="1800" b="1" i="0">
                <a:solidFill>
                  <a:srgbClr val="97BC62"/>
                </a:solidFill>
                <a:latin typeface="Calibri"/>
              </a:rPr>
              <a:t>•  </a:t>
            </a:r>
            <a:r>
              <a:rPr sz="1800" b="0" i="0">
                <a:solidFill>
                  <a:srgbClr val="222B22"/>
                </a:solidFill>
                <a:latin typeface="Calibri"/>
              </a:rPr>
              <a:t>“Families who already did it — you’re done; don’t force a repeat.”</a:t>
            </a:r>
          </a:p>
          <a:p>
            <a:pPr marL="274320" indent="-274320">
              <a:spcAft>
                <a:spcPts val="900"/>
              </a:spcAft>
            </a:pPr>
            <a:r>
              <a:rPr sz="1800" b="1" i="0">
                <a:solidFill>
                  <a:srgbClr val="97BC62"/>
                </a:solidFill>
                <a:latin typeface="Calibri"/>
              </a:rPr>
              <a:t>•  </a:t>
            </a:r>
            <a:r>
              <a:rPr sz="1800" b="0" i="0">
                <a:solidFill>
                  <a:srgbClr val="222B22"/>
                </a:solidFill>
                <a:latin typeface="Calibri"/>
              </a:rPr>
              <a:t>Everyone keeps the morning question and the evening journal note going — five minutes in the morning, two at night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seedling - what grows between Wednesdays"/>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4 Check-In — Joint Footprints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“Some of you got to it. Some didn’t. Both are fine.”</a:t>
            </a:r>
          </a:p>
          <a:p>
            <a:pPr marL="274320" indent="-274320">
              <a:spcAft>
                <a:spcPts val="900"/>
              </a:spcAft>
            </a:pPr>
            <a:r>
              <a:rPr sz="1800" b="1" i="0">
                <a:solidFill>
                  <a:srgbClr val="97BC62"/>
                </a:solidFill>
                <a:latin typeface="Calibri"/>
              </a:rPr>
              <a:t>•  </a:t>
            </a:r>
            <a:r>
              <a:rPr sz="1800" b="0" i="0">
                <a:solidFill>
                  <a:srgbClr val="222B22"/>
                </a:solidFill>
                <a:latin typeface="Calibri"/>
              </a:rPr>
              <a:t>“Anyone want to say one sentence about how that landed for you?” — an arranged parent starts</a:t>
            </a:r>
          </a:p>
          <a:p>
            <a:pPr marL="274320" indent="-274320">
              <a:spcAft>
                <a:spcPts val="900"/>
              </a:spcAft>
            </a:pPr>
            <a:r>
              <a:rPr sz="1800" b="1" i="0">
                <a:solidFill>
                  <a:srgbClr val="97BC62"/>
                </a:solidFill>
                <a:latin typeface="Calibri"/>
              </a:rPr>
              <a:t>•  </a:t>
            </a:r>
            <a:r>
              <a:rPr sz="1800" b="0" i="0">
                <a:solidFill>
                  <a:srgbClr val="222B22"/>
                </a:solidFill>
                <a:latin typeface="Calibri"/>
              </a:rPr>
              <a:t>Receive without commentary</a:t>
            </a:r>
          </a:p>
          <a:p>
            <a:pPr marL="274320" indent="-274320">
              <a:spcAft>
                <a:spcPts val="900"/>
              </a:spcAft>
            </a:pPr>
            <a:r>
              <a:rPr sz="1800" b="1" i="0">
                <a:solidFill>
                  <a:srgbClr val="97BC62"/>
                </a:solidFill>
                <a:latin typeface="Calibri"/>
              </a:rPr>
              <a:t>•  </a:t>
            </a:r>
            <a:r>
              <a:rPr sz="1800" b="0" i="0">
                <a:solidFill>
                  <a:srgbClr val="222B22"/>
                </a:solidFill>
                <a:latin typeface="Calibri"/>
              </a:rPr>
              <a:t>“Good. Some of that work continues whether or not we got to it this week.”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2" name="Picture 32" descr="trail cairn - the weekly check-in"/>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Four Conditions</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500" b="1" i="0">
                <a:solidFill>
                  <a:srgbClr val="97BC62"/>
                </a:solidFill>
                <a:latin typeface="Calibri"/>
              </a:rPr>
              <a:t>•  </a:t>
            </a:r>
            <a:r>
              <a:rPr sz="1500" b="0" i="0">
                <a:solidFill>
                  <a:srgbClr val="222B22"/>
                </a:solidFill>
                <a:latin typeface="Calibri"/>
              </a:rPr>
              <a:t>The threefold cord is stronger because the strands hold each other in tension — the strength is in the holding</a:t>
            </a:r>
          </a:p>
          <a:p>
            <a:pPr marL="274320" indent="-274320">
              <a:spcAft>
                <a:spcPts val="650"/>
              </a:spcAft>
            </a:pPr>
            <a:r>
              <a:rPr sz="1500" b="1" i="0">
                <a:solidFill>
                  <a:srgbClr val="97BC62"/>
                </a:solidFill>
                <a:latin typeface="Calibri"/>
              </a:rPr>
              <a:t>•  </a:t>
            </a:r>
            <a:r>
              <a:rPr sz="1500" b="0" i="0">
                <a:solidFill>
                  <a:srgbClr val="222B22"/>
                </a:solidFill>
                <a:latin typeface="Calibri"/>
              </a:rPr>
              <a:t>Four conditions have been quietly holding this room for four weeks. Tonight we name them</a:t>
            </a:r>
          </a:p>
          <a:p>
            <a:pPr marL="342900" indent="-342900">
              <a:spcAft>
                <a:spcPts val="650"/>
              </a:spcAft>
            </a:pPr>
            <a:r>
              <a:rPr sz="1500" b="1" i="0">
                <a:solidFill>
                  <a:srgbClr val="97BC62"/>
                </a:solidFill>
                <a:latin typeface="Calibri"/>
              </a:rPr>
              <a:t>1   </a:t>
            </a:r>
            <a:r>
              <a:rPr sz="1500" b="0" i="0">
                <a:solidFill>
                  <a:srgbClr val="222B22"/>
                </a:solidFill>
                <a:latin typeface="Calibri"/>
              </a:rPr>
              <a:t>SAFE — the hearing condition. “I will not be judged as a person while I am doing my work” — Romans 14:3–4</a:t>
            </a:r>
          </a:p>
          <a:p>
            <a:pPr marL="342900" indent="-342900">
              <a:spcAft>
                <a:spcPts val="650"/>
              </a:spcAft>
            </a:pPr>
            <a:r>
              <a:rPr sz="1500" b="1" i="0">
                <a:solidFill>
                  <a:srgbClr val="97BC62"/>
                </a:solidFill>
                <a:latin typeface="Calibri"/>
              </a:rPr>
              <a:t>2   </a:t>
            </a:r>
            <a:r>
              <a:rPr sz="1500" b="0" i="0">
                <a:solidFill>
                  <a:srgbClr val="222B22"/>
                </a:solidFill>
                <a:latin typeface="Calibri"/>
              </a:rPr>
              <a:t>PRESENT — the attention condition. “I am actually here” — aware that the Great I AM is also here — Revelation 1:8</a:t>
            </a:r>
          </a:p>
          <a:p>
            <a:pPr marL="342900" indent="-342900">
              <a:spcAft>
                <a:spcPts val="650"/>
              </a:spcAft>
            </a:pPr>
            <a:r>
              <a:rPr sz="1500" b="1" i="0">
                <a:solidFill>
                  <a:srgbClr val="97BC62"/>
                </a:solidFill>
                <a:latin typeface="Calibri"/>
              </a:rPr>
              <a:t>3   </a:t>
            </a:r>
            <a:r>
              <a:rPr sz="1500" b="0" i="0">
                <a:solidFill>
                  <a:srgbClr val="222B22"/>
                </a:solidFill>
                <a:latin typeface="Calibri"/>
              </a:rPr>
              <a:t>CLEAR — the channel condition. Nothing unaddressed between God and me, or the circle and me — Matthew 7:5</a:t>
            </a:r>
          </a:p>
          <a:p>
            <a:pPr marL="342900" indent="-342900">
              <a:spcAft>
                <a:spcPts val="650"/>
              </a:spcAft>
            </a:pPr>
            <a:r>
              <a:rPr sz="1500" b="1" i="0">
                <a:solidFill>
                  <a:srgbClr val="97BC62"/>
                </a:solidFill>
                <a:latin typeface="Calibri"/>
              </a:rPr>
              <a:t>4   </a:t>
            </a:r>
            <a:r>
              <a:rPr sz="1500" b="0" i="0">
                <a:solidFill>
                  <a:srgbClr val="222B22"/>
                </a:solidFill>
                <a:latin typeface="Calibri"/>
              </a:rPr>
              <a:t>INTENTIONAL — the obedience condition. On purpose, watching for what God is doing, willing to do it — John 5:19</a:t>
            </a:r>
          </a:p>
        </p:txBody>
      </p:sp>
      <p:sp>
        <p:nvSpPr>
          <p:cNvPr id="6" name="TextBox 6"/>
          <p:cNvSpPr txBox="1"/>
          <p:nvPr/>
        </p:nvSpPr>
        <p:spPr>
          <a:xfrm>
            <a:off x="6766560" y="1737360"/>
            <a:ext cx="4663440" cy="3310128"/>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ECCLESIASTES 4:9–12</a:t>
            </a:r>
          </a:p>
          <a:p>
            <a:pPr>
              <a:spcAft>
                <a:spcPts val="600"/>
              </a:spcAft>
            </a:pPr>
            <a:r>
              <a:rPr sz="1600" b="0" i="1">
                <a:solidFill>
                  <a:srgbClr val="222B22"/>
                </a:solidFill>
                <a:latin typeface="Cambria"/>
              </a:rPr>
              <a:t>“Two are better than one, because they have a good reward for their toil. For if they fall, one will lift up his fellow. … And though a man might prevail against one who is alone, two will withstand him—a threefold cord is not quickly broken.”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Split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Each cluster takes the four conditions and asks: “for each one, where in my actual friendships does this show up? And where is it missing?”</a:t>
            </a:r>
          </a:p>
          <a:p>
            <a:pPr marL="274320" indent="-274320">
              <a:spcAft>
                <a:spcPts val="900"/>
              </a:spcAft>
            </a:pPr>
            <a:r>
              <a:rPr sz="1800" b="1" i="0">
                <a:solidFill>
                  <a:srgbClr val="97BC62"/>
                </a:solidFill>
                <a:latin typeface="Calibri"/>
              </a:rPr>
              <a:t>•  </a:t>
            </a:r>
            <a:r>
              <a:rPr sz="1800" b="0" i="0">
                <a:solidFill>
                  <a:srgbClr val="222B22"/>
                </a:solidFill>
                <a:latin typeface="Calibri"/>
              </a:rPr>
              <a:t>“We are not naming names tonight. ‘One of my friends’ is fine.” — we map conditions, not people</a:t>
            </a:r>
          </a:p>
          <a:p>
            <a:pPr marL="274320" indent="-274320">
              <a:spcAft>
                <a:spcPts val="900"/>
              </a:spcAft>
            </a:pPr>
            <a:r>
              <a:rPr sz="1800" b="1" i="0">
                <a:solidFill>
                  <a:srgbClr val="97BC62"/>
                </a:solidFill>
                <a:latin typeface="Calibri"/>
              </a:rPr>
              <a:t>•  </a:t>
            </a:r>
            <a:r>
              <a:rPr sz="1800" b="0" i="0">
                <a:solidFill>
                  <a:srgbClr val="222B22"/>
                </a:solidFill>
                <a:latin typeface="Calibri"/>
              </a:rPr>
              <a:t>Your Companion goes first on every condition, then one of the parents opens the round</a:t>
            </a:r>
          </a:p>
          <a:p>
            <a:pPr marL="274320" indent="-274320">
              <a:spcAft>
                <a:spcPts val="900"/>
              </a:spcAft>
            </a:pPr>
            <a:r>
              <a:rPr sz="1800" b="1" i="0">
                <a:solidFill>
                  <a:srgbClr val="97BC62"/>
                </a:solidFill>
                <a:latin typeface="Calibri"/>
              </a:rPr>
              <a:t>•  </a:t>
            </a:r>
            <a:r>
              <a:rPr sz="1800" b="0" i="0">
                <a:solidFill>
                  <a:srgbClr val="222B22"/>
                </a:solidFill>
                <a:latin typeface="Calibri"/>
              </a:rPr>
              <a:t>Teens, you choose your own depth. Pass anytime</a:t>
            </a:r>
          </a:p>
          <a:p>
            <a:pPr marL="274320" indent="-274320">
              <a:spcAft>
                <a:spcPts val="900"/>
              </a:spcAft>
            </a:pPr>
            <a:r>
              <a:rPr sz="1800" b="1" i="0">
                <a:solidFill>
                  <a:srgbClr val="97BC62"/>
                </a:solidFill>
                <a:latin typeface="Calibri"/>
              </a:rPr>
              <a:t>•  </a:t>
            </a:r>
            <a:r>
              <a:rPr sz="1800" b="0" i="0">
                <a:solidFill>
                  <a:srgbClr val="222B22"/>
                </a:solidFill>
                <a:latin typeface="Calibri"/>
              </a:rPr>
              <a:t>Twenty-eight minutes — same rooms as the last two weeks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Friendship-Mapping in Family Clusters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Four conditions, about six minutes each — the Companion models first, the arranged parent opens the round</a:t>
            </a:r>
          </a:p>
          <a:p>
            <a:pPr marL="274320" indent="-274320">
              <a:spcAft>
                <a:spcPts val="900"/>
              </a:spcAft>
            </a:pPr>
            <a:r>
              <a:rPr sz="1800" b="1" i="0">
                <a:solidFill>
                  <a:srgbClr val="97BC62"/>
                </a:solidFill>
                <a:latin typeface="Calibri"/>
              </a:rPr>
              <a:t>•  </a:t>
            </a:r>
            <a:r>
              <a:rPr sz="1800" b="0" i="0">
                <a:solidFill>
                  <a:srgbClr val="222B22"/>
                </a:solidFill>
                <a:latin typeface="Calibri"/>
              </a:rPr>
              <a:t>Each turn 30–60 seconds — specific: one friendship where the condition is present, one where it is missing</a:t>
            </a:r>
          </a:p>
          <a:p>
            <a:pPr marL="274320" indent="-274320">
              <a:spcAft>
                <a:spcPts val="900"/>
              </a:spcAft>
            </a:pPr>
            <a:r>
              <a:rPr sz="1800" b="1" i="0">
                <a:solidFill>
                  <a:srgbClr val="97BC62"/>
                </a:solidFill>
                <a:latin typeface="Calibri"/>
              </a:rPr>
              <a:t>•  </a:t>
            </a:r>
            <a:r>
              <a:rPr sz="1800" b="0" i="0">
                <a:solidFill>
                  <a:srgbClr val="222B22"/>
                </a:solidFill>
                <a:latin typeface="Calibri"/>
              </a:rPr>
              <a:t>“No names of people who aren’t in this room — and for people who are, ‘one of my friendships’ or ‘one adult relationship in my life’ is the language. Nobody asks who you meant.”</a:t>
            </a:r>
          </a:p>
          <a:p>
            <a:pPr marL="274320" indent="-274320">
              <a:spcAft>
                <a:spcPts val="900"/>
              </a:spcAft>
            </a:pPr>
            <a:r>
              <a:rPr sz="1800" b="1" i="0">
                <a:solidFill>
                  <a:srgbClr val="97BC62"/>
                </a:solidFill>
                <a:latin typeface="Calibri"/>
              </a:rPr>
              <a:t>•  </a:t>
            </a:r>
            <a:r>
              <a:rPr sz="1800" b="0" i="0">
                <a:solidFill>
                  <a:srgbClr val="222B22"/>
                </a:solidFill>
                <a:latin typeface="Calibri"/>
              </a:rPr>
              <a:t>Parents map their own adult friendships — not their teens’</a:t>
            </a:r>
          </a:p>
          <a:p>
            <a:pPr marL="274320" indent="-274320">
              <a:spcAft>
                <a:spcPts val="900"/>
              </a:spcAft>
            </a:pPr>
            <a:r>
              <a:rPr sz="1800" b="1" i="0">
                <a:solidFill>
                  <a:srgbClr val="97BC62"/>
                </a:solidFill>
                <a:latin typeface="Calibri"/>
              </a:rPr>
              <a:t>•  </a:t>
            </a:r>
            <a:r>
              <a:rPr sz="1800" b="0" i="0">
                <a:solidFill>
                  <a:srgbClr val="222B22"/>
                </a:solidFill>
                <a:latin typeface="Calibri"/>
              </a:rPr>
              <a:t>If time remains, the quiet final question: “Of the four conditions, which one is the one I find hardest to offer to my friends?”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0" name="Picture 30" descr="threefold cord of natural rope"/>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 Surfacing Common Patterns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What happened in your cluster stays in your cluster</a:t>
            </a:r>
          </a:p>
          <a:p>
            <a:pPr marL="274320" indent="-274320">
              <a:spcAft>
                <a:spcPts val="900"/>
              </a:spcAft>
            </a:pPr>
            <a:r>
              <a:rPr sz="1800" b="1" i="0">
                <a:solidFill>
                  <a:srgbClr val="97BC62"/>
                </a:solidFill>
                <a:latin typeface="Calibri"/>
              </a:rPr>
              <a:t>•  </a:t>
            </a:r>
            <a:r>
              <a:rPr sz="1800" b="0" i="0">
                <a:solidFill>
                  <a:srgbClr val="222B22"/>
                </a:solidFill>
                <a:latin typeface="Calibri"/>
              </a:rPr>
              <a:t>Patterns only — general, no names: “Many of us noticed Safety is the rarest condition in our friendships”</a:t>
            </a:r>
          </a:p>
          <a:p>
            <a:pPr marL="274320" indent="-274320">
              <a:spcAft>
                <a:spcPts val="900"/>
              </a:spcAft>
            </a:pPr>
            <a:r>
              <a:rPr sz="1800" b="1" i="0">
                <a:solidFill>
                  <a:srgbClr val="97BC62"/>
                </a:solidFill>
                <a:latin typeface="Calibri"/>
              </a:rPr>
              <a:t>•  </a:t>
            </a:r>
            <a:r>
              <a:rPr sz="1800" b="0" i="0">
                <a:solidFill>
                  <a:srgbClr val="222B22"/>
                </a:solidFill>
                <a:latin typeface="Calibri"/>
              </a:rPr>
              <a:t>Each Cluster Companion takes ninety seconds — one or two general patterns from their circle</a:t>
            </a:r>
          </a:p>
          <a:p>
            <a:pPr marL="274320" indent="-274320">
              <a:spcAft>
                <a:spcPts val="900"/>
              </a:spcAft>
            </a:pPr>
            <a:r>
              <a:rPr sz="1800" b="1" i="0">
                <a:solidFill>
                  <a:srgbClr val="97BC62"/>
                </a:solidFill>
                <a:latin typeface="Calibri"/>
              </a:rPr>
              <a:t>•  </a:t>
            </a:r>
            <a:r>
              <a:rPr sz="1800" b="0" i="0">
                <a:solidFill>
                  <a:srgbClr val="222B22"/>
                </a:solidFill>
                <a:latin typeface="Calibri"/>
              </a:rPr>
              <a:t>Then the Lead Companion names one observation across the clusters — “that is real, and it is the seed of the practice this week”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 — One Friendship, One Condition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“Pick one friendship in your life. Just one.” — you don’t have to tell anyone which one</a:t>
            </a:r>
          </a:p>
          <a:p>
            <a:pPr marL="274320" indent="-274320">
              <a:spcAft>
                <a:spcPts val="750"/>
              </a:spcAft>
            </a:pPr>
            <a:r>
              <a:rPr sz="1600" b="1" i="0">
                <a:solidFill>
                  <a:srgbClr val="97BC62"/>
                </a:solidFill>
                <a:latin typeface="Calibri"/>
              </a:rPr>
              <a:t>•  </a:t>
            </a:r>
            <a:r>
              <a:rPr sz="1600" b="0" i="0">
                <a:solidFill>
                  <a:srgbClr val="222B22"/>
                </a:solidFill>
                <a:latin typeface="Calibri"/>
              </a:rPr>
              <a:t>Pick one of the four conditions — the one most missing there, or the one you find hardest to offer</a:t>
            </a:r>
          </a:p>
          <a:p>
            <a:pPr marL="274320" indent="-274320">
              <a:spcAft>
                <a:spcPts val="750"/>
              </a:spcAft>
            </a:pPr>
            <a:r>
              <a:rPr sz="1600" b="1" i="0">
                <a:solidFill>
                  <a:srgbClr val="97BC62"/>
                </a:solidFill>
                <a:latin typeface="Calibri"/>
              </a:rPr>
              <a:t>•  </a:t>
            </a:r>
            <a:r>
              <a:rPr sz="1600" b="0" i="0">
                <a:solidFill>
                  <a:srgbClr val="222B22"/>
                </a:solidFill>
                <a:latin typeface="Calibri"/>
              </a:rPr>
              <a:t>Practice that one condition in that one friendship more intentionally than usual this week — practically</a:t>
            </a:r>
          </a:p>
          <a:p>
            <a:pPr marL="685800" indent="-274320">
              <a:spcAft>
                <a:spcPts val="550"/>
              </a:spcAft>
            </a:pPr>
            <a:r>
              <a:rPr sz="1500" b="1" i="0">
                <a:solidFill>
                  <a:srgbClr val="97BC62"/>
                </a:solidFill>
                <a:latin typeface="Calibri"/>
              </a:rPr>
              <a:t>–  </a:t>
            </a:r>
            <a:r>
              <a:rPr sz="1500" b="0" i="1">
                <a:solidFill>
                  <a:srgbClr val="222B22"/>
                </a:solidFill>
                <a:latin typeface="Calibri"/>
              </a:rPr>
              <a:t>Presence — your phone is in another room. Clear — name something you have been quietly carrying</a:t>
            </a:r>
          </a:p>
          <a:p>
            <a:pPr marL="274320" indent="-274320">
              <a:spcAft>
                <a:spcPts val="750"/>
              </a:spcAft>
            </a:pPr>
            <a:r>
              <a:rPr sz="1600" b="1" i="0">
                <a:solidFill>
                  <a:srgbClr val="97BC62"/>
                </a:solidFill>
                <a:latin typeface="Calibri"/>
              </a:rPr>
              <a:t>•  </a:t>
            </a:r>
            <a:r>
              <a:rPr sz="1600" b="0" i="0">
                <a:solidFill>
                  <a:srgbClr val="222B22"/>
                </a:solidFill>
                <a:latin typeface="Calibri"/>
              </a:rPr>
              <a:t>“One friendship. One condition. Practice. Journal what happens.” — the Week 5 journal pages carry the card</a:t>
            </a:r>
          </a:p>
          <a:p>
            <a:pPr marL="274320" indent="-274320">
              <a:spcAft>
                <a:spcPts val="750"/>
              </a:spcAft>
            </a:pPr>
            <a:r>
              <a:rPr sz="1600" b="1" i="0">
                <a:solidFill>
                  <a:srgbClr val="97BC62"/>
                </a:solidFill>
                <a:latin typeface="Calibri"/>
              </a:rPr>
              <a:t>•  </a:t>
            </a:r>
            <a:r>
              <a:rPr sz="1600" b="0" i="0">
                <a:solidFill>
                  <a:srgbClr val="222B22"/>
                </a:solidFill>
                <a:latin typeface="Calibri"/>
              </a:rPr>
              <a:t>The morning question and evening journal note continue daily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seedling - what grows between Wednesdays"/>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5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“Last week we did the friendship audit and committed to one condition, one friendship, one week.”</a:t>
            </a:r>
          </a:p>
          <a:p>
            <a:pPr marL="274320" indent="-274320">
              <a:spcAft>
                <a:spcPts val="900"/>
              </a:spcAft>
            </a:pPr>
            <a:r>
              <a:rPr sz="1800" b="1" i="0">
                <a:solidFill>
                  <a:srgbClr val="97BC62"/>
                </a:solidFill>
                <a:latin typeface="Calibri"/>
              </a:rPr>
              <a:t>•  </a:t>
            </a:r>
            <a:r>
              <a:rPr sz="1800" b="0" i="0">
                <a:solidFill>
                  <a:srgbClr val="222B22"/>
                </a:solidFill>
                <a:latin typeface="Calibri"/>
              </a:rPr>
              <a:t>“One sentence about how that practice landed.” — an arranged parent starts</a:t>
            </a:r>
          </a:p>
          <a:p>
            <a:pPr marL="274320" indent="-274320">
              <a:spcAft>
                <a:spcPts val="900"/>
              </a:spcAft>
            </a:pPr>
            <a:r>
              <a:rPr sz="1800" b="1" i="0">
                <a:solidFill>
                  <a:srgbClr val="97BC62"/>
                </a:solidFill>
                <a:latin typeface="Calibri"/>
              </a:rPr>
              <a:t>•  </a:t>
            </a:r>
            <a:r>
              <a:rPr sz="1800" b="0" i="0">
                <a:solidFill>
                  <a:srgbClr val="222B22"/>
                </a:solidFill>
                <a:latin typeface="Calibri"/>
              </a:rPr>
              <a:t>Two or three voices is plenty — optional, no pressure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2" name="Picture 32" descr="trail cairn - the weekly check-in"/>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Confession as Architecture</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500" b="1" i="0">
                <a:solidFill>
                  <a:srgbClr val="97BC62"/>
                </a:solidFill>
                <a:latin typeface="Calibri"/>
              </a:rPr>
              <a:t>•  </a:t>
            </a:r>
            <a:r>
              <a:rPr sz="1500" b="0" i="0">
                <a:solidFill>
                  <a:srgbClr val="222B22"/>
                </a:solidFill>
                <a:latin typeface="Calibri"/>
              </a:rPr>
              <a:t>Two verses, two angles — 1 John 1:9 is vertical: confession to God, with full assurance. James 5:16 is horizontal: confession to one another, for healing</a:t>
            </a:r>
          </a:p>
          <a:p>
            <a:pPr marL="274320" indent="-274320">
              <a:spcAft>
                <a:spcPts val="650"/>
              </a:spcAft>
            </a:pPr>
            <a:r>
              <a:rPr sz="1500" b="1" i="0">
                <a:solidFill>
                  <a:srgbClr val="97BC62"/>
                </a:solidFill>
                <a:latin typeface="Calibri"/>
              </a:rPr>
              <a:t>•  </a:t>
            </a:r>
            <a:r>
              <a:rPr sz="1500" b="0" i="0">
                <a:solidFill>
                  <a:srgbClr val="222B22"/>
                </a:solidFill>
                <a:latin typeface="Calibri"/>
              </a:rPr>
              <a:t>Most Christians live in 1 John 1:9 and never enter James 5:16. Tonight we enter it carefully and at age</a:t>
            </a:r>
          </a:p>
          <a:p>
            <a:pPr marL="274320" indent="-274320">
              <a:spcAft>
                <a:spcPts val="650"/>
              </a:spcAft>
            </a:pPr>
            <a:r>
              <a:rPr sz="1500" b="1" i="0">
                <a:solidFill>
                  <a:srgbClr val="97BC62"/>
                </a:solidFill>
                <a:latin typeface="Calibri"/>
              </a:rPr>
              <a:t>•  </a:t>
            </a:r>
            <a:r>
              <a:rPr sz="1500" b="0" i="0">
                <a:solidFill>
                  <a:srgbClr val="222B22"/>
                </a:solidFill>
                <a:latin typeface="Calibri"/>
              </a:rPr>
              <a:t>Patterns we hide from each other tend to keep their grip — bringing them into the light, in front of trusted people, is part of what breaks it</a:t>
            </a:r>
          </a:p>
          <a:p>
            <a:pPr marL="274320" indent="-274320">
              <a:spcAft>
                <a:spcPts val="650"/>
              </a:spcAft>
            </a:pPr>
            <a:r>
              <a:rPr sz="1500" b="1" i="0">
                <a:solidFill>
                  <a:srgbClr val="97BC62"/>
                </a:solidFill>
                <a:latin typeface="Calibri"/>
              </a:rPr>
              <a:t>•  </a:t>
            </a:r>
            <a:r>
              <a:rPr sz="1500" b="0" i="0">
                <a:solidFill>
                  <a:srgbClr val="222B22"/>
                </a:solidFill>
                <a:latin typeface="Calibri"/>
              </a:rPr>
              <a:t>Not detailed sin disclosure — each person names ONE place where they want to walk in greater honesty: the place, the pattern, the pull</a:t>
            </a:r>
          </a:p>
          <a:p>
            <a:pPr marL="274320" indent="-274320">
              <a:spcAft>
                <a:spcPts val="650"/>
              </a:spcAft>
            </a:pPr>
            <a:r>
              <a:rPr sz="1500" b="1" i="0">
                <a:solidFill>
                  <a:srgbClr val="97BC62"/>
                </a:solidFill>
                <a:latin typeface="Calibri"/>
              </a:rPr>
              <a:t>•  </a:t>
            </a:r>
            <a:r>
              <a:rPr sz="1500" b="0" i="0">
                <a:solidFill>
                  <a:srgbClr val="222B22"/>
                </a:solidFill>
                <a:latin typeface="Calibri"/>
              </a:rPr>
              <a:t>The parents go first in every cluster — the older generation owes the younger the demonstration</a:t>
            </a:r>
          </a:p>
          <a:p>
            <a:pPr marL="274320" indent="-274320">
              <a:spcAft>
                <a:spcPts val="650"/>
              </a:spcAft>
            </a:pPr>
            <a:r>
              <a:rPr sz="1500" b="1" i="0">
                <a:solidFill>
                  <a:srgbClr val="97BC62"/>
                </a:solidFill>
                <a:latin typeface="Calibri"/>
              </a:rPr>
              <a:t>•  </a:t>
            </a:r>
            <a:r>
              <a:rPr sz="1500" b="0" i="0">
                <a:solidFill>
                  <a:srgbClr val="222B22"/>
                </a:solidFill>
                <a:latin typeface="Calibri"/>
              </a:rPr>
              <a:t>After each naming, the circle speaks a specific blessing of restoration — about three minutes per person</a:t>
            </a:r>
          </a:p>
        </p:txBody>
      </p:sp>
      <p:sp>
        <p:nvSpPr>
          <p:cNvPr id="6" name="TextBox 6"/>
          <p:cNvSpPr txBox="1"/>
          <p:nvPr/>
        </p:nvSpPr>
        <p:spPr>
          <a:xfrm>
            <a:off x="6766560" y="1737360"/>
            <a:ext cx="4663440" cy="3694176"/>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JAMES 5:16 · 1 JOHN 1:9</a:t>
            </a:r>
          </a:p>
          <a:p>
            <a:pPr>
              <a:spcAft>
                <a:spcPts val="600"/>
              </a:spcAft>
            </a:pPr>
            <a:r>
              <a:rPr sz="1600" b="0" i="1">
                <a:solidFill>
                  <a:srgbClr val="222B22"/>
                </a:solidFill>
                <a:latin typeface="Cambria"/>
              </a:rPr>
              <a:t>“Therefore, confess your sins to one another and pray for one another, that you may be healed. The prayer of a righteous person has great power as it is working.”</a:t>
            </a:r>
          </a:p>
          <a:p>
            <a:pPr>
              <a:spcAft>
                <a:spcPts val="600"/>
              </a:spcAft>
            </a:pPr>
            <a:r>
              <a:rPr sz="1600" b="0" i="1">
                <a:solidFill>
                  <a:srgbClr val="222B22"/>
                </a:solidFill>
                <a:latin typeface="Cambria"/>
              </a:rPr>
              <a:t>“If we confess our sins, he is faithful and just to forgive us our sins and to cleanse us from all unrighteousness.”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Companion Demo</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Lead Companion does the practice in front of the whole room — this sets the depth and the form</a:t>
            </a:r>
          </a:p>
          <a:p>
            <a:pPr marL="274320" indent="-274320">
              <a:spcAft>
                <a:spcPts val="900"/>
              </a:spcAft>
            </a:pPr>
            <a:r>
              <a:rPr sz="1800" b="1" i="0">
                <a:solidFill>
                  <a:srgbClr val="97BC62"/>
                </a:solidFill>
                <a:latin typeface="Calibri"/>
              </a:rPr>
              <a:t>•  </a:t>
            </a:r>
            <a:r>
              <a:rPr sz="1800" b="0" i="0">
                <a:solidFill>
                  <a:srgbClr val="222B22"/>
                </a:solidFill>
                <a:latin typeface="Calibri"/>
              </a:rPr>
              <a:t>One sentence: “The place where I want to walk in greater honesty is ______.” Real but not graphic</a:t>
            </a:r>
          </a:p>
          <a:p>
            <a:pPr marL="274320" indent="-274320">
              <a:spcAft>
                <a:spcPts val="900"/>
              </a:spcAft>
            </a:pPr>
            <a:r>
              <a:rPr sz="1800" b="1" i="0">
                <a:solidFill>
                  <a:srgbClr val="97BC62"/>
                </a:solidFill>
                <a:latin typeface="Calibri"/>
              </a:rPr>
              <a:t>•  </a:t>
            </a:r>
            <a:r>
              <a:rPr sz="1800" b="0" i="0">
                <a:solidFill>
                  <a:srgbClr val="222B22"/>
                </a:solidFill>
                <a:latin typeface="Calibri"/>
              </a:rPr>
              <a:t>Pause. A pre-arranged Co-Companion speaks a brief blessing of restoration back</a:t>
            </a:r>
          </a:p>
          <a:p>
            <a:pPr marL="274320" indent="-274320">
              <a:spcAft>
                <a:spcPts val="900"/>
              </a:spcAft>
            </a:pPr>
            <a:r>
              <a:rPr sz="1800" b="1" i="0">
                <a:solidFill>
                  <a:srgbClr val="97BC62"/>
                </a:solidFill>
                <a:latin typeface="Calibri"/>
              </a:rPr>
              <a:t>•  </a:t>
            </a:r>
            <a:r>
              <a:rPr sz="1800" b="0" i="0">
                <a:solidFill>
                  <a:srgbClr val="222B22"/>
                </a:solidFill>
                <a:latin typeface="Calibri"/>
              </a:rPr>
              <a:t>Receive it — no deflecting, no joking, no minimizing. “Thank you.”</a:t>
            </a:r>
          </a:p>
          <a:p>
            <a:pPr marL="274320" indent="-274320">
              <a:spcAft>
                <a:spcPts val="900"/>
              </a:spcAft>
            </a:pPr>
            <a:r>
              <a:rPr sz="1800" b="1" i="0">
                <a:solidFill>
                  <a:srgbClr val="97BC62"/>
                </a:solidFill>
                <a:latin typeface="Calibri"/>
              </a:rPr>
              <a:t>•  </a:t>
            </a:r>
            <a:r>
              <a:rPr sz="1800" b="0" i="0">
                <a:solidFill>
                  <a:srgbClr val="222B22"/>
                </a:solidFill>
                <a:latin typeface="Calibri"/>
              </a:rPr>
              <a:t>“That is the practice. You will do it in your cluster — parents first, then teens. Yours doesn’t have to look like mine.”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Split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900"/>
              </a:spcAft>
            </a:pPr>
            <a:r>
              <a:rPr sz="1800" b="1" i="0">
                <a:solidFill>
                  <a:srgbClr val="97BC62"/>
                </a:solidFill>
                <a:latin typeface="Calibri"/>
              </a:rPr>
              <a:t>1   </a:t>
            </a:r>
            <a:r>
              <a:rPr sz="1800" b="0" i="0">
                <a:solidFill>
                  <a:srgbClr val="222B22"/>
                </a:solidFill>
                <a:latin typeface="Calibri"/>
              </a:rPr>
              <a:t>“Take what helps from the prompts. You don’t have to use any of them.”</a:t>
            </a:r>
          </a:p>
          <a:p>
            <a:pPr marL="342900" indent="-342900">
              <a:spcAft>
                <a:spcPts val="900"/>
              </a:spcAft>
            </a:pPr>
            <a:r>
              <a:rPr sz="1800" b="1" i="0">
                <a:solidFill>
                  <a:srgbClr val="97BC62"/>
                </a:solidFill>
                <a:latin typeface="Calibri"/>
              </a:rPr>
              <a:t>2   </a:t>
            </a:r>
            <a:r>
              <a:rPr sz="1800" b="0" i="0">
                <a:solidFill>
                  <a:srgbClr val="222B22"/>
                </a:solidFill>
                <a:latin typeface="Calibri"/>
              </a:rPr>
              <a:t>The blessing card — specific, short, witnessed: “In the name of Jesus, we pray restoration over...”</a:t>
            </a:r>
          </a:p>
          <a:p>
            <a:pPr marL="342900" indent="-342900">
              <a:spcAft>
                <a:spcPts val="900"/>
              </a:spcAft>
            </a:pPr>
            <a:r>
              <a:rPr sz="1800" b="1" i="0">
                <a:solidFill>
                  <a:srgbClr val="97BC62"/>
                </a:solidFill>
                <a:latin typeface="Calibri"/>
              </a:rPr>
              <a:t>3   </a:t>
            </a:r>
            <a:r>
              <a:rPr sz="1800" b="0" i="0">
                <a:solidFill>
                  <a:srgbClr val="222B22"/>
                </a:solidFill>
                <a:latin typeface="Calibri"/>
              </a:rPr>
              <a:t>“The container holds. Nothing leaves the cluster. Not even back to the main room. Especially this week.”</a:t>
            </a:r>
          </a:p>
          <a:p>
            <a:pPr marL="274320" indent="-274320">
              <a:spcAft>
                <a:spcPts val="900"/>
              </a:spcAft>
            </a:pPr>
            <a:r>
              <a:rPr sz="1800" b="1" i="0">
                <a:solidFill>
                  <a:srgbClr val="97BC62"/>
                </a:solidFill>
                <a:latin typeface="Calibri"/>
              </a:rPr>
              <a:t>•  </a:t>
            </a:r>
            <a:r>
              <a:rPr sz="1800" b="0" i="0">
                <a:solidFill>
                  <a:srgbClr val="222B22"/>
                </a:solidFill>
                <a:latin typeface="Calibri"/>
              </a:rPr>
              <a:t>The order holds too: your Companion first, then the parents, then the teens</a:t>
            </a:r>
          </a:p>
          <a:p>
            <a:pPr marL="274320" indent="-274320">
              <a:spcAft>
                <a:spcPts val="900"/>
              </a:spcAft>
            </a:pPr>
            <a:r>
              <a:rPr sz="1800" b="1" i="0">
                <a:solidFill>
                  <a:srgbClr val="97BC62"/>
                </a:solidFill>
                <a:latin typeface="Calibri"/>
              </a:rPr>
              <a:t>•  </a:t>
            </a:r>
            <a:r>
              <a:rPr sz="1800" b="0" i="0">
                <a:solidFill>
                  <a:srgbClr val="222B22"/>
                </a:solidFill>
                <a:latin typeface="Calibri"/>
              </a:rPr>
              <a:t>“Teens — your depth is yours, and pass is always allowed.”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Confession and Restoration in Family Clusters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Ninety seconds of silence to settle in — the silence is part of the practice</a:t>
            </a:r>
          </a:p>
          <a:p>
            <a:pPr marL="342900" indent="-342900">
              <a:spcAft>
                <a:spcPts val="750"/>
              </a:spcAft>
            </a:pPr>
            <a:r>
              <a:rPr sz="1600" b="1" i="0">
                <a:solidFill>
                  <a:srgbClr val="97BC62"/>
                </a:solidFill>
                <a:latin typeface="Calibri"/>
              </a:rPr>
              <a:t>1   </a:t>
            </a:r>
            <a:r>
              <a:rPr sz="1600" b="0" i="0">
                <a:solidFill>
                  <a:srgbClr val="222B22"/>
                </a:solidFill>
                <a:latin typeface="Calibri"/>
              </a:rPr>
              <a:t>The Cluster Companion goes first — names one place, receives a blessing</a:t>
            </a:r>
          </a:p>
          <a:p>
            <a:pPr marL="342900" indent="-342900">
              <a:spcAft>
                <a:spcPts val="750"/>
              </a:spcAft>
            </a:pPr>
            <a:r>
              <a:rPr sz="1600" b="1" i="0">
                <a:solidFill>
                  <a:srgbClr val="97BC62"/>
                </a:solidFill>
                <a:latin typeface="Calibri"/>
              </a:rPr>
              <a:t>2   </a:t>
            </a:r>
            <a:r>
              <a:rPr sz="1600" b="0" i="0">
                <a:solidFill>
                  <a:srgbClr val="222B22"/>
                </a:solidFill>
                <a:latin typeface="Calibri"/>
              </a:rPr>
              <a:t>The parents next — the arranged parent opens; own struggles only, within the rails</a:t>
            </a:r>
          </a:p>
          <a:p>
            <a:pPr marL="342900" indent="-342900">
              <a:spcAft>
                <a:spcPts val="750"/>
              </a:spcAft>
            </a:pPr>
            <a:r>
              <a:rPr sz="1600" b="1" i="0">
                <a:solidFill>
                  <a:srgbClr val="97BC62"/>
                </a:solidFill>
                <a:latin typeface="Calibri"/>
              </a:rPr>
              <a:t>3   </a:t>
            </a:r>
            <a:r>
              <a:rPr sz="1600" b="0" i="0">
                <a:solidFill>
                  <a:srgbClr val="222B22"/>
                </a:solidFill>
                <a:latin typeface="Calibri"/>
              </a:rPr>
              <a:t>The teens — each names one place at whatever depth they choose. Pass is real, honored without a flicker</a:t>
            </a:r>
          </a:p>
          <a:p>
            <a:pPr marL="274320" indent="-274320">
              <a:spcAft>
                <a:spcPts val="750"/>
              </a:spcAft>
            </a:pPr>
            <a:r>
              <a:rPr sz="1600" b="1" i="0">
                <a:solidFill>
                  <a:srgbClr val="97BC62"/>
                </a:solidFill>
                <a:latin typeface="Calibri"/>
              </a:rPr>
              <a:t>•  </a:t>
            </a:r>
            <a:r>
              <a:rPr sz="1600" b="0" i="0">
                <a:solidFill>
                  <a:srgbClr val="222B22"/>
                </a:solidFill>
                <a:latin typeface="Calibri"/>
              </a:rPr>
              <a:t>The form: “The place where I want to walk in greater honesty before God is ______.”</a:t>
            </a:r>
          </a:p>
          <a:p>
            <a:pPr marL="274320" indent="-274320">
              <a:spcAft>
                <a:spcPts val="750"/>
              </a:spcAft>
            </a:pPr>
            <a:r>
              <a:rPr sz="1600" b="1" i="0">
                <a:solidFill>
                  <a:srgbClr val="97BC62"/>
                </a:solidFill>
                <a:latin typeface="Calibri"/>
              </a:rPr>
              <a:t>•  </a:t>
            </a:r>
            <a:r>
              <a:rPr sz="1600" b="0" i="0">
                <a:solidFill>
                  <a:srgbClr val="222B22"/>
                </a:solidFill>
                <a:latin typeface="Calibri"/>
              </a:rPr>
              <a:t>After each naming, a brief specific blessing — a teen blessing their own parent is one of the best things this night can produce</a:t>
            </a:r>
          </a:p>
          <a:p>
            <a:pPr marL="274320" indent="-274320">
              <a:spcAft>
                <a:spcPts val="750"/>
              </a:spcAft>
            </a:pPr>
            <a:r>
              <a:rPr sz="1600" b="1" i="0">
                <a:solidFill>
                  <a:srgbClr val="97BC62"/>
                </a:solidFill>
                <a:latin typeface="Calibri"/>
              </a:rPr>
              <a:t>•  </a:t>
            </a:r>
            <a:r>
              <a:rPr sz="1600" b="0" i="0">
                <a:solidFill>
                  <a:srgbClr val="222B22"/>
                </a:solidFill>
                <a:latin typeface="Calibri"/>
              </a:rPr>
              <a:t>Closing silence — “We have named real things tonight. Let’s sit with what was said.”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0" name="Picture 30" descr="clear sunlit water over stones"/>
          <p:cNvPicPr>
            <a:picLocks noChangeAspect="1"/>
          </p:cNvPicPr>
          <p:nvPr/>
        </p:nvPicPr>
        <p:blipFill>
          <a:blip r:embed="rId2"/>
          <a:stretch>
            <a:fillRect/>
          </a:stretch>
        </p:blipFill>
        <p:spPr>
          <a:xfrm>
            <a:off x="8076095" y="1463040"/>
            <a:ext cx="3289896" cy="4892040"/>
          </a:xfrm>
          <a:prstGeom prst="rect">
            <a:avLst/>
          </a:prstGeom>
        </p:spPr>
      </p:pic>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Shared Blessing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What happened in your cluster stays in your cluster</a:t>
            </a:r>
          </a:p>
          <a:p>
            <a:pPr marL="274320" indent="-274320">
              <a:spcAft>
                <a:spcPts val="900"/>
              </a:spcAft>
            </a:pPr>
            <a:r>
              <a:rPr sz="1800" b="1" i="0">
                <a:solidFill>
                  <a:srgbClr val="97BC62"/>
                </a:solidFill>
                <a:latin typeface="Calibri"/>
              </a:rPr>
              <a:t>•  </a:t>
            </a:r>
            <a:r>
              <a:rPr sz="1800" b="0" i="0">
                <a:solidFill>
                  <a:srgbClr val="222B22"/>
                </a:solidFill>
                <a:latin typeface="Calibri"/>
              </a:rPr>
              <a:t>“One word about what tonight was like in your body. ‘Heavy.’ ‘Lighter.’ ‘Held.’ ‘Tender.’ ‘Surprised.’” — an arranged parent starts</a:t>
            </a:r>
          </a:p>
          <a:p>
            <a:pPr marL="274320" indent="-274320">
              <a:spcAft>
                <a:spcPts val="900"/>
              </a:spcAft>
            </a:pPr>
            <a:r>
              <a:rPr sz="1800" b="1" i="0">
                <a:solidFill>
                  <a:srgbClr val="97BC62"/>
                </a:solidFill>
                <a:latin typeface="Calibri"/>
              </a:rPr>
              <a:t>•  </a:t>
            </a:r>
            <a:r>
              <a:rPr sz="1800" b="0" i="0">
                <a:solidFill>
                  <a:srgbClr val="222B22"/>
                </a:solidFill>
                <a:latin typeface="Calibri"/>
              </a:rPr>
              <a:t>Then one shared blessing of restoration over the whole room — “Hands up if you want”</a:t>
            </a:r>
          </a:p>
          <a:p>
            <a:pPr marL="274320" indent="-274320">
              <a:spcAft>
                <a:spcPts val="900"/>
              </a:spcAft>
            </a:pPr>
            <a:r>
              <a:rPr sz="1800" b="1" i="0">
                <a:solidFill>
                  <a:srgbClr val="97BC62"/>
                </a:solidFill>
                <a:latin typeface="Calibri"/>
              </a:rPr>
              <a:t>•  </a:t>
            </a:r>
            <a:r>
              <a:rPr sz="1800" b="0" i="0">
                <a:solidFill>
                  <a:srgbClr val="222B22"/>
                </a:solidFill>
                <a:latin typeface="Calibri"/>
              </a:rPr>
              <a:t>“We pray restoration into every place that was named... Holy Spirit, walk these brothers and sisters home.”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 — the Five-Minute Examen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The Five-Minute Examen — five minutes with God each evening, before bed, carried through the quarter break</a:t>
            </a:r>
          </a:p>
          <a:p>
            <a:pPr marL="342900" indent="-342900">
              <a:spcAft>
                <a:spcPts val="750"/>
              </a:spcAft>
            </a:pPr>
            <a:r>
              <a:rPr sz="1600" b="1" i="0">
                <a:solidFill>
                  <a:srgbClr val="97BC62"/>
                </a:solidFill>
                <a:latin typeface="Calibri"/>
              </a:rPr>
              <a:t>1   </a:t>
            </a:r>
            <a:r>
              <a:rPr sz="1600" b="0" i="0">
                <a:solidFill>
                  <a:srgbClr val="222B22"/>
                </a:solidFill>
                <a:latin typeface="Calibri"/>
              </a:rPr>
              <a:t>Thank Him for one specific thing from the day</a:t>
            </a:r>
          </a:p>
          <a:p>
            <a:pPr marL="342900" indent="-342900">
              <a:spcAft>
                <a:spcPts val="750"/>
              </a:spcAft>
            </a:pPr>
            <a:r>
              <a:rPr sz="1600" b="1" i="0">
                <a:solidFill>
                  <a:srgbClr val="97BC62"/>
                </a:solidFill>
                <a:latin typeface="Calibri"/>
              </a:rPr>
              <a:t>2   </a:t>
            </a:r>
            <a:r>
              <a:rPr sz="1600" b="0" i="0">
                <a:solidFill>
                  <a:srgbClr val="222B22"/>
                </a:solidFill>
                <a:latin typeface="Calibri"/>
              </a:rPr>
              <a:t>Notice one place where you saw God moving</a:t>
            </a:r>
          </a:p>
          <a:p>
            <a:pPr marL="342900" indent="-342900">
              <a:spcAft>
                <a:spcPts val="750"/>
              </a:spcAft>
            </a:pPr>
            <a:r>
              <a:rPr sz="1600" b="1" i="0">
                <a:solidFill>
                  <a:srgbClr val="97BC62"/>
                </a:solidFill>
                <a:latin typeface="Calibri"/>
              </a:rPr>
              <a:t>3   </a:t>
            </a:r>
            <a:r>
              <a:rPr sz="1600" b="0" i="0">
                <a:solidFill>
                  <a:srgbClr val="222B22"/>
                </a:solidFill>
                <a:latin typeface="Calibri"/>
              </a:rPr>
              <a:t>Ask Him about one place where you walked in less honesty than you wanted to today — just notice. No fixing</a:t>
            </a:r>
          </a:p>
          <a:p>
            <a:pPr marL="274320" indent="-274320">
              <a:spcAft>
                <a:spcPts val="750"/>
              </a:spcAft>
            </a:pPr>
            <a:r>
              <a:rPr sz="1600" b="1" i="0">
                <a:solidFill>
                  <a:srgbClr val="97BC62"/>
                </a:solidFill>
                <a:latin typeface="Calibri"/>
              </a:rPr>
              <a:t>•  </a:t>
            </a:r>
            <a:r>
              <a:rPr sz="1600" b="0" i="0">
                <a:solidFill>
                  <a:srgbClr val="222B22"/>
                </a:solidFill>
                <a:latin typeface="Calibri"/>
              </a:rPr>
              <a:t>The Quarterly Pulse goes home tonight — three questions, five minutes, sign it or leave it anonymous</a:t>
            </a:r>
          </a:p>
          <a:p>
            <a:pPr marL="274320" indent="-274320">
              <a:spcAft>
                <a:spcPts val="750"/>
              </a:spcAft>
            </a:pPr>
            <a:r>
              <a:rPr sz="1600" b="1" i="0">
                <a:solidFill>
                  <a:srgbClr val="97BC62"/>
                </a:solidFill>
                <a:latin typeface="Calibri"/>
              </a:rPr>
              <a:t>•  </a:t>
            </a:r>
            <a:r>
              <a:rPr sz="1600" b="0" i="0">
                <a:solidFill>
                  <a:srgbClr val="222B22"/>
                </a:solidFill>
                <a:latin typeface="Calibri"/>
              </a:rPr>
              <a:t>It comes back to the bin at the door at Week 7</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seedling - what grows between Wednesdays"/>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Re-Entry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First gathering of Quarter 2 — the container re-held slowly after the break</a:t>
            </a:r>
          </a:p>
          <a:p>
            <a:pPr marL="274320" indent="-274320">
              <a:spcAft>
                <a:spcPts val="900"/>
              </a:spcAft>
            </a:pPr>
            <a:r>
              <a:rPr sz="1800" b="1" i="0">
                <a:solidFill>
                  <a:srgbClr val="97BC62"/>
                </a:solidFill>
                <a:latin typeface="Calibri"/>
              </a:rPr>
              <a:t>•  </a:t>
            </a:r>
            <a:r>
              <a:rPr sz="1800" b="0" i="0">
                <a:solidFill>
                  <a:srgbClr val="222B22"/>
                </a:solidFill>
                <a:latin typeface="Calibri"/>
              </a:rPr>
              <a:t>“Take ninety seconds: one sentence about the Examen, or about how the break treated your practice, or anything that has shifted.”</a:t>
            </a:r>
          </a:p>
          <a:p>
            <a:pPr marL="685800" indent="-274320">
              <a:spcAft>
                <a:spcPts val="700"/>
              </a:spcAft>
            </a:pPr>
            <a:r>
              <a:rPr sz="1600" b="1" i="0">
                <a:solidFill>
                  <a:srgbClr val="97BC62"/>
                </a:solidFill>
                <a:latin typeface="Calibri"/>
              </a:rPr>
              <a:t>–  </a:t>
            </a:r>
            <a:r>
              <a:rPr sz="1600" b="0" i="1">
                <a:solidFill>
                  <a:srgbClr val="222B22"/>
                </a:solidFill>
                <a:latin typeface="Calibri"/>
              </a:rPr>
              <a:t>“Thinned out over the break is a completely normal answer — the practice picks up where you are.”</a:t>
            </a:r>
          </a:p>
          <a:p>
            <a:pPr marL="274320" indent="-274320">
              <a:spcAft>
                <a:spcPts val="900"/>
              </a:spcAft>
            </a:pPr>
            <a:r>
              <a:rPr sz="1800" b="1" i="0">
                <a:solidFill>
                  <a:srgbClr val="97BC62"/>
                </a:solidFill>
                <a:latin typeface="Calibri"/>
              </a:rPr>
              <a:t>•  </a:t>
            </a:r>
            <a:r>
              <a:rPr sz="1800" b="0" i="0">
                <a:solidFill>
                  <a:srgbClr val="222B22"/>
                </a:solidFill>
                <a:latin typeface="Calibri"/>
              </a:rPr>
              <a:t>A parent starts the round — pass-anytime holds</a:t>
            </a:r>
          </a:p>
          <a:p>
            <a:pPr marL="274320" indent="-274320">
              <a:spcAft>
                <a:spcPts val="900"/>
              </a:spcAft>
            </a:pPr>
            <a:r>
              <a:rPr sz="1800" b="1" i="0">
                <a:solidFill>
                  <a:srgbClr val="97BC62"/>
                </a:solidFill>
                <a:latin typeface="Calibri"/>
              </a:rPr>
              <a:t>•  </a:t>
            </a:r>
            <a:r>
              <a:rPr sz="1800" b="0" i="0">
                <a:solidFill>
                  <a:srgbClr val="222B22"/>
                </a:solidFill>
                <a:latin typeface="Calibri"/>
              </a:rPr>
              <a:t>Week 6 still sitting heavy? “The team is here. Find one of us before you leave tonight.”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2" name="Picture 32" descr="trail cairn - the weekly check-in"/>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Romans 10:17 — The Chain</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One short verse, three steps: Word → Hearing → Faith — the order matters</a:t>
            </a:r>
          </a:p>
          <a:p>
            <a:pPr marL="274320" indent="-274320">
              <a:spcAft>
                <a:spcPts val="800"/>
              </a:spcAft>
            </a:pPr>
            <a:r>
              <a:rPr sz="1600" b="1" i="0">
                <a:solidFill>
                  <a:srgbClr val="97BC62"/>
                </a:solidFill>
                <a:latin typeface="Calibri"/>
              </a:rPr>
              <a:t>•  </a:t>
            </a:r>
            <a:r>
              <a:rPr sz="1600" b="0" i="0">
                <a:solidFill>
                  <a:srgbClr val="222B22"/>
                </a:solidFill>
                <a:latin typeface="Calibri"/>
              </a:rPr>
              <a:t>Not trying harder, not emotional experience — faith is a fruit of a particular practice</a:t>
            </a:r>
          </a:p>
          <a:p>
            <a:pPr marL="274320" indent="-274320">
              <a:spcAft>
                <a:spcPts val="800"/>
              </a:spcAft>
            </a:pPr>
            <a:r>
              <a:rPr sz="1600" b="1" i="0">
                <a:solidFill>
                  <a:srgbClr val="97BC62"/>
                </a:solidFill>
                <a:latin typeface="Calibri"/>
              </a:rPr>
              <a:t>•  </a:t>
            </a:r>
            <a:r>
              <a:rPr sz="1600" b="0" i="0">
                <a:solidFill>
                  <a:srgbClr val="222B22"/>
                </a:solidFill>
                <a:latin typeface="Calibri"/>
              </a:rPr>
              <a:t>How much of our “Bible time” is actually hearing, and how much is reading without hearing?</a:t>
            </a:r>
          </a:p>
          <a:p>
            <a:pPr marL="274320" indent="-274320">
              <a:spcAft>
                <a:spcPts val="800"/>
              </a:spcAft>
            </a:pPr>
            <a:r>
              <a:rPr sz="1600" b="1" i="0">
                <a:solidFill>
                  <a:srgbClr val="97BC62"/>
                </a:solidFill>
                <a:latin typeface="Calibri"/>
              </a:rPr>
              <a:t>•  </a:t>
            </a:r>
            <a:r>
              <a:rPr sz="1600" b="0" i="0">
                <a:solidFill>
                  <a:srgbClr val="222B22"/>
                </a:solidFill>
                <a:latin typeface="Calibri"/>
              </a:rPr>
              <a:t>Hearing is a skill — skills develop with practice</a:t>
            </a:r>
          </a:p>
          <a:p>
            <a:pPr marL="274320" indent="-274320">
              <a:spcAft>
                <a:spcPts val="800"/>
              </a:spcAft>
            </a:pPr>
            <a:r>
              <a:rPr sz="1600" b="1" i="0">
                <a:solidFill>
                  <a:srgbClr val="97BC62"/>
                </a:solidFill>
                <a:latin typeface="Calibri"/>
              </a:rPr>
              <a:t>•  </a:t>
            </a:r>
            <a:r>
              <a:rPr sz="1600" b="0" i="0">
                <a:solidFill>
                  <a:srgbClr val="222B22"/>
                </a:solidFill>
                <a:latin typeface="Calibri"/>
              </a:rPr>
              <a:t>The practice: PROAPT — Pray, Read, Observe, Apply, Pray again, Tell (Truro Church, 1980s)</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ROMANS 10:17</a:t>
            </a:r>
          </a:p>
          <a:p>
            <a:pPr>
              <a:spcAft>
                <a:spcPts val="600"/>
              </a:spcAft>
            </a:pPr>
            <a:r>
              <a:rPr sz="1600" b="0" i="1">
                <a:solidFill>
                  <a:srgbClr val="222B22"/>
                </a:solidFill>
                <a:latin typeface="Cambria"/>
              </a:rPr>
              <a:t>“So faith comes from hearing, and hearing through the word of Christ.”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PROAPT Walked Together — Mark 1:14–20</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342900" indent="-342900">
              <a:spcAft>
                <a:spcPts val="750"/>
              </a:spcAft>
            </a:pPr>
            <a:r>
              <a:rPr sz="1600" b="1" i="0">
                <a:solidFill>
                  <a:srgbClr val="97BC62"/>
                </a:solidFill>
                <a:latin typeface="Calibri"/>
              </a:rPr>
              <a:t>1   </a:t>
            </a:r>
            <a:r>
              <a:rPr sz="1600" b="0" i="0">
                <a:solidFill>
                  <a:srgbClr val="222B22"/>
                </a:solidFill>
                <a:latin typeface="Calibri"/>
              </a:rPr>
              <a:t>Pray — “Holy Spirit, you are welcome here. Speak. We are listening.”</a:t>
            </a:r>
          </a:p>
          <a:p>
            <a:pPr marL="342900" indent="-342900">
              <a:spcAft>
                <a:spcPts val="750"/>
              </a:spcAft>
            </a:pPr>
            <a:r>
              <a:rPr sz="1600" b="1" i="0">
                <a:solidFill>
                  <a:srgbClr val="97BC62"/>
                </a:solidFill>
                <a:latin typeface="Calibri"/>
              </a:rPr>
              <a:t>2   </a:t>
            </a:r>
            <a:r>
              <a:rPr sz="1600" b="0" i="0">
                <a:solidFill>
                  <a:srgbClr val="222B22"/>
                </a:solidFill>
                <a:latin typeface="Calibri"/>
              </a:rPr>
              <a:t>Read — slowly, to receive it; don’t analyze yet</a:t>
            </a:r>
          </a:p>
          <a:p>
            <a:pPr marL="342900" indent="-342900">
              <a:spcAft>
                <a:spcPts val="750"/>
              </a:spcAft>
            </a:pPr>
            <a:r>
              <a:rPr sz="1600" b="1" i="0">
                <a:solidFill>
                  <a:srgbClr val="97BC62"/>
                </a:solidFill>
                <a:latin typeface="Calibri"/>
              </a:rPr>
              <a:t>3   </a:t>
            </a:r>
            <a:r>
              <a:rPr sz="1600" b="0" i="0">
                <a:solidFill>
                  <a:srgbClr val="222B22"/>
                </a:solidFill>
                <a:latin typeface="Calibri"/>
              </a:rPr>
              <a:t>Observe — two layers, in order: first the data (who, what, when, where — straight off the page), then the interpretation — what stands out or surprises you in it</a:t>
            </a:r>
          </a:p>
          <a:p>
            <a:pPr marL="342900" indent="-342900">
              <a:spcAft>
                <a:spcPts val="750"/>
              </a:spcAft>
            </a:pPr>
            <a:r>
              <a:rPr sz="1600" b="1" i="0">
                <a:solidFill>
                  <a:srgbClr val="97BC62"/>
                </a:solidFill>
                <a:latin typeface="Calibri"/>
              </a:rPr>
              <a:t>4   </a:t>
            </a:r>
            <a:r>
              <a:rPr sz="1600" b="0" i="0">
                <a:solidFill>
                  <a:srgbClr val="222B22"/>
                </a:solidFill>
                <a:latin typeface="Calibri"/>
              </a:rPr>
              <a:t>Apply — “What does this passage mean FOR YOU, TODAY, in your specific life?” — logos becomes rhema</a:t>
            </a:r>
          </a:p>
          <a:p>
            <a:pPr marL="342900" indent="-342900">
              <a:spcAft>
                <a:spcPts val="750"/>
              </a:spcAft>
            </a:pPr>
            <a:r>
              <a:rPr sz="1600" b="1" i="0">
                <a:solidFill>
                  <a:srgbClr val="97BC62"/>
                </a:solidFill>
                <a:latin typeface="Calibri"/>
              </a:rPr>
              <a:t>5   </a:t>
            </a:r>
            <a:r>
              <a:rPr sz="1600" b="0" i="0">
                <a:solidFill>
                  <a:srgbClr val="222B22"/>
                </a:solidFill>
                <a:latin typeface="Calibri"/>
              </a:rPr>
              <a:t>Pray again — tell God what you heard, what you are willing to do, what you’re struggling to be willing to do</a:t>
            </a:r>
          </a:p>
          <a:p>
            <a:pPr marL="342900" indent="-342900">
              <a:spcAft>
                <a:spcPts val="750"/>
              </a:spcAft>
            </a:pPr>
            <a:r>
              <a:rPr sz="1600" b="1" i="0">
                <a:solidFill>
                  <a:srgbClr val="97BC62"/>
                </a:solidFill>
                <a:latin typeface="Calibri"/>
              </a:rPr>
              <a:t>6   </a:t>
            </a:r>
            <a:r>
              <a:rPr sz="1600" b="0" i="0">
                <a:solidFill>
                  <a:srgbClr val="222B22"/>
                </a:solidFill>
                <a:latin typeface="Calibri"/>
              </a:rPr>
              <a:t>Tell — the most-often-skipped step; hearing spoken aloud has a different staying power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91" name="Picture 91" descr="an old wooden boat left ashore among moss and pines"/>
          <p:cNvPicPr>
            <a:picLocks noChangeAspect="1"/>
          </p:cNvPicPr>
          <p:nvPr/>
        </p:nvPicPr>
        <p:blipFill>
          <a:blip r:embed="rId2"/>
          <a:stretch>
            <a:fillRect/>
          </a:stretch>
        </p:blipFill>
        <p:spPr>
          <a:xfrm>
            <a:off x="7696962" y="1463040"/>
            <a:ext cx="3669030" cy="4892040"/>
          </a:xfrm>
          <a:prstGeom prst="rect">
            <a:avLst/>
          </a:prstGeom>
        </p:spPr>
      </p:pic>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Clusters — Pair Structure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Pair up in your family cluster — parent with teen, from your own family, by default</a:t>
            </a:r>
          </a:p>
          <a:p>
            <a:pPr marL="274320" indent="-274320">
              <a:spcAft>
                <a:spcPts val="900"/>
              </a:spcAft>
            </a:pPr>
            <a:r>
              <a:rPr sz="1800" b="1" i="0">
                <a:solidFill>
                  <a:srgbClr val="97BC62"/>
                </a:solidFill>
                <a:latin typeface="Calibri"/>
              </a:rPr>
              <a:t>•  </a:t>
            </a:r>
            <a:r>
              <a:rPr sz="1800" b="0" i="0">
                <a:solidFill>
                  <a:srgbClr val="222B22"/>
                </a:solidFill>
                <a:latin typeface="Calibri"/>
              </a:rPr>
              <a:t>One Reader, one Listener — Reader leads the six steps; after twelve minutes, switch</a:t>
            </a:r>
          </a:p>
          <a:p>
            <a:pPr marL="274320" indent="-274320">
              <a:spcAft>
                <a:spcPts val="900"/>
              </a:spcAft>
            </a:pPr>
            <a:r>
              <a:rPr sz="1800" b="1" i="0">
                <a:solidFill>
                  <a:srgbClr val="97BC62"/>
                </a:solidFill>
                <a:latin typeface="Calibri"/>
              </a:rPr>
              <a:t>•  </a:t>
            </a:r>
            <a:r>
              <a:rPr sz="1800" b="0" i="0">
                <a:solidFill>
                  <a:srgbClr val="222B22"/>
                </a:solidFill>
                <a:latin typeface="Calibri"/>
              </a:rPr>
              <a:t>“Pairing up with your own parent or your own teen is not the consolation-prize version — it is the design working.”</a:t>
            </a:r>
          </a:p>
          <a:p>
            <a:pPr marL="274320" indent="-274320">
              <a:spcAft>
                <a:spcPts val="900"/>
              </a:spcAft>
            </a:pPr>
            <a:r>
              <a:rPr sz="1800" b="1" i="0">
                <a:solidFill>
                  <a:srgbClr val="97BC62"/>
                </a:solidFill>
                <a:latin typeface="Calibri"/>
              </a:rPr>
              <a:t>•  </a:t>
            </a:r>
            <a:r>
              <a:rPr sz="1800" b="0" i="0">
                <a:solidFill>
                  <a:srgbClr val="222B22"/>
                </a:solidFill>
                <a:latin typeface="Calibri"/>
              </a:rPr>
              <a:t>Your Cluster Companion settles the pairs and completes any odd numbers</a:t>
            </a:r>
          </a:p>
          <a:p>
            <a:pPr marL="274320" indent="-274320">
              <a:spcAft>
                <a:spcPts val="900"/>
              </a:spcAft>
            </a:pPr>
            <a:r>
              <a:rPr sz="1800" b="1" i="0">
                <a:solidFill>
                  <a:srgbClr val="97BC62"/>
                </a:solidFill>
                <a:latin typeface="Calibri"/>
              </a:rPr>
              <a:t>•  </a:t>
            </a:r>
            <a:r>
              <a:rPr sz="1800" b="0" i="0">
                <a:solidFill>
                  <a:srgbClr val="222B22"/>
                </a:solidFill>
                <a:latin typeface="Calibri"/>
              </a:rPr>
              <a:t>Small room (about ten or fewer)? Stay as one circle and pair up in place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PROAPT in Family Pairs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1600" b="1" i="0">
                <a:solidFill>
                  <a:srgbClr val="97BC62"/>
                </a:solidFill>
                <a:latin typeface="Calibri"/>
              </a:rPr>
              <a:t>1   </a:t>
            </a:r>
            <a:r>
              <a:rPr sz="1600" b="0" i="0">
                <a:solidFill>
                  <a:srgbClr val="222B22"/>
                </a:solidFill>
                <a:latin typeface="Calibri"/>
              </a:rPr>
              <a:t>First pass (12 min) — Reader leads PROAPT; Listener works alongside without interrupting</a:t>
            </a:r>
          </a:p>
          <a:p>
            <a:pPr marL="342900" indent="-342900">
              <a:spcAft>
                <a:spcPts val="750"/>
              </a:spcAft>
            </a:pPr>
            <a:r>
              <a:rPr sz="1600" b="1" i="0">
                <a:solidFill>
                  <a:srgbClr val="97BC62"/>
                </a:solidFill>
                <a:latin typeface="Calibri"/>
              </a:rPr>
              <a:t>2   </a:t>
            </a:r>
            <a:r>
              <a:rPr sz="1600" b="0" i="0">
                <a:solidFill>
                  <a:srgbClr val="222B22"/>
                </a:solidFill>
                <a:latin typeface="Calibri"/>
              </a:rPr>
              <a:t>Reader’s Tell at the end goes to the Listener — one sentence</a:t>
            </a:r>
          </a:p>
          <a:p>
            <a:pPr marL="342900" indent="-342900">
              <a:spcAft>
                <a:spcPts val="750"/>
              </a:spcAft>
            </a:pPr>
            <a:r>
              <a:rPr sz="1600" b="1" i="0">
                <a:solidFill>
                  <a:srgbClr val="97BC62"/>
                </a:solidFill>
                <a:latin typeface="Calibri"/>
              </a:rPr>
              <a:t>3   </a:t>
            </a:r>
            <a:r>
              <a:rPr sz="1600" b="0" i="0">
                <a:solidFill>
                  <a:srgbClr val="222B22"/>
                </a:solidFill>
                <a:latin typeface="Calibri"/>
              </a:rPr>
              <a:t>Switch roles — new passage or stay with Mark 1</a:t>
            </a:r>
          </a:p>
          <a:p>
            <a:pPr marL="342900" indent="-342900">
              <a:spcAft>
                <a:spcPts val="750"/>
              </a:spcAft>
            </a:pPr>
            <a:r>
              <a:rPr sz="1600" b="1" i="0">
                <a:solidFill>
                  <a:srgbClr val="97BC62"/>
                </a:solidFill>
                <a:latin typeface="Calibri"/>
              </a:rPr>
              <a:t>4   </a:t>
            </a:r>
            <a:r>
              <a:rPr sz="1600" b="0" i="0">
                <a:solidFill>
                  <a:srgbClr val="222B22"/>
                </a:solidFill>
                <a:latin typeface="Calibri"/>
              </a:rPr>
              <a:t>Second pass (12 min) — same structure, roles reversed</a:t>
            </a:r>
          </a:p>
          <a:p>
            <a:pPr marL="274320" indent="-274320">
              <a:spcAft>
                <a:spcPts val="750"/>
              </a:spcAft>
            </a:pPr>
            <a:r>
              <a:rPr sz="1600" b="1" i="0">
                <a:solidFill>
                  <a:srgbClr val="97BC62"/>
                </a:solidFill>
                <a:latin typeface="Calibri"/>
              </a:rPr>
              <a:t>•  </a:t>
            </a:r>
            <a:r>
              <a:rPr sz="1600" b="0" i="0">
                <a:solidFill>
                  <a:srgbClr val="222B22"/>
                </a:solidFill>
                <a:latin typeface="Calibri"/>
              </a:rPr>
              <a:t>Stuck on Observe? “What’s one specific word or phrase that caught your attention?”</a:t>
            </a:r>
          </a:p>
          <a:p>
            <a:pPr marL="274320" indent="-274320">
              <a:spcAft>
                <a:spcPts val="750"/>
              </a:spcAft>
            </a:pPr>
            <a:r>
              <a:rPr sz="1600" b="1" i="0">
                <a:solidFill>
                  <a:srgbClr val="97BC62"/>
                </a:solidFill>
                <a:latin typeface="Calibri"/>
              </a:rPr>
              <a:t>•  </a:t>
            </a:r>
            <a:r>
              <a:rPr sz="1600" b="0" i="0">
                <a:solidFill>
                  <a:srgbClr val="222B22"/>
                </a:solidFill>
                <a:latin typeface="Calibri"/>
              </a:rPr>
              <a:t>“Slow down. The Spirit isn’t in a hurry.” — and if you finish early, get reps with another passage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Tell Step — Sharing in the Cluster</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Back in the family cluster — each of us tells ONE specific thing we heard tonight</a:t>
            </a:r>
          </a:p>
          <a:p>
            <a:pPr marL="274320" indent="-274320">
              <a:spcAft>
                <a:spcPts val="900"/>
              </a:spcAft>
            </a:pPr>
            <a:r>
              <a:rPr sz="1800" b="1" i="0">
                <a:solidFill>
                  <a:srgbClr val="97BC62"/>
                </a:solidFill>
                <a:latin typeface="Calibri"/>
              </a:rPr>
              <a:t>•  </a:t>
            </a:r>
            <a:r>
              <a:rPr sz="1800" b="0" i="0">
                <a:solidFill>
                  <a:srgbClr val="222B22"/>
                </a:solidFill>
                <a:latin typeface="Calibri"/>
              </a:rPr>
              <a:t>“Specific. One sentence. We listen to receive, like Week 3.”</a:t>
            </a:r>
          </a:p>
          <a:p>
            <a:pPr marL="274320" indent="-274320">
              <a:spcAft>
                <a:spcPts val="900"/>
              </a:spcAft>
            </a:pPr>
            <a:r>
              <a:rPr sz="1800" b="1" i="0">
                <a:solidFill>
                  <a:srgbClr val="97BC62"/>
                </a:solidFill>
                <a:latin typeface="Calibri"/>
              </a:rPr>
              <a:t>•  </a:t>
            </a:r>
            <a:r>
              <a:rPr sz="1800" b="0" i="0">
                <a:solidFill>
                  <a:srgbClr val="222B22"/>
                </a:solidFill>
                <a:latin typeface="Calibri"/>
              </a:rPr>
              <a:t>A parent opens the round — arranged beforehand, never a cold call on a teen; pass-anytime holds</a:t>
            </a:r>
          </a:p>
          <a:p>
            <a:pPr marL="274320" indent="-274320">
              <a:spcAft>
                <a:spcPts val="900"/>
              </a:spcAft>
            </a:pPr>
            <a:r>
              <a:rPr sz="1800" b="1" i="0">
                <a:solidFill>
                  <a:srgbClr val="97BC62"/>
                </a:solidFill>
                <a:latin typeface="Calibri"/>
              </a:rPr>
              <a:t>•  </a:t>
            </a:r>
            <a:r>
              <a:rPr sz="1800" b="0" i="0">
                <a:solidFill>
                  <a:srgbClr val="222B22"/>
                </a:solidFill>
                <a:latin typeface="Calibri"/>
              </a:rPr>
              <a:t>Receive without preaching — “We hear that.” “Thank you for naming that.”</a:t>
            </a:r>
          </a:p>
          <a:p>
            <a:pPr marL="274320" indent="-274320">
              <a:spcAft>
                <a:spcPts val="900"/>
              </a:spcAft>
            </a:pPr>
            <a:r>
              <a:rPr sz="1800" b="1" i="0">
                <a:solidFill>
                  <a:srgbClr val="97BC62"/>
                </a:solidFill>
                <a:latin typeface="Calibri"/>
              </a:rPr>
              <a:t>•  </a:t>
            </a:r>
            <a:r>
              <a:rPr sz="1800" b="0" i="0">
                <a:solidFill>
                  <a:srgbClr val="222B22"/>
                </a:solidFill>
                <a:latin typeface="Calibri"/>
              </a:rPr>
              <a:t>“What we heard tonight is not just for us — it is given to us to walk out.”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Between-Session Practice</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One word each — not what you heard (that’s yours), but what tonight’s practice was like; a parent begins</a:t>
            </a:r>
          </a:p>
          <a:p>
            <a:pPr marL="274320" indent="-274320">
              <a:spcAft>
                <a:spcPts val="750"/>
              </a:spcAft>
            </a:pPr>
            <a:r>
              <a:rPr sz="1600" b="1" i="0">
                <a:solidFill>
                  <a:srgbClr val="97BC62"/>
                </a:solidFill>
                <a:latin typeface="Calibri"/>
              </a:rPr>
              <a:t>•  </a:t>
            </a:r>
            <a:r>
              <a:rPr sz="1600" b="0" i="0">
                <a:solidFill>
                  <a:srgbClr val="222B22"/>
                </a:solidFill>
                <a:latin typeface="Calibri"/>
              </a:rPr>
              <a:t>Daily PROAPT — one passage per day, every day, for the next week — five to ten minutes</a:t>
            </a:r>
          </a:p>
          <a:p>
            <a:pPr marL="274320" indent="-274320">
              <a:spcAft>
                <a:spcPts val="750"/>
              </a:spcAft>
            </a:pPr>
            <a:r>
              <a:rPr sz="1600" b="1" i="0">
                <a:solidFill>
                  <a:srgbClr val="97BC62"/>
                </a:solidFill>
                <a:latin typeface="Calibri"/>
              </a:rPr>
              <a:t>•  </a:t>
            </a:r>
            <a:r>
              <a:rPr sz="1600" b="0" i="0">
                <a:solidFill>
                  <a:srgbClr val="222B22"/>
                </a:solidFill>
                <a:latin typeface="Calibri"/>
              </a:rPr>
              <a:t>The journal Week 7 pages have a daily PROAPT template</a:t>
            </a:r>
          </a:p>
          <a:p>
            <a:pPr marL="274320" indent="-274320">
              <a:spcAft>
                <a:spcPts val="750"/>
              </a:spcAft>
            </a:pPr>
            <a:r>
              <a:rPr sz="1600" b="1" i="0">
                <a:solidFill>
                  <a:srgbClr val="97BC62"/>
                </a:solidFill>
                <a:latin typeface="Calibri"/>
              </a:rPr>
              <a:t>•  </a:t>
            </a:r>
            <a:r>
              <a:rPr sz="1600" b="0" i="0">
                <a:solidFill>
                  <a:srgbClr val="222B22"/>
                </a:solidFill>
                <a:latin typeface="Calibri"/>
              </a:rPr>
              <a:t>Passage paths on the handout — the Gospel of Mark, the Sermon on the Mount, or Romans 8</a:t>
            </a:r>
          </a:p>
          <a:p>
            <a:pPr marL="274320" indent="-274320">
              <a:spcAft>
                <a:spcPts val="750"/>
              </a:spcAft>
            </a:pPr>
            <a:r>
              <a:rPr sz="1600" b="1" i="0">
                <a:solidFill>
                  <a:srgbClr val="97BC62"/>
                </a:solidFill>
                <a:latin typeface="Calibri"/>
              </a:rPr>
              <a:t>•  </a:t>
            </a:r>
            <a:r>
              <a:rPr sz="1600" b="0" i="0">
                <a:solidFill>
                  <a:srgbClr val="222B22"/>
                </a:solidFill>
                <a:latin typeface="Calibri"/>
              </a:rPr>
              <a:t>Commit aloud to a specific time of day — “Morning before school” / “Right after dinner”</a:t>
            </a:r>
          </a:p>
          <a:p>
            <a:pPr marL="274320" indent="-274320">
              <a:spcAft>
                <a:spcPts val="750"/>
              </a:spcAft>
            </a:pPr>
            <a:r>
              <a:rPr sz="1600" b="1" i="0">
                <a:solidFill>
                  <a:srgbClr val="97BC62"/>
                </a:solidFill>
                <a:latin typeface="Calibri"/>
              </a:rPr>
              <a:t>•  </a:t>
            </a:r>
            <a:r>
              <a:rPr sz="1600" b="0" i="0">
                <a:solidFill>
                  <a:srgbClr val="222B22"/>
                </a:solidFill>
                <a:latin typeface="Calibri"/>
              </a:rPr>
              <a:t>“The chain only works if we work it.”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seedling - what grows between Wednesdays"/>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Daily-Practice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“One sentence each, whoever wants: how did the week of daily practice actually go? Honest answers.”</a:t>
            </a:r>
          </a:p>
          <a:p>
            <a:pPr marL="685800" indent="-274320">
              <a:spcAft>
                <a:spcPts val="700"/>
              </a:spcAft>
            </a:pPr>
            <a:r>
              <a:rPr sz="1600" b="1" i="0">
                <a:solidFill>
                  <a:srgbClr val="97BC62"/>
                </a:solidFill>
                <a:latin typeface="Calibri"/>
              </a:rPr>
              <a:t>–  </a:t>
            </a:r>
            <a:r>
              <a:rPr sz="1600" b="0" i="1">
                <a:solidFill>
                  <a:srgbClr val="222B22"/>
                </a:solidFill>
                <a:latin typeface="Calibri"/>
              </a:rPr>
              <a:t>“‘I did two days and stopped’ is an honest answer.”</a:t>
            </a:r>
          </a:p>
          <a:p>
            <a:pPr marL="274320" indent="-274320">
              <a:spcAft>
                <a:spcPts val="900"/>
              </a:spcAft>
            </a:pPr>
            <a:r>
              <a:rPr sz="1800" b="1" i="0">
                <a:solidFill>
                  <a:srgbClr val="97BC62"/>
                </a:solidFill>
                <a:latin typeface="Calibri"/>
              </a:rPr>
              <a:t>•  </a:t>
            </a:r>
            <a:r>
              <a:rPr sz="1800" b="0" i="0">
                <a:solidFill>
                  <a:srgbClr val="222B22"/>
                </a:solidFill>
                <a:latin typeface="Calibri"/>
              </a:rPr>
              <a:t>A parent starts the round — arranged beforehand; anyone may pass</a:t>
            </a:r>
          </a:p>
          <a:p>
            <a:pPr marL="274320" indent="-274320">
              <a:spcAft>
                <a:spcPts val="900"/>
              </a:spcAft>
            </a:pPr>
            <a:r>
              <a:rPr sz="1800" b="1" i="0">
                <a:solidFill>
                  <a:srgbClr val="97BC62"/>
                </a:solidFill>
                <a:latin typeface="Calibri"/>
              </a:rPr>
              <a:t>•  </a:t>
            </a:r>
            <a:r>
              <a:rPr sz="1800" b="0" i="0">
                <a:solidFill>
                  <a:srgbClr val="222B22"/>
                </a:solidFill>
                <a:latin typeface="Calibri"/>
              </a:rPr>
              <a:t>Thin or empty week? No guilt — “The practice picks up where you are, not where you were supposed to be.”</a:t>
            </a:r>
          </a:p>
          <a:p>
            <a:pPr marL="274320" indent="-274320">
              <a:spcAft>
                <a:spcPts val="900"/>
              </a:spcAft>
            </a:pPr>
            <a:r>
              <a:rPr sz="1800" b="1" i="0">
                <a:solidFill>
                  <a:srgbClr val="97BC62"/>
                </a:solidFill>
                <a:latin typeface="Calibri"/>
              </a:rPr>
              <a:t>•  </a:t>
            </a:r>
            <a:r>
              <a:rPr sz="1800" b="0" i="0">
                <a:solidFill>
                  <a:srgbClr val="222B22"/>
                </a:solidFill>
                <a:latin typeface="Calibri"/>
              </a:rPr>
              <a:t>“Tonight is a fresh start” — everything tonight works whether you did seven days or zero</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2" name="Picture 32" descr="trail cairn - the weekly check-in"/>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Why a Second Running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Word → Hearing → Faith — “hearing is a skill, and skills take reps. Last week was rep one. Tonight is rep two.”</a:t>
            </a:r>
          </a:p>
          <a:p>
            <a:pPr marL="274320" indent="-274320">
              <a:spcAft>
                <a:spcPts val="800"/>
              </a:spcAft>
            </a:pPr>
            <a:r>
              <a:rPr sz="1600" b="1" i="0">
                <a:solidFill>
                  <a:srgbClr val="97BC62"/>
                </a:solidFill>
                <a:latin typeface="Calibri"/>
              </a:rPr>
              <a:t>•  </a:t>
            </a:r>
            <a:r>
              <a:rPr sz="1600" b="0" i="0">
                <a:solidFill>
                  <a:srgbClr val="222B22"/>
                </a:solidFill>
                <a:latin typeface="Calibri"/>
              </a:rPr>
              <a:t>Tonight one of the room’s own leads the walk-through — “The team is here. But the practice is ours now.”</a:t>
            </a:r>
          </a:p>
          <a:p>
            <a:pPr marL="274320" indent="-274320">
              <a:spcAft>
                <a:spcPts val="800"/>
              </a:spcAft>
            </a:pPr>
            <a:r>
              <a:rPr sz="1600" b="1" i="0">
                <a:solidFill>
                  <a:srgbClr val="97BC62"/>
                </a:solidFill>
                <a:latin typeface="Calibri"/>
              </a:rPr>
              <a:t>•  </a:t>
            </a:r>
            <a:r>
              <a:rPr sz="1600" b="0" i="0">
                <a:solidFill>
                  <a:srgbClr val="222B22"/>
                </a:solidFill>
                <a:latin typeface="Calibri"/>
              </a:rPr>
              <a:t>Tonight’s passage: Mark 2:1–12 — the paralytic whose friends dig through a roof to get him to Jesus</a:t>
            </a:r>
          </a:p>
          <a:p>
            <a:pPr marL="274320" indent="-274320">
              <a:spcAft>
                <a:spcPts val="800"/>
              </a:spcAft>
            </a:pPr>
            <a:r>
              <a:rPr sz="1600" b="1" i="0">
                <a:solidFill>
                  <a:srgbClr val="97BC62"/>
                </a:solidFill>
                <a:latin typeface="Calibri"/>
              </a:rPr>
              <a:t>•  </a:t>
            </a:r>
            <a:r>
              <a:rPr sz="1600" b="0" i="0">
                <a:solidFill>
                  <a:srgbClr val="222B22"/>
                </a:solidFill>
                <a:latin typeface="Calibri"/>
              </a:rPr>
              <a:t>Already PROAPTed it this week? Good — “a passage speaks differently on a second hearing. That’s not a theory; you’re about to test it.”</a:t>
            </a:r>
          </a:p>
          <a:p>
            <a:pPr marL="274320" indent="-274320">
              <a:spcAft>
                <a:spcPts val="800"/>
              </a:spcAft>
            </a:pPr>
            <a:r>
              <a:rPr sz="1600" b="1" i="0">
                <a:solidFill>
                  <a:srgbClr val="97BC62"/>
                </a:solidFill>
                <a:latin typeface="Calibri"/>
              </a:rPr>
              <a:t>•  </a:t>
            </a:r>
            <a:r>
              <a:rPr sz="1600" b="0" i="0">
                <a:solidFill>
                  <a:srgbClr val="222B22"/>
                </a:solidFill>
                <a:latin typeface="Calibri"/>
              </a:rPr>
              <a:t>Same six steps as last week — Bibles open to Mark 2</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ROMANS 10:17</a:t>
            </a:r>
          </a:p>
          <a:p>
            <a:pPr>
              <a:spcAft>
                <a:spcPts val="600"/>
              </a:spcAft>
            </a:pPr>
            <a:r>
              <a:rPr sz="1600" b="0" i="1">
                <a:solidFill>
                  <a:srgbClr val="222B22"/>
                </a:solidFill>
                <a:latin typeface="Cambria"/>
              </a:rPr>
              <a:t>“So faith comes from hearing, and hearing through the word of Christ.”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PROAPT Walked Together — Mark 2:1–12</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342900" indent="-342900">
              <a:spcAft>
                <a:spcPts val="750"/>
              </a:spcAft>
            </a:pPr>
            <a:r>
              <a:rPr sz="1600" b="1" i="0">
                <a:solidFill>
                  <a:srgbClr val="97BC62"/>
                </a:solidFill>
                <a:latin typeface="Calibri"/>
              </a:rPr>
              <a:t>1   </a:t>
            </a:r>
            <a:r>
              <a:rPr sz="1600" b="0" i="0">
                <a:solidFill>
                  <a:srgbClr val="222B22"/>
                </a:solidFill>
                <a:latin typeface="Calibri"/>
              </a:rPr>
              <a:t>Pray — “Tell the Holy Spirit you want to hear what He has for you tonight — not what you already know about this passage.”</a:t>
            </a:r>
          </a:p>
          <a:p>
            <a:pPr marL="342900" indent="-342900">
              <a:spcAft>
                <a:spcPts val="750"/>
              </a:spcAft>
            </a:pPr>
            <a:r>
              <a:rPr sz="1600" b="1" i="0">
                <a:solidFill>
                  <a:srgbClr val="97BC62"/>
                </a:solidFill>
                <a:latin typeface="Calibri"/>
              </a:rPr>
              <a:t>2   </a:t>
            </a:r>
            <a:r>
              <a:rPr sz="1600" b="0" i="0">
                <a:solidFill>
                  <a:srgbClr val="222B22"/>
                </a:solidFill>
                <a:latin typeface="Calibri"/>
              </a:rPr>
              <a:t>Read — once aloud, slowly; then silence while the room reads to receive</a:t>
            </a:r>
          </a:p>
          <a:p>
            <a:pPr marL="342900" indent="-342900">
              <a:spcAft>
                <a:spcPts val="750"/>
              </a:spcAft>
            </a:pPr>
            <a:r>
              <a:rPr sz="1600" b="1" i="0">
                <a:solidFill>
                  <a:srgbClr val="97BC62"/>
                </a:solidFill>
                <a:latin typeface="Calibri"/>
              </a:rPr>
              <a:t>3   </a:t>
            </a:r>
            <a:r>
              <a:rPr sz="1600" b="0" i="0">
                <a:solidFill>
                  <a:srgbClr val="222B22"/>
                </a:solidFill>
                <a:latin typeface="Calibri"/>
              </a:rPr>
              <a:t>Observe — two layers, in order: first the data, straight off the page, then the interpretation — what stands out or surprises you in it. “Write three things — data first.”</a:t>
            </a:r>
          </a:p>
          <a:p>
            <a:pPr marL="342900" indent="-342900">
              <a:spcAft>
                <a:spcPts val="750"/>
              </a:spcAft>
            </a:pPr>
            <a:r>
              <a:rPr sz="1600" b="1" i="0">
                <a:solidFill>
                  <a:srgbClr val="97BC62"/>
                </a:solidFill>
                <a:latin typeface="Calibri"/>
              </a:rPr>
              <a:t>4   </a:t>
            </a:r>
            <a:r>
              <a:rPr sz="1600" b="0" i="0">
                <a:solidFill>
                  <a:srgbClr val="222B22"/>
                </a:solidFill>
                <a:latin typeface="Calibri"/>
              </a:rPr>
              <a:t>Apply — “Where in your life are you the one on the mat — stuck, carried, waiting? Or are you one of the four — and who are you carrying?”</a:t>
            </a:r>
          </a:p>
          <a:p>
            <a:pPr marL="342900" indent="-342900">
              <a:spcAft>
                <a:spcPts val="750"/>
              </a:spcAft>
            </a:pPr>
            <a:r>
              <a:rPr sz="1600" b="1" i="0">
                <a:solidFill>
                  <a:srgbClr val="97BC62"/>
                </a:solidFill>
                <a:latin typeface="Calibri"/>
              </a:rPr>
              <a:t>5   </a:t>
            </a:r>
            <a:r>
              <a:rPr sz="1600" b="0" i="0">
                <a:solidFill>
                  <a:srgbClr val="222B22"/>
                </a:solidFill>
                <a:latin typeface="Calibri"/>
              </a:rPr>
              <a:t>Pray again — “Tell God what you heard. Tell Him what you’re willing to do — or what you’re struggling to be willing to do.”</a:t>
            </a:r>
          </a:p>
          <a:p>
            <a:pPr marL="342900" indent="-342900">
              <a:spcAft>
                <a:spcPts val="750"/>
              </a:spcAft>
            </a:pPr>
            <a:r>
              <a:rPr sz="1600" b="1" i="0">
                <a:solidFill>
                  <a:srgbClr val="97BC62"/>
                </a:solidFill>
                <a:latin typeface="Calibri"/>
              </a:rPr>
              <a:t>6   </a:t>
            </a:r>
            <a:r>
              <a:rPr sz="1600" b="0" i="0">
                <a:solidFill>
                  <a:srgbClr val="222B22"/>
                </a:solidFill>
                <a:latin typeface="Calibri"/>
              </a:rPr>
              <a:t>Tell — in your family cluster tonight — “it’s the step that makes the hearing stick.”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91" name="Picture 91" descr="weathered clay roof tiles"/>
          <p:cNvPicPr>
            <a:picLocks noChangeAspect="1"/>
          </p:cNvPicPr>
          <p:nvPr/>
        </p:nvPicPr>
        <p:blipFill>
          <a:blip r:embed="rId2"/>
          <a:stretch>
            <a:fillRect/>
          </a:stretch>
        </p:blipFill>
        <p:spPr>
          <a:xfrm>
            <a:off x="7696962" y="1463040"/>
            <a:ext cx="3669030" cy="4892040"/>
          </a:xfrm>
          <a:prstGeom prst="rect">
            <a:avLst/>
          </a:prstGeom>
        </p:spPr>
      </p:pic>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Clusters — Pair Structure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Same pair structure as last week — parent with teen, from your own family, by default</a:t>
            </a:r>
          </a:p>
          <a:p>
            <a:pPr marL="274320" indent="-274320">
              <a:spcAft>
                <a:spcPts val="900"/>
              </a:spcAft>
            </a:pPr>
            <a:r>
              <a:rPr sz="1800" b="1" i="0">
                <a:solidFill>
                  <a:srgbClr val="97BC62"/>
                </a:solidFill>
                <a:latin typeface="Calibri"/>
              </a:rPr>
              <a:t>•  </a:t>
            </a:r>
            <a:r>
              <a:rPr sz="1800" b="0" i="0">
                <a:solidFill>
                  <a:srgbClr val="222B22"/>
                </a:solidFill>
                <a:latin typeface="Calibri"/>
              </a:rPr>
              <a:t>One Reader, one Listener — after thirteen minutes, switch; stay with Mark 2 or take a fresh passage</a:t>
            </a:r>
          </a:p>
          <a:p>
            <a:pPr marL="274320" indent="-274320">
              <a:spcAft>
                <a:spcPts val="900"/>
              </a:spcAft>
            </a:pPr>
            <a:r>
              <a:rPr sz="1800" b="1" i="0">
                <a:solidFill>
                  <a:srgbClr val="97BC62"/>
                </a:solidFill>
                <a:latin typeface="Calibri"/>
              </a:rPr>
              <a:t>•  </a:t>
            </a:r>
            <a:r>
              <a:rPr sz="1800" b="0" i="0">
                <a:solidFill>
                  <a:srgbClr val="222B22"/>
                </a:solidFill>
                <a:latin typeface="Calibri"/>
              </a:rPr>
              <a:t>“Same pair as last week is not a rerun — a parent and a teen telling each other what they heard, a second week running, is the design working.”</a:t>
            </a:r>
          </a:p>
          <a:p>
            <a:pPr marL="274320" indent="-274320">
              <a:spcAft>
                <a:spcPts val="900"/>
              </a:spcAft>
            </a:pPr>
            <a:r>
              <a:rPr sz="1800" b="1" i="0">
                <a:solidFill>
                  <a:srgbClr val="97BC62"/>
                </a:solidFill>
                <a:latin typeface="Calibri"/>
              </a:rPr>
              <a:t>•  </a:t>
            </a:r>
            <a:r>
              <a:rPr sz="1800" b="0" i="0">
                <a:solidFill>
                  <a:srgbClr val="222B22"/>
                </a:solidFill>
                <a:latin typeface="Calibri"/>
              </a:rPr>
              <a:t>Your Cluster Companion settles any odd numbers; a small room stays as one circle</a:t>
            </a:r>
          </a:p>
          <a:p>
            <a:pPr marL="274320" indent="-274320">
              <a:spcAft>
                <a:spcPts val="900"/>
              </a:spcAft>
            </a:pPr>
            <a:r>
              <a:rPr sz="1800" b="1" i="0">
                <a:solidFill>
                  <a:srgbClr val="97BC62"/>
                </a:solidFill>
                <a:latin typeface="Calibri"/>
              </a:rPr>
              <a:t>•  </a:t>
            </a:r>
            <a:r>
              <a:rPr sz="1800" b="0" i="0">
                <a:solidFill>
                  <a:srgbClr val="222B22"/>
                </a:solidFill>
                <a:latin typeface="Calibri"/>
              </a:rPr>
              <a:t>“Father, You’ve already spoken tonight. Speak again in the pairs — something specific, something each of us can hear.”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PROAPT in Family Pairs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1600" b="1" i="0">
                <a:solidFill>
                  <a:srgbClr val="97BC62"/>
                </a:solidFill>
                <a:latin typeface="Calibri"/>
              </a:rPr>
              <a:t>1   </a:t>
            </a:r>
            <a:r>
              <a:rPr sz="1600" b="0" i="0">
                <a:solidFill>
                  <a:srgbClr val="222B22"/>
                </a:solidFill>
                <a:latin typeface="Calibri"/>
              </a:rPr>
              <a:t>First pass (13 min) — Reader leads PROAPT; Listener works alongside without interrupting</a:t>
            </a:r>
          </a:p>
          <a:p>
            <a:pPr marL="342900" indent="-342900">
              <a:spcAft>
                <a:spcPts val="750"/>
              </a:spcAft>
            </a:pPr>
            <a:r>
              <a:rPr sz="1600" b="1" i="0">
                <a:solidFill>
                  <a:srgbClr val="97BC62"/>
                </a:solidFill>
                <a:latin typeface="Calibri"/>
              </a:rPr>
              <a:t>2   </a:t>
            </a:r>
            <a:r>
              <a:rPr sz="1600" b="0" i="0">
                <a:solidFill>
                  <a:srgbClr val="222B22"/>
                </a:solidFill>
                <a:latin typeface="Calibri"/>
              </a:rPr>
              <a:t>Reader’s Tell at the end goes to the Listener — one sentence</a:t>
            </a:r>
          </a:p>
          <a:p>
            <a:pPr marL="342900" indent="-342900">
              <a:spcAft>
                <a:spcPts val="750"/>
              </a:spcAft>
            </a:pPr>
            <a:r>
              <a:rPr sz="1600" b="1" i="0">
                <a:solidFill>
                  <a:srgbClr val="97BC62"/>
                </a:solidFill>
                <a:latin typeface="Calibri"/>
              </a:rPr>
              <a:t>3   </a:t>
            </a:r>
            <a:r>
              <a:rPr sz="1600" b="0" i="0">
                <a:solidFill>
                  <a:srgbClr val="222B22"/>
                </a:solidFill>
                <a:latin typeface="Calibri"/>
              </a:rPr>
              <a:t>Switch — roles reverse; same passage or new</a:t>
            </a:r>
          </a:p>
          <a:p>
            <a:pPr marL="342900" indent="-342900">
              <a:spcAft>
                <a:spcPts val="750"/>
              </a:spcAft>
            </a:pPr>
            <a:r>
              <a:rPr sz="1600" b="1" i="0">
                <a:solidFill>
                  <a:srgbClr val="97BC62"/>
                </a:solidFill>
                <a:latin typeface="Calibri"/>
              </a:rPr>
              <a:t>4   </a:t>
            </a:r>
            <a:r>
              <a:rPr sz="1600" b="0" i="0">
                <a:solidFill>
                  <a:srgbClr val="222B22"/>
                </a:solidFill>
                <a:latin typeface="Calibri"/>
              </a:rPr>
              <a:t>Second pass (13 min) — same structure, roles reversed</a:t>
            </a:r>
          </a:p>
          <a:p>
            <a:pPr marL="274320" indent="-274320">
              <a:spcAft>
                <a:spcPts val="750"/>
              </a:spcAft>
            </a:pPr>
            <a:r>
              <a:rPr sz="1600" b="1" i="0">
                <a:solidFill>
                  <a:srgbClr val="97BC62"/>
                </a:solidFill>
                <a:latin typeface="Calibri"/>
              </a:rPr>
              <a:t>•  </a:t>
            </a:r>
            <a:r>
              <a:rPr sz="1600" b="0" i="0">
                <a:solidFill>
                  <a:srgbClr val="222B22"/>
                </a:solidFill>
                <a:latin typeface="Calibri"/>
              </a:rPr>
              <a:t>Same unstick prompts as Week 7 — “one specific word or phrase that caught you” / “one situation in your life right now — be specific”</a:t>
            </a:r>
          </a:p>
          <a:p>
            <a:pPr marL="274320" indent="-274320">
              <a:spcAft>
                <a:spcPts val="750"/>
              </a:spcAft>
            </a:pPr>
            <a:r>
              <a:rPr sz="1600" b="1" i="0">
                <a:solidFill>
                  <a:srgbClr val="97BC62"/>
                </a:solidFill>
                <a:latin typeface="Calibri"/>
              </a:rPr>
              <a:t>•  </a:t>
            </a:r>
            <a:r>
              <a:rPr sz="1600" b="0" i="0">
                <a:solidFill>
                  <a:srgbClr val="222B22"/>
                </a:solidFill>
                <a:latin typeface="Calibri"/>
              </a:rPr>
              <a:t>Feels like a rerun? “Then you know what it said Thursday. What is it saying tonight? Second hearings are where the specific word comes.”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Tell Step — Sharing in the Cluster</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“The Tell step — second time in the cluster, so you know the shape.”</a:t>
            </a:r>
          </a:p>
          <a:p>
            <a:pPr marL="274320" indent="-274320">
              <a:spcAft>
                <a:spcPts val="750"/>
              </a:spcAft>
            </a:pPr>
            <a:r>
              <a:rPr sz="1600" b="1" i="0">
                <a:solidFill>
                  <a:srgbClr val="97BC62"/>
                </a:solidFill>
                <a:latin typeface="Calibri"/>
              </a:rPr>
              <a:t>•  </a:t>
            </a:r>
            <a:r>
              <a:rPr sz="1600" b="0" i="0">
                <a:solidFill>
                  <a:srgbClr val="222B22"/>
                </a:solidFill>
                <a:latin typeface="Calibri"/>
              </a:rPr>
              <a:t>One specific thing you heard tonight — one sentence — “We listen to receive.”</a:t>
            </a:r>
          </a:p>
          <a:p>
            <a:pPr marL="274320" indent="-274320">
              <a:spcAft>
                <a:spcPts val="750"/>
              </a:spcAft>
            </a:pPr>
            <a:r>
              <a:rPr sz="1600" b="1" i="0">
                <a:solidFill>
                  <a:srgbClr val="97BC62"/>
                </a:solidFill>
                <a:latin typeface="Calibri"/>
              </a:rPr>
              <a:t>•  </a:t>
            </a:r>
            <a:r>
              <a:rPr sz="1600" b="0" i="0">
                <a:solidFill>
                  <a:srgbClr val="222B22"/>
                </a:solidFill>
                <a:latin typeface="Calibri"/>
              </a:rPr>
              <a:t>A parent opens the round — arranged beforehand, never a cold call on a teen</a:t>
            </a:r>
          </a:p>
          <a:p>
            <a:pPr marL="274320" indent="-274320">
              <a:spcAft>
                <a:spcPts val="750"/>
              </a:spcAft>
            </a:pPr>
            <a:r>
              <a:rPr sz="1600" b="1" i="0">
                <a:solidFill>
                  <a:srgbClr val="97BC62"/>
                </a:solidFill>
                <a:latin typeface="Calibri"/>
              </a:rPr>
              <a:t>•  </a:t>
            </a:r>
            <a:r>
              <a:rPr sz="1600" b="0" i="0">
                <a:solidFill>
                  <a:srgbClr val="222B22"/>
                </a:solidFill>
                <a:latin typeface="Calibri"/>
              </a:rPr>
              <a:t>Teens choose their own depth; pass-anytime holds</a:t>
            </a:r>
          </a:p>
          <a:p>
            <a:pPr marL="274320" indent="-274320">
              <a:spcAft>
                <a:spcPts val="750"/>
              </a:spcAft>
            </a:pPr>
            <a:r>
              <a:rPr sz="1600" b="1" i="0">
                <a:solidFill>
                  <a:srgbClr val="97BC62"/>
                </a:solidFill>
                <a:latin typeface="Calibri"/>
              </a:rPr>
              <a:t>•  </a:t>
            </a:r>
            <a:r>
              <a:rPr sz="1600" b="0" i="0">
                <a:solidFill>
                  <a:srgbClr val="222B22"/>
                </a:solidFill>
                <a:latin typeface="Calibri"/>
              </a:rPr>
              <a:t>Receive without preaching — “We hear that.” “Thank you for naming that.”</a:t>
            </a:r>
          </a:p>
          <a:p>
            <a:pPr marL="274320" indent="-274320">
              <a:spcAft>
                <a:spcPts val="750"/>
              </a:spcAft>
            </a:pPr>
            <a:r>
              <a:rPr sz="1600" b="1" i="0">
                <a:solidFill>
                  <a:srgbClr val="97BC62"/>
                </a:solidFill>
                <a:latin typeface="Calibri"/>
              </a:rPr>
              <a:t>•  </a:t>
            </a:r>
            <a:r>
              <a:rPr sz="1600" b="0" i="0">
                <a:solidFill>
                  <a:srgbClr val="222B22"/>
                </a:solidFill>
                <a:latin typeface="Calibri"/>
              </a:rPr>
              <a:t>“Take what you heard with you. It was given to be walked out.”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Between-Session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Daily PROAPT continues — one passage, five to fifteen minutes, every day (journal Week 7–8 pages)</a:t>
            </a:r>
          </a:p>
          <a:p>
            <a:pPr marL="274320" indent="-274320">
              <a:spcAft>
                <a:spcPts val="900"/>
              </a:spcAft>
            </a:pPr>
            <a:r>
              <a:rPr sz="1800" b="1" i="0">
                <a:solidFill>
                  <a:srgbClr val="97BC62"/>
                </a:solidFill>
                <a:latin typeface="Calibri"/>
              </a:rPr>
              <a:t>•  </a:t>
            </a:r>
            <a:r>
              <a:rPr sz="1800" b="0" i="0">
                <a:solidFill>
                  <a:srgbClr val="222B22"/>
                </a:solidFill>
                <a:latin typeface="Calibri"/>
              </a:rPr>
              <a:t>“If last week thinned out, restart tomorrow. No guilt, no doubling up.”</a:t>
            </a:r>
          </a:p>
          <a:p>
            <a:pPr marL="274320" indent="-274320">
              <a:spcAft>
                <a:spcPts val="900"/>
              </a:spcAft>
            </a:pPr>
            <a:r>
              <a:rPr sz="1800" b="1" i="0">
                <a:solidFill>
                  <a:srgbClr val="97BC62"/>
                </a:solidFill>
                <a:latin typeface="Calibri"/>
              </a:rPr>
              <a:t>•  </a:t>
            </a:r>
            <a:r>
              <a:rPr sz="1800" b="0" i="0">
                <a:solidFill>
                  <a:srgbClr val="222B22"/>
                </a:solidFill>
                <a:latin typeface="Calibri"/>
              </a:rPr>
              <a:t>“Take a moment on the way home to notice what just happened in this room. One of our own led the whole practice tonight. That is the design working.”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4" name="Picture 34" descr="seedling - what grows between Wednesdays"/>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7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“Last week we walked PROAPT — a six-step practice for hearing God in scripture.”</a:t>
            </a:r>
          </a:p>
          <a:p>
            <a:pPr marL="274320" indent="-274320">
              <a:spcAft>
                <a:spcPts val="900"/>
              </a:spcAft>
            </a:pPr>
            <a:r>
              <a:rPr sz="1800" b="1" i="0">
                <a:solidFill>
                  <a:srgbClr val="97BC62"/>
                </a:solidFill>
                <a:latin typeface="Calibri"/>
              </a:rPr>
              <a:t>•  </a:t>
            </a:r>
            <a:r>
              <a:rPr sz="1800" b="0" i="0">
                <a:solidFill>
                  <a:srgbClr val="222B22"/>
                </a:solidFill>
                <a:latin typeface="Calibri"/>
              </a:rPr>
              <a:t>“One sentence about how that practice has been?”</a:t>
            </a:r>
          </a:p>
          <a:p>
            <a:pPr marL="274320" indent="-274320">
              <a:spcAft>
                <a:spcPts val="900"/>
              </a:spcAft>
            </a:pPr>
            <a:r>
              <a:rPr sz="1800" b="1" i="0">
                <a:solidFill>
                  <a:srgbClr val="97BC62"/>
                </a:solidFill>
                <a:latin typeface="Calibri"/>
              </a:rPr>
              <a:t>•  </a:t>
            </a:r>
            <a:r>
              <a:rPr sz="1800" b="0" i="0">
                <a:solidFill>
                  <a:srgbClr val="222B22"/>
                </a:solidFill>
                <a:latin typeface="Calibri"/>
              </a:rPr>
              <a:t>A parent starts — arranged beforehand, never a cold call on a teen</a:t>
            </a:r>
          </a:p>
          <a:p>
            <a:pPr marL="274320" indent="-274320">
              <a:spcAft>
                <a:spcPts val="900"/>
              </a:spcAft>
            </a:pPr>
            <a:r>
              <a:rPr sz="1800" b="1" i="0">
                <a:solidFill>
                  <a:srgbClr val="97BC62"/>
                </a:solidFill>
                <a:latin typeface="Calibri"/>
              </a:rPr>
              <a:t>•  </a:t>
            </a:r>
            <a:r>
              <a:rPr sz="1800" b="0" i="0">
                <a:solidFill>
                  <a:srgbClr val="222B22"/>
                </a:solidFill>
                <a:latin typeface="Calibri"/>
              </a:rPr>
              <a:t>Two or three voluntary contributions; anyone may pass — kept brief, tonight’s arc needs the time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2" name="Picture 32" descr="trail cairn - the weekly check-in"/>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Scripture and Framing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500" b="1" i="0">
                <a:solidFill>
                  <a:srgbClr val="97BC62"/>
                </a:solidFill>
                <a:latin typeface="Calibri"/>
              </a:rPr>
              <a:t>•  </a:t>
            </a:r>
            <a:r>
              <a:rPr sz="1500" b="0" i="0">
                <a:solidFill>
                  <a:srgbClr val="222B22"/>
                </a:solidFill>
                <a:latin typeface="Calibri"/>
              </a:rPr>
              <a:t>Two passages, read slowly — Psalm 23 and John 15:1–11 — “Listen as if you have not heard it.”</a:t>
            </a:r>
          </a:p>
          <a:p>
            <a:pPr marL="274320" indent="-274320">
              <a:spcAft>
                <a:spcPts val="650"/>
              </a:spcAft>
            </a:pPr>
            <a:r>
              <a:rPr sz="1500" b="1" i="0">
                <a:solidFill>
                  <a:srgbClr val="97BC62"/>
                </a:solidFill>
                <a:latin typeface="Calibri"/>
              </a:rPr>
              <a:t>•  </a:t>
            </a:r>
            <a:r>
              <a:rPr sz="1500" b="0" i="0">
                <a:solidFill>
                  <a:srgbClr val="222B22"/>
                </a:solidFill>
                <a:latin typeface="Calibri"/>
              </a:rPr>
              <a:t>Scripture pictures the heart as cultivated ground — green pastures, still waters, vine and vinedresser</a:t>
            </a:r>
          </a:p>
          <a:p>
            <a:pPr marL="274320" indent="-274320">
              <a:spcAft>
                <a:spcPts val="650"/>
              </a:spcAft>
            </a:pPr>
            <a:r>
              <a:rPr sz="1500" b="1" i="0">
                <a:solidFill>
                  <a:srgbClr val="97BC62"/>
                </a:solidFill>
                <a:latin typeface="Calibri"/>
              </a:rPr>
              <a:t>•  </a:t>
            </a:r>
            <a:r>
              <a:rPr sz="1500" b="0" i="0">
                <a:solidFill>
                  <a:srgbClr val="222B22"/>
                </a:solidFill>
                <a:latin typeface="Calibri"/>
              </a:rPr>
              <a:t>Tonight we walk into that image: picture your heart as a garden, invite Jesus in, notice what He does</a:t>
            </a:r>
          </a:p>
          <a:p>
            <a:pPr marL="274320" indent="-274320">
              <a:spcAft>
                <a:spcPts val="650"/>
              </a:spcAft>
            </a:pPr>
            <a:r>
              <a:rPr sz="1500" b="1" i="0">
                <a:solidFill>
                  <a:srgbClr val="97BC62"/>
                </a:solidFill>
                <a:latin typeface="Calibri"/>
              </a:rPr>
              <a:t>•  </a:t>
            </a:r>
            <a:r>
              <a:rPr sz="1500" b="0" i="0">
                <a:solidFill>
                  <a:srgbClr val="222B22"/>
                </a:solidFill>
                <a:latin typeface="Calibri"/>
              </a:rPr>
              <a:t>Imaginative prayer — Ignatius taught it, Bonaventure taught it, the Puritan writers under other names</a:t>
            </a:r>
          </a:p>
          <a:p>
            <a:pPr marL="274320" indent="-274320">
              <a:spcAft>
                <a:spcPts val="650"/>
              </a:spcAft>
            </a:pPr>
            <a:r>
              <a:rPr sz="1500" b="1" i="0">
                <a:solidFill>
                  <a:srgbClr val="97BC62"/>
                </a:solidFill>
                <a:latin typeface="Calibri"/>
              </a:rPr>
              <a:t>•  </a:t>
            </a:r>
            <a:r>
              <a:rPr sz="1500" b="0" i="0">
                <a:solidFill>
                  <a:srgbClr val="222B22"/>
                </a:solidFill>
                <a:latin typeface="Calibri"/>
              </a:rPr>
              <a:t>Not visualization-as-self-help, not contemplative emptying — filling the mind with one scriptural image</a:t>
            </a:r>
          </a:p>
          <a:p>
            <a:pPr marL="274320" indent="-274320">
              <a:spcAft>
                <a:spcPts val="650"/>
              </a:spcAft>
            </a:pPr>
            <a:r>
              <a:rPr sz="1500" b="1" i="0">
                <a:solidFill>
                  <a:srgbClr val="97BC62"/>
                </a:solidFill>
                <a:latin typeface="Calibri"/>
              </a:rPr>
              <a:t>•  </a:t>
            </a:r>
            <a:r>
              <a:rPr sz="1500" b="0" i="0">
                <a:solidFill>
                  <a:srgbClr val="222B22"/>
                </a:solidFill>
                <a:latin typeface="Calibri"/>
              </a:rPr>
              <a:t>“The exercise is not a test of imaginative power. It is a posture of receptivity.”</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JOHN 15:5</a:t>
            </a:r>
          </a:p>
          <a:p>
            <a:pPr>
              <a:spcAft>
                <a:spcPts val="600"/>
              </a:spcAft>
            </a:pPr>
            <a:r>
              <a:rPr sz="1600" b="0" i="1">
                <a:solidFill>
                  <a:srgbClr val="222B22"/>
                </a:solidFill>
                <a:latin typeface="Cambria"/>
              </a:rPr>
              <a:t>“I am the vine; you are the branches. Whoever abides in me and I in him, he it is that bears much fruit, for apart from me you can do nothing.”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91" name="Picture 91" descr="a cluster of grapes on the vine"/>
          <p:cNvPicPr>
            <a:picLocks noChangeAspect="1"/>
          </p:cNvPicPr>
          <p:nvPr/>
        </p:nvPicPr>
        <p:blipFill>
          <a:blip r:embed="rId2"/>
          <a:stretch>
            <a:fillRect/>
          </a:stretch>
        </p:blipFill>
        <p:spPr>
          <a:xfrm>
            <a:off x="6766560" y="4160520"/>
            <a:ext cx="4663440" cy="2240280"/>
          </a:xfrm>
          <a:prstGeom prst="rect">
            <a:avLst/>
          </a:prstGeom>
        </p:spPr>
      </p:pic>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into the Exercise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We stay right here, together, as one room — a guided imaginative prayer, twelve to fifteen minutes, read slowly</a:t>
            </a:r>
          </a:p>
          <a:p>
            <a:pPr marL="274320" indent="-274320">
              <a:spcAft>
                <a:spcPts val="900"/>
              </a:spcAft>
            </a:pPr>
            <a:r>
              <a:rPr sz="1800" b="1" i="0">
                <a:solidFill>
                  <a:srgbClr val="97BC62"/>
                </a:solidFill>
                <a:latin typeface="Calibri"/>
              </a:rPr>
              <a:t>•  </a:t>
            </a:r>
            <a:r>
              <a:rPr sz="1800" b="0" i="0">
                <a:solidFill>
                  <a:srgbClr val="222B22"/>
                </a:solidFill>
                <a:latin typeface="Calibri"/>
              </a:rPr>
              <a:t>Eyes closed or open — either is fine; your own family is beside you the whole time</a:t>
            </a:r>
          </a:p>
          <a:p>
            <a:pPr marL="274320" indent="-274320">
              <a:spcAft>
                <a:spcPts val="900"/>
              </a:spcAft>
            </a:pPr>
            <a:r>
              <a:rPr sz="1800" b="1" i="0">
                <a:solidFill>
                  <a:srgbClr val="97BC62"/>
                </a:solidFill>
                <a:latin typeface="Calibri"/>
              </a:rPr>
              <a:t>•  </a:t>
            </a:r>
            <a:r>
              <a:rPr sz="1800" b="0" i="0">
                <a:solidFill>
                  <a:srgbClr val="222B22"/>
                </a:solidFill>
                <a:latin typeface="Calibri"/>
              </a:rPr>
              <a:t>Then five minutes with your journal, then family clusters for sharing — by invitation only</a:t>
            </a:r>
          </a:p>
          <a:p>
            <a:pPr marL="274320" indent="-274320">
              <a:spcAft>
                <a:spcPts val="900"/>
              </a:spcAft>
            </a:pPr>
            <a:r>
              <a:rPr sz="1800" b="1" i="0">
                <a:solidFill>
                  <a:srgbClr val="97BC62"/>
                </a:solidFill>
                <a:latin typeface="Calibri"/>
              </a:rPr>
              <a:t>•  </a:t>
            </a:r>
            <a:r>
              <a:rPr sz="1800" b="0" i="0">
                <a:solidFill>
                  <a:srgbClr val="222B22"/>
                </a:solidFill>
                <a:latin typeface="Calibri"/>
              </a:rPr>
              <a:t>A parent will open each round — “Silence is a complete answer.”</a:t>
            </a:r>
          </a:p>
          <a:p>
            <a:pPr marL="274320" indent="-274320">
              <a:spcAft>
                <a:spcPts val="900"/>
              </a:spcAft>
            </a:pPr>
            <a:r>
              <a:rPr sz="1800" b="1" i="0">
                <a:solidFill>
                  <a:srgbClr val="97BC62"/>
                </a:solidFill>
                <a:latin typeface="Calibri"/>
              </a:rPr>
              <a:t>•  </a:t>
            </a:r>
            <a:r>
              <a:rPr sz="1800" b="0" i="0">
                <a:solidFill>
                  <a:srgbClr val="222B22"/>
                </a:solidFill>
                <a:latin typeface="Calibri"/>
              </a:rPr>
              <a:t>“Father, you are the vinedresser. … Where it is hard, be tender. Where it is closed, be patient. Where it is opening, be present.”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Garden Exercise — Whole Room, then Clusters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1600" b="1" i="0">
                <a:solidFill>
                  <a:srgbClr val="97BC62"/>
                </a:solidFill>
                <a:latin typeface="Calibri"/>
              </a:rPr>
              <a:t>1   </a:t>
            </a:r>
            <a:r>
              <a:rPr sz="1600" b="0" i="0">
                <a:solidFill>
                  <a:srgbClr val="222B22"/>
                </a:solidFill>
                <a:latin typeface="Calibri"/>
              </a:rPr>
              <a:t>Settle (2 min) — “Take a breath. Settle. Eyes open or closed. Whatever feels honest. We have time.”</a:t>
            </a:r>
          </a:p>
          <a:p>
            <a:pPr marL="342900" indent="-342900">
              <a:spcAft>
                <a:spcPts val="750"/>
              </a:spcAft>
            </a:pPr>
            <a:r>
              <a:rPr sz="1600" b="1" i="0">
                <a:solidFill>
                  <a:srgbClr val="97BC62"/>
                </a:solidFill>
                <a:latin typeface="Calibri"/>
              </a:rPr>
              <a:t>2   </a:t>
            </a:r>
            <a:r>
              <a:rPr sz="1600" b="0" i="0">
                <a:solidFill>
                  <a:srgbClr val="222B22"/>
                </a:solidFill>
                <a:latin typeface="Calibri"/>
              </a:rPr>
              <a:t>Guided prayer (12–15 min) — read slowly to the whole room; the pauses are not optional — they are where the work happens</a:t>
            </a:r>
          </a:p>
          <a:p>
            <a:pPr marL="342900" indent="-342900">
              <a:spcAft>
                <a:spcPts val="750"/>
              </a:spcAft>
            </a:pPr>
            <a:r>
              <a:rPr sz="1600" b="1" i="0">
                <a:solidFill>
                  <a:srgbClr val="97BC62"/>
                </a:solidFill>
                <a:latin typeface="Calibri"/>
              </a:rPr>
              <a:t>3   </a:t>
            </a:r>
            <a:r>
              <a:rPr sz="1600" b="0" i="0">
                <a:solidFill>
                  <a:srgbClr val="222B22"/>
                </a:solidFill>
                <a:latin typeface="Calibri"/>
              </a:rPr>
              <a:t>Silent journaling (5 min) — “Write in your Week 9 journal page what you noticed. Whatever you noticed.”</a:t>
            </a:r>
          </a:p>
          <a:p>
            <a:pPr marL="342900" indent="-342900">
              <a:spcAft>
                <a:spcPts val="750"/>
              </a:spcAft>
            </a:pPr>
            <a:r>
              <a:rPr sz="1600" b="1" i="0">
                <a:solidFill>
                  <a:srgbClr val="97BC62"/>
                </a:solidFill>
                <a:latin typeface="Calibri"/>
              </a:rPr>
              <a:t>4   </a:t>
            </a:r>
            <a:r>
              <a:rPr sz="1600" b="0" i="0">
                <a:solidFill>
                  <a:srgbClr val="222B22"/>
                </a:solidFill>
                <a:latin typeface="Calibri"/>
              </a:rPr>
              <a:t>Sharing in family clusters (8–10 min) — by invitation only; a parent opens; silence is a complete answer</a:t>
            </a:r>
          </a:p>
          <a:p>
            <a:pPr marL="274320" indent="-274320">
              <a:spcAft>
                <a:spcPts val="750"/>
              </a:spcAft>
            </a:pPr>
            <a:r>
              <a:rPr sz="1600" b="1" i="0">
                <a:solidFill>
                  <a:srgbClr val="97BC62"/>
                </a:solidFill>
                <a:latin typeface="Calibri"/>
              </a:rPr>
              <a:t>•  </a:t>
            </a:r>
            <a:r>
              <a:rPr sz="1600" b="0" i="0">
                <a:solidFill>
                  <a:srgbClr val="222B22"/>
                </a:solidFill>
                <a:latin typeface="Calibri"/>
              </a:rPr>
              <a:t>Receive without interpreting — “Thank you for sharing that.” Never “God was telling you _____.”</a:t>
            </a:r>
          </a:p>
          <a:p>
            <a:pPr marL="274320" indent="-274320">
              <a:spcAft>
                <a:spcPts val="750"/>
              </a:spcAft>
            </a:pPr>
            <a:r>
              <a:rPr sz="1600" b="1" i="0">
                <a:solidFill>
                  <a:srgbClr val="97BC62"/>
                </a:solidFill>
                <a:latin typeface="Calibri"/>
              </a:rPr>
              <a:t>•  </a:t>
            </a:r>
            <a:r>
              <a:rPr sz="1600" b="0" i="0">
                <a:solidFill>
                  <a:srgbClr val="222B22"/>
                </a:solidFill>
                <a:latin typeface="Calibri"/>
              </a:rPr>
              <a:t>If something painful surfaces — bless it: “I hear that. May Jesus stay with you in that place this week.”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One-Word Landing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“What happened in your cluster stays in your cluster.”</a:t>
            </a:r>
          </a:p>
          <a:p>
            <a:pPr marL="274320" indent="-274320">
              <a:spcAft>
                <a:spcPts val="900"/>
              </a:spcAft>
            </a:pPr>
            <a:r>
              <a:rPr sz="1800" b="1" i="0">
                <a:solidFill>
                  <a:srgbClr val="97BC62"/>
                </a:solidFill>
                <a:latin typeface="Calibri"/>
              </a:rPr>
              <a:t>•  </a:t>
            </a:r>
            <a:r>
              <a:rPr sz="1800" b="0" i="0">
                <a:solidFill>
                  <a:srgbClr val="222B22"/>
                </a:solidFill>
                <a:latin typeface="Calibri"/>
              </a:rPr>
              <a:t>One word about tonight — not what was said, but what you noticed</a:t>
            </a:r>
          </a:p>
          <a:p>
            <a:pPr marL="685800" indent="-274320">
              <a:spcAft>
                <a:spcPts val="700"/>
              </a:spcAft>
            </a:pPr>
            <a:r>
              <a:rPr sz="1600" b="1" i="0">
                <a:solidFill>
                  <a:srgbClr val="97BC62"/>
                </a:solidFill>
                <a:latin typeface="Calibri"/>
              </a:rPr>
              <a:t>–  </a:t>
            </a:r>
            <a:r>
              <a:rPr sz="1600" b="0" i="1">
                <a:solidFill>
                  <a:srgbClr val="222B22"/>
                </a:solidFill>
                <a:latin typeface="Calibri"/>
              </a:rPr>
              <a:t>“Surprised.” “Tender.” “Empty.” “Found.” “Confused.” “Quiet.”</a:t>
            </a:r>
          </a:p>
          <a:p>
            <a:pPr marL="274320" indent="-274320">
              <a:spcAft>
                <a:spcPts val="900"/>
              </a:spcAft>
            </a:pPr>
            <a:r>
              <a:rPr sz="1800" b="1" i="0">
                <a:solidFill>
                  <a:srgbClr val="97BC62"/>
                </a:solidFill>
                <a:latin typeface="Calibri"/>
              </a:rPr>
              <a:t>•  </a:t>
            </a:r>
            <a:r>
              <a:rPr sz="1800" b="0" i="0">
                <a:solidFill>
                  <a:srgbClr val="222B22"/>
                </a:solidFill>
                <a:latin typeface="Calibri"/>
              </a:rPr>
              <a:t>A parent begins; anyone may pass — each word received without commentary</a:t>
            </a:r>
          </a:p>
          <a:p>
            <a:pPr marL="274320" indent="-274320">
              <a:spcAft>
                <a:spcPts val="900"/>
              </a:spcAft>
            </a:pPr>
            <a:r>
              <a:rPr sz="1800" b="1" i="0">
                <a:solidFill>
                  <a:srgbClr val="97BC62"/>
                </a:solidFill>
                <a:latin typeface="Calibri"/>
              </a:rPr>
              <a:t>•  </a:t>
            </a:r>
            <a:r>
              <a:rPr sz="1800" b="0" i="0">
                <a:solidFill>
                  <a:srgbClr val="222B22"/>
                </a:solidFill>
                <a:latin typeface="Calibri"/>
              </a:rPr>
              <a:t>“Whatever happened tonight is yours. Some of it will keep happening across the week.”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Three returns to the garden this week — five to ten minutes each, journaled</a:t>
            </a:r>
          </a:p>
          <a:p>
            <a:pPr marL="274320" indent="-274320">
              <a:spcAft>
                <a:spcPts val="750"/>
              </a:spcAft>
            </a:pPr>
            <a:r>
              <a:rPr sz="1600" b="1" i="0">
                <a:solidFill>
                  <a:srgbClr val="97BC62"/>
                </a:solidFill>
                <a:latin typeface="Calibri"/>
              </a:rPr>
              <a:t>•  </a:t>
            </a:r>
            <a:r>
              <a:rPr sz="1600" b="0" i="0">
                <a:solidFill>
                  <a:srgbClr val="222B22"/>
                </a:solidFill>
                <a:latin typeface="Calibri"/>
              </a:rPr>
              <a:t>“You don’t need the full guided script — you have the place now. Just go back.”</a:t>
            </a:r>
          </a:p>
          <a:p>
            <a:pPr marL="274320" indent="-274320">
              <a:spcAft>
                <a:spcPts val="750"/>
              </a:spcAft>
            </a:pPr>
            <a:r>
              <a:rPr sz="1600" b="1" i="0">
                <a:solidFill>
                  <a:srgbClr val="97BC62"/>
                </a:solidFill>
                <a:latin typeface="Calibri"/>
              </a:rPr>
              <a:t>•  </a:t>
            </a:r>
            <a:r>
              <a:rPr sz="1600" b="0" i="0">
                <a:solidFill>
                  <a:srgbClr val="222B22"/>
                </a:solidFill>
                <a:latin typeface="Calibri"/>
              </a:rPr>
              <a:t>Notice what is the same and what has changed — notice if Jesus is in a different place than He was tonight</a:t>
            </a:r>
          </a:p>
          <a:p>
            <a:pPr marL="274320" indent="-274320">
              <a:spcAft>
                <a:spcPts val="750"/>
              </a:spcAft>
            </a:pPr>
            <a:r>
              <a:rPr sz="1600" b="1" i="0">
                <a:solidFill>
                  <a:srgbClr val="97BC62"/>
                </a:solidFill>
                <a:latin typeface="Calibri"/>
              </a:rPr>
              <a:t>•  </a:t>
            </a:r>
            <a:r>
              <a:rPr sz="1600" b="0" i="0">
                <a:solidFill>
                  <a:srgbClr val="222B22"/>
                </a:solidFill>
                <a:latin typeface="Calibri"/>
              </a:rPr>
              <a:t>Pick three days and a time — morning before the day starts is often best</a:t>
            </a:r>
          </a:p>
          <a:p>
            <a:pPr marL="274320" indent="-274320">
              <a:spcAft>
                <a:spcPts val="750"/>
              </a:spcAft>
            </a:pPr>
            <a:r>
              <a:rPr sz="1600" b="1" i="0">
                <a:solidFill>
                  <a:srgbClr val="97BC62"/>
                </a:solidFill>
                <a:latin typeface="Calibri"/>
              </a:rPr>
              <a:t>•  </a:t>
            </a:r>
            <a:r>
              <a:rPr sz="1600" b="0" i="0">
                <a:solidFill>
                  <a:srgbClr val="222B22"/>
                </a:solidFill>
                <a:latin typeface="Calibri"/>
              </a:rPr>
              <a:t>If something heavy surfaces — stop, open your eyes, come back another day; tell a trusted adult</a:t>
            </a:r>
          </a:p>
          <a:p>
            <a:pPr marL="274320" indent="-274320">
              <a:spcAft>
                <a:spcPts val="750"/>
              </a:spcAft>
            </a:pPr>
            <a:r>
              <a:rPr sz="1600" b="1" i="0">
                <a:solidFill>
                  <a:srgbClr val="97BC62"/>
                </a:solidFill>
                <a:latin typeface="Calibri"/>
              </a:rPr>
              <a:t>•  </a:t>
            </a:r>
            <a:r>
              <a:rPr sz="1600" b="0" i="0">
                <a:solidFill>
                  <a:srgbClr val="222B22"/>
                </a:solidFill>
                <a:latin typeface="Calibri"/>
              </a:rPr>
              <a:t>Came in skeptical? The Note for the Skeptic handout is for you — adapting or sitting out for now is okay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seedling - what grows between Wednesdays"/>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Garden Week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“One sentence about a garden visit this week? Not what happened in it — just how the going was.”</a:t>
            </a:r>
          </a:p>
          <a:p>
            <a:pPr marL="685800" indent="-274320">
              <a:spcAft>
                <a:spcPts val="700"/>
              </a:spcAft>
            </a:pPr>
            <a:r>
              <a:rPr sz="1600" b="1" i="0">
                <a:solidFill>
                  <a:srgbClr val="97BC62"/>
                </a:solidFill>
                <a:latin typeface="Calibri"/>
              </a:rPr>
              <a:t>–  </a:t>
            </a:r>
            <a:r>
              <a:rPr sz="1600" b="0" i="1">
                <a:solidFill>
                  <a:srgbClr val="222B22"/>
                </a:solidFill>
                <a:latin typeface="Calibri"/>
              </a:rPr>
              <a:t>“I went twice and it was quieter than Wednesday.” “I meant to and didn’t.” “I went once and it was hard.”</a:t>
            </a:r>
          </a:p>
          <a:p>
            <a:pPr marL="274320" indent="-274320">
              <a:spcAft>
                <a:spcPts val="900"/>
              </a:spcAft>
            </a:pPr>
            <a:r>
              <a:rPr sz="1800" b="1" i="0">
                <a:solidFill>
                  <a:srgbClr val="97BC62"/>
                </a:solidFill>
                <a:latin typeface="Calibri"/>
              </a:rPr>
              <a:t>•  </a:t>
            </a:r>
            <a:r>
              <a:rPr sz="1800" b="0" i="0">
                <a:solidFill>
                  <a:srgbClr val="222B22"/>
                </a:solidFill>
                <a:latin typeface="Calibri"/>
              </a:rPr>
              <a:t>A parent offers the first sentence — never a cold call on a teen; each one received identically</a:t>
            </a:r>
          </a:p>
          <a:p>
            <a:pPr marL="274320" indent="-274320">
              <a:spcAft>
                <a:spcPts val="900"/>
              </a:spcAft>
            </a:pPr>
            <a:r>
              <a:rPr sz="1800" b="1" i="0">
                <a:solidFill>
                  <a:srgbClr val="97BC62"/>
                </a:solidFill>
                <a:latin typeface="Calibri"/>
              </a:rPr>
              <a:t>•  </a:t>
            </a:r>
            <a:r>
              <a:rPr sz="1800" b="0" i="0">
                <a:solidFill>
                  <a:srgbClr val="222B22"/>
                </a:solidFill>
                <a:latin typeface="Calibri"/>
              </a:rPr>
              <a:t>“There is no junior varsity garden. Jesus meets each person in the garden they actually have.”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2" name="Picture 32" descr="trail cairn - the weekly check-in"/>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Scripture and Brief Re-Framing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Same two anchors as last week — Psalm 23 and John 15:1–11 — “Listen as if for the first time anyway.”</a:t>
            </a:r>
          </a:p>
          <a:p>
            <a:pPr marL="274320" indent="-274320">
              <a:spcAft>
                <a:spcPts val="800"/>
              </a:spcAft>
            </a:pPr>
            <a:r>
              <a:rPr sz="1600" b="1" i="0">
                <a:solidFill>
                  <a:srgbClr val="97BC62"/>
                </a:solidFill>
                <a:latin typeface="Calibri"/>
              </a:rPr>
              <a:t>•  </a:t>
            </a:r>
            <a:r>
              <a:rPr sz="1600" b="0" i="0">
                <a:solidFill>
                  <a:srgbClr val="222B22"/>
                </a:solidFill>
                <a:latin typeface="Calibri"/>
              </a:rPr>
              <a:t>A vinedresser does not visit a vine once — abiding is a rhythm, not an event</a:t>
            </a:r>
          </a:p>
          <a:p>
            <a:pPr marL="274320" indent="-274320">
              <a:spcAft>
                <a:spcPts val="800"/>
              </a:spcAft>
            </a:pPr>
            <a:r>
              <a:rPr sz="1600" b="1" i="0">
                <a:solidFill>
                  <a:srgbClr val="97BC62"/>
                </a:solidFill>
                <a:latin typeface="Calibri"/>
              </a:rPr>
              <a:t>•  </a:t>
            </a:r>
            <a:r>
              <a:rPr sz="1600" b="0" i="0">
                <a:solidFill>
                  <a:srgbClr val="222B22"/>
                </a:solidFill>
                <a:latin typeface="Calibri"/>
              </a:rPr>
              <a:t>Going back changes things — the garden is not a photograph; it is a living place, because your heart is</a:t>
            </a:r>
          </a:p>
          <a:p>
            <a:pPr marL="274320" indent="-274320">
              <a:spcAft>
                <a:spcPts val="800"/>
              </a:spcAft>
            </a:pPr>
            <a:r>
              <a:rPr sz="1600" b="1" i="0">
                <a:solidFill>
                  <a:srgbClr val="97BC62"/>
                </a:solidFill>
                <a:latin typeface="Calibri"/>
              </a:rPr>
              <a:t>•  </a:t>
            </a:r>
            <a:r>
              <a:rPr sz="1600" b="0" i="0">
                <a:solidFill>
                  <a:srgbClr val="222B22"/>
                </a:solidFill>
                <a:latin typeface="Calibri"/>
              </a:rPr>
              <a:t>A hard garden last week? Going back in tonight is optional — sit and pray instead, fully honored, no explanation owed</a:t>
            </a:r>
          </a:p>
          <a:p>
            <a:pPr marL="274320" indent="-274320">
              <a:spcAft>
                <a:spcPts val="800"/>
              </a:spcAft>
            </a:pPr>
            <a:r>
              <a:rPr sz="1600" b="1" i="0">
                <a:solidFill>
                  <a:srgbClr val="97BC62"/>
                </a:solidFill>
                <a:latin typeface="Calibri"/>
              </a:rPr>
              <a:t>•  </a:t>
            </a:r>
            <a:r>
              <a:rPr sz="1600" b="0" i="0">
                <a:solidFill>
                  <a:srgbClr val="222B22"/>
                </a:solidFill>
                <a:latin typeface="Calibri"/>
              </a:rPr>
              <a:t>“The words get you to the gate; the silence is where He meets you.”</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PSALM 23:1–3</a:t>
            </a:r>
          </a:p>
          <a:p>
            <a:pPr>
              <a:spcAft>
                <a:spcPts val="600"/>
              </a:spcAft>
            </a:pPr>
            <a:r>
              <a:rPr sz="1600" b="0" i="1">
                <a:solidFill>
                  <a:srgbClr val="222B22"/>
                </a:solidFill>
                <a:latin typeface="Cambria"/>
              </a:rPr>
              <a:t>“The Lord is my shepherd; I shall not want. He makes me lie down in green pastures. He leads me beside still waters. He restores my soul.”</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Exercise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Same shape as last week — guided walk-through, about twelve to fifteen minutes, all of us together in this room</a:t>
            </a:r>
          </a:p>
          <a:p>
            <a:pPr marL="274320" indent="-274320">
              <a:spcAft>
                <a:spcPts val="900"/>
              </a:spcAft>
            </a:pPr>
            <a:r>
              <a:rPr sz="1800" b="1" i="0">
                <a:solidFill>
                  <a:srgbClr val="97BC62"/>
                </a:solidFill>
                <a:latin typeface="Calibri"/>
              </a:rPr>
              <a:t>•  </a:t>
            </a:r>
            <a:r>
              <a:rPr sz="1800" b="0" i="0">
                <a:solidFill>
                  <a:srgbClr val="222B22"/>
                </a:solidFill>
                <a:latin typeface="Calibri"/>
              </a:rPr>
              <a:t>Read slowly, with longer quiet than last time — then five minutes with your journal</a:t>
            </a:r>
          </a:p>
          <a:p>
            <a:pPr marL="274320" indent="-274320">
              <a:spcAft>
                <a:spcPts val="900"/>
              </a:spcAft>
            </a:pPr>
            <a:r>
              <a:rPr sz="1800" b="1" i="0">
                <a:solidFill>
                  <a:srgbClr val="97BC62"/>
                </a:solidFill>
                <a:latin typeface="Calibri"/>
              </a:rPr>
              <a:t>•  </a:t>
            </a:r>
            <a:r>
              <a:rPr sz="1800" b="0" i="0">
                <a:solidFill>
                  <a:srgbClr val="222B22"/>
                </a:solidFill>
                <a:latin typeface="Calibri"/>
              </a:rPr>
              <a:t>Then family clusters for sharing by invitation only — “Silence is a complete answer.”</a:t>
            </a:r>
          </a:p>
          <a:p>
            <a:pPr marL="274320" indent="-274320">
              <a:spcAft>
                <a:spcPts val="900"/>
              </a:spcAft>
            </a:pPr>
            <a:r>
              <a:rPr sz="1800" b="1" i="0">
                <a:solidFill>
                  <a:srgbClr val="97BC62"/>
                </a:solidFill>
                <a:latin typeface="Calibri"/>
              </a:rPr>
              <a:t>•  </a:t>
            </a:r>
            <a:r>
              <a:rPr sz="1800" b="0" i="0">
                <a:solidFill>
                  <a:srgbClr val="222B22"/>
                </a:solidFill>
                <a:latin typeface="Calibri"/>
              </a:rPr>
              <a:t>“Father, You are the vinedresser. We are going back into the gardens You already know. Walk where You want to walk. Tend what You want to tend.”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Garden Exercise — Whole Room, then Family Clusters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342900" indent="-342900">
              <a:spcAft>
                <a:spcPts val="750"/>
              </a:spcAft>
            </a:pPr>
            <a:r>
              <a:rPr sz="1600" b="1" i="0">
                <a:solidFill>
                  <a:srgbClr val="97BC62"/>
                </a:solidFill>
                <a:latin typeface="Calibri"/>
              </a:rPr>
              <a:t>1   </a:t>
            </a:r>
            <a:r>
              <a:rPr sz="1600" b="0" i="0">
                <a:solidFill>
                  <a:srgbClr val="222B22"/>
                </a:solidFill>
                <a:latin typeface="Calibri"/>
              </a:rPr>
              <a:t>Settle (2 min) — then, simply: “[Name] will read for us tonight.”</a:t>
            </a:r>
          </a:p>
          <a:p>
            <a:pPr marL="342900" indent="-342900">
              <a:spcAft>
                <a:spcPts val="750"/>
              </a:spcAft>
            </a:pPr>
            <a:r>
              <a:rPr sz="1600" b="1" i="0">
                <a:solidFill>
                  <a:srgbClr val="97BC62"/>
                </a:solidFill>
                <a:latin typeface="Calibri"/>
              </a:rPr>
              <a:t>2   </a:t>
            </a:r>
            <a:r>
              <a:rPr sz="1600" b="0" i="0">
                <a:solidFill>
                  <a:srgbClr val="222B22"/>
                </a:solidFill>
                <a:latin typeface="Calibri"/>
              </a:rPr>
              <a:t>Guided walk-through, senior-led (12–15 min) — same protocol as Week 9, longer pauses; the card carries the room</a:t>
            </a:r>
          </a:p>
          <a:p>
            <a:pPr marL="342900" indent="-342900">
              <a:spcAft>
                <a:spcPts val="750"/>
              </a:spcAft>
            </a:pPr>
            <a:r>
              <a:rPr sz="1600" b="1" i="0">
                <a:solidFill>
                  <a:srgbClr val="97BC62"/>
                </a:solidFill>
                <a:latin typeface="Calibri"/>
              </a:rPr>
              <a:t>3   </a:t>
            </a:r>
            <a:r>
              <a:rPr sz="1600" b="0" i="0">
                <a:solidFill>
                  <a:srgbClr val="222B22"/>
                </a:solidFill>
                <a:latin typeface="Calibri"/>
              </a:rPr>
              <a:t>The visible handoff — “[Name], the room is yours.” / “Thank you, [name]. That was well led.”</a:t>
            </a:r>
          </a:p>
          <a:p>
            <a:pPr marL="342900" indent="-342900">
              <a:spcAft>
                <a:spcPts val="750"/>
              </a:spcAft>
            </a:pPr>
            <a:r>
              <a:rPr sz="1600" b="1" i="0">
                <a:solidFill>
                  <a:srgbClr val="97BC62"/>
                </a:solidFill>
                <a:latin typeface="Calibri"/>
              </a:rPr>
              <a:t>4   </a:t>
            </a:r>
            <a:r>
              <a:rPr sz="1600" b="0" i="0">
                <a:solidFill>
                  <a:srgbClr val="222B22"/>
                </a:solidFill>
                <a:latin typeface="Calibri"/>
              </a:rPr>
              <a:t>Silent journaling (5 min) — what was the same as last week, what was different</a:t>
            </a:r>
          </a:p>
          <a:p>
            <a:pPr marL="342900" indent="-342900">
              <a:spcAft>
                <a:spcPts val="750"/>
              </a:spcAft>
            </a:pPr>
            <a:r>
              <a:rPr sz="1600" b="1" i="0">
                <a:solidFill>
                  <a:srgbClr val="97BC62"/>
                </a:solidFill>
                <a:latin typeface="Calibri"/>
              </a:rPr>
              <a:t>5   </a:t>
            </a:r>
            <a:r>
              <a:rPr sz="1600" b="0" i="0">
                <a:solidFill>
                  <a:srgbClr val="222B22"/>
                </a:solidFill>
                <a:latin typeface="Calibri"/>
              </a:rPr>
              <a:t>Sharing in family clusters (10–12 min) — by invitation only; a parent opens; silence is a complete answer</a:t>
            </a:r>
          </a:p>
          <a:p>
            <a:pPr marL="274320" indent="-274320">
              <a:spcAft>
                <a:spcPts val="750"/>
              </a:spcAft>
            </a:pPr>
            <a:r>
              <a:rPr sz="1600" b="1" i="0">
                <a:solidFill>
                  <a:srgbClr val="97BC62"/>
                </a:solidFill>
                <a:latin typeface="Calibri"/>
              </a:rPr>
              <a:t>•  </a:t>
            </a:r>
            <a:r>
              <a:rPr sz="1600" b="0" i="0">
                <a:solidFill>
                  <a:srgbClr val="222B22"/>
                </a:solidFill>
                <a:latin typeface="Calibri"/>
              </a:rPr>
              <a:t>The bright line — the teen leads the walk-through; the adults hold the sharing and anything that surfaces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91" name="Picture 91" descr="a stone-lined path into a tended garden"/>
          <p:cNvPicPr>
            <a:picLocks noChangeAspect="1"/>
          </p:cNvPicPr>
          <p:nvPr/>
        </p:nvPicPr>
        <p:blipFill>
          <a:blip r:embed="rId2"/>
          <a:stretch>
            <a:fillRect/>
          </a:stretch>
        </p:blipFill>
        <p:spPr>
          <a:xfrm>
            <a:off x="7696962" y="1463040"/>
            <a:ext cx="3669030" cy="4892040"/>
          </a:xfrm>
          <a:prstGeom prst="rect">
            <a:avLst/>
          </a:prstGeom>
        </p:spPr>
      </p:pic>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One-Word Landing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“What happened in your cluster stays in your cluster.”</a:t>
            </a:r>
          </a:p>
          <a:p>
            <a:pPr marL="274320" indent="-274320">
              <a:spcAft>
                <a:spcPts val="900"/>
              </a:spcAft>
            </a:pPr>
            <a:r>
              <a:rPr sz="1800" b="1" i="0">
                <a:solidFill>
                  <a:srgbClr val="97BC62"/>
                </a:solidFill>
                <a:latin typeface="Calibri"/>
              </a:rPr>
              <a:t>•  </a:t>
            </a:r>
            <a:r>
              <a:rPr sz="1800" b="0" i="0">
                <a:solidFill>
                  <a:srgbClr val="222B22"/>
                </a:solidFill>
                <a:latin typeface="Calibri"/>
              </a:rPr>
              <a:t>One word each, when you’re ready — not what was said, but what you noticed; you can pass</a:t>
            </a:r>
          </a:p>
          <a:p>
            <a:pPr marL="685800" indent="-274320">
              <a:spcAft>
                <a:spcPts val="700"/>
              </a:spcAft>
            </a:pPr>
            <a:r>
              <a:rPr sz="1600" b="1" i="0">
                <a:solidFill>
                  <a:srgbClr val="97BC62"/>
                </a:solidFill>
                <a:latin typeface="Calibri"/>
              </a:rPr>
              <a:t>–  </a:t>
            </a:r>
            <a:r>
              <a:rPr sz="1600" b="0" i="1">
                <a:solidFill>
                  <a:srgbClr val="222B22"/>
                </a:solidFill>
                <a:latin typeface="Calibri"/>
              </a:rPr>
              <a:t>“Deeper.” “Same.” “Tender.” “Quiet.” “Harder.” “Found.”</a:t>
            </a:r>
          </a:p>
          <a:p>
            <a:pPr marL="274320" indent="-274320">
              <a:spcAft>
                <a:spcPts val="900"/>
              </a:spcAft>
            </a:pPr>
            <a:r>
              <a:rPr sz="1800" b="1" i="0">
                <a:solidFill>
                  <a:srgbClr val="97BC62"/>
                </a:solidFill>
                <a:latin typeface="Calibri"/>
              </a:rPr>
              <a:t>•  </a:t>
            </a:r>
            <a:r>
              <a:rPr sz="1800" b="0" i="0">
                <a:solidFill>
                  <a:srgbClr val="222B22"/>
                </a:solidFill>
                <a:latin typeface="Calibri"/>
              </a:rPr>
              <a:t>A parent offers the first word — each one received without commentary</a:t>
            </a:r>
          </a:p>
          <a:p>
            <a:pPr marL="274320" indent="-274320">
              <a:spcAft>
                <a:spcPts val="900"/>
              </a:spcAft>
            </a:pPr>
            <a:r>
              <a:rPr sz="1800" b="1" i="0">
                <a:solidFill>
                  <a:srgbClr val="97BC62"/>
                </a:solidFill>
                <a:latin typeface="Calibri"/>
              </a:rPr>
              <a:t>•  </a:t>
            </a:r>
            <a:r>
              <a:rPr sz="1800" b="0" i="0">
                <a:solidFill>
                  <a:srgbClr val="222B22"/>
                </a:solidFill>
                <a:latin typeface="Calibri"/>
              </a:rPr>
              <a:t>“A garden visited twice is a garden being tended. Whatever He is doing in yours, He will keep doing it this week.”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Keep the garden rhythm — two returns this week, five to ten minutes each</a:t>
            </a:r>
          </a:p>
          <a:p>
            <a:pPr marL="274320" indent="-274320">
              <a:spcAft>
                <a:spcPts val="900"/>
              </a:spcAft>
            </a:pPr>
            <a:r>
              <a:rPr sz="1800" b="1" i="0">
                <a:solidFill>
                  <a:srgbClr val="97BC62"/>
                </a:solidFill>
                <a:latin typeface="Calibri"/>
              </a:rPr>
              <a:t>•  </a:t>
            </a:r>
            <a:r>
              <a:rPr sz="1800" b="0" i="0">
                <a:solidFill>
                  <a:srgbClr val="222B22"/>
                </a:solidFill>
                <a:latin typeface="Calibri"/>
              </a:rPr>
              <a:t>“You know the way now — you don’t need the script.” Go back, walk a little, notice where He is</a:t>
            </a:r>
          </a:p>
          <a:p>
            <a:pPr marL="274320" indent="-274320">
              <a:spcAft>
                <a:spcPts val="900"/>
              </a:spcAft>
            </a:pPr>
            <a:r>
              <a:rPr sz="1800" b="1" i="0">
                <a:solidFill>
                  <a:srgbClr val="97BC62"/>
                </a:solidFill>
                <a:latin typeface="Calibri"/>
              </a:rPr>
              <a:t>•  </a:t>
            </a:r>
            <a:r>
              <a:rPr sz="1800" b="0" i="0">
                <a:solidFill>
                  <a:srgbClr val="222B22"/>
                </a:solidFill>
                <a:latin typeface="Calibri"/>
              </a:rPr>
              <a:t>Journal each visit — even two sentences — “the garden speaks slowly, and the journal is how you hear it across weeks”</a:t>
            </a:r>
          </a:p>
          <a:p>
            <a:pPr marL="274320" indent="-274320">
              <a:spcAft>
                <a:spcPts val="900"/>
              </a:spcAft>
            </a:pPr>
            <a:r>
              <a:rPr sz="1800" b="1" i="0">
                <a:solidFill>
                  <a:srgbClr val="97BC62"/>
                </a:solidFill>
                <a:latin typeface="Calibri"/>
              </a:rPr>
              <a:t>•  </a:t>
            </a:r>
            <a:r>
              <a:rPr sz="1800" b="0" i="0">
                <a:solidFill>
                  <a:srgbClr val="222B22"/>
                </a:solidFill>
                <a:latin typeface="Calibri"/>
              </a:rPr>
              <a:t>If a return surfaces something heavy — stop, open your eyes, come back another day; tell a trusted adult</a:t>
            </a:r>
          </a:p>
          <a:p>
            <a:pPr marL="274320" indent="-274320">
              <a:spcAft>
                <a:spcPts val="900"/>
              </a:spcAft>
            </a:pPr>
            <a:r>
              <a:rPr sz="1800" b="1" i="0">
                <a:solidFill>
                  <a:srgbClr val="97BC62"/>
                </a:solidFill>
                <a:latin typeface="Calibri"/>
              </a:rPr>
              <a:t>•  </a:t>
            </a:r>
            <a:r>
              <a:rPr sz="1800" b="0" i="0">
                <a:solidFill>
                  <a:srgbClr val="222B22"/>
                </a:solidFill>
                <a:latin typeface="Calibri"/>
              </a:rPr>
              <a:t>Three visits drops to two on purpose — a rhythm that survives, not a sprint that impresses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seedling - what grows between Wednesdays"/>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9 Check-In — the Garden Returns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practice was three returns to the garden</a:t>
            </a:r>
          </a:p>
          <a:p>
            <a:pPr marL="274320" indent="-274320">
              <a:spcAft>
                <a:spcPts val="900"/>
              </a:spcAft>
            </a:pPr>
            <a:r>
              <a:rPr sz="1800" b="1" i="0">
                <a:solidFill>
                  <a:srgbClr val="97BC62"/>
                </a:solidFill>
                <a:latin typeface="Calibri"/>
              </a:rPr>
              <a:t>•  </a:t>
            </a:r>
            <a:r>
              <a:rPr sz="1800" b="0" i="0">
                <a:solidFill>
                  <a:srgbClr val="222B22"/>
                </a:solidFill>
                <a:latin typeface="Calibri"/>
              </a:rPr>
              <a:t>“Anyone want to say one sentence about how that went — the garden visits, or what surfaced, or that you didn’t get to it?”</a:t>
            </a:r>
          </a:p>
          <a:p>
            <a:pPr marL="274320" indent="-274320">
              <a:spcAft>
                <a:spcPts val="900"/>
              </a:spcAft>
            </a:pPr>
            <a:r>
              <a:rPr sz="1800" b="1" i="0">
                <a:solidFill>
                  <a:srgbClr val="97BC62"/>
                </a:solidFill>
                <a:latin typeface="Calibri"/>
              </a:rPr>
              <a:t>•  </a:t>
            </a:r>
            <a:r>
              <a:rPr sz="1800" b="0" i="0">
                <a:solidFill>
                  <a:srgbClr val="222B22"/>
                </a:solidFill>
                <a:latin typeface="Calibri"/>
              </a:rPr>
              <a:t>One sentence each, voluntary — received without commentary</a:t>
            </a:r>
          </a:p>
          <a:p>
            <a:pPr marL="685800" indent="-274320">
              <a:spcAft>
                <a:spcPts val="700"/>
              </a:spcAft>
            </a:pPr>
            <a:r>
              <a:rPr sz="1600" b="1" i="0">
                <a:solidFill>
                  <a:srgbClr val="97BC62"/>
                </a:solidFill>
                <a:latin typeface="Calibri"/>
              </a:rPr>
              <a:t>–  </a:t>
            </a:r>
            <a:r>
              <a:rPr sz="1600" b="0" i="1">
                <a:solidFill>
                  <a:srgbClr val="222B22"/>
                </a:solidFill>
                <a:latin typeface="Calibri"/>
              </a:rPr>
              <a:t>“Good. The garden is still there. You can return any time. We continue.”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2" name="Picture 32" descr="trail cairn - the weekly check-in"/>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Mark 9:14–29 — the Scripture Ground</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The whole scene, read slowly — the desperate father, the failed disciples, the boy in convulsions</a:t>
            </a:r>
          </a:p>
          <a:p>
            <a:pPr marL="274320" indent="-274320">
              <a:spcAft>
                <a:spcPts val="800"/>
              </a:spcAft>
            </a:pPr>
            <a:r>
              <a:rPr sz="1600" b="1" i="0">
                <a:solidFill>
                  <a:srgbClr val="97BC62"/>
                </a:solidFill>
                <a:latin typeface="Calibri"/>
              </a:rPr>
              <a:t>•  </a:t>
            </a:r>
            <a:r>
              <a:rPr sz="1600" b="0" i="0">
                <a:solidFill>
                  <a:srgbClr val="222B22"/>
                </a:solidFill>
                <a:latin typeface="Calibri"/>
              </a:rPr>
              <a:t>He does not pretend the unbelief is not there — he names both at once. And Jesus does not rebuke him; Jesus heals the boy</a:t>
            </a:r>
          </a:p>
          <a:p>
            <a:pPr marL="274320" indent="-274320">
              <a:spcAft>
                <a:spcPts val="800"/>
              </a:spcAft>
            </a:pPr>
            <a:r>
              <a:rPr sz="1600" b="1" i="0">
                <a:solidFill>
                  <a:srgbClr val="97BC62"/>
                </a:solidFill>
                <a:latin typeface="Calibri"/>
              </a:rPr>
              <a:t>•  </a:t>
            </a:r>
            <a:r>
              <a:rPr sz="1600" b="0" i="0">
                <a:solidFill>
                  <a:srgbClr val="222B22"/>
                </a:solidFill>
                <a:latin typeface="Calibri"/>
              </a:rPr>
              <a:t>The unbelief that is named and brought to Jesus is the unbelief that can be released; suppressed, it works as a quiet brake</a:t>
            </a:r>
          </a:p>
          <a:p>
            <a:pPr marL="274320" indent="-274320">
              <a:spcAft>
                <a:spcPts val="800"/>
              </a:spcAft>
            </a:pPr>
            <a:r>
              <a:rPr sz="1600" b="1" i="0">
                <a:solidFill>
                  <a:srgbClr val="97BC62"/>
                </a:solidFill>
                <a:latin typeface="Calibri"/>
              </a:rPr>
              <a:t>•  </a:t>
            </a:r>
            <a:r>
              <a:rPr sz="1600" b="0" i="0">
                <a:solidFill>
                  <a:srgbClr val="222B22"/>
                </a:solidFill>
                <a:latin typeface="Calibri"/>
              </a:rPr>
              <a:t>Tonight is not generating new doubts — it is bringing the ones already there into the open, and bringing them to Jesus</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MARK 9:24</a:t>
            </a:r>
          </a:p>
          <a:p>
            <a:pPr>
              <a:spcAft>
                <a:spcPts val="600"/>
              </a:spcAft>
            </a:pPr>
            <a:r>
              <a:rPr sz="1600" b="0" i="1">
                <a:solidFill>
                  <a:srgbClr val="222B22"/>
                </a:solidFill>
                <a:latin typeface="Cambria"/>
              </a:rPr>
              <a:t>“Immediately the father of the child cried out and said, ‘I believe; help my unbelief!’”</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91" name="Picture 91" descr="a sunlit pine trail with mist in the trees"/>
          <p:cNvPicPr>
            <a:picLocks noChangeAspect="1"/>
          </p:cNvPicPr>
          <p:nvPr/>
        </p:nvPicPr>
        <p:blipFill>
          <a:blip r:embed="rId2"/>
          <a:stretch>
            <a:fillRect/>
          </a:stretch>
        </p:blipFill>
        <p:spPr>
          <a:xfrm>
            <a:off x="6766560" y="4160520"/>
            <a:ext cx="4663440" cy="2240280"/>
          </a:xfrm>
          <a:prstGeom prst="rect">
            <a:avLst/>
          </a:prstGeom>
        </p:spPr>
      </p:pic>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Any Doubts? Practice — Four Steps</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342900" indent="-342900">
              <a:spcAft>
                <a:spcPts val="900"/>
              </a:spcAft>
            </a:pPr>
            <a:r>
              <a:rPr sz="1800" b="1" i="0">
                <a:solidFill>
                  <a:srgbClr val="97BC62"/>
                </a:solidFill>
                <a:latin typeface="Calibri"/>
              </a:rPr>
              <a:t>1   </a:t>
            </a:r>
            <a:r>
              <a:rPr sz="1800" b="0" i="0">
                <a:solidFill>
                  <a:srgbClr val="222B22"/>
                </a:solidFill>
                <a:latin typeface="Calibri"/>
              </a:rPr>
              <a:t>NAME — the scripture, then the doubt. Specific, not abstract: “I doubt He hears prayer about this specific thing”</a:t>
            </a:r>
          </a:p>
          <a:p>
            <a:pPr marL="342900" indent="-342900">
              <a:spcAft>
                <a:spcPts val="900"/>
              </a:spcAft>
            </a:pPr>
            <a:r>
              <a:rPr sz="1800" b="1" i="0">
                <a:solidFill>
                  <a:srgbClr val="97BC62"/>
                </a:solidFill>
                <a:latin typeface="Calibri"/>
              </a:rPr>
              <a:t>2   </a:t>
            </a:r>
            <a:r>
              <a:rPr sz="1800" b="0" i="0">
                <a:solidFill>
                  <a:srgbClr val="222B22"/>
                </a:solidFill>
                <a:latin typeface="Calibri"/>
              </a:rPr>
              <a:t>EXAGGERATE — make the doubt bigger, not smaller. You are not endorsing it; you are exposing it</a:t>
            </a:r>
          </a:p>
          <a:p>
            <a:pPr marL="342900" indent="-342900">
              <a:spcAft>
                <a:spcPts val="900"/>
              </a:spcAft>
            </a:pPr>
            <a:r>
              <a:rPr sz="1800" b="1" i="0">
                <a:solidFill>
                  <a:srgbClr val="97BC62"/>
                </a:solidFill>
                <a:latin typeface="Calibri"/>
              </a:rPr>
              <a:t>3   </a:t>
            </a:r>
            <a:r>
              <a:rPr sz="1800" b="0" i="0">
                <a:solidFill>
                  <a:srgbClr val="222B22"/>
                </a:solidFill>
                <a:latin typeface="Calibri"/>
              </a:rPr>
              <a:t>SIT — what does the doubt feel like in your body? Ten or fifteen seconds. Don’t fix it. Feel it</a:t>
            </a:r>
          </a:p>
          <a:p>
            <a:pPr marL="342900" indent="-342900">
              <a:spcAft>
                <a:spcPts val="900"/>
              </a:spcAft>
            </a:pPr>
            <a:r>
              <a:rPr sz="1800" b="1" i="0">
                <a:solidFill>
                  <a:srgbClr val="97BC62"/>
                </a:solidFill>
                <a:latin typeface="Calibri"/>
              </a:rPr>
              <a:t>4   </a:t>
            </a:r>
            <a:r>
              <a:rPr sz="1800" b="0" i="0">
                <a:solidFill>
                  <a:srgbClr val="222B22"/>
                </a:solidFill>
                <a:latin typeface="Calibri"/>
              </a:rPr>
              <a:t>RE-READ — your partner reads the same scripture again, slowly. The Spirit does the work; you do the noticing</a:t>
            </a:r>
          </a:p>
          <a:p>
            <a:pPr marL="274320" indent="-274320">
              <a:spcAft>
                <a:spcPts val="900"/>
              </a:spcAft>
            </a:pPr>
            <a:r>
              <a:rPr sz="1800" b="1" i="0">
                <a:solidFill>
                  <a:srgbClr val="97BC62"/>
                </a:solidFill>
                <a:latin typeface="Calibri"/>
              </a:rPr>
              <a:t>•  </a:t>
            </a:r>
            <a:r>
              <a:rPr sz="1800" b="0" i="0">
                <a:solidFill>
                  <a:srgbClr val="222B22"/>
                </a:solidFill>
                <a:latin typeface="Calibri"/>
              </a:rPr>
              <a:t>Watch the demo — specific, honest, brief, and unresolved-but-honest is the gift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91" name="Picture 91" descr="soft rays of light falling through fog onto a forest road"/>
          <p:cNvPicPr>
            <a:picLocks noChangeAspect="1"/>
          </p:cNvPicPr>
          <p:nvPr/>
        </p:nvPicPr>
        <p:blipFill>
          <a:blip r:embed="rId2"/>
          <a:stretch>
            <a:fillRect/>
          </a:stretch>
        </p:blipFill>
        <p:spPr>
          <a:xfrm>
            <a:off x="7696962" y="1463040"/>
            <a:ext cx="3669030" cy="4892040"/>
          </a:xfrm>
          <a:prstGeom prst="rect">
            <a:avLst/>
          </a:prstGeom>
        </p:spPr>
      </p:pic>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Split — Parents First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Take the practice card from your chair — Name · Exaggerate · Sit · Re-read. Pairs form within your own family, a parent with their own teen</a:t>
            </a:r>
          </a:p>
          <a:p>
            <a:pPr marL="274320" indent="-274320">
              <a:spcAft>
                <a:spcPts val="900"/>
              </a:spcAft>
            </a:pPr>
            <a:r>
              <a:rPr sz="1800" b="1" i="0">
                <a:solidFill>
                  <a:srgbClr val="97BC62"/>
                </a:solidFill>
                <a:latin typeface="Calibri"/>
              </a:rPr>
              <a:t>•  </a:t>
            </a:r>
            <a:r>
              <a:rPr sz="1800" b="0" i="0">
                <a:solidFill>
                  <a:srgbClr val="222B22"/>
                </a:solidFill>
                <a:latin typeface="Calibri"/>
              </a:rPr>
              <a:t>In every pair the parent goes first — arranged this week; nobody is being put on the spot tonight</a:t>
            </a:r>
          </a:p>
          <a:p>
            <a:pPr marL="685800" indent="-274320">
              <a:spcAft>
                <a:spcPts val="700"/>
              </a:spcAft>
            </a:pPr>
            <a:r>
              <a:rPr sz="1600" b="1" i="0">
                <a:solidFill>
                  <a:srgbClr val="97BC62"/>
                </a:solidFill>
                <a:latin typeface="Calibri"/>
              </a:rPr>
              <a:t>–  </a:t>
            </a:r>
            <a:r>
              <a:rPr sz="1600" b="0" i="1">
                <a:solidFill>
                  <a:srgbClr val="222B22"/>
                </a:solidFill>
                <a:latin typeface="Calibri"/>
              </a:rPr>
              <a:t>“Teens: you go second, and you choose your own depth. A small doubt is enough. Passing is enough.”</a:t>
            </a:r>
          </a:p>
          <a:p>
            <a:pPr marL="274320" indent="-274320">
              <a:spcAft>
                <a:spcPts val="900"/>
              </a:spcAft>
            </a:pPr>
            <a:r>
              <a:rPr sz="1800" b="1" i="0">
                <a:solidFill>
                  <a:srgbClr val="97BC62"/>
                </a:solidFill>
                <a:latin typeface="Calibri"/>
              </a:rPr>
              <a:t>•  </a:t>
            </a:r>
            <a:r>
              <a:rPr sz="1800" b="0" i="0">
                <a:solidFill>
                  <a:srgbClr val="222B22"/>
                </a:solidFill>
                <a:latin typeface="Calibri"/>
              </a:rPr>
              <a:t>No scripture in mind? Pick one with a flicker for you, not a hurricane</a:t>
            </a:r>
          </a:p>
          <a:p>
            <a:pPr marL="685800" indent="-274320">
              <a:spcAft>
                <a:spcPts val="650"/>
              </a:spcAft>
            </a:pPr>
            <a:r>
              <a:rPr sz="1500" b="1" i="0">
                <a:solidFill>
                  <a:srgbClr val="97BC62"/>
                </a:solidFill>
                <a:latin typeface="Calibri"/>
              </a:rPr>
              <a:t>–  </a:t>
            </a:r>
            <a:r>
              <a:rPr sz="1500" b="0" i="0">
                <a:solidFill>
                  <a:srgbClr val="222B22"/>
                </a:solidFill>
                <a:latin typeface="Calibri"/>
              </a:rPr>
              <a:t>Romans 8:28 · Jeremiah 29:11 · Psalm 139:13–16 · John 14:1–3 · Romans 8:38–39 · James 1:5</a:t>
            </a:r>
          </a:p>
          <a:p>
            <a:pPr marL="274320" indent="-274320">
              <a:spcAft>
                <a:spcPts val="900"/>
              </a:spcAft>
            </a:pPr>
            <a:r>
              <a:rPr sz="1800" b="1" i="0">
                <a:solidFill>
                  <a:srgbClr val="97BC62"/>
                </a:solidFill>
                <a:latin typeface="Calibri"/>
              </a:rPr>
              <a:t>•  </a:t>
            </a:r>
            <a:r>
              <a:rPr sz="1800" b="0" i="0">
                <a:solidFill>
                  <a:srgbClr val="222B22"/>
                </a:solidFill>
                <a:latin typeface="Calibri"/>
              </a:rPr>
              <a:t>Partners: read, listen, re-read. Not fix. Not theologize. “We are not arguing the doubt. We are bringing it.”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Any Doubts? in Pairs, within Families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1600" b="1" i="0">
                <a:solidFill>
                  <a:srgbClr val="97BC62"/>
                </a:solidFill>
                <a:latin typeface="Calibri"/>
              </a:rPr>
              <a:t>1   </a:t>
            </a:r>
            <a:r>
              <a:rPr sz="1600" b="0" i="0">
                <a:solidFill>
                  <a:srgbClr val="222B22"/>
                </a:solidFill>
                <a:latin typeface="Calibri"/>
              </a:rPr>
              <a:t>Pick a scripture; your partner reads it slowly — from the physical Bible if possible</a:t>
            </a:r>
          </a:p>
          <a:p>
            <a:pPr marL="342900" indent="-342900">
              <a:spcAft>
                <a:spcPts val="750"/>
              </a:spcAft>
            </a:pPr>
            <a:r>
              <a:rPr sz="1600" b="1" i="0">
                <a:solidFill>
                  <a:srgbClr val="97BC62"/>
                </a:solidFill>
                <a:latin typeface="Calibri"/>
              </a:rPr>
              <a:t>2   </a:t>
            </a:r>
            <a:r>
              <a:rPr sz="1600" b="0" i="0">
                <a:solidFill>
                  <a:srgbClr val="222B22"/>
                </a:solidFill>
                <a:latin typeface="Calibri"/>
              </a:rPr>
              <a:t>“What I notice is ___. The doubt I am holding is ___.” — specific</a:t>
            </a:r>
          </a:p>
          <a:p>
            <a:pPr marL="342900" indent="-342900">
              <a:spcAft>
                <a:spcPts val="750"/>
              </a:spcAft>
            </a:pPr>
            <a:r>
              <a:rPr sz="1600" b="1" i="0">
                <a:solidFill>
                  <a:srgbClr val="97BC62"/>
                </a:solidFill>
                <a:latin typeface="Calibri"/>
              </a:rPr>
              <a:t>3   </a:t>
            </a:r>
            <a:r>
              <a:rPr sz="1600" b="0" i="0">
                <a:solidFill>
                  <a:srgbClr val="222B22"/>
                </a:solidFill>
                <a:latin typeface="Calibri"/>
              </a:rPr>
              <a:t>Exaggerate it, then sit with the feeling for 10–20 seconds</a:t>
            </a:r>
          </a:p>
          <a:p>
            <a:pPr marL="342900" indent="-342900">
              <a:spcAft>
                <a:spcPts val="750"/>
              </a:spcAft>
            </a:pPr>
            <a:r>
              <a:rPr sz="1600" b="1" i="0">
                <a:solidFill>
                  <a:srgbClr val="97BC62"/>
                </a:solidFill>
                <a:latin typeface="Calibri"/>
              </a:rPr>
              <a:t>4   </a:t>
            </a:r>
            <a:r>
              <a:rPr sz="1600" b="0" i="0">
                <a:solidFill>
                  <a:srgbClr val="222B22"/>
                </a:solidFill>
                <a:latin typeface="Calibri"/>
              </a:rPr>
              <a:t>“Read it again, please.” Then: “What I notice this time is ___.”</a:t>
            </a:r>
          </a:p>
          <a:p>
            <a:pPr marL="274320" indent="-274320">
              <a:spcAft>
                <a:spcPts val="750"/>
              </a:spcAft>
            </a:pPr>
            <a:r>
              <a:rPr sz="1600" b="1" i="0">
                <a:solidFill>
                  <a:srgbClr val="97BC62"/>
                </a:solidFill>
                <a:latin typeface="Calibri"/>
              </a:rPr>
              <a:t>•  </a:t>
            </a:r>
            <a:r>
              <a:rPr sz="1600" b="0" i="0">
                <a:solidFill>
                  <a:srgbClr val="222B22"/>
                </a:solidFill>
                <a:latin typeface="Calibri"/>
              </a:rPr>
              <a:t>The parent’s turn first, then switch — the teen at their own depth; pass-anytime holds</a:t>
            </a:r>
          </a:p>
          <a:p>
            <a:pPr marL="274320" indent="-274320">
              <a:spcAft>
                <a:spcPts val="750"/>
              </a:spcAft>
            </a:pPr>
            <a:r>
              <a:rPr sz="1600" b="1" i="0">
                <a:solidFill>
                  <a:srgbClr val="97BC62"/>
                </a:solidFill>
                <a:latin typeface="Calibri"/>
              </a:rPr>
              <a:t>•  </a:t>
            </a:r>
            <a:r>
              <a:rPr sz="1600" b="0" i="0">
                <a:solidFill>
                  <a:srgbClr val="222B22"/>
                </a:solidFill>
                <a:latin typeface="Calibri"/>
              </a:rPr>
              <a:t>Two agreements: you are not arguing or fixing the doubt — and nothing leaves your pair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Surface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What happened in your pair stays in your pair — no one will be asked to share a doubt or a scripture</a:t>
            </a:r>
          </a:p>
          <a:p>
            <a:pPr marL="274320" indent="-274320">
              <a:spcAft>
                <a:spcPts val="900"/>
              </a:spcAft>
            </a:pPr>
            <a:r>
              <a:rPr sz="1800" b="1" i="0">
                <a:solidFill>
                  <a:srgbClr val="97BC62"/>
                </a:solidFill>
                <a:latin typeface="Calibri"/>
              </a:rPr>
              <a:t>•  </a:t>
            </a:r>
            <a:r>
              <a:rPr sz="1800" b="0" i="0">
                <a:solidFill>
                  <a:srgbClr val="222B22"/>
                </a:solidFill>
                <a:latin typeface="Calibri"/>
              </a:rPr>
              <a:t>“One word about what the practice was like. Not the doubt — the practice.”</a:t>
            </a:r>
          </a:p>
          <a:p>
            <a:pPr marL="685800" indent="-274320">
              <a:spcAft>
                <a:spcPts val="700"/>
              </a:spcAft>
            </a:pPr>
            <a:r>
              <a:rPr sz="1600" b="1" i="0">
                <a:solidFill>
                  <a:srgbClr val="97BC62"/>
                </a:solidFill>
                <a:latin typeface="Calibri"/>
              </a:rPr>
              <a:t>–  </a:t>
            </a:r>
            <a:r>
              <a:rPr sz="1600" b="0" i="1">
                <a:solidFill>
                  <a:srgbClr val="222B22"/>
                </a:solidFill>
                <a:latin typeface="Calibri"/>
              </a:rPr>
              <a:t>“Surprising.” “Heavy.” “Quiet.” “Awkward.” “Honest.” “Lighter.” Pass anytime</a:t>
            </a:r>
          </a:p>
          <a:p>
            <a:pPr marL="274320" indent="-274320">
              <a:spcAft>
                <a:spcPts val="900"/>
              </a:spcAft>
            </a:pPr>
            <a:r>
              <a:rPr sz="1800" b="1" i="0">
                <a:solidFill>
                  <a:srgbClr val="97BC62"/>
                </a:solidFill>
                <a:latin typeface="Calibri"/>
              </a:rPr>
              <a:t>•  </a:t>
            </a:r>
            <a:r>
              <a:rPr sz="1800" b="0" i="0">
                <a:solidFill>
                  <a:srgbClr val="222B22"/>
                </a:solidFill>
                <a:latin typeface="Calibri"/>
              </a:rPr>
              <a:t>This practice fits in five minutes alone, or twenty with a friend — a way of bringing your real questions to God for the rest of your life</a:t>
            </a:r>
          </a:p>
          <a:p>
            <a:pPr marL="274320" indent="-274320">
              <a:spcAft>
                <a:spcPts val="900"/>
              </a:spcAft>
            </a:pPr>
            <a:r>
              <a:rPr sz="1800" b="1" i="0">
                <a:solidFill>
                  <a:srgbClr val="97BC62"/>
                </a:solidFill>
                <a:latin typeface="Calibri"/>
              </a:rPr>
              <a:t>•  </a:t>
            </a:r>
            <a:r>
              <a:rPr sz="1800" b="0" i="0">
                <a:solidFill>
                  <a:srgbClr val="222B22"/>
                </a:solidFill>
                <a:latin typeface="Calibri"/>
              </a:rPr>
              <a:t>“The resolution is the Spirit’s work. The naming is yours. We do the naming. He does what only He can.”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 — the Doubts Inventory</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The Personal Doubts Inventory — twenty minutes with your journal, once this week</a:t>
            </a:r>
          </a:p>
          <a:p>
            <a:pPr marL="342900" indent="-342900">
              <a:spcAft>
                <a:spcPts val="750"/>
              </a:spcAft>
            </a:pPr>
            <a:r>
              <a:rPr sz="1600" b="1" i="0">
                <a:solidFill>
                  <a:srgbClr val="97BC62"/>
                </a:solidFill>
                <a:latin typeface="Calibri"/>
              </a:rPr>
              <a:t>1   </a:t>
            </a:r>
            <a:r>
              <a:rPr sz="1600" b="0" i="0">
                <a:solidFill>
                  <a:srgbClr val="222B22"/>
                </a:solidFill>
                <a:latin typeface="Calibri"/>
              </a:rPr>
              <a:t>List 5–10 scriptures you say you believe; rate your honest trust, 1–5</a:t>
            </a:r>
          </a:p>
          <a:p>
            <a:pPr marL="342900" indent="-342900">
              <a:spcAft>
                <a:spcPts val="750"/>
              </a:spcAft>
            </a:pPr>
            <a:r>
              <a:rPr sz="1600" b="1" i="0">
                <a:solidFill>
                  <a:srgbClr val="97BC62"/>
                </a:solidFill>
                <a:latin typeface="Calibri"/>
              </a:rPr>
              <a:t>2   </a:t>
            </a:r>
            <a:r>
              <a:rPr sz="1600" b="0" i="0">
                <a:solidFill>
                  <a:srgbClr val="222B22"/>
                </a:solidFill>
                <a:latin typeface="Calibri"/>
              </a:rPr>
              <a:t>For the two or three with the most hesitation — write the specific doubt, then sit with it</a:t>
            </a:r>
          </a:p>
          <a:p>
            <a:pPr marL="274320" indent="-274320">
              <a:spcAft>
                <a:spcPts val="750"/>
              </a:spcAft>
            </a:pPr>
            <a:r>
              <a:rPr sz="1600" b="1" i="0">
                <a:solidFill>
                  <a:srgbClr val="97BC62"/>
                </a:solidFill>
                <a:latin typeface="Calibri"/>
              </a:rPr>
              <a:t>•  </a:t>
            </a:r>
            <a:r>
              <a:rPr sz="1600" b="0" i="0">
                <a:solidFill>
                  <a:srgbClr val="222B22"/>
                </a:solidFill>
                <a:latin typeface="Calibri"/>
              </a:rPr>
              <a:t>No shame. Just data. Yours alone — never turned in, never seen by the team</a:t>
            </a:r>
          </a:p>
          <a:p>
            <a:pPr marL="274320" indent="-274320">
              <a:spcAft>
                <a:spcPts val="750"/>
              </a:spcAft>
            </a:pPr>
            <a:r>
              <a:rPr sz="1600" b="1" i="0">
                <a:solidFill>
                  <a:srgbClr val="97BC62"/>
                </a:solidFill>
                <a:latin typeface="Calibri"/>
              </a:rPr>
              <a:t>•  </a:t>
            </a:r>
            <a:r>
              <a:rPr sz="1600" b="0" i="0">
                <a:solidFill>
                  <a:srgbClr val="222B22"/>
                </a:solidFill>
                <a:latin typeface="Calibri"/>
              </a:rPr>
              <a:t>The Quarterly Pulse goes home tonight — three questions, five minutes, honest. Back in the bin at The Return’s door in January</a:t>
            </a:r>
          </a:p>
          <a:p>
            <a:pPr marL="274320" indent="-274320">
              <a:spcAft>
                <a:spcPts val="750"/>
              </a:spcAft>
            </a:pPr>
            <a:r>
              <a:rPr sz="1600" b="1" i="0">
                <a:solidFill>
                  <a:srgbClr val="97BC62"/>
                </a:solidFill>
                <a:latin typeface="Calibri"/>
              </a:rPr>
              <a:t>•  </a:t>
            </a:r>
            <a:r>
              <a:rPr sz="1600" b="0" i="0">
                <a:solidFill>
                  <a:srgbClr val="222B22"/>
                </a:solidFill>
                <a:latin typeface="Calibri"/>
              </a:rPr>
              <a:t>Over the break: keep one practice alive — just one, your choice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seedling - what grows between Wednesdays"/>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Run Slow</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Two weeks without Wednesdays — containers don’t keep. They are rebuilt every time, by the same small faithful steps</a:t>
            </a:r>
          </a:p>
          <a:p>
            <a:pPr marL="274320" indent="-274320">
              <a:spcAft>
                <a:spcPts val="800"/>
              </a:spcAft>
            </a:pPr>
            <a:r>
              <a:rPr sz="1600" b="1" i="0">
                <a:solidFill>
                  <a:srgbClr val="97BC62"/>
                </a:solidFill>
                <a:latin typeface="Calibri"/>
              </a:rPr>
              <a:t>•  </a:t>
            </a:r>
            <a:r>
              <a:rPr sz="1600" b="0" i="0">
                <a:solidFill>
                  <a:srgbClr val="222B22"/>
                </a:solidFill>
                <a:latin typeface="Calibri"/>
              </a:rPr>
              <a:t>“Tonight we open it slowly, on purpose. Don’t rush the steps. There is nowhere else we need to be.”</a:t>
            </a:r>
          </a:p>
          <a:p>
            <a:pPr marL="274320" indent="-274320">
              <a:spcAft>
                <a:spcPts val="800"/>
              </a:spcAft>
            </a:pPr>
            <a:r>
              <a:rPr sz="1600" b="1" i="0">
                <a:solidFill>
                  <a:srgbClr val="97BC62"/>
                </a:solidFill>
                <a:latin typeface="Calibri"/>
              </a:rPr>
              <a:t>•  </a:t>
            </a:r>
            <a:r>
              <a:rPr sz="1600" b="0" i="0">
                <a:solidFill>
                  <a:srgbClr val="222B22"/>
                </a:solidFill>
                <a:latin typeface="Calibri"/>
              </a:rPr>
              <a:t>The full eight steps — phones away, standing circle, put out / bring in, the prayer</a:t>
            </a:r>
          </a:p>
          <a:p>
            <a:pPr marL="274320" indent="-274320">
              <a:spcAft>
                <a:spcPts val="800"/>
              </a:spcAft>
            </a:pPr>
            <a:r>
              <a:rPr sz="1600" b="1" i="0">
                <a:solidFill>
                  <a:srgbClr val="97BC62"/>
                </a:solidFill>
                <a:latin typeface="Calibri"/>
              </a:rPr>
              <a:t>•  </a:t>
            </a:r>
            <a:r>
              <a:rPr sz="1600" b="0" i="0">
                <a:solidFill>
                  <a:srgbClr val="222B22"/>
                </a:solidFill>
                <a:latin typeface="Calibri"/>
              </a:rPr>
              <a:t>One-word check-in: “One word for how you actually are right now — not how you usually are, not how you should be.” Let each word have a breath</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SPOKEN COMMITMENT</a:t>
            </a:r>
          </a:p>
          <a:p>
            <a:pPr>
              <a:spcAft>
                <a:spcPts val="600"/>
              </a:spcAft>
            </a:pPr>
            <a:r>
              <a:rPr sz="1600" b="0" i="1">
                <a:solidFill>
                  <a:srgbClr val="222B22"/>
                </a:solidFill>
                <a:latin typeface="Cambria"/>
              </a:rPr>
              <a:t>“I am here. I am paying attention. I am willing to be moved.”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New Every Morning — Lam. 3:22–23, Ps. 126</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Written in the ashes of Jerusalem — the mercies-new truth lives in the mornings after the seasons that didn’t hold</a:t>
            </a:r>
          </a:p>
          <a:p>
            <a:pPr marL="274320" indent="-274320">
              <a:spcAft>
                <a:spcPts val="800"/>
              </a:spcAft>
            </a:pPr>
            <a:r>
              <a:rPr sz="1600" b="1" i="0">
                <a:solidFill>
                  <a:srgbClr val="97BC62"/>
                </a:solidFill>
                <a:latin typeface="Calibri"/>
              </a:rPr>
              <a:t>•  </a:t>
            </a:r>
            <a:r>
              <a:rPr sz="1600" b="0" i="0">
                <a:solidFill>
                  <a:srgbClr val="222B22"/>
                </a:solidFill>
                <a:latin typeface="Calibri"/>
              </a:rPr>
              <a:t>Not new every morning that you earned. Issued fresh, this morning, to everyone in this circle — whatever the break looked like</a:t>
            </a:r>
          </a:p>
          <a:p>
            <a:pPr marL="274320" indent="-274320">
              <a:spcAft>
                <a:spcPts val="800"/>
              </a:spcAft>
            </a:pPr>
            <a:r>
              <a:rPr sz="1600" b="1" i="0">
                <a:solidFill>
                  <a:srgbClr val="97BC62"/>
                </a:solidFill>
                <a:latin typeface="Calibri"/>
              </a:rPr>
              <a:t>•  </a:t>
            </a:r>
            <a:r>
              <a:rPr sz="1600" b="0" i="0">
                <a:solidFill>
                  <a:srgbClr val="222B22"/>
                </a:solidFill>
                <a:latin typeface="Calibri"/>
              </a:rPr>
              <a:t>Psalm 126 — “those who sow in tears shall reap with shouts of joy!” Coming home is not make-up work; it is the happiest walk there is</a:t>
            </a:r>
          </a:p>
          <a:p>
            <a:pPr marL="274320" indent="-274320">
              <a:spcAft>
                <a:spcPts val="800"/>
              </a:spcAft>
            </a:pPr>
            <a:r>
              <a:rPr sz="1600" b="1" i="0">
                <a:solidFill>
                  <a:srgbClr val="97BC62"/>
                </a:solidFill>
                <a:latin typeface="Calibri"/>
              </a:rPr>
              <a:t>•  </a:t>
            </a:r>
            <a:r>
              <a:rPr sz="1600" b="0" i="0">
                <a:solidFill>
                  <a:srgbClr val="222B22"/>
                </a:solidFill>
                <a:latin typeface="Calibri"/>
              </a:rPr>
              <a:t>Tonight we read the break honestly — and we can afford to, because the mercy was already new before we walked in</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LAMENTATIONS 3:22–23</a:t>
            </a:r>
          </a:p>
          <a:p>
            <a:pPr>
              <a:spcAft>
                <a:spcPts val="600"/>
              </a:spcAft>
            </a:pPr>
            <a:r>
              <a:rPr sz="1600" b="0" i="1">
                <a:solidFill>
                  <a:srgbClr val="222B22"/>
                </a:solidFill>
                <a:latin typeface="Cambria"/>
              </a:rPr>
              <a:t>“The steadfast love of the LORD never ceases; his mercies never come to an end; they are new every morning; great is your faithfulness.”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“What Held?”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A reading, not a report card — which practices held through the break, and which slipped</a:t>
            </a:r>
          </a:p>
          <a:p>
            <a:pPr marL="274320" indent="-274320">
              <a:spcAft>
                <a:spcPts val="750"/>
              </a:spcAft>
            </a:pPr>
            <a:r>
              <a:rPr sz="1600" b="1" i="0">
                <a:solidFill>
                  <a:srgbClr val="97BC62"/>
                </a:solidFill>
                <a:latin typeface="Calibri"/>
              </a:rPr>
              <a:t>•  </a:t>
            </a:r>
            <a:r>
              <a:rPr sz="1600" b="0" i="0">
                <a:solidFill>
                  <a:srgbClr val="222B22"/>
                </a:solidFill>
                <a:latin typeface="Calibri"/>
              </a:rPr>
              <a:t>“Every break is a natural test, and it is a test of the practices, not of you.”</a:t>
            </a:r>
          </a:p>
          <a:p>
            <a:pPr marL="274320" indent="-274320">
              <a:spcAft>
                <a:spcPts val="750"/>
              </a:spcAft>
            </a:pPr>
            <a:r>
              <a:rPr sz="1600" b="1" i="0">
                <a:solidFill>
                  <a:srgbClr val="97BC62"/>
                </a:solidFill>
                <a:latin typeface="Calibri"/>
              </a:rPr>
              <a:t>•  </a:t>
            </a:r>
            <a:r>
              <a:rPr sz="1600" b="0" i="0">
                <a:solidFill>
                  <a:srgbClr val="222B22"/>
                </a:solidFill>
                <a:latin typeface="Calibri"/>
              </a:rPr>
              <a:t>One at a time, plain words — a parent starts in each cluster</a:t>
            </a:r>
          </a:p>
          <a:p>
            <a:pPr marL="274320" indent="-274320">
              <a:spcAft>
                <a:spcPts val="750"/>
              </a:spcAft>
            </a:pPr>
            <a:r>
              <a:rPr sz="1600" b="1" i="0">
                <a:solidFill>
                  <a:srgbClr val="97BC62"/>
                </a:solidFill>
                <a:latin typeface="Calibri"/>
              </a:rPr>
              <a:t>•  </a:t>
            </a:r>
            <a:r>
              <a:rPr sz="1600" b="0" i="0">
                <a:solidFill>
                  <a:srgbClr val="222B22"/>
                </a:solidFill>
                <a:latin typeface="Calibri"/>
              </a:rPr>
              <a:t>Nobody fixes anybody. Nobody compares. Slips are data — useful information, not a verdict</a:t>
            </a:r>
          </a:p>
          <a:p>
            <a:pPr marL="274320" indent="-274320">
              <a:spcAft>
                <a:spcPts val="750"/>
              </a:spcAft>
            </a:pPr>
            <a:r>
              <a:rPr sz="1600" b="1" i="0">
                <a:solidFill>
                  <a:srgbClr val="97BC62"/>
                </a:solidFill>
                <a:latin typeface="Calibri"/>
              </a:rPr>
              <a:t>•  </a:t>
            </a:r>
            <a:r>
              <a:rPr sz="1600" b="0" i="0">
                <a:solidFill>
                  <a:srgbClr val="222B22"/>
                </a:solidFill>
                <a:latin typeface="Calibri"/>
              </a:rPr>
              <a:t>“Most of it slipped” is a complete answer; pass is a complete answer</a:t>
            </a:r>
          </a:p>
          <a:p>
            <a:pPr marL="685800" indent="-274320">
              <a:spcAft>
                <a:spcPts val="550"/>
              </a:spcAft>
            </a:pPr>
            <a:r>
              <a:rPr sz="1500" b="1" i="0">
                <a:solidFill>
                  <a:srgbClr val="97BC62"/>
                </a:solidFill>
                <a:latin typeface="Calibri"/>
              </a:rPr>
              <a:t>–  </a:t>
            </a:r>
            <a:r>
              <a:rPr sz="1500" b="0" i="1">
                <a:solidFill>
                  <a:srgbClr val="222B22"/>
                </a:solidFill>
                <a:latin typeface="Calibri"/>
              </a:rPr>
              <a:t>If time allows: “Did anything about the break surprise you?”</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2" name="Picture 32" descr="trail cairn - the weekly check-in"/>
          <p:cNvPicPr>
            <a:picLocks noChangeAspect="1"/>
          </p:cNvPicPr>
          <p:nvPr/>
        </p:nvPicPr>
        <p:blipFill>
          <a:blip r:embed="rId2"/>
          <a:stretch>
            <a:fillRect/>
          </a:stretch>
        </p:blipFill>
        <p:spPr>
          <a:xfrm>
            <a:off x="8103612" y="1463040"/>
            <a:ext cx="3262379" cy="4892040"/>
          </a:xfrm>
          <a:prstGeom prst="rect">
            <a:avLst/>
          </a:prstGeom>
        </p:spPr>
      </p:pic>
      <p:sp>
        <p:nvSpPr>
          <p:cNvPr id="91" name="JoshuaCard"/>
          <p:cNvSpPr txBox="1"/>
          <p:nvPr/>
        </p:nvSpPr>
        <p:spPr>
          <a:xfrm>
            <a:off x="822960" y="5230368"/>
            <a:ext cx="6675120" cy="1078992"/>
          </a:xfrm>
          <a:prstGeom prst="rect">
            <a:avLst/>
          </a:prstGeom>
          <a:solidFill>
            <a:srgbClr val="F1F6EC"/>
          </a:solidFill>
        </p:spPr>
        <p:txBody>
          <a:bodyPr wrap="square" lIns="137160" tIns="73152" rIns="137160" bIns="73152" anchor="ctr"/>
          <a:lstStyle/>
          <a:p>
            <a:pPr algn="l"/>
            <a:r>
              <a:rPr lang="en-US" sz="1500" i="1">
                <a:solidFill>
                  <a:srgbClr val="222B22"/>
                </a:solidFill>
                <a:latin typeface="Cambria"/>
              </a:rPr>
              <a:t>“When your children ask their fathers in times to come, ‘What do these stones mean?’”</a:t>
            </a:r>
          </a:p>
          <a:p>
            <a:pPr algn="l"/>
            <a:r>
              <a:rPr lang="en-US" sz="1100" b="1">
                <a:solidFill>
                  <a:srgbClr val="97BC62"/>
                </a:solidFill>
                <a:latin typeface="Calibri"/>
              </a:rPr>
              <a:t>— JOSHUA 4:21 (ESV)</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Walk Home</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The Path Home Card — filed weeks ago, while the room was warm. Tonight it is not taught; it is enacted</a:t>
            </a:r>
          </a:p>
          <a:p>
            <a:pPr marL="274320" indent="-274320">
              <a:spcAft>
                <a:spcPts val="800"/>
              </a:spcAft>
            </a:pPr>
            <a:r>
              <a:rPr sz="1600" b="1" i="0">
                <a:solidFill>
                  <a:srgbClr val="97BC62"/>
                </a:solidFill>
                <a:latin typeface="Calibri"/>
              </a:rPr>
              <a:t>•  </a:t>
            </a:r>
            <a:r>
              <a:rPr sz="1600" b="0" i="0">
                <a:solidFill>
                  <a:srgbClr val="222B22"/>
                </a:solidFill>
                <a:latin typeface="Calibri"/>
              </a:rPr>
              <a:t>“Nobody in this room owes anybody an explanation for the break. You already walked back. You are in the chair. That is the whole return.”</a:t>
            </a:r>
          </a:p>
          <a:p>
            <a:pPr marL="274320" indent="-274320">
              <a:spcAft>
                <a:spcPts val="800"/>
              </a:spcAft>
            </a:pPr>
            <a:r>
              <a:rPr sz="1600" b="1" i="0">
                <a:solidFill>
                  <a:srgbClr val="97BC62"/>
                </a:solidFill>
                <a:latin typeface="Calibri"/>
              </a:rPr>
              <a:t>•  </a:t>
            </a:r>
            <a:r>
              <a:rPr sz="1600" b="0" i="0">
                <a:solidFill>
                  <a:srgbClr val="222B22"/>
                </a:solidFill>
                <a:latin typeface="Calibri"/>
              </a:rPr>
              <a:t>The way back is unglamorous: do not start over from the beginning; begin again on the next available day. Five dry minutes tomorrow morning is a full return</a:t>
            </a:r>
          </a:p>
          <a:p>
            <a:pPr marL="274320" indent="-274320">
              <a:spcAft>
                <a:spcPts val="800"/>
              </a:spcAft>
            </a:pPr>
            <a:r>
              <a:rPr sz="1600" b="1" i="0">
                <a:solidFill>
                  <a:srgbClr val="97BC62"/>
                </a:solidFill>
                <a:latin typeface="Calibri"/>
              </a:rPr>
              <a:t>•  </a:t>
            </a:r>
            <a:r>
              <a:rPr sz="1600" b="0" i="0">
                <a:solidFill>
                  <a:srgbClr val="222B22"/>
                </a:solidFill>
                <a:latin typeface="Calibri"/>
              </a:rPr>
              <a:t>Everybody here came back — every chair filled tonight is a small feast</a:t>
            </a:r>
          </a:p>
          <a:p>
            <a:pPr marL="274320" indent="-274320">
              <a:spcAft>
                <a:spcPts val="800"/>
              </a:spcAft>
            </a:pPr>
            <a:r>
              <a:rPr sz="1600" b="1" i="0">
                <a:solidFill>
                  <a:srgbClr val="97BC62"/>
                </a:solidFill>
                <a:latin typeface="Calibri"/>
              </a:rPr>
              <a:t>•  </a:t>
            </a:r>
            <a:r>
              <a:rPr sz="1600" b="0" i="0">
                <a:solidFill>
                  <a:srgbClr val="222B22"/>
                </a:solidFill>
                <a:latin typeface="Calibri"/>
              </a:rPr>
              <a:t>If the break was hard in ways that have nothing to do with practices — that is a Companion conversation, tonight or this week</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LUKE 15:20</a:t>
            </a:r>
          </a:p>
          <a:p>
            <a:pPr>
              <a:spcAft>
                <a:spcPts val="600"/>
              </a:spcAft>
            </a:pPr>
            <a:r>
              <a:rPr sz="1600" b="0" i="1">
                <a:solidFill>
                  <a:srgbClr val="222B22"/>
                </a:solidFill>
                <a:latin typeface="Cambria"/>
              </a:rPr>
              <a:t>“But while he was still a long way off, his father saw him and felt compassion, and ran and embraced him and kissed him.”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Re-Anchoring the Year</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Behind us: the whole God arc — the container, your story, the soils, being known; then the hearing: PROAPT, the garden, the doubts brought honestly</a:t>
            </a:r>
          </a:p>
          <a:p>
            <a:pPr marL="274320" indent="-274320">
              <a:spcAft>
                <a:spcPts val="900"/>
              </a:spcAft>
            </a:pPr>
            <a:r>
              <a:rPr sz="1800" b="1" i="0">
                <a:solidFill>
                  <a:srgbClr val="97BC62"/>
                </a:solidFill>
                <a:latin typeface="Calibri"/>
              </a:rPr>
              <a:t>•  </a:t>
            </a:r>
            <a:r>
              <a:rPr sz="1800" b="0" i="0">
                <a:solidFill>
                  <a:srgbClr val="222B22"/>
                </a:solidFill>
                <a:latin typeface="Calibri"/>
              </a:rPr>
              <a:t>“That work is in you now. The break did not take it away.”</a:t>
            </a:r>
          </a:p>
          <a:p>
            <a:pPr marL="274320" indent="-274320">
              <a:spcAft>
                <a:spcPts val="900"/>
              </a:spcAft>
            </a:pPr>
            <a:r>
              <a:rPr sz="1800" b="1" i="0">
                <a:solidFill>
                  <a:srgbClr val="97BC62"/>
                </a:solidFill>
                <a:latin typeface="Calibri"/>
              </a:rPr>
              <a:t>•  </a:t>
            </a:r>
            <a:r>
              <a:rPr sz="1800" b="0" i="0">
                <a:solidFill>
                  <a:srgbClr val="222B22"/>
                </a:solidFill>
                <a:latin typeface="Calibri"/>
              </a:rPr>
              <a:t>Ahead: Week 13 — Mission, the turn outward; then the Rhythm — one card you build with your own hand; then the sendings and the commissionings</a:t>
            </a:r>
          </a:p>
          <a:p>
            <a:pPr marL="274320" indent="-274320">
              <a:spcAft>
                <a:spcPts val="900"/>
              </a:spcAft>
            </a:pPr>
            <a:r>
              <a:rPr sz="1800" b="1" i="0">
                <a:solidFill>
                  <a:srgbClr val="97BC62"/>
                </a:solidFill>
                <a:latin typeface="Calibri"/>
              </a:rPr>
              <a:t>•  </a:t>
            </a:r>
            <a:r>
              <a:rPr sz="1800" b="0" i="0">
                <a:solidFill>
                  <a:srgbClr val="222B22"/>
                </a:solidFill>
                <a:latin typeface="Calibri"/>
              </a:rPr>
              <a:t>“We are not starting over tonight. We are picking the trail back up, together, further along than we have ever been.”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 — Restart One</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Not everything. One daily practice — the morning question, the evening note, or PROAPT. Just one</a:t>
            </a:r>
          </a:p>
          <a:p>
            <a:pPr marL="274320" indent="-274320">
              <a:spcAft>
                <a:spcPts val="900"/>
              </a:spcAft>
            </a:pPr>
            <a:r>
              <a:rPr sz="1800" b="1" i="0">
                <a:solidFill>
                  <a:srgbClr val="97BC62"/>
                </a:solidFill>
                <a:latin typeface="Calibri"/>
              </a:rPr>
              <a:t>•  </a:t>
            </a:r>
            <a:r>
              <a:rPr sz="1800" b="0" i="0">
                <a:solidFill>
                  <a:srgbClr val="222B22"/>
                </a:solidFill>
                <a:latin typeface="Calibri"/>
              </a:rPr>
              <a:t>Write it at the top of a fresh journal page tonight, with when and where: “The morning question, 6:50, kitchen table”</a:t>
            </a:r>
          </a:p>
          <a:p>
            <a:pPr marL="274320" indent="-274320">
              <a:spcAft>
                <a:spcPts val="900"/>
              </a:spcAft>
            </a:pPr>
            <a:r>
              <a:rPr sz="1800" b="1" i="0">
                <a:solidFill>
                  <a:srgbClr val="97BC62"/>
                </a:solidFill>
                <a:latin typeface="Calibri"/>
              </a:rPr>
              <a:t>•  </a:t>
            </a:r>
            <a:r>
              <a:rPr sz="1800" b="0" i="0">
                <a:solidFill>
                  <a:srgbClr val="222B22"/>
                </a:solidFill>
                <a:latin typeface="Calibri"/>
              </a:rPr>
              <a:t>That one practice, daily, this week</a:t>
            </a:r>
          </a:p>
          <a:p>
            <a:pPr marL="274320" indent="-274320">
              <a:spcAft>
                <a:spcPts val="900"/>
              </a:spcAft>
            </a:pPr>
            <a:r>
              <a:rPr sz="1800" b="1" i="0">
                <a:solidFill>
                  <a:srgbClr val="97BC62"/>
                </a:solidFill>
                <a:latin typeface="Calibri"/>
              </a:rPr>
              <a:t>•  </a:t>
            </a:r>
            <a:r>
              <a:rPr sz="1800" b="0" i="0">
                <a:solidFill>
                  <a:srgbClr val="222B22"/>
                </a:solidFill>
                <a:latin typeface="Calibri"/>
              </a:rPr>
              <a:t>Miss a day? Do not start over — begin again on the next available day</a:t>
            </a:r>
          </a:p>
          <a:p>
            <a:pPr marL="274320" indent="-274320">
              <a:spcAft>
                <a:spcPts val="900"/>
              </a:spcAft>
            </a:pPr>
            <a:r>
              <a:rPr sz="1800" b="1" i="0">
                <a:solidFill>
                  <a:srgbClr val="97BC62"/>
                </a:solidFill>
                <a:latin typeface="Calibri"/>
              </a:rPr>
              <a:t>•  </a:t>
            </a:r>
            <a:r>
              <a:rPr sz="1800" b="0" i="0">
                <a:solidFill>
                  <a:srgbClr val="222B22"/>
                </a:solidFill>
                <a:latin typeface="Calibri"/>
              </a:rPr>
              <a:t>“One seed goes back in the ground. His mercies are new every morning; you only need one practice to be standing there when they arrive.”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seedling - what grows between Wednesdays"/>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11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Before the break: Any Doubts? — and last week, The Return read what the break did with our practices</a:t>
            </a:r>
          </a:p>
          <a:p>
            <a:pPr marL="274320" indent="-274320">
              <a:spcAft>
                <a:spcPts val="900"/>
              </a:spcAft>
            </a:pPr>
            <a:r>
              <a:rPr sz="1800" b="1" i="0">
                <a:solidFill>
                  <a:srgbClr val="97BC62"/>
                </a:solidFill>
                <a:latin typeface="Calibri"/>
              </a:rPr>
              <a:t>•  </a:t>
            </a:r>
            <a:r>
              <a:rPr sz="1800" b="0" i="0">
                <a:solidFill>
                  <a:srgbClr val="222B22"/>
                </a:solidFill>
                <a:latin typeface="Calibri"/>
              </a:rPr>
              <a:t>The practice carried across: the Personal Doubts Inventory</a:t>
            </a:r>
          </a:p>
          <a:p>
            <a:pPr marL="274320" indent="-274320">
              <a:spcAft>
                <a:spcPts val="900"/>
              </a:spcAft>
            </a:pPr>
            <a:r>
              <a:rPr sz="1800" b="1" i="0">
                <a:solidFill>
                  <a:srgbClr val="97BC62"/>
                </a:solidFill>
                <a:latin typeface="Calibri"/>
              </a:rPr>
              <a:t>•  </a:t>
            </a:r>
            <a:r>
              <a:rPr sz="1800" b="0" i="0">
                <a:solidFill>
                  <a:srgbClr val="222B22"/>
                </a:solidFill>
                <a:latin typeface="Calibri"/>
              </a:rPr>
              <a:t>“Anyone want to say one sentence about how that landed — the inventory, or anything that surfaced, or that you didn’t get to it?”</a:t>
            </a:r>
          </a:p>
          <a:p>
            <a:pPr marL="274320" indent="-274320">
              <a:spcAft>
                <a:spcPts val="900"/>
              </a:spcAft>
            </a:pPr>
            <a:r>
              <a:rPr sz="1800" b="1" i="0">
                <a:solidFill>
                  <a:srgbClr val="97BC62"/>
                </a:solidFill>
                <a:latin typeface="Calibri"/>
              </a:rPr>
              <a:t>•  </a:t>
            </a:r>
            <a:r>
              <a:rPr sz="1800" b="0" i="0">
                <a:solidFill>
                  <a:srgbClr val="222B22"/>
                </a:solidFill>
                <a:latin typeface="Calibri"/>
              </a:rPr>
              <a:t>One sentence each, voluntary — received without commentary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2" name="Picture 32" descr="trail cairn - the weekly check-in"/>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Uphill and Downhill — Ephesians 2:10</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The works were prepared — beforehand, not by us, not for us to invent. Our job is to walk in them</a:t>
            </a:r>
          </a:p>
          <a:p>
            <a:pPr marL="274320" indent="-274320">
              <a:spcAft>
                <a:spcPts val="800"/>
              </a:spcAft>
            </a:pPr>
            <a:r>
              <a:rPr sz="1600" b="1" i="0">
                <a:solidFill>
                  <a:srgbClr val="97BC62"/>
                </a:solidFill>
                <a:latin typeface="Calibri"/>
              </a:rPr>
              <a:t>•  </a:t>
            </a:r>
            <a:r>
              <a:rPr sz="1600" b="0" i="0">
                <a:solidFill>
                  <a:srgbClr val="222B22"/>
                </a:solidFill>
                <a:latin typeface="Calibri"/>
              </a:rPr>
              <a:t>UPHILL mission — what I do: a goal, a plan, measurable steps. Good and real — and the smaller half</a:t>
            </a:r>
          </a:p>
          <a:p>
            <a:pPr marL="274320" indent="-274320">
              <a:spcAft>
                <a:spcPts val="800"/>
              </a:spcAft>
            </a:pPr>
            <a:r>
              <a:rPr sz="1600" b="1" i="0">
                <a:solidFill>
                  <a:srgbClr val="97BC62"/>
                </a:solidFill>
                <a:latin typeface="Calibri"/>
              </a:rPr>
              <a:t>•  </a:t>
            </a:r>
            <a:r>
              <a:rPr sz="1600" b="0" i="0">
                <a:solidFill>
                  <a:srgbClr val="222B22"/>
                </a:solidFill>
                <a:latin typeface="Calibri"/>
              </a:rPr>
              <a:t>DOWNHILL mission — what I am: the effect I have on the people around me when I am most aligned with the Spirit and most genuinely myself. It flows; you don’t have to push it</a:t>
            </a:r>
          </a:p>
          <a:p>
            <a:pPr marL="274320" indent="-274320">
              <a:spcAft>
                <a:spcPts val="800"/>
              </a:spcAft>
            </a:pPr>
            <a:r>
              <a:rPr sz="1600" b="1" i="0">
                <a:solidFill>
                  <a:srgbClr val="97BC62"/>
                </a:solidFill>
                <a:latin typeface="Calibri"/>
              </a:rPr>
              <a:t>•  </a:t>
            </a:r>
            <a:r>
              <a:rPr sz="1600" b="0" i="0">
                <a:solidFill>
                  <a:srgbClr val="222B22"/>
                </a:solidFill>
                <a:latin typeface="Calibri"/>
              </a:rPr>
              <a:t>The test: “When I am at my most genuinely myself — not performing, not managing, just present and open — what do the people around me get to be?”</a:t>
            </a:r>
          </a:p>
          <a:p>
            <a:pPr marL="274320" indent="-274320">
              <a:spcAft>
                <a:spcPts val="800"/>
              </a:spcAft>
            </a:pPr>
            <a:r>
              <a:rPr sz="1600" b="1" i="0">
                <a:solidFill>
                  <a:srgbClr val="97BC62"/>
                </a:solidFill>
                <a:latin typeface="Calibri"/>
              </a:rPr>
              <a:t>•  </a:t>
            </a:r>
            <a:r>
              <a:rPr sz="1600" b="0" i="0">
                <a:solidFill>
                  <a:srgbClr val="222B22"/>
                </a:solidFill>
                <a:latin typeface="Calibri"/>
              </a:rPr>
              <a:t>Eleven weeks of uphill clearing behind us — tonight we ask the downhill question</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EPHESIANS 2:10</a:t>
            </a:r>
          </a:p>
          <a:p>
            <a:pPr>
              <a:spcAft>
                <a:spcPts val="600"/>
              </a:spcAft>
            </a:pPr>
            <a:r>
              <a:rPr sz="1600" b="0" i="1">
                <a:solidFill>
                  <a:srgbClr val="222B22"/>
                </a:solidFill>
                <a:latin typeface="Cambria"/>
              </a:rPr>
              <a:t>“For we are his workmanship, created in Christ Jesus for good works, which God prepared beforehand, that we should walk in them.”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to the Split — Two Exercises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900"/>
              </a:spcAft>
            </a:pPr>
            <a:r>
              <a:rPr sz="1800" b="1" i="0">
                <a:solidFill>
                  <a:srgbClr val="97BC62"/>
                </a:solidFill>
                <a:latin typeface="Calibri"/>
              </a:rPr>
              <a:t>1   </a:t>
            </a:r>
            <a:r>
              <a:rPr sz="1800" b="0" i="0">
                <a:solidFill>
                  <a:srgbClr val="222B22"/>
                </a:solidFill>
                <a:latin typeface="Calibri"/>
              </a:rPr>
              <a:t>Gifts and Passions — about twenty minutes: ten alone, ten sharing. Where are you alive? What comes naturally? Where do others tell you you have something to offer?</a:t>
            </a:r>
          </a:p>
          <a:p>
            <a:pPr marL="685800" indent="-274320">
              <a:spcAft>
                <a:spcPts val="650"/>
              </a:spcAft>
            </a:pPr>
            <a:r>
              <a:rPr sz="1500" b="1" i="0">
                <a:solidFill>
                  <a:srgbClr val="97BC62"/>
                </a:solidFill>
                <a:latin typeface="Calibri"/>
              </a:rPr>
              <a:t>–  </a:t>
            </a:r>
            <a:r>
              <a:rPr sz="1500" b="0" i="1">
                <a:solidFill>
                  <a:srgbClr val="222B22"/>
                </a:solidFill>
                <a:latin typeface="Calibri"/>
              </a:rPr>
              <a:t>Share frame: “The three things I noticed are ______. The one I’m most surprised by is ______.”</a:t>
            </a:r>
          </a:p>
          <a:p>
            <a:pPr marL="342900" indent="-342900">
              <a:spcAft>
                <a:spcPts val="900"/>
              </a:spcAft>
            </a:pPr>
            <a:r>
              <a:rPr sz="1800" b="1" i="0">
                <a:solidFill>
                  <a:srgbClr val="97BC62"/>
                </a:solidFill>
                <a:latin typeface="Calibri"/>
              </a:rPr>
              <a:t>2   </a:t>
            </a:r>
            <a:r>
              <a:rPr sz="1800" b="0" i="0">
                <a:solidFill>
                  <a:srgbClr val="222B22"/>
                </a:solidFill>
                <a:latin typeface="Calibri"/>
              </a:rPr>
              <a:t>Downhill Mission — about twenty minutes: five alone, then name your answer to the cluster. “When I am at my best, what the room gets is ___.”</a:t>
            </a:r>
          </a:p>
          <a:p>
            <a:pPr marL="685800" indent="-274320">
              <a:spcAft>
                <a:spcPts val="650"/>
              </a:spcAft>
            </a:pPr>
            <a:r>
              <a:rPr sz="1500" b="1" i="0">
                <a:solidFill>
                  <a:srgbClr val="97BC62"/>
                </a:solidFill>
                <a:latin typeface="Calibri"/>
              </a:rPr>
              <a:t>–  </a:t>
            </a:r>
            <a:r>
              <a:rPr sz="1500" b="0" i="1">
                <a:solidFill>
                  <a:srgbClr val="222B22"/>
                </a:solidFill>
                <a:latin typeface="Calibri"/>
              </a:rPr>
              <a:t>The cluster adds: “What I’ve seen in you is ______.” — specific, brief, something actually seen</a:t>
            </a:r>
          </a:p>
          <a:p>
            <a:pPr marL="274320" indent="-274320">
              <a:spcAft>
                <a:spcPts val="900"/>
              </a:spcAft>
            </a:pPr>
            <a:r>
              <a:rPr sz="1800" b="1" i="0">
                <a:solidFill>
                  <a:srgbClr val="97BC62"/>
                </a:solidFill>
                <a:latin typeface="Calibri"/>
              </a:rPr>
              <a:t>•  </a:t>
            </a:r>
            <a:r>
              <a:rPr sz="1800" b="0" i="0">
                <a:solidFill>
                  <a:srgbClr val="222B22"/>
                </a:solidFill>
                <a:latin typeface="Calibri"/>
              </a:rPr>
              <a:t>In each round a parent goes first — teens choose their own depth, and passing holds</a:t>
            </a:r>
          </a:p>
          <a:p>
            <a:pPr marL="274320" indent="-274320">
              <a:spcAft>
                <a:spcPts val="900"/>
              </a:spcAft>
            </a:pPr>
            <a:r>
              <a:rPr sz="1800" b="1" i="0">
                <a:solidFill>
                  <a:srgbClr val="97BC62"/>
                </a:solidFill>
                <a:latin typeface="Calibri"/>
              </a:rPr>
              <a:t>•  </a:t>
            </a:r>
            <a:r>
              <a:rPr sz="1800" b="0" i="0">
                <a:solidFill>
                  <a:srgbClr val="222B22"/>
                </a:solidFill>
                <a:latin typeface="Calibri"/>
              </a:rPr>
              <a:t>The cluster may add what they have noticed — a parent may speak to a teen’s gifts, and a teen to a parent’s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Gifts and Downhill in Family Clusters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Phase 1 — Gifts and Passions: quiet writing (10 min), then 60 seconds each: “The three things I noticed are ___. The one I’m most surprised by is ___.”</a:t>
            </a:r>
          </a:p>
          <a:p>
            <a:pPr marL="274320" indent="-274320">
              <a:spcAft>
                <a:spcPts val="750"/>
              </a:spcAft>
            </a:pPr>
            <a:r>
              <a:rPr sz="1600" b="1" i="0">
                <a:solidFill>
                  <a:srgbClr val="97BC62"/>
                </a:solidFill>
                <a:latin typeface="Calibri"/>
              </a:rPr>
              <a:t>•  </a:t>
            </a:r>
            <a:r>
              <a:rPr sz="1600" b="0" i="0">
                <a:solidFill>
                  <a:srgbClr val="222B22"/>
                </a:solidFill>
                <a:latin typeface="Calibri"/>
              </a:rPr>
              <a:t>After each share the cluster affirms what it has seen — specific and brief: “Yes — we see that in you. Specifically: ___.”</a:t>
            </a:r>
          </a:p>
          <a:p>
            <a:pPr marL="274320" indent="-274320">
              <a:spcAft>
                <a:spcPts val="750"/>
              </a:spcAft>
            </a:pPr>
            <a:r>
              <a:rPr sz="1600" b="1" i="0">
                <a:solidFill>
                  <a:srgbClr val="97BC62"/>
                </a:solidFill>
                <a:latin typeface="Calibri"/>
              </a:rPr>
              <a:t>•  </a:t>
            </a:r>
            <a:r>
              <a:rPr sz="1600" b="0" i="0">
                <a:solidFill>
                  <a:srgbClr val="222B22"/>
                </a:solidFill>
                <a:latin typeface="Calibri"/>
              </a:rPr>
              <a:t>Phase 2 — Downhill Mission: five quiet minutes, then around the circle, 90 seconds each</a:t>
            </a:r>
          </a:p>
          <a:p>
            <a:pPr marL="685800" indent="-274320">
              <a:spcAft>
                <a:spcPts val="550"/>
              </a:spcAft>
            </a:pPr>
            <a:r>
              <a:rPr sz="1500" b="1" i="0">
                <a:solidFill>
                  <a:srgbClr val="97BC62"/>
                </a:solidFill>
                <a:latin typeface="Calibri"/>
              </a:rPr>
              <a:t>–  </a:t>
            </a:r>
            <a:r>
              <a:rPr sz="1500" b="0" i="1">
                <a:solidFill>
                  <a:srgbClr val="222B22"/>
                </a:solidFill>
                <a:latin typeface="Calibri"/>
              </a:rPr>
              <a:t>“What I noticed is that when I’m at my best, what the room gets is ___.”</a:t>
            </a:r>
          </a:p>
          <a:p>
            <a:pPr marL="274320" indent="-274320">
              <a:spcAft>
                <a:spcPts val="750"/>
              </a:spcAft>
            </a:pPr>
            <a:r>
              <a:rPr sz="1600" b="1" i="0">
                <a:solidFill>
                  <a:srgbClr val="97BC62"/>
                </a:solidFill>
                <a:latin typeface="Calibri"/>
              </a:rPr>
              <a:t>•  </a:t>
            </a:r>
            <a:r>
              <a:rPr sz="1600" b="0" i="0">
                <a:solidFill>
                  <a:srgbClr val="222B22"/>
                </a:solidFill>
                <a:latin typeface="Calibri"/>
              </a:rPr>
              <a:t>One or two voices add what they have actually seen across Getting Started — especially each other’s family</a:t>
            </a:r>
          </a:p>
          <a:p>
            <a:pPr marL="274320" indent="-274320">
              <a:spcAft>
                <a:spcPts val="750"/>
              </a:spcAft>
            </a:pPr>
            <a:r>
              <a:rPr sz="1600" b="1" i="0">
                <a:solidFill>
                  <a:srgbClr val="97BC62"/>
                </a:solidFill>
                <a:latin typeface="Calibri"/>
              </a:rPr>
              <a:t>•  </a:t>
            </a:r>
            <a:r>
              <a:rPr sz="1600" b="0" i="0">
                <a:solidFill>
                  <a:srgbClr val="222B22"/>
                </a:solidFill>
                <a:latin typeface="Calibri"/>
              </a:rPr>
              <a:t>The naming is the gift — no over-processing. Pass-anytime holds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Surface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What was named in your cluster stays in your cluster — nobody repeats their downhill answer</a:t>
            </a:r>
          </a:p>
          <a:p>
            <a:pPr marL="274320" indent="-274320">
              <a:spcAft>
                <a:spcPts val="900"/>
              </a:spcAft>
            </a:pPr>
            <a:r>
              <a:rPr sz="1800" b="1" i="0">
                <a:solidFill>
                  <a:srgbClr val="97BC62"/>
                </a:solidFill>
                <a:latin typeface="Calibri"/>
              </a:rPr>
              <a:t>•  </a:t>
            </a:r>
            <a:r>
              <a:rPr sz="1800" b="0" i="0">
                <a:solidFill>
                  <a:srgbClr val="222B22"/>
                </a:solidFill>
                <a:latin typeface="Calibri"/>
              </a:rPr>
              <a:t>One sentence from each Cluster Companion — one general thing they noticed, not a specific person</a:t>
            </a:r>
          </a:p>
          <a:p>
            <a:pPr marL="274320" indent="-274320">
              <a:spcAft>
                <a:spcPts val="900"/>
              </a:spcAft>
            </a:pPr>
            <a:r>
              <a:rPr sz="1800" b="1" i="0">
                <a:solidFill>
                  <a:srgbClr val="97BC62"/>
                </a:solidFill>
                <a:latin typeface="Calibri"/>
              </a:rPr>
              <a:t>•  </a:t>
            </a:r>
            <a:r>
              <a:rPr sz="1800" b="0" i="0">
                <a:solidFill>
                  <a:srgbClr val="222B22"/>
                </a:solidFill>
                <a:latin typeface="Calibri"/>
              </a:rPr>
              <a:t>Then one observation across the room</a:t>
            </a:r>
          </a:p>
          <a:p>
            <a:pPr marL="274320" indent="-274320">
              <a:spcAft>
                <a:spcPts val="900"/>
              </a:spcAft>
            </a:pPr>
            <a:r>
              <a:rPr sz="1800" b="1" i="0">
                <a:solidFill>
                  <a:srgbClr val="97BC62"/>
                </a:solidFill>
                <a:latin typeface="Calibri"/>
              </a:rPr>
              <a:t>•  </a:t>
            </a:r>
            <a:r>
              <a:rPr sz="1800" b="0" i="0">
                <a:solidFill>
                  <a:srgbClr val="222B22"/>
                </a:solidFill>
                <a:latin typeface="Calibri"/>
              </a:rPr>
              <a:t>“The downhill mission you named is not a final answer. It is the working draft you are walking in this season.” It will deepen. It will sharpen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Practice This Week — and the Road Ahead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One small action this week, aligned with your downhill answer. One. Not a campaign. Specific — then journal what happens</a:t>
            </a:r>
          </a:p>
          <a:p>
            <a:pPr marL="685800" indent="-274320">
              <a:spcAft>
                <a:spcPts val="700"/>
              </a:spcAft>
            </a:pPr>
            <a:r>
              <a:rPr sz="1600" b="1" i="0">
                <a:solidFill>
                  <a:srgbClr val="97BC62"/>
                </a:solidFill>
                <a:latin typeface="Calibri"/>
              </a:rPr>
              <a:t>–  </a:t>
            </a:r>
            <a:r>
              <a:rPr sz="1600" b="0" i="1">
                <a:solidFill>
                  <a:srgbClr val="222B22"/>
                </a:solidFill>
                <a:latin typeface="Calibri"/>
              </a:rPr>
              <a:t>If your downhill is “the room gets calmer” — sit with a friend in distress this week instead of trying to fix them</a:t>
            </a:r>
          </a:p>
          <a:p>
            <a:pPr marL="274320" indent="-274320">
              <a:spcAft>
                <a:spcPts val="900"/>
              </a:spcAft>
            </a:pPr>
            <a:r>
              <a:rPr sz="1800" b="1" i="0">
                <a:solidFill>
                  <a:srgbClr val="97BC62"/>
                </a:solidFill>
                <a:latin typeface="Calibri"/>
              </a:rPr>
              <a:t>•  </a:t>
            </a:r>
            <a:r>
              <a:rPr sz="1800" b="0" i="0">
                <a:solidFill>
                  <a:srgbClr val="222B22"/>
                </a:solidFill>
                <a:latin typeface="Calibri"/>
              </a:rPr>
              <a:t>Ahead: the Rhythm week — we build the practices you will carry when the Wednesdays stop</a:t>
            </a:r>
          </a:p>
          <a:p>
            <a:pPr marL="274320" indent="-274320">
              <a:spcAft>
                <a:spcPts val="900"/>
              </a:spcAft>
            </a:pPr>
            <a:r>
              <a:rPr sz="1800" b="1" i="0">
                <a:solidFill>
                  <a:srgbClr val="97BC62"/>
                </a:solidFill>
                <a:latin typeface="Calibri"/>
              </a:rPr>
              <a:t>•  </a:t>
            </a:r>
            <a:r>
              <a:rPr sz="1800" b="0" i="0">
                <a:solidFill>
                  <a:srgbClr val="222B22"/>
                </a:solidFill>
                <a:latin typeface="Calibri"/>
              </a:rPr>
              <a:t>Week 21 — the family commissioning: bring your whole family, even members who have not been here. We start at 6:30, light food at 6:00</a:t>
            </a:r>
          </a:p>
          <a:p>
            <a:pPr marL="274320" indent="-274320">
              <a:spcAft>
                <a:spcPts val="900"/>
              </a:spcAft>
            </a:pPr>
            <a:r>
              <a:rPr sz="1800" b="1" i="0">
                <a:solidFill>
                  <a:srgbClr val="97BC62"/>
                </a:solidFill>
                <a:latin typeface="Calibri"/>
              </a:rPr>
              <a:t>•  </a:t>
            </a:r>
            <a:r>
              <a:rPr sz="1800" b="0" i="0">
                <a:solidFill>
                  <a:srgbClr val="222B22"/>
                </a:solidFill>
                <a:latin typeface="Calibri"/>
              </a:rPr>
              <a:t>Week 22 — the commissioning of our Companions-in-Formation. Their night; come to witness it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seedling - what grows between Wednesdays"/>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Mission Round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Mission night sent us home with one assignment — one small act, lined up with your downhill mission</a:t>
            </a:r>
          </a:p>
          <a:p>
            <a:pPr marL="274320" indent="-274320">
              <a:spcAft>
                <a:spcPts val="900"/>
              </a:spcAft>
            </a:pPr>
            <a:r>
              <a:rPr sz="1800" b="1" i="0">
                <a:solidFill>
                  <a:srgbClr val="97BC62"/>
                </a:solidFill>
                <a:latin typeface="Calibri"/>
              </a:rPr>
              <a:t>•  </a:t>
            </a:r>
            <a:r>
              <a:rPr sz="1800" b="0" i="0">
                <a:solidFill>
                  <a:srgbClr val="222B22"/>
                </a:solidFill>
                <a:latin typeface="Calibri"/>
              </a:rPr>
              <a:t>“One sentence each, whoever wants: what was your one act, or what got in the way?”</a:t>
            </a:r>
          </a:p>
          <a:p>
            <a:pPr marL="274320" indent="-274320">
              <a:spcAft>
                <a:spcPts val="900"/>
              </a:spcAft>
            </a:pPr>
            <a:r>
              <a:rPr sz="1800" b="1" i="0">
                <a:solidFill>
                  <a:srgbClr val="97BC62"/>
                </a:solidFill>
                <a:latin typeface="Calibri"/>
              </a:rPr>
              <a:t>•  </a:t>
            </a:r>
            <a:r>
              <a:rPr sz="1800" b="0" i="0">
                <a:solidFill>
                  <a:srgbClr val="222B22"/>
                </a:solidFill>
                <a:latin typeface="Calibri"/>
              </a:rPr>
              <a:t>“‘I didn’t get to it’ is an honest sentence.” A parent opens; pass anytime</a:t>
            </a:r>
          </a:p>
          <a:p>
            <a:pPr marL="274320" indent="-274320">
              <a:spcAft>
                <a:spcPts val="900"/>
              </a:spcAft>
            </a:pPr>
            <a:r>
              <a:rPr sz="1800" b="1" i="0">
                <a:solidFill>
                  <a:srgbClr val="97BC62"/>
                </a:solidFill>
                <a:latin typeface="Calibri"/>
              </a:rPr>
              <a:t>•  </a:t>
            </a:r>
            <a:r>
              <a:rPr sz="1800" b="0" i="0">
                <a:solidFill>
                  <a:srgbClr val="222B22"/>
                </a:solidFill>
                <a:latin typeface="Calibri"/>
              </a:rPr>
              <a:t>“The works were prepared beforehand; we keep walking into them. That assignment doesn’t expire.”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Why Tonight — the Rotation’s Charter</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Nothing new gets taught tonight — on purpose. Everything we do, this room has already done</a:t>
            </a:r>
          </a:p>
          <a:p>
            <a:pPr marL="274320" indent="-274320">
              <a:spcAft>
                <a:spcPts val="800"/>
              </a:spcAft>
            </a:pPr>
            <a:r>
              <a:rPr sz="1600" b="1" i="0">
                <a:solidFill>
                  <a:srgbClr val="97BC62"/>
                </a:solidFill>
                <a:latin typeface="Calibri"/>
              </a:rPr>
              <a:t>•  </a:t>
            </a:r>
            <a:r>
              <a:rPr sz="1600" b="0" i="0">
                <a:solidFill>
                  <a:srgbClr val="222B22"/>
                </a:solidFill>
                <a:latin typeface="Calibri"/>
              </a:rPr>
              <a:t>See one, do one, in front of each other — every one of us who is willing, not just the seniors headed for commissioning</a:t>
            </a:r>
          </a:p>
          <a:p>
            <a:pPr marL="274320" indent="-274320">
              <a:spcAft>
                <a:spcPts val="800"/>
              </a:spcAft>
            </a:pPr>
            <a:r>
              <a:rPr sz="1600" b="1" i="0">
                <a:solidFill>
                  <a:srgbClr val="97BC62"/>
                </a:solidFill>
                <a:latin typeface="Calibri"/>
              </a:rPr>
              <a:t>•  </a:t>
            </a:r>
            <a:r>
              <a:rPr sz="1600" b="0" i="0">
                <a:solidFill>
                  <a:srgbClr val="222B22"/>
                </a:solidFill>
                <a:latin typeface="Calibri"/>
              </a:rPr>
              <a:t>“My turn is tonight. Somebody else’s turn is coming.”</a:t>
            </a:r>
          </a:p>
          <a:p>
            <a:pPr marL="274320" indent="-274320">
              <a:spcAft>
                <a:spcPts val="800"/>
              </a:spcAft>
            </a:pPr>
            <a:r>
              <a:rPr sz="1600" b="1" i="0">
                <a:solidFill>
                  <a:srgbClr val="97BC62"/>
                </a:solidFill>
                <a:latin typeface="Calibri"/>
              </a:rPr>
              <a:t>•  </a:t>
            </a:r>
            <a:r>
              <a:rPr sz="1600" b="0" i="0">
                <a:solidFill>
                  <a:srgbClr val="222B22"/>
                </a:solidFill>
                <a:latin typeface="Calibri"/>
              </a:rPr>
              <a:t>This is not a competition — no ranking. The room’s job for every leader is the same: receive them</a:t>
            </a:r>
          </a:p>
          <a:p>
            <a:pPr marL="274320" indent="-274320">
              <a:spcAft>
                <a:spcPts val="800"/>
              </a:spcAft>
            </a:pPr>
            <a:r>
              <a:rPr sz="1600" b="1" i="0">
                <a:solidFill>
                  <a:srgbClr val="97BC62"/>
                </a:solidFill>
                <a:latin typeface="Calibri"/>
              </a:rPr>
              <a:t>•  </a:t>
            </a:r>
            <a:r>
              <a:rPr sz="1600" b="0" i="0">
                <a:solidFill>
                  <a:srgbClr val="222B22"/>
                </a:solidFill>
                <a:latin typeface="Calibri"/>
              </a:rPr>
              <a:t>“The team is here. But the practice is ours now.”</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1 TIMOTHY 4:12</a:t>
            </a:r>
          </a:p>
          <a:p>
            <a:pPr>
              <a:spcAft>
                <a:spcPts val="600"/>
              </a:spcAft>
            </a:pPr>
            <a:r>
              <a:rPr sz="1600" b="0" i="1">
                <a:solidFill>
                  <a:srgbClr val="222B22"/>
                </a:solidFill>
                <a:latin typeface="Cambria"/>
              </a:rPr>
              <a:t>“Let no one despise you for your youth, but set the believers an example in speech, in conduct, in love, in faith, in purity.”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Week 13 Completion — Finishing the Mission Week</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“Before we walk forward, we finish the Mission week” — unfinished downhill answers finish here</a:t>
            </a:r>
          </a:p>
          <a:p>
            <a:pPr marL="274320" indent="-274320">
              <a:spcAft>
                <a:spcPts val="900"/>
              </a:spcAft>
            </a:pPr>
            <a:r>
              <a:rPr sz="1800" b="1" i="0">
                <a:solidFill>
                  <a:srgbClr val="97BC62"/>
                </a:solidFill>
                <a:latin typeface="Calibri"/>
              </a:rPr>
              <a:t>•  </a:t>
            </a:r>
            <a:r>
              <a:rPr sz="1800" b="0" i="0">
                <a:solidFill>
                  <a:srgbClr val="222B22"/>
                </a:solidFill>
                <a:latin typeface="Calibri"/>
              </a:rPr>
              <a:t>Two weeks of living with the question usually deepens it — one sentence, now, to the room</a:t>
            </a:r>
          </a:p>
          <a:p>
            <a:pPr marL="274320" indent="-274320">
              <a:spcAft>
                <a:spcPts val="900"/>
              </a:spcAft>
            </a:pPr>
            <a:r>
              <a:rPr sz="1800" b="1" i="0">
                <a:solidFill>
                  <a:srgbClr val="97BC62"/>
                </a:solidFill>
                <a:latin typeface="Calibri"/>
              </a:rPr>
              <a:t>•  </a:t>
            </a:r>
            <a:r>
              <a:rPr sz="1800" b="0" i="0">
                <a:solidFill>
                  <a:srgbClr val="222B22"/>
                </a:solidFill>
                <a:latin typeface="Calibri"/>
              </a:rPr>
              <a:t>A parent opens the round; teens choose their own depth after — pass-anytime holds</a:t>
            </a:r>
          </a:p>
          <a:p>
            <a:pPr marL="274320" indent="-274320">
              <a:spcAft>
                <a:spcPts val="900"/>
              </a:spcAft>
            </a:pPr>
            <a:r>
              <a:rPr sz="1800" b="1" i="0">
                <a:solidFill>
                  <a:srgbClr val="97BC62"/>
                </a:solidFill>
                <a:latin typeface="Calibri"/>
              </a:rPr>
              <a:t>•  </a:t>
            </a:r>
            <a:r>
              <a:rPr sz="1800" b="0" i="0">
                <a:solidFill>
                  <a:srgbClr val="222B22"/>
                </a:solidFill>
                <a:latin typeface="Calibri"/>
              </a:rPr>
              <a:t>The answers carry forward to the Week 21 commissioning</a:t>
            </a:r>
          </a:p>
          <a:p>
            <a:pPr marL="274320" indent="-274320">
              <a:spcAft>
                <a:spcPts val="900"/>
              </a:spcAft>
            </a:pPr>
            <a:r>
              <a:rPr sz="1800" b="1" i="0">
                <a:solidFill>
                  <a:srgbClr val="97BC62"/>
                </a:solidFill>
                <a:latin typeface="Calibri"/>
              </a:rPr>
              <a:t>•  </a:t>
            </a:r>
            <a:r>
              <a:rPr sz="1800" b="0" i="0">
                <a:solidFill>
                  <a:srgbClr val="222B22"/>
                </a:solidFill>
                <a:latin typeface="Calibri"/>
              </a:rPr>
              <a:t>Practice check: one small action aligned with your downhill mission — ninety seconds, one sentence on what happened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Long Walk — Galatians 6:9</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The condition is not “if we feel it.” It is “if we do not give up” — Paul assumes the weariness</a:t>
            </a:r>
          </a:p>
          <a:p>
            <a:pPr marL="274320" indent="-274320">
              <a:spcAft>
                <a:spcPts val="800"/>
              </a:spcAft>
            </a:pPr>
            <a:r>
              <a:rPr sz="1600" b="1" i="0">
                <a:solidFill>
                  <a:srgbClr val="97BC62"/>
                </a:solidFill>
                <a:latin typeface="Calibri"/>
              </a:rPr>
              <a:t>•  </a:t>
            </a:r>
            <a:r>
              <a:rPr sz="1600" b="0" i="0">
                <a:solidFill>
                  <a:srgbClr val="222B22"/>
                </a:solidFill>
                <a:latin typeface="Calibri"/>
              </a:rPr>
              <a:t>The reaping is tied to the season, and the season is God's — our part is the not-giving-up</a:t>
            </a:r>
          </a:p>
          <a:p>
            <a:pPr marL="274320" indent="-274320">
              <a:spcAft>
                <a:spcPts val="800"/>
              </a:spcAft>
            </a:pPr>
            <a:r>
              <a:rPr sz="1600" b="1" i="0">
                <a:solidFill>
                  <a:srgbClr val="97BC62"/>
                </a:solidFill>
                <a:latin typeface="Calibri"/>
              </a:rPr>
              <a:t>•  </a:t>
            </a:r>
            <a:r>
              <a:rPr sz="1600" b="0" i="0">
                <a:solidFill>
                  <a:srgbClr val="222B22"/>
                </a:solidFill>
                <a:latin typeface="Calibri"/>
              </a:rPr>
              <a:t>Nobody white-knuckles their way through years; people with a rhythm walk through years</a:t>
            </a:r>
          </a:p>
          <a:p>
            <a:pPr marL="274320" indent="-274320">
              <a:spcAft>
                <a:spcPts val="800"/>
              </a:spcAft>
            </a:pPr>
            <a:r>
              <a:rPr sz="1600" b="1" i="0">
                <a:solidFill>
                  <a:srgbClr val="97BC62"/>
                </a:solidFill>
                <a:latin typeface="Calibri"/>
              </a:rPr>
              <a:t>•  </a:t>
            </a:r>
            <a:r>
              <a:rPr sz="1600" b="0" i="0">
                <a:solidFill>
                  <a:srgbClr val="222B22"/>
                </a:solidFill>
                <a:latin typeface="Calibri"/>
              </a:rPr>
              <a:t>The break is coming — what carries the practices across a gap is not momentum; it is a rhythm you built on purpose</a:t>
            </a:r>
          </a:p>
          <a:p>
            <a:pPr marL="274320" indent="-274320">
              <a:spcAft>
                <a:spcPts val="800"/>
              </a:spcAft>
            </a:pPr>
            <a:r>
              <a:rPr sz="1600" b="1" i="0">
                <a:solidFill>
                  <a:srgbClr val="97BC62"/>
                </a:solidFill>
                <a:latin typeface="Calibri"/>
              </a:rPr>
              <a:t>•  </a:t>
            </a:r>
            <a:r>
              <a:rPr sz="1600" b="0" i="0">
                <a:solidFill>
                  <a:srgbClr val="222B22"/>
                </a:solidFill>
                <a:latin typeface="Calibri"/>
              </a:rPr>
              <a:t>So we build it tonight, before the gap, not after it</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GALATIANS 6:9 (ESV)</a:t>
            </a:r>
          </a:p>
          <a:p>
            <a:pPr>
              <a:spcAft>
                <a:spcPts val="600"/>
              </a:spcAft>
            </a:pPr>
            <a:r>
              <a:rPr sz="1600" b="0" i="1">
                <a:solidFill>
                  <a:srgbClr val="222B22"/>
                </a:solidFill>
                <a:latin typeface="Cambria"/>
              </a:rPr>
              <a:t>“And let us not grow weary of doing good, for in due season we will reap, if we do not give up.”</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Rhythm Card Introduced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The whole series folded into one page — you have already received every practice on this card</a:t>
            </a:r>
          </a:p>
          <a:p>
            <a:pPr marL="274320" indent="-274320">
              <a:spcAft>
                <a:spcPts val="750"/>
              </a:spcAft>
            </a:pPr>
            <a:r>
              <a:rPr sz="1600" b="1" i="0">
                <a:solidFill>
                  <a:srgbClr val="97BC62"/>
                </a:solidFill>
                <a:latin typeface="Calibri"/>
              </a:rPr>
              <a:t>•  </a:t>
            </a:r>
            <a:r>
              <a:rPr sz="1600" b="0" i="0">
                <a:solidFill>
                  <a:srgbClr val="222B22"/>
                </a:solidFill>
                <a:latin typeface="Calibri"/>
              </a:rPr>
              <a:t>Daily — the morning question, the evening journal note, PROAPT if the season allows</a:t>
            </a:r>
          </a:p>
          <a:p>
            <a:pPr marL="274320" indent="-274320">
              <a:spcAft>
                <a:spcPts val="750"/>
              </a:spcAft>
            </a:pPr>
            <a:r>
              <a:rPr sz="1600" b="1" i="0">
                <a:solidFill>
                  <a:srgbClr val="97BC62"/>
                </a:solidFill>
                <a:latin typeface="Calibri"/>
              </a:rPr>
              <a:t>•  </a:t>
            </a:r>
            <a:r>
              <a:rPr sz="1600" b="0" i="0">
                <a:solidFill>
                  <a:srgbClr val="222B22"/>
                </a:solidFill>
                <a:latin typeface="Calibri"/>
              </a:rPr>
              <a:t>Weekly — one specific person who knows what you are working on, and a sabbath rhythm</a:t>
            </a:r>
          </a:p>
          <a:p>
            <a:pPr marL="274320" indent="-274320">
              <a:spcAft>
                <a:spcPts val="750"/>
              </a:spcAft>
            </a:pPr>
            <a:r>
              <a:rPr sz="1600" b="1" i="0">
                <a:solidFill>
                  <a:srgbClr val="97BC62"/>
                </a:solidFill>
                <a:latin typeface="Calibri"/>
              </a:rPr>
              <a:t>•  </a:t>
            </a:r>
            <a:r>
              <a:rPr sz="1600" b="0" i="0">
                <a:solidFill>
                  <a:srgbClr val="222B22"/>
                </a:solidFill>
                <a:latin typeface="Calibri"/>
              </a:rPr>
              <a:t>Monthly — a clearing time and a Four-Connects review. Seasonally — the deeper work</a:t>
            </a:r>
          </a:p>
          <a:p>
            <a:pPr marL="274320" indent="-274320">
              <a:spcAft>
                <a:spcPts val="750"/>
              </a:spcAft>
            </a:pPr>
            <a:r>
              <a:rPr sz="1600" b="1" i="0">
                <a:solidFill>
                  <a:srgbClr val="97BC62"/>
                </a:solidFill>
                <a:latin typeface="Calibri"/>
              </a:rPr>
              <a:t>•  </a:t>
            </a:r>
            <a:r>
              <a:rPr sz="1600" b="0" i="0">
                <a:solidFill>
                  <a:srgbClr val="222B22"/>
                </a:solidFill>
                <a:latin typeface="Calibri"/>
              </a:rPr>
              <a:t>One rule for the build: “write the rhythm you will actually keep, not the one that impresses you”</a:t>
            </a:r>
          </a:p>
          <a:p>
            <a:pPr marL="274320" indent="-274320">
              <a:spcAft>
                <a:spcPts val="750"/>
              </a:spcAft>
            </a:pPr>
            <a:r>
              <a:rPr sz="1600" b="1" i="0">
                <a:solidFill>
                  <a:srgbClr val="97BC62"/>
                </a:solidFill>
                <a:latin typeface="Calibri"/>
              </a:rPr>
              <a:t>•  </a:t>
            </a:r>
            <a:r>
              <a:rPr sz="1600" b="0" i="0">
                <a:solidFill>
                  <a:srgbClr val="222B22"/>
                </a:solidFill>
                <a:latin typeface="Calibri"/>
              </a:rPr>
              <a:t>The starter plan begins with two practices totaling six minutes a day — six honest minutes is a real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Building Your Rhythm Card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Twenty minutes in family clusters — in your own handwriting, on the build sheet</a:t>
            </a:r>
          </a:p>
          <a:p>
            <a:pPr marL="274320" indent="-274320">
              <a:spcAft>
                <a:spcPts val="900"/>
              </a:spcAft>
            </a:pPr>
            <a:r>
              <a:rPr sz="1800" b="1" i="0">
                <a:solidFill>
                  <a:srgbClr val="97BC62"/>
                </a:solidFill>
                <a:latin typeface="Calibri"/>
              </a:rPr>
              <a:t>•  </a:t>
            </a:r>
            <a:r>
              <a:rPr sz="1800" b="0" i="0">
                <a:solidFill>
                  <a:srgbClr val="222B22"/>
                </a:solidFill>
                <a:latin typeface="Calibri"/>
              </a:rPr>
              <a:t>Specific beats vague — “morning question, 6:50, kitchen table, before my phone” is a rhythm</a:t>
            </a:r>
          </a:p>
          <a:p>
            <a:pPr marL="274320" indent="-274320">
              <a:spcAft>
                <a:spcPts val="900"/>
              </a:spcAft>
            </a:pPr>
            <a:r>
              <a:rPr sz="1800" b="1" i="0">
                <a:solidFill>
                  <a:srgbClr val="97BC62"/>
                </a:solidFill>
                <a:latin typeface="Calibri"/>
              </a:rPr>
              <a:t>•  </a:t>
            </a:r>
            <a:r>
              <a:rPr sz="1800" b="0" i="0">
                <a:solidFill>
                  <a:srgbClr val="222B22"/>
                </a:solidFill>
                <a:latin typeface="Calibri"/>
              </a:rPr>
              <a:t>The weekly partner line is the most important line on the sheet — name an actual person</a:t>
            </a:r>
          </a:p>
          <a:p>
            <a:pPr marL="274320" indent="-274320">
              <a:spcAft>
                <a:spcPts val="900"/>
              </a:spcAft>
            </a:pPr>
            <a:r>
              <a:rPr sz="1800" b="1" i="0">
                <a:solidFill>
                  <a:srgbClr val="97BC62"/>
                </a:solidFill>
                <a:latin typeface="Calibri"/>
              </a:rPr>
              <a:t>•  </a:t>
            </a:r>
            <a:r>
              <a:rPr sz="1800" b="0" i="0">
                <a:solidFill>
                  <a:srgbClr val="222B22"/>
                </a:solidFill>
                <a:latin typeface="Calibri"/>
              </a:rPr>
              <a:t>Build down, not up — which two practices survive exam season? Start there; the card lets you add later</a:t>
            </a:r>
          </a:p>
          <a:p>
            <a:pPr marL="274320" indent="-274320">
              <a:spcAft>
                <a:spcPts val="900"/>
              </a:spcAft>
            </a:pPr>
            <a:r>
              <a:rPr sz="1800" b="1" i="0">
                <a:solidFill>
                  <a:srgbClr val="97BC62"/>
                </a:solidFill>
                <a:latin typeface="Calibri"/>
              </a:rPr>
              <a:t>•  </a:t>
            </a:r>
            <a:r>
              <a:rPr sz="1800" b="0" i="0">
                <a:solidFill>
                  <a:srgbClr val="222B22"/>
                </a:solidFill>
                <a:latin typeface="Calibri"/>
              </a:rPr>
              <a:t>Close: each participant reads their daily line aloud to the cluster — a parent first; pass-anytime holds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Four Questions</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500" b="1" i="0">
                <a:solidFill>
                  <a:srgbClr val="97BC62"/>
                </a:solidFill>
                <a:latin typeface="Calibri"/>
              </a:rPr>
              <a:t>•  </a:t>
            </a:r>
            <a:r>
              <a:rPr sz="1500" b="0" i="0">
                <a:solidFill>
                  <a:srgbClr val="222B22"/>
                </a:solidFill>
                <a:latin typeface="Calibri"/>
              </a:rPr>
              <a:t>Parents, this next part is for you — nobody answers tonight. This week, at home, for the willing: unhurried, no audience, phone away, yours first</a:t>
            </a:r>
          </a:p>
          <a:p>
            <a:pPr marL="342900" indent="-342900">
              <a:spcAft>
                <a:spcPts val="650"/>
              </a:spcAft>
            </a:pPr>
            <a:r>
              <a:rPr sz="1500" b="1" i="0">
                <a:solidFill>
                  <a:srgbClr val="97BC62"/>
                </a:solidFill>
                <a:latin typeface="Calibri"/>
              </a:rPr>
              <a:t>1   </a:t>
            </a:r>
            <a:r>
              <a:rPr sz="1500" b="0" i="0">
                <a:solidFill>
                  <a:srgbClr val="222B22"/>
                </a:solidFill>
                <a:latin typeface="Calibri"/>
              </a:rPr>
              <a:t>What has it been like to live with me all these years?</a:t>
            </a:r>
          </a:p>
          <a:p>
            <a:pPr marL="342900" indent="-342900">
              <a:spcAft>
                <a:spcPts val="650"/>
              </a:spcAft>
            </a:pPr>
            <a:r>
              <a:rPr sz="1500" b="1" i="0">
                <a:solidFill>
                  <a:srgbClr val="97BC62"/>
                </a:solidFill>
                <a:latin typeface="Calibri"/>
              </a:rPr>
              <a:t>2   </a:t>
            </a:r>
            <a:r>
              <a:rPr sz="1500" b="0" i="0">
                <a:solidFill>
                  <a:srgbClr val="222B22"/>
                </a:solidFill>
                <a:latin typeface="Calibri"/>
              </a:rPr>
              <a:t>What have been my messages to you?</a:t>
            </a:r>
          </a:p>
          <a:p>
            <a:pPr marL="342900" indent="-342900">
              <a:spcAft>
                <a:spcPts val="650"/>
              </a:spcAft>
            </a:pPr>
            <a:r>
              <a:rPr sz="1500" b="1" i="0">
                <a:solidFill>
                  <a:srgbClr val="97BC62"/>
                </a:solidFill>
                <a:latin typeface="Calibri"/>
              </a:rPr>
              <a:t>3   </a:t>
            </a:r>
            <a:r>
              <a:rPr sz="1500" b="0" i="0">
                <a:solidFill>
                  <a:srgbClr val="222B22"/>
                </a:solidFill>
                <a:latin typeface="Calibri"/>
              </a:rPr>
              <a:t>How have I wounded you?</a:t>
            </a:r>
          </a:p>
          <a:p>
            <a:pPr marL="342900" indent="-342900">
              <a:spcAft>
                <a:spcPts val="650"/>
              </a:spcAft>
            </a:pPr>
            <a:r>
              <a:rPr sz="1500" b="1" i="0">
                <a:solidFill>
                  <a:srgbClr val="97BC62"/>
                </a:solidFill>
                <a:latin typeface="Calibri"/>
              </a:rPr>
              <a:t>4   </a:t>
            </a:r>
            <a:r>
              <a:rPr sz="1500" b="0" i="0">
                <a:solidFill>
                  <a:srgbClr val="222B22"/>
                </a:solidFill>
                <a:latin typeface="Calibri"/>
              </a:rPr>
              <a:t>What would you like from me going forward?</a:t>
            </a:r>
          </a:p>
          <a:p>
            <a:pPr marL="274320" indent="-274320">
              <a:spcAft>
                <a:spcPts val="650"/>
              </a:spcAft>
            </a:pPr>
            <a:r>
              <a:rPr sz="1500" b="1" i="0">
                <a:solidFill>
                  <a:srgbClr val="97BC62"/>
                </a:solidFill>
                <a:latin typeface="Calibri"/>
              </a:rPr>
              <a:t>•  </a:t>
            </a:r>
            <a:r>
              <a:rPr sz="1500" b="0" i="0">
                <a:solidFill>
                  <a:srgbClr val="222B22"/>
                </a:solidFill>
                <a:latin typeface="Calibri"/>
              </a:rPr>
              <a:t>The guards — willing only, both directions; receive without defending (listening questions and “thank you” only); invisible by default; a letter counts; the Section 6 boundary</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PSALM 139:23–24</a:t>
            </a:r>
          </a:p>
          <a:p>
            <a:pPr>
              <a:spcAft>
                <a:spcPts val="600"/>
              </a:spcAft>
            </a:pPr>
            <a:r>
              <a:rPr sz="1600" b="0" i="1">
                <a:solidFill>
                  <a:srgbClr val="222B22"/>
                </a:solidFill>
                <a:latin typeface="Cambria"/>
              </a:rPr>
              <a:t>Asked of God, it is worship. Asked of your family, it is the bravest form of the same prayer.</a:t>
            </a:r>
          </a:p>
          <a:p>
            <a:pPr>
              <a:spcAft>
                <a:spcPts val="600"/>
              </a:spcAft>
            </a:pPr>
            <a:r>
              <a:rPr sz="1600" b="0" i="1">
                <a:solidFill>
                  <a:srgbClr val="222B22"/>
                </a:solidFill>
                <a:latin typeface="Cambria"/>
              </a:rPr>
              <a:t>James 1:19 — quick to hear, slow to speak.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 — This Week and Across the Break</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Four Questions (for the willing) — the parent asks their teen at home; married parents also ask their spouse, separately. “Not yet” is a full answer for everyone</a:t>
            </a:r>
          </a:p>
          <a:p>
            <a:pPr marL="274320" indent="-274320">
              <a:spcAft>
                <a:spcPts val="900"/>
              </a:spcAft>
            </a:pPr>
            <a:r>
              <a:rPr sz="1800" b="1" i="0">
                <a:solidFill>
                  <a:srgbClr val="97BC62"/>
                </a:solidFill>
                <a:latin typeface="Calibri"/>
              </a:rPr>
              <a:t>•  </a:t>
            </a:r>
            <a:r>
              <a:rPr sz="1800" b="0" i="0">
                <a:solidFill>
                  <a:srgbClr val="222B22"/>
                </a:solidFill>
                <a:latin typeface="Calibri"/>
              </a:rPr>
              <a:t>Run the Rhythm Card as built — for real, at the times and places written on it; the break is its first field test</a:t>
            </a:r>
          </a:p>
          <a:p>
            <a:pPr marL="274320" indent="-274320">
              <a:spcAft>
                <a:spcPts val="900"/>
              </a:spcAft>
            </a:pPr>
            <a:r>
              <a:rPr sz="1800" b="1" i="0">
                <a:solidFill>
                  <a:srgbClr val="97BC62"/>
                </a:solidFill>
                <a:latin typeface="Calibri"/>
              </a:rPr>
              <a:t>•  </a:t>
            </a:r>
            <a:r>
              <a:rPr sz="1800" b="0" i="0">
                <a:solidFill>
                  <a:srgbClr val="222B22"/>
                </a:solidFill>
                <a:latin typeface="Calibri"/>
              </a:rPr>
              <a:t>Journal the holds and the slips — one line a day; no fixing, no guilt-engine. The slips are data, not verdicts</a:t>
            </a:r>
          </a:p>
          <a:p>
            <a:pPr marL="274320" indent="-274320">
              <a:spcAft>
                <a:spcPts val="900"/>
              </a:spcAft>
            </a:pPr>
            <a:r>
              <a:rPr sz="1800" b="1" i="0">
                <a:solidFill>
                  <a:srgbClr val="97BC62"/>
                </a:solidFill>
                <a:latin typeface="Calibri"/>
              </a:rPr>
              <a:t>•  </a:t>
            </a:r>
            <a:r>
              <a:rPr sz="1800" b="0" i="0">
                <a:solidFill>
                  <a:srgbClr val="222B22"/>
                </a:solidFill>
                <a:latin typeface="Calibri"/>
              </a:rPr>
              <a:t>The returning rule — miss a day: begin again on the next available day. Do not start over; do not double up. Returning is the goal</a:t>
            </a:r>
          </a:p>
          <a:p>
            <a:pPr marL="274320" indent="-274320">
              <a:spcAft>
                <a:spcPts val="900"/>
              </a:spcAft>
            </a:pPr>
            <a:r>
              <a:rPr sz="1800" b="1" i="0">
                <a:solidFill>
                  <a:srgbClr val="97BC62"/>
                </a:solidFill>
                <a:latin typeface="Calibri"/>
              </a:rPr>
              <a:t>•  </a:t>
            </a:r>
            <a:r>
              <a:rPr sz="1800" b="0" i="0">
                <a:solidFill>
                  <a:srgbClr val="222B22"/>
                </a:solidFill>
                <a:latin typeface="Calibri"/>
              </a:rPr>
              <a:t>The morning question and evening note continue inside the rhythm — the practices have stopped being assignments and become a life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seedling - what grows between Wednesdays"/>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Rhythm-Noticing Round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One round before we eat — one sentence each</a:t>
            </a:r>
          </a:p>
          <a:p>
            <a:pPr marL="274320" indent="-274320">
              <a:spcAft>
                <a:spcPts val="900"/>
              </a:spcAft>
            </a:pPr>
            <a:r>
              <a:rPr sz="1800" b="1" i="0">
                <a:solidFill>
                  <a:srgbClr val="97BC62"/>
                </a:solidFill>
                <a:latin typeface="Calibri"/>
              </a:rPr>
              <a:t>•  </a:t>
            </a:r>
            <a:r>
              <a:rPr sz="1800" b="0" i="0">
                <a:solidFill>
                  <a:srgbClr val="222B22"/>
                </a:solidFill>
                <a:latin typeface="Calibri"/>
              </a:rPr>
              <a:t>“Where has your card held, or where has it slipped?”</a:t>
            </a:r>
          </a:p>
          <a:p>
            <a:pPr marL="274320" indent="-274320">
              <a:spcAft>
                <a:spcPts val="900"/>
              </a:spcAft>
            </a:pPr>
            <a:r>
              <a:rPr sz="1800" b="1" i="0">
                <a:solidFill>
                  <a:srgbClr val="97BC62"/>
                </a:solidFill>
                <a:latin typeface="Calibri"/>
              </a:rPr>
              <a:t>•  </a:t>
            </a:r>
            <a:r>
              <a:rPr sz="1800" b="0" i="0">
                <a:solidFill>
                  <a:srgbClr val="222B22"/>
                </a:solidFill>
                <a:latin typeface="Calibri"/>
              </a:rPr>
              <a:t>Both answers are welcome — a slip you noticed is the practice working, because noticing is the skill</a:t>
            </a:r>
          </a:p>
          <a:p>
            <a:pPr marL="274320" indent="-274320">
              <a:spcAft>
                <a:spcPts val="900"/>
              </a:spcAft>
            </a:pPr>
            <a:r>
              <a:rPr sz="1800" b="1" i="0">
                <a:solidFill>
                  <a:srgbClr val="97BC62"/>
                </a:solidFill>
                <a:latin typeface="Calibri"/>
              </a:rPr>
              <a:t>•  </a:t>
            </a:r>
            <a:r>
              <a:rPr sz="1800" b="0" i="0">
                <a:solidFill>
                  <a:srgbClr val="222B22"/>
                </a:solidFill>
                <a:latin typeface="Calibri"/>
              </a:rPr>
              <a:t>No fixing, no advice — a parent starts; pass-anytime holds</a:t>
            </a:r>
          </a:p>
          <a:p>
            <a:pPr marL="685800" indent="-274320">
              <a:spcAft>
                <a:spcPts val="700"/>
              </a:spcAft>
            </a:pPr>
            <a:r>
              <a:rPr sz="1600" b="1" i="0">
                <a:solidFill>
                  <a:srgbClr val="97BC62"/>
                </a:solidFill>
                <a:latin typeface="Calibri"/>
              </a:rPr>
              <a:t>–  </a:t>
            </a:r>
            <a:r>
              <a:rPr sz="1600" b="0" i="1">
                <a:solidFill>
                  <a:srgbClr val="222B22"/>
                </a:solidFill>
                <a:latin typeface="Calibri"/>
              </a:rPr>
              <a:t>“The card is a long walk; sixteen days in, everyone in this circle is still on it.”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Acts 2:46 and the Table Grace</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Luke is describing the very first church — the most spiritually alive room in the history of the world</a:t>
            </a:r>
          </a:p>
          <a:p>
            <a:pPr marL="274320" indent="-274320">
              <a:spcAft>
                <a:spcPts val="800"/>
              </a:spcAft>
            </a:pPr>
            <a:r>
              <a:rPr sz="1600" b="1" i="0">
                <a:solidFill>
                  <a:srgbClr val="97BC62"/>
                </a:solidFill>
                <a:latin typeface="Calibri"/>
              </a:rPr>
              <a:t>•  </a:t>
            </a:r>
            <a:r>
              <a:rPr sz="1600" b="0" i="0">
                <a:solidFill>
                  <a:srgbClr val="222B22"/>
                </a:solidFill>
                <a:latin typeface="Calibri"/>
              </a:rPr>
              <a:t>The first church ran on three rails: the teaching, the table, and the prayers</a:t>
            </a:r>
          </a:p>
          <a:p>
            <a:pPr marL="274320" indent="-274320">
              <a:spcAft>
                <a:spcPts val="800"/>
              </a:spcAft>
            </a:pPr>
            <a:r>
              <a:rPr sz="1600" b="1" i="0">
                <a:solidFill>
                  <a:srgbClr val="97BC62"/>
                </a:solidFill>
                <a:latin typeface="Calibri"/>
              </a:rPr>
              <a:t>•  </a:t>
            </a:r>
            <a:r>
              <a:rPr sz="1600" b="0" i="0">
                <a:solidFill>
                  <a:srgbClr val="222B22"/>
                </a:solidFill>
                <a:latin typeface="Calibri"/>
              </a:rPr>
              <a:t>Our Wednesdays have lived on the teaching and the prayers — tonight is the table</a:t>
            </a:r>
          </a:p>
          <a:p>
            <a:pPr marL="274320" indent="-274320">
              <a:spcAft>
                <a:spcPts val="800"/>
              </a:spcAft>
            </a:pPr>
            <a:r>
              <a:rPr sz="1600" b="1" i="0">
                <a:solidFill>
                  <a:srgbClr val="97BC62"/>
                </a:solidFill>
                <a:latin typeface="Calibri"/>
              </a:rPr>
              <a:t>•  </a:t>
            </a:r>
            <a:r>
              <a:rPr sz="1600" b="0" i="0">
                <a:solidFill>
                  <a:srgbClr val="222B22"/>
                </a:solidFill>
                <a:latin typeface="Calibri"/>
              </a:rPr>
              <a:t>“Breaking bread with glad and generous hearts is not the break between the formation — it is the formation.”</a:t>
            </a:r>
          </a:p>
          <a:p>
            <a:pPr marL="274320" indent="-274320">
              <a:spcAft>
                <a:spcPts val="800"/>
              </a:spcAft>
            </a:pPr>
            <a:r>
              <a:rPr sz="1600" b="1" i="0">
                <a:solidFill>
                  <a:srgbClr val="97BC62"/>
                </a:solidFill>
                <a:latin typeface="Calibri"/>
              </a:rPr>
              <a:t>•  </a:t>
            </a:r>
            <a:r>
              <a:rPr sz="1600" b="0" i="0">
                <a:solidFill>
                  <a:srgbClr val="222B22"/>
                </a:solidFill>
                <a:latin typeface="Calibri"/>
              </a:rPr>
              <a:t>The grace — then: eat</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ACTS 2:46 (ESV)</a:t>
            </a:r>
          </a:p>
          <a:p>
            <a:pPr>
              <a:spcAft>
                <a:spcPts val="600"/>
              </a:spcAft>
            </a:pPr>
            <a:r>
              <a:rPr sz="1600" b="0" i="1">
                <a:solidFill>
                  <a:srgbClr val="222B22"/>
                </a:solidFill>
                <a:latin typeface="Cambria"/>
              </a:rPr>
              <a:t>“And day by day, attending the temple together and breaking bread in their homes, they received their food with glad and generous hearts.”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Meal</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Real food, no agenda — no devotional between courses, no teaching moment</a:t>
            </a:r>
          </a:p>
          <a:p>
            <a:pPr marL="274320" indent="-274320">
              <a:spcAft>
                <a:spcPts val="900"/>
              </a:spcAft>
            </a:pPr>
            <a:r>
              <a:rPr sz="1800" b="1" i="0">
                <a:solidFill>
                  <a:srgbClr val="97BC62"/>
                </a:solidFill>
                <a:latin typeface="Calibri"/>
              </a:rPr>
              <a:t>•  </a:t>
            </a:r>
            <a:r>
              <a:rPr sz="1800" b="0" i="0">
                <a:solidFill>
                  <a:srgbClr val="222B22"/>
                </a:solidFill>
                <a:latin typeface="Calibri"/>
              </a:rPr>
              <a:t>“We are going to eat together. That's it. That's the session.”</a:t>
            </a:r>
          </a:p>
          <a:p>
            <a:pPr marL="274320" indent="-274320">
              <a:spcAft>
                <a:spcPts val="900"/>
              </a:spcAft>
            </a:pPr>
            <a:r>
              <a:rPr sz="1800" b="1" i="0">
                <a:solidFill>
                  <a:srgbClr val="97BC62"/>
                </a:solidFill>
                <a:latin typeface="Calibri"/>
              </a:rPr>
              <a:t>•  </a:t>
            </a:r>
            <a:r>
              <a:rPr sz="1800" b="0" i="0">
                <a:solidFill>
                  <a:srgbClr val="222B22"/>
                </a:solidFill>
                <a:latin typeface="Calibri"/>
              </a:rPr>
              <a:t>Phones silenced and put away — the people at your table tonight are the evening</a:t>
            </a:r>
          </a:p>
          <a:p>
            <a:pPr marL="274320" indent="-274320">
              <a:spcAft>
                <a:spcPts val="900"/>
              </a:spcAft>
            </a:pPr>
            <a:r>
              <a:rPr sz="1800" b="1" i="0">
                <a:solidFill>
                  <a:srgbClr val="97BC62"/>
                </a:solidFill>
                <a:latin typeface="Calibri"/>
              </a:rPr>
              <a:t>•  </a:t>
            </a:r>
            <a:r>
              <a:rPr sz="1800" b="0" i="0">
                <a:solidFill>
                  <a:srgbClr val="222B22"/>
                </a:solidFill>
                <a:latin typeface="Calibri"/>
              </a:rPr>
              <a:t>Dessert is held back — dessert arriving is the signal the cards are coming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Cards over Dessert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A small stack on your table — someone reads the first card aloud; a parent answers first, every table, every card</a:t>
            </a:r>
          </a:p>
          <a:p>
            <a:pPr marL="274320" indent="-274320">
              <a:spcAft>
                <a:spcPts val="750"/>
              </a:spcAft>
            </a:pPr>
            <a:r>
              <a:rPr sz="1600" b="1" i="0">
                <a:solidFill>
                  <a:srgbClr val="97BC62"/>
                </a:solidFill>
                <a:latin typeface="Calibri"/>
              </a:rPr>
              <a:t>•  </a:t>
            </a:r>
            <a:r>
              <a:rPr sz="1600" b="0" i="0">
                <a:solidFill>
                  <a:srgbClr val="222B22"/>
                </a:solidFill>
                <a:latin typeface="Calibri"/>
              </a:rPr>
              <a:t>Then anyone who wants to answers, in any order — nobody has to. When the card feels done, read the next one</a:t>
            </a:r>
          </a:p>
          <a:p>
            <a:pPr marL="342900" indent="-342900">
              <a:spcAft>
                <a:spcPts val="750"/>
              </a:spcAft>
            </a:pPr>
            <a:r>
              <a:rPr sz="1600" b="1" i="0">
                <a:solidFill>
                  <a:srgbClr val="97BC62"/>
                </a:solidFill>
                <a:latin typeface="Calibri"/>
              </a:rPr>
              <a:t>1   </a:t>
            </a:r>
            <a:r>
              <a:rPr sz="1600" b="0" i="0">
                <a:solidFill>
                  <a:srgbClr val="222B22"/>
                </a:solidFill>
                <a:latin typeface="Calibri"/>
              </a:rPr>
              <a:t>One footprint — “Looking back at this past month — one place you can see God's hand more clearly now than you did at the time.”</a:t>
            </a:r>
          </a:p>
          <a:p>
            <a:pPr marL="342900" indent="-342900">
              <a:spcAft>
                <a:spcPts val="750"/>
              </a:spcAft>
            </a:pPr>
            <a:r>
              <a:rPr sz="1600" b="1" i="0">
                <a:solidFill>
                  <a:srgbClr val="97BC62"/>
                </a:solidFill>
                <a:latin typeface="Calibri"/>
              </a:rPr>
              <a:t>2   </a:t>
            </a:r>
            <a:r>
              <a:rPr sz="1600" b="0" i="0">
                <a:solidFill>
                  <a:srgbClr val="222B22"/>
                </a:solidFill>
                <a:latin typeface="Calibri"/>
              </a:rPr>
              <a:t>Where you came alive — “What activity, conversation, or work this season has made you most alive? Why?”</a:t>
            </a:r>
          </a:p>
          <a:p>
            <a:pPr marL="342900" indent="-342900">
              <a:spcAft>
                <a:spcPts val="750"/>
              </a:spcAft>
            </a:pPr>
            <a:r>
              <a:rPr sz="1600" b="1" i="0">
                <a:solidFill>
                  <a:srgbClr val="97BC62"/>
                </a:solidFill>
                <a:latin typeface="Calibri"/>
              </a:rPr>
              <a:t>3   </a:t>
            </a:r>
            <a:r>
              <a:rPr sz="1600" b="0" i="0">
                <a:solidFill>
                  <a:srgbClr val="222B22"/>
                </a:solidFill>
                <a:latin typeface="Calibri"/>
              </a:rPr>
              <a:t>The ten-year question — “What's one thing you hope is still true between us in ten years?”</a:t>
            </a:r>
          </a:p>
          <a:p>
            <a:pPr marL="274320" indent="-274320">
              <a:spcAft>
                <a:spcPts val="750"/>
              </a:spcAft>
            </a:pPr>
            <a:r>
              <a:rPr sz="1600" b="1" i="0">
                <a:solidFill>
                  <a:srgbClr val="97BC62"/>
                </a:solidFill>
                <a:latin typeface="Calibri"/>
              </a:rPr>
              <a:t>•  </a:t>
            </a:r>
            <a:r>
              <a:rPr sz="1600" b="0" i="0">
                <a:solidFill>
                  <a:srgbClr val="222B22"/>
                </a:solidFill>
                <a:latin typeface="Calibri"/>
              </a:rPr>
              <a:t>No report-out — what is said at your table stays at your table. Ten minutes of laughing at your dad's answer is not a failure of the exercise — that IS the exercise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Pulse 3 Framed and Sent Home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The Quarterly Pulse, third one this year — one page, three questions, about five minutes, at home</a:t>
            </a:r>
          </a:p>
          <a:p>
            <a:pPr marL="342900" indent="-342900">
              <a:spcAft>
                <a:spcPts val="750"/>
              </a:spcAft>
            </a:pPr>
            <a:r>
              <a:rPr sz="1600" b="1" i="0">
                <a:solidFill>
                  <a:srgbClr val="97BC62"/>
                </a:solidFill>
                <a:latin typeface="Calibri"/>
              </a:rPr>
              <a:t>1   </a:t>
            </a:r>
            <a:r>
              <a:rPr sz="1600" b="0" i="0">
                <a:solidFill>
                  <a:srgbClr val="222B22"/>
                </a:solidFill>
                <a:latin typeface="Calibri"/>
              </a:rPr>
              <a:t>Presence — how present have I actually been in these sessions this quarter? Not attendance, presence (1–10, and one sentence why)</a:t>
            </a:r>
          </a:p>
          <a:p>
            <a:pPr marL="342900" indent="-342900">
              <a:spcAft>
                <a:spcPts val="750"/>
              </a:spcAft>
            </a:pPr>
            <a:r>
              <a:rPr sz="1600" b="1" i="0">
                <a:solidFill>
                  <a:srgbClr val="97BC62"/>
                </a:solidFill>
                <a:latin typeface="Calibri"/>
              </a:rPr>
              <a:t>2   </a:t>
            </a:r>
            <a:r>
              <a:rPr sz="1600" b="0" i="0">
                <a:solidFill>
                  <a:srgbClr val="222B22"/>
                </a:solidFill>
                <a:latin typeface="Calibri"/>
              </a:rPr>
              <a:t>Surprise — one thing that has surprised me this quarter — about myself, about God, or about someone in this room</a:t>
            </a:r>
          </a:p>
          <a:p>
            <a:pPr marL="342900" indent="-342900">
              <a:spcAft>
                <a:spcPts val="750"/>
              </a:spcAft>
            </a:pPr>
            <a:r>
              <a:rPr sz="1600" b="1" i="0">
                <a:solidFill>
                  <a:srgbClr val="97BC62"/>
                </a:solidFill>
                <a:latin typeface="Calibri"/>
              </a:rPr>
              <a:t>3   </a:t>
            </a:r>
            <a:r>
              <a:rPr sz="1600" b="0" i="0">
                <a:solidFill>
                  <a:srgbClr val="222B22"/>
                </a:solidFill>
                <a:latin typeface="Calibri"/>
              </a:rPr>
              <a:t>Steering — one specific way I want to engage differently in the final quarter</a:t>
            </a:r>
          </a:p>
          <a:p>
            <a:pPr marL="274320" indent="-274320">
              <a:spcAft>
                <a:spcPts val="750"/>
              </a:spcAft>
            </a:pPr>
            <a:r>
              <a:rPr sz="1600" b="1" i="0">
                <a:solidFill>
                  <a:srgbClr val="97BC62"/>
                </a:solidFill>
                <a:latin typeface="Calibri"/>
              </a:rPr>
              <a:t>•  </a:t>
            </a:r>
            <a:r>
              <a:rPr sz="1600" b="0" i="0">
                <a:solidFill>
                  <a:srgbClr val="222B22"/>
                </a:solidFill>
                <a:latin typeface="Calibri"/>
              </a:rPr>
              <a:t>“This room steers by these pages” — the final quarter, the consolidation weeks and the two commissionings, is shaped by what you write</a:t>
            </a:r>
          </a:p>
          <a:p>
            <a:pPr marL="274320" indent="-274320">
              <a:spcAft>
                <a:spcPts val="750"/>
              </a:spcAft>
            </a:pPr>
            <a:r>
              <a:rPr sz="1600" b="1" i="0">
                <a:solidFill>
                  <a:srgbClr val="97BC62"/>
                </a:solidFill>
                <a:latin typeface="Calibri"/>
              </a:rPr>
              <a:t>•  </a:t>
            </a:r>
            <a:r>
              <a:rPr sz="1600" b="0" i="0">
                <a:solidFill>
                  <a:srgbClr val="222B22"/>
                </a:solidFill>
                <a:latin typeface="Calibri"/>
              </a:rPr>
              <a:t>Back next Wednesday, in the bin at the door — signed or unsigned, your choice; nobody watches the bin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Mode A — The Missed Evening Runs Whole</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If the quarter lost an evening — the snow, the assembly, the bug — tonight runs that session's plan, unchanged</a:t>
            </a:r>
          </a:p>
          <a:p>
            <a:pPr marL="274320" indent="-274320">
              <a:spcAft>
                <a:spcPts val="800"/>
              </a:spcAft>
            </a:pPr>
            <a:r>
              <a:rPr sz="1600" b="1" i="0">
                <a:solidFill>
                  <a:srgbClr val="97BC62"/>
                </a:solidFill>
                <a:latin typeface="Calibri"/>
              </a:rPr>
              <a:t>•  </a:t>
            </a:r>
            <a:r>
              <a:rPr sz="1600" b="0" i="0">
                <a:solidFill>
                  <a:srgbClr val="222B22"/>
                </a:solidFill>
                <a:latin typeface="Calibri"/>
              </a:rPr>
              <a:t>“Tonight is not a make-up class squeezed in. Tonight IS [session name] — whole, unhurried, the evening you were always going to get.”</a:t>
            </a:r>
          </a:p>
          <a:p>
            <a:pPr marL="274320" indent="-274320">
              <a:spcAft>
                <a:spcPts val="800"/>
              </a:spcAft>
            </a:pPr>
            <a:r>
              <a:rPr sz="1600" b="1" i="0">
                <a:solidFill>
                  <a:srgbClr val="97BC62"/>
                </a:solidFill>
                <a:latin typeface="Calibri"/>
              </a:rPr>
              <a:t>•  </a:t>
            </a:r>
            <a:r>
              <a:rPr sz="1600" b="0" i="0">
                <a:solidFill>
                  <a:srgbClr val="222B22"/>
                </a:solidFill>
                <a:latin typeface="Calibri"/>
              </a:rPr>
              <a:t>“Nothing was skipped this year; it just moved.”</a:t>
            </a:r>
          </a:p>
          <a:p>
            <a:pPr marL="274320" indent="-274320">
              <a:spcAft>
                <a:spcPts val="800"/>
              </a:spcAft>
            </a:pPr>
            <a:r>
              <a:rPr sz="1600" b="1" i="0">
                <a:solidFill>
                  <a:srgbClr val="97BC62"/>
                </a:solidFill>
                <a:latin typeface="Calibri"/>
              </a:rPr>
              <a:t>•  </a:t>
            </a:r>
            <a:r>
              <a:rPr sz="1600" b="0" i="0">
                <a:solidFill>
                  <a:srgbClr val="222B22"/>
                </a:solidFill>
                <a:latin typeface="Calibri"/>
              </a:rPr>
              <a:t>The lifted plan runs whole — its blocks, its scripts, its splits; only its closing yields to tonight's quarter-close constants</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PROVERBS 16:9 (ESV)</a:t>
            </a:r>
          </a:p>
          <a:p>
            <a:pPr>
              <a:spcAft>
                <a:spcPts val="600"/>
              </a:spcAft>
            </a:pPr>
            <a:r>
              <a:rPr sz="1600" b="0" i="1">
                <a:solidFill>
                  <a:srgbClr val="222B22"/>
                </a:solidFill>
                <a:latin typeface="Cambria"/>
              </a:rPr>
              <a:t>“The heart of man plans his way, but the LORD establishes his steps.”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Mode B — The Live Rhythm-Card Walk</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If the quarter ran clean, the whole room walks its actual Rhythm Cards aloud — “the real ones, not the ideal ones”</a:t>
            </a:r>
          </a:p>
          <a:p>
            <a:pPr marL="274320" indent="-274320">
              <a:spcAft>
                <a:spcPts val="750"/>
              </a:spcAft>
            </a:pPr>
            <a:r>
              <a:rPr sz="1600" b="1" i="0">
                <a:solidFill>
                  <a:srgbClr val="97BC62"/>
                </a:solidFill>
                <a:latin typeface="Calibri"/>
              </a:rPr>
              <a:t>•  </a:t>
            </a:r>
            <a:r>
              <a:rPr sz="1600" b="0" i="0">
                <a:solidFill>
                  <a:srgbClr val="222B22"/>
                </a:solidFill>
                <a:latin typeface="Calibri"/>
              </a:rPr>
              <a:t>The leaders walk first — and walk genuinely slipped cards honestly; the whole evening stands on that</a:t>
            </a:r>
          </a:p>
          <a:p>
            <a:pPr marL="274320" indent="-274320">
              <a:spcAft>
                <a:spcPts val="750"/>
              </a:spcAft>
            </a:pPr>
            <a:r>
              <a:rPr sz="1600" b="1" i="0">
                <a:solidFill>
                  <a:srgbClr val="97BC62"/>
                </a:solidFill>
                <a:latin typeface="Calibri"/>
              </a:rPr>
              <a:t>•  </a:t>
            </a:r>
            <a:r>
              <a:rPr sz="1600" b="0" i="0">
                <a:solidFill>
                  <a:srgbClr val="222B22"/>
                </a:solidFill>
                <a:latin typeface="Calibri"/>
              </a:rPr>
              <a:t>Two or three minutes each: daily, weekly, monthly, as lived — holds and slips in the same voice</a:t>
            </a:r>
          </a:p>
          <a:p>
            <a:pPr marL="274320" indent="-274320">
              <a:spcAft>
                <a:spcPts val="750"/>
              </a:spcAft>
            </a:pPr>
            <a:r>
              <a:rPr sz="1600" b="1" i="0">
                <a:solidFill>
                  <a:srgbClr val="97BC62"/>
                </a:solidFill>
                <a:latin typeface="Calibri"/>
              </a:rPr>
              <a:t>•  </a:t>
            </a:r>
            <a:r>
              <a:rPr sz="1600" b="0" i="0">
                <a:solidFill>
                  <a:srgbClr val="222B22"/>
                </a:solidFill>
                <a:latin typeface="Calibri"/>
              </a:rPr>
              <a:t>Glad out loud about holds; never guilt about slips — “a slip you noticed is the practice working”</a:t>
            </a:r>
          </a:p>
          <a:p>
            <a:pPr marL="274320" indent="-274320">
              <a:spcAft>
                <a:spcPts val="750"/>
              </a:spcAft>
            </a:pPr>
            <a:r>
              <a:rPr sz="1600" b="1" i="0">
                <a:solidFill>
                  <a:srgbClr val="97BC62"/>
                </a:solidFill>
                <a:latin typeface="Calibri"/>
              </a:rPr>
              <a:t>•  </a:t>
            </a:r>
            <a:r>
              <a:rPr sz="1600" b="0" i="0">
                <a:solidFill>
                  <a:srgbClr val="222B22"/>
                </a:solidFill>
                <a:latin typeface="Calibri"/>
              </a:rPr>
              <a:t>“If you want help with a slip, ask for it, and we will spend a minute on it together. If you do not, name it and keep walking.”</a:t>
            </a:r>
          </a:p>
          <a:p>
            <a:pPr marL="274320" indent="-274320">
              <a:spcAft>
                <a:spcPts val="750"/>
              </a:spcAft>
            </a:pPr>
            <a:r>
              <a:rPr sz="1600" b="1" i="0">
                <a:solidFill>
                  <a:srgbClr val="97BC62"/>
                </a:solidFill>
                <a:latin typeface="Calibri"/>
              </a:rPr>
              <a:t>•  </a:t>
            </a:r>
            <a:r>
              <a:rPr sz="1600" b="0" i="0">
                <a:solidFill>
                  <a:srgbClr val="222B22"/>
                </a:solidFill>
                <a:latin typeface="Calibri"/>
              </a:rPr>
              <a:t>Everyone walks their own card — parents never their teen's; pass-anytime holds tonight like every night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Borrow Round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“Listen like a thief. If you hear an idea you want — a time of day, a trick, a place to keep the card — take it.”</a:t>
            </a:r>
          </a:p>
          <a:p>
            <a:pPr marL="274320" indent="-274320">
              <a:spcAft>
                <a:spcPts val="900"/>
              </a:spcAft>
            </a:pPr>
            <a:r>
              <a:rPr sz="1800" b="1" i="0">
                <a:solidFill>
                  <a:srgbClr val="97BC62"/>
                </a:solidFill>
                <a:latin typeface="Calibri"/>
              </a:rPr>
              <a:t>•  </a:t>
            </a:r>
            <a:r>
              <a:rPr sz="1800" b="0" i="0">
                <a:solidFill>
                  <a:srgbClr val="222B22"/>
                </a:solidFill>
                <a:latin typeface="Calibri"/>
              </a:rPr>
              <a:t>“That is not cheating. That is what a fellowship is for.”</a:t>
            </a:r>
          </a:p>
          <a:p>
            <a:pPr marL="274320" indent="-274320">
              <a:spcAft>
                <a:spcPts val="900"/>
              </a:spcAft>
            </a:pPr>
            <a:r>
              <a:rPr sz="1800" b="1" i="0">
                <a:solidFill>
                  <a:srgbClr val="97BC62"/>
                </a:solidFill>
                <a:latin typeface="Calibri"/>
              </a:rPr>
              <a:t>•  </a:t>
            </a:r>
            <a:r>
              <a:rPr sz="1800" b="0" i="0">
                <a:solidFill>
                  <a:srgbClr val="222B22"/>
                </a:solidFill>
                <a:latin typeface="Calibri"/>
              </a:rPr>
              <a:t>One sentence around the circle: one idea you heard tonight that you are stealing — name it, and the person you stole it from</a:t>
            </a:r>
          </a:p>
          <a:p>
            <a:pPr marL="274320" indent="-274320">
              <a:spcAft>
                <a:spcPts val="900"/>
              </a:spcAft>
            </a:pPr>
            <a:r>
              <a:rPr sz="1800" b="1" i="0">
                <a:solidFill>
                  <a:srgbClr val="97BC62"/>
                </a:solidFill>
                <a:latin typeface="Calibri"/>
              </a:rPr>
              <a:t>•  </a:t>
            </a:r>
            <a:r>
              <a:rPr sz="1800" b="0" i="0">
                <a:solidFill>
                  <a:srgbClr val="222B22"/>
                </a:solidFill>
                <a:latin typeface="Calibri"/>
              </a:rPr>
              <a:t>Fast, light — pass-anytime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Quarterly Pulse — Back in the Bin</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return bin sits by the door — drop your Pulse 3 page as you arrive</a:t>
            </a:r>
          </a:p>
          <a:p>
            <a:pPr marL="274320" indent="-274320">
              <a:spcAft>
                <a:spcPts val="900"/>
              </a:spcAft>
            </a:pPr>
            <a:r>
              <a:rPr sz="1800" b="1" i="0">
                <a:solidFill>
                  <a:srgbClr val="97BC62"/>
                </a:solidFill>
                <a:latin typeface="Calibri"/>
              </a:rPr>
              <a:t>•  </a:t>
            </a:r>
            <a:r>
              <a:rPr sz="1800" b="0" i="0">
                <a:solidFill>
                  <a:srgbClr val="222B22"/>
                </a:solidFill>
                <a:latin typeface="Calibri"/>
              </a:rPr>
              <a:t>Nobody watches the bin; nobody is asked whether they dropped a page</a:t>
            </a:r>
          </a:p>
          <a:p>
            <a:pPr marL="274320" indent="-274320">
              <a:spcAft>
                <a:spcPts val="900"/>
              </a:spcAft>
            </a:pPr>
            <a:r>
              <a:rPr sz="1800" b="1" i="0">
                <a:solidFill>
                  <a:srgbClr val="97BC62"/>
                </a:solidFill>
                <a:latin typeface="Calibri"/>
              </a:rPr>
              <a:t>•  </a:t>
            </a:r>
            <a:r>
              <a:rPr sz="1800" b="0" i="0">
                <a:solidFill>
                  <a:srgbClr val="222B22"/>
                </a:solidFill>
                <a:latin typeface="Calibri"/>
              </a:rPr>
              <a:t>Spares sit beside it for those who forgot — a page next week is as welcome as a page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team reads every page — the Quarter 4 planning conversation starts from what these pages say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One Practice Across the Break</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The break starts tomorrow — and we have done this before: at Christmas, every one of us carried one practice across the gap, and at The Return we heard what held</a:t>
            </a:r>
          </a:p>
          <a:p>
            <a:pPr marL="274320" indent="-274320">
              <a:spcAft>
                <a:spcPts val="750"/>
              </a:spcAft>
            </a:pPr>
            <a:r>
              <a:rPr sz="1600" b="1" i="0">
                <a:solidFill>
                  <a:srgbClr val="97BC62"/>
                </a:solidFill>
                <a:latin typeface="Calibri"/>
              </a:rPr>
              <a:t>•  </a:t>
            </a:r>
            <a:r>
              <a:rPr sz="1600" b="0" i="0">
                <a:solidFill>
                  <a:srgbClr val="222B22"/>
                </a:solidFill>
                <a:latin typeface="Calibri"/>
              </a:rPr>
              <a:t>Look at your card and choose ONE practice — just one — to carry through this break deliberately</a:t>
            </a:r>
          </a:p>
          <a:p>
            <a:pPr marL="274320" indent="-274320">
              <a:spcAft>
                <a:spcPts val="750"/>
              </a:spcAft>
            </a:pPr>
            <a:r>
              <a:rPr sz="1600" b="1" i="0">
                <a:solidFill>
                  <a:srgbClr val="97BC62"/>
                </a:solidFill>
                <a:latin typeface="Calibri"/>
              </a:rPr>
              <a:t>•  </a:t>
            </a:r>
            <a:r>
              <a:rPr sz="1600" b="0" i="0">
                <a:solidFill>
                  <a:srgbClr val="222B22"/>
                </a:solidFill>
                <a:latin typeface="Calibri"/>
              </a:rPr>
              <a:t>Not the whole card; the whole card can rest — that is sabbath, not failure</a:t>
            </a:r>
          </a:p>
          <a:p>
            <a:pPr marL="274320" indent="-274320">
              <a:spcAft>
                <a:spcPts val="750"/>
              </a:spcAft>
            </a:pPr>
            <a:r>
              <a:rPr sz="1600" b="1" i="0">
                <a:solidFill>
                  <a:srgbClr val="97BC62"/>
                </a:solidFill>
                <a:latin typeface="Calibri"/>
              </a:rPr>
              <a:t>•  </a:t>
            </a:r>
            <a:r>
              <a:rPr sz="1600" b="0" i="0">
                <a:solidFill>
                  <a:srgbClr val="222B22"/>
                </a:solidFill>
                <a:latin typeface="Calibri"/>
              </a:rPr>
              <a:t>Write it in your journal right now — the practice, and when, and where</a:t>
            </a:r>
          </a:p>
          <a:p>
            <a:pPr marL="274320" indent="-274320">
              <a:spcAft>
                <a:spcPts val="750"/>
              </a:spcAft>
            </a:pPr>
            <a:r>
              <a:rPr sz="1600" b="1" i="0">
                <a:solidFill>
                  <a:srgbClr val="97BC62"/>
                </a:solidFill>
                <a:latin typeface="Calibri"/>
              </a:rPr>
              <a:t>•  </a:t>
            </a:r>
            <a:r>
              <a:rPr sz="1600" b="0" i="0">
                <a:solidFill>
                  <a:srgbClr val="222B22"/>
                </a:solidFill>
                <a:latin typeface="Calibri"/>
              </a:rPr>
              <a:t>Then, one sentence around the circle: the practice you are carrying — “speaking it is part of carrying it”</a:t>
            </a:r>
          </a:p>
          <a:p>
            <a:pPr marL="274320" indent="-274320">
              <a:spcAft>
                <a:spcPts val="750"/>
              </a:spcAft>
            </a:pPr>
            <a:r>
              <a:rPr sz="1600" b="1" i="0">
                <a:solidFill>
                  <a:srgbClr val="97BC62"/>
                </a:solidFill>
                <a:latin typeface="Calibri"/>
              </a:rPr>
              <a:t>•  </a:t>
            </a:r>
            <a:r>
              <a:rPr sz="1600" b="0" i="0">
                <a:solidFill>
                  <a:srgbClr val="222B22"/>
                </a:solidFill>
                <a:latin typeface="Calibri"/>
              </a:rPr>
              <a:t>The Returning Rule travels: begin again on the next available day. At The Return II the first question will be the kind one: what held?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seedling - what grows between Wednesdays"/>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Not Growing Weary — Galatians 6:9 and Philippians 1:6</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At the Rhythm week this verse was a warning; tonight, on the far side of a break, it is a receipt — you did not give up. You are here</a:t>
            </a:r>
          </a:p>
          <a:p>
            <a:pPr marL="685800" indent="-274320">
              <a:spcAft>
                <a:spcPts val="600"/>
              </a:spcAft>
            </a:pPr>
            <a:r>
              <a:rPr sz="1500" b="1" i="0">
                <a:solidFill>
                  <a:srgbClr val="97BC62"/>
                </a:solidFill>
                <a:latin typeface="Calibri"/>
              </a:rPr>
              <a:t>–  </a:t>
            </a:r>
            <a:r>
              <a:rPr sz="1500" b="0" i="1">
                <a:solidFill>
                  <a:srgbClr val="222B22"/>
                </a:solidFill>
                <a:latin typeface="Calibri"/>
              </a:rPr>
              <a:t>“And I am sure of this, that he who began a good work in you will bring it to completion at the day of Jesus Christ.” — Philippians 1:6 (ESV)</a:t>
            </a:r>
          </a:p>
          <a:p>
            <a:pPr marL="274320" indent="-274320">
              <a:spcAft>
                <a:spcPts val="800"/>
              </a:spcAft>
            </a:pPr>
            <a:r>
              <a:rPr sz="1600" b="1" i="0">
                <a:solidFill>
                  <a:srgbClr val="97BC62"/>
                </a:solidFill>
                <a:latin typeface="Calibri"/>
              </a:rPr>
              <a:t>•  </a:t>
            </a:r>
            <a:r>
              <a:rPr sz="1600" b="0" i="0">
                <a:solidFill>
                  <a:srgbClr val="222B22"/>
                </a:solidFill>
                <a:latin typeface="Calibri"/>
              </a:rPr>
              <a:t>The not-giving-up is not white-knuckling: the work being completed in you is His. He began it; He finishes it</a:t>
            </a:r>
          </a:p>
          <a:p>
            <a:pPr marL="274320" indent="-274320">
              <a:spcAft>
                <a:spcPts val="800"/>
              </a:spcAft>
            </a:pPr>
            <a:r>
              <a:rPr sz="1600" b="1" i="0">
                <a:solidFill>
                  <a:srgbClr val="97BC62"/>
                </a:solidFill>
                <a:latin typeface="Calibri"/>
              </a:rPr>
              <a:t>•  </a:t>
            </a:r>
            <a:r>
              <a:rPr sz="1600" b="0" i="0">
                <a:solidFill>
                  <a:srgbClr val="222B22"/>
                </a:solidFill>
                <a:latin typeface="Calibri"/>
              </a:rPr>
              <a:t>“Our rhythm is not the engine — it is the showing-up that keeps us where the engine is running.”</a:t>
            </a:r>
          </a:p>
          <a:p>
            <a:pPr marL="274320" indent="-274320">
              <a:spcAft>
                <a:spcPts val="800"/>
              </a:spcAft>
            </a:pPr>
            <a:r>
              <a:rPr sz="1600" b="1" i="0">
                <a:solidFill>
                  <a:srgbClr val="97BC62"/>
                </a:solidFill>
                <a:latin typeface="Calibri"/>
              </a:rPr>
              <a:t>•  </a:t>
            </a:r>
            <a:r>
              <a:rPr sz="1600" b="0" i="0">
                <a:solidFill>
                  <a:srgbClr val="222B22"/>
                </a:solidFill>
                <a:latin typeface="Calibri"/>
              </a:rPr>
              <a:t>The last re-entry of the year — look how fast the room came back. That is what it looks like when the practices start belonging to you</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GALATIANS 6:9 (ESV)</a:t>
            </a:r>
          </a:p>
          <a:p>
            <a:pPr>
              <a:spcAft>
                <a:spcPts val="600"/>
              </a:spcAft>
            </a:pPr>
            <a:r>
              <a:rPr sz="1600" b="0" i="1">
                <a:solidFill>
                  <a:srgbClr val="222B22"/>
                </a:solidFill>
                <a:latin typeface="Cambria"/>
              </a:rPr>
              <a:t>“And let us not grow weary of doing good, for in due season we will reap, if we do not give up.”</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“What Held” — the Whole Room</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One sentence each, full circle — a harvest reading, not an examination</a:t>
            </a:r>
          </a:p>
          <a:p>
            <a:pPr marL="274320" indent="-274320">
              <a:spcAft>
                <a:spcPts val="900"/>
              </a:spcAft>
            </a:pPr>
            <a:r>
              <a:rPr sz="1800" b="1" i="0">
                <a:solidFill>
                  <a:srgbClr val="97BC62"/>
                </a:solidFill>
                <a:latin typeface="Calibri"/>
              </a:rPr>
              <a:t>•  </a:t>
            </a:r>
            <a:r>
              <a:rPr sz="1800" b="0" i="0">
                <a:solidFill>
                  <a:srgbClr val="222B22"/>
                </a:solidFill>
                <a:latin typeface="Calibri"/>
              </a:rPr>
              <a:t>“What held from your card across the break — or what slipped and got begun again?”</a:t>
            </a:r>
          </a:p>
          <a:p>
            <a:pPr marL="274320" indent="-274320">
              <a:spcAft>
                <a:spcPts val="900"/>
              </a:spcAft>
            </a:pPr>
            <a:r>
              <a:rPr sz="1800" b="1" i="0">
                <a:solidFill>
                  <a:srgbClr val="97BC62"/>
                </a:solidFill>
                <a:latin typeface="Calibri"/>
              </a:rPr>
              <a:t>•  </a:t>
            </a:r>
            <a:r>
              <a:rPr sz="1800" b="0" i="0">
                <a:solidFill>
                  <a:srgbClr val="222B22"/>
                </a:solidFill>
                <a:latin typeface="Calibri"/>
              </a:rPr>
              <a:t>Holds and slips are both good news tonight — both mean the card is real and you are reading it honestly</a:t>
            </a:r>
          </a:p>
          <a:p>
            <a:pPr marL="274320" indent="-274320">
              <a:spcAft>
                <a:spcPts val="900"/>
              </a:spcAft>
            </a:pPr>
            <a:r>
              <a:rPr sz="1800" b="1" i="0">
                <a:solidFill>
                  <a:srgbClr val="97BC62"/>
                </a:solidFill>
                <a:latin typeface="Calibri"/>
              </a:rPr>
              <a:t>•  </a:t>
            </a:r>
            <a:r>
              <a:rPr sz="1800" b="0" i="0">
                <a:solidFill>
                  <a:srgbClr val="222B22"/>
                </a:solidFill>
                <a:latin typeface="Calibri"/>
              </a:rPr>
              <a:t>A parent starts; brisk and warm; pass-anytime holds — laughter is allowed and likely</a:t>
            </a:r>
          </a:p>
          <a:p>
            <a:pPr marL="685800" indent="-274320">
              <a:spcAft>
                <a:spcPts val="700"/>
              </a:spcAft>
            </a:pPr>
            <a:r>
              <a:rPr sz="1600" b="1" i="0">
                <a:solidFill>
                  <a:srgbClr val="97BC62"/>
                </a:solidFill>
                <a:latin typeface="Calibri"/>
              </a:rPr>
              <a:t>–  </a:t>
            </a:r>
            <a:r>
              <a:rPr sz="1600" b="0" i="1">
                <a:solidFill>
                  <a:srgbClr val="222B22"/>
                </a:solidFill>
                <a:latin typeface="Calibri"/>
              </a:rPr>
              <a:t>“In September that round would have taken an hour and a crowbar. The practices are yours now.”</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2" name="Picture 32" descr="trail cairn - the weekly check-in"/>
          <p:cNvPicPr>
            <a:picLocks noChangeAspect="1"/>
          </p:cNvPicPr>
          <p:nvPr/>
        </p:nvPicPr>
        <p:blipFill>
          <a:blip r:embed="rId2"/>
          <a:stretch>
            <a:fillRect/>
          </a:stretch>
        </p:blipFill>
        <p:spPr>
          <a:xfrm>
            <a:off x="8103612" y="1463040"/>
            <a:ext cx="3262379" cy="4892040"/>
          </a:xfrm>
          <a:prstGeom prst="rect">
            <a:avLst/>
          </a:prstGeom>
        </p:spPr>
      </p:pic>
      <p:sp>
        <p:nvSpPr>
          <p:cNvPr id="91" name="JoshuaCard"/>
          <p:cNvSpPr txBox="1"/>
          <p:nvPr/>
        </p:nvSpPr>
        <p:spPr>
          <a:xfrm>
            <a:off x="822960" y="5230368"/>
            <a:ext cx="6675120" cy="1078992"/>
          </a:xfrm>
          <a:prstGeom prst="rect">
            <a:avLst/>
          </a:prstGeom>
          <a:solidFill>
            <a:srgbClr val="F1F6EC"/>
          </a:solidFill>
        </p:spPr>
        <p:txBody>
          <a:bodyPr wrap="square" lIns="137160" tIns="73152" rIns="137160" bIns="73152" anchor="ctr"/>
          <a:lstStyle/>
          <a:p>
            <a:pPr algn="l"/>
            <a:r>
              <a:rPr lang="en-US" sz="1500" i="1">
                <a:solidFill>
                  <a:srgbClr val="222B22"/>
                </a:solidFill>
                <a:latin typeface="Cambria"/>
              </a:rPr>
              <a:t>“When your children ask their fathers in times to come, ‘What do these stones mean?’”</a:t>
            </a:r>
          </a:p>
          <a:p>
            <a:pPr algn="l"/>
            <a:r>
              <a:rPr lang="en-US" sz="1100" b="1">
                <a:solidFill>
                  <a:srgbClr val="97BC62"/>
                </a:solidFill>
                <a:latin typeface="Calibri"/>
              </a:rPr>
              <a:t>— JOSHUA 4:21 (ESV)</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Final Stretch — the Map</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1600" b="1" i="0">
                <a:solidFill>
                  <a:srgbClr val="97BC62"/>
                </a:solidFill>
                <a:latin typeface="Calibri"/>
              </a:rPr>
              <a:t>1   </a:t>
            </a:r>
            <a:r>
              <a:rPr sz="1600" b="0" i="0">
                <a:solidFill>
                  <a:srgbClr val="222B22"/>
                </a:solidFill>
                <a:latin typeface="Calibri"/>
              </a:rPr>
              <a:t>Week 19 — our Companions-in-Formation teach the two mercy cards — the Signs Card and the Path Home Card — in your clusters</a:t>
            </a:r>
          </a:p>
          <a:p>
            <a:pPr marL="342900" indent="-342900">
              <a:spcAft>
                <a:spcPts val="750"/>
              </a:spcAft>
            </a:pPr>
            <a:r>
              <a:rPr sz="1600" b="1" i="0">
                <a:solidFill>
                  <a:srgbClr val="97BC62"/>
                </a:solidFill>
                <a:latin typeface="Calibri"/>
              </a:rPr>
              <a:t>2   </a:t>
            </a:r>
            <a:r>
              <a:rPr sz="1600" b="0" i="0">
                <a:solidFill>
                  <a:srgbClr val="222B22"/>
                </a:solidFill>
                <a:latin typeface="Calibri"/>
              </a:rPr>
              <a:t>Week 20 — The Long Walk: the seniors teach the whole room; journals come along, and the testimony gathering begins</a:t>
            </a:r>
          </a:p>
          <a:p>
            <a:pPr marL="342900" indent="-342900">
              <a:spcAft>
                <a:spcPts val="750"/>
              </a:spcAft>
            </a:pPr>
            <a:r>
              <a:rPr sz="1600" b="1" i="0">
                <a:solidFill>
                  <a:srgbClr val="97BC62"/>
                </a:solidFill>
                <a:latin typeface="Calibri"/>
              </a:rPr>
              <a:t>3   </a:t>
            </a:r>
            <a:r>
              <a:rPr sz="1600" b="0" i="0">
                <a:solidFill>
                  <a:srgbClr val="222B22"/>
                </a:solidFill>
                <a:latin typeface="Calibri"/>
              </a:rPr>
              <a:t>Week 21 — Sending and Blessing: whole families, a longer evening — two hours, 7:00 to 9:00</a:t>
            </a:r>
          </a:p>
          <a:p>
            <a:pPr marL="342900" indent="-342900">
              <a:spcAft>
                <a:spcPts val="750"/>
              </a:spcAft>
            </a:pPr>
            <a:r>
              <a:rPr sz="1600" b="1" i="0">
                <a:solidFill>
                  <a:srgbClr val="97BC62"/>
                </a:solidFill>
                <a:latin typeface="Calibri"/>
              </a:rPr>
              <a:t>4   </a:t>
            </a:r>
            <a:r>
              <a:rPr sz="1600" b="0" i="0">
                <a:solidFill>
                  <a:srgbClr val="222B22"/>
                </a:solidFill>
                <a:latin typeface="Calibri"/>
              </a:rPr>
              <a:t>Week 22 — the Commissioning of the Companions, in front of everybody who watched them grow</a:t>
            </a:r>
          </a:p>
          <a:p>
            <a:pPr marL="274320" indent="-274320">
              <a:spcAft>
                <a:spcPts val="750"/>
              </a:spcAft>
            </a:pPr>
            <a:r>
              <a:rPr sz="1600" b="1" i="0">
                <a:solidFill>
                  <a:srgbClr val="97BC62"/>
                </a:solidFill>
                <a:latin typeface="Calibri"/>
              </a:rPr>
              <a:t>•  </a:t>
            </a:r>
            <a:r>
              <a:rPr sz="1600" b="0" i="0">
                <a:solidFill>
                  <a:srgbClr val="222B22"/>
                </a:solidFill>
                <a:latin typeface="Calibri"/>
              </a:rPr>
              <a:t>Hear the shape of that list: week by week, the people up front stop being us and start being you</a:t>
            </a:r>
          </a:p>
          <a:p>
            <a:pPr marL="274320" indent="-274320">
              <a:spcAft>
                <a:spcPts val="750"/>
              </a:spcAft>
            </a:pPr>
            <a:r>
              <a:rPr sz="1600" b="1" i="0">
                <a:solidFill>
                  <a:srgbClr val="97BC62"/>
                </a:solidFill>
                <a:latin typeface="Calibri"/>
              </a:rPr>
              <a:t>•  </a:t>
            </a:r>
            <a:r>
              <a:rPr sz="1600" b="0" i="0">
                <a:solidFill>
                  <a:srgbClr val="222B22"/>
                </a:solidFill>
                <a:latin typeface="Calibri"/>
              </a:rPr>
              <a:t>The sentence to keep: “the year now begins to hand itself over”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Between-Session Practice</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Run your Rhythm Card as built — nothing new, nothing extra; if the break knocked a piece loose, begin again on the next available day</a:t>
            </a:r>
          </a:p>
          <a:p>
            <a:pPr marL="274320" indent="-274320">
              <a:spcAft>
                <a:spcPts val="900"/>
              </a:spcAft>
            </a:pPr>
            <a:r>
              <a:rPr sz="1800" b="1" i="0">
                <a:solidFill>
                  <a:srgbClr val="97BC62"/>
                </a:solidFill>
                <a:latin typeface="Calibri"/>
              </a:rPr>
              <a:t>•  </a:t>
            </a:r>
            <a:r>
              <a:rPr sz="1800" b="0" i="0">
                <a:solidFill>
                  <a:srgbClr val="222B22"/>
                </a:solidFill>
                <a:latin typeface="Calibri"/>
              </a:rPr>
              <a:t>The evening note, one extra flavor: note where you see God already handing pieces of this year over to you</a:t>
            </a:r>
          </a:p>
          <a:p>
            <a:pPr marL="274320" indent="-274320">
              <a:spcAft>
                <a:spcPts val="900"/>
              </a:spcAft>
            </a:pPr>
            <a:r>
              <a:rPr sz="1800" b="1" i="0">
                <a:solidFill>
                  <a:srgbClr val="97BC62"/>
                </a:solidFill>
                <a:latin typeface="Calibri"/>
              </a:rPr>
              <a:t>•  </a:t>
            </a:r>
            <a:r>
              <a:rPr sz="1800" b="0" i="0">
                <a:solidFill>
                  <a:srgbClr val="222B22"/>
                </a:solidFill>
                <a:latin typeface="Calibri"/>
              </a:rPr>
              <a:t>For the parents, said once: the Four Questions door is still open — willing-only, whenever the moment is right; nobody will ever check. The questions keep</a:t>
            </a:r>
          </a:p>
          <a:p>
            <a:pPr marL="274320" indent="-274320">
              <a:spcAft>
                <a:spcPts val="900"/>
              </a:spcAft>
            </a:pPr>
            <a:r>
              <a:rPr sz="1800" b="1" i="0">
                <a:solidFill>
                  <a:srgbClr val="97BC62"/>
                </a:solidFill>
                <a:latin typeface="Calibri"/>
              </a:rPr>
              <a:t>•  </a:t>
            </a:r>
            <a:r>
              <a:rPr sz="1800" b="0" i="0">
                <a:solidFill>
                  <a:srgbClr val="222B22"/>
                </a:solidFill>
                <a:latin typeface="Calibri"/>
              </a:rPr>
              <a:t>Bring your journal — and put Week 21's two hours on the calendar tonight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seedling - what grows between Wednesdays"/>
          <p:cNvPicPr>
            <a:picLocks noChangeAspect="1"/>
          </p:cNvPicPr>
          <p:nvPr/>
        </p:nvPicPr>
        <p:blipFill>
          <a:blip r:embed="rId2"/>
          <a:stretch>
            <a:fillRect/>
          </a:stretch>
        </p:blipFill>
        <p:spPr>
          <a:xfrm>
            <a:off x="8103612" y="1463040"/>
            <a:ext cx="3262379" cy="4892040"/>
          </a:xfrm>
          <a:prstGeom prst="rect">
            <a:avLst/>
          </a:prstGeom>
        </p:spPr>
      </p:pic>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Aaronic Blessing and Sending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“One sentence for the road: you came back tonight like people who know the way — because you do now.”</a:t>
            </a:r>
          </a:p>
          <a:p>
            <a:pPr marL="274320" indent="-274320">
              <a:spcAft>
                <a:spcPts val="800"/>
              </a:spcAft>
            </a:pPr>
            <a:r>
              <a:rPr sz="1600" b="1" i="0">
                <a:solidFill>
                  <a:srgbClr val="97BC62"/>
                </a:solidFill>
                <a:latin typeface="Calibri"/>
              </a:rPr>
              <a:t>•  </a:t>
            </a:r>
            <a:r>
              <a:rPr sz="1600" b="0" i="0">
                <a:solidFill>
                  <a:srgbClr val="222B22"/>
                </a:solidFill>
                <a:latin typeface="Calibri"/>
              </a:rPr>
              <a:t>“Five weeks to the sending. Let us not grow weary; the season is His, and it is nearly harvest.”</a:t>
            </a:r>
          </a:p>
          <a:p>
            <a:pPr marL="274320" indent="-274320">
              <a:spcAft>
                <a:spcPts val="800"/>
              </a:spcAft>
            </a:pPr>
            <a:r>
              <a:rPr sz="1600" b="1" i="0">
                <a:solidFill>
                  <a:srgbClr val="97BC62"/>
                </a:solidFill>
                <a:latin typeface="Calibri"/>
              </a:rPr>
              <a:t>•  </a:t>
            </a:r>
            <a:r>
              <a:rPr sz="1600" b="0" i="0">
                <a:solidFill>
                  <a:srgbClr val="222B22"/>
                </a:solidFill>
                <a:latin typeface="Calibri"/>
              </a:rPr>
              <a:t>“See you Wednesday. Week 19 — the teens have the cards.”</a:t>
            </a:r>
          </a:p>
        </p:txBody>
      </p:sp>
      <p:sp>
        <p:nvSpPr>
          <p:cNvPr id="6" name="TextBox 6"/>
          <p:cNvSpPr txBox="1"/>
          <p:nvPr/>
        </p:nvSpPr>
        <p:spPr>
          <a:xfrm>
            <a:off x="6766560" y="1737360"/>
            <a:ext cx="4663440" cy="2542032"/>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NUMBERS 6:24–26</a:t>
            </a:r>
          </a:p>
          <a:p>
            <a:pPr>
              <a:spcAft>
                <a:spcPts val="600"/>
              </a:spcAft>
            </a:pPr>
            <a:r>
              <a:rPr sz="1600" b="0" i="1">
                <a:solidFill>
                  <a:srgbClr val="222B22"/>
                </a:solidFill>
                <a:latin typeface="Cambria"/>
              </a:rPr>
              <a:t>“The Lord bless you and keep you; the Lord make His face shine on you and be gracious to you; the Lord turn His face toward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Frame — Why These Two Cards</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500" b="1" i="0">
                <a:solidFill>
                  <a:srgbClr val="97BC62"/>
                </a:solidFill>
                <a:latin typeface="Calibri"/>
              </a:rPr>
              <a:t>•  </a:t>
            </a:r>
            <a:r>
              <a:rPr sz="1500" b="0" i="0">
                <a:solidFill>
                  <a:srgbClr val="222B22"/>
                </a:solidFill>
                <a:latin typeface="Calibri"/>
              </a:rPr>
              <a:t>Sooner or later, everyone who walks with God hits a dry season — and the dangerous thing is not the dryness, it is the wrong diagnosis</a:t>
            </a:r>
          </a:p>
          <a:p>
            <a:pPr marL="274320" indent="-274320">
              <a:spcAft>
                <a:spcPts val="650"/>
              </a:spcAft>
            </a:pPr>
            <a:r>
              <a:rPr sz="1500" b="1" i="0">
                <a:solidFill>
                  <a:srgbClr val="97BC62"/>
                </a:solidFill>
                <a:latin typeface="Calibri"/>
              </a:rPr>
              <a:t>•  </a:t>
            </a:r>
            <a:r>
              <a:rPr sz="1500" b="0" i="0">
                <a:solidFill>
                  <a:srgbClr val="222B22"/>
                </a:solidFill>
                <a:latin typeface="Calibri"/>
              </a:rPr>
              <a:t>The Signs Card — so a misread dry season never ends a journey in this room</a:t>
            </a:r>
          </a:p>
          <a:p>
            <a:pPr marL="274320" indent="-274320">
              <a:spcAft>
                <a:spcPts val="650"/>
              </a:spcAft>
            </a:pPr>
            <a:r>
              <a:rPr sz="1500" b="1" i="0">
                <a:solidFill>
                  <a:srgbClr val="97BC62"/>
                </a:solidFill>
                <a:latin typeface="Calibri"/>
              </a:rPr>
              <a:t>•  </a:t>
            </a:r>
            <a:r>
              <a:rPr sz="1500" b="0" i="0">
                <a:solidFill>
                  <a:srgbClr val="222B22"/>
                </a:solidFill>
                <a:latin typeface="Calibri"/>
              </a:rPr>
              <a:t>The Path Home Card — the written door back, and it ends the way Luke 15 ends: the father runs</a:t>
            </a:r>
          </a:p>
          <a:p>
            <a:pPr marL="274320" indent="-274320">
              <a:spcAft>
                <a:spcPts val="650"/>
              </a:spcAft>
            </a:pPr>
            <a:r>
              <a:rPr sz="1500" b="1" i="0">
                <a:solidFill>
                  <a:srgbClr val="97BC62"/>
                </a:solidFill>
                <a:latin typeface="Calibri"/>
              </a:rPr>
              <a:t>•  </a:t>
            </a:r>
            <a:r>
              <a:rPr sz="1500" b="0" i="0">
                <a:solidFill>
                  <a:srgbClr val="222B22"/>
                </a:solidFill>
                <a:latin typeface="Calibri"/>
              </a:rPr>
              <a:t>Tonight is a rehearsal — the small room before the large one. Your cluster is their first congregation.</a:t>
            </a:r>
          </a:p>
          <a:p>
            <a:pPr marL="274320" indent="-274320">
              <a:spcAft>
                <a:spcPts val="650"/>
              </a:spcAft>
            </a:pPr>
            <a:r>
              <a:rPr sz="1500" b="1" i="0">
                <a:solidFill>
                  <a:srgbClr val="97BC62"/>
                </a:solidFill>
                <a:latin typeface="Calibri"/>
              </a:rPr>
              <a:t>•  </a:t>
            </a:r>
            <a:r>
              <a:rPr sz="1500" b="0" i="0">
                <a:solidFill>
                  <a:srgbClr val="222B22"/>
                </a:solidFill>
                <a:latin typeface="Calibri"/>
              </a:rPr>
              <a:t>At the end, your cluster gives its teacher two gifts: one thing to keep, and one thing to adjust</a:t>
            </a:r>
          </a:p>
          <a:p>
            <a:pPr marL="274320" indent="-274320">
              <a:spcAft>
                <a:spcPts val="650"/>
              </a:spcAft>
            </a:pPr>
            <a:r>
              <a:rPr sz="1500" b="1" i="0">
                <a:solidFill>
                  <a:srgbClr val="97BC62"/>
                </a:solidFill>
                <a:latin typeface="Calibri"/>
              </a:rPr>
              <a:t>•  </a:t>
            </a:r>
            <a:r>
              <a:rPr sz="1500" b="0" i="0">
                <a:solidFill>
                  <a:srgbClr val="222B22"/>
                </a:solidFill>
                <a:latin typeface="Calibri"/>
              </a:rPr>
              <a:t>Tonight is about the cards, not anyone’s current season — nobody will be asked where they are</a:t>
            </a:r>
          </a:p>
        </p:txBody>
      </p:sp>
      <p:sp>
        <p:nvSpPr>
          <p:cNvPr id="6" name="TextBox 6"/>
          <p:cNvSpPr txBox="1"/>
          <p:nvPr/>
        </p:nvSpPr>
        <p:spPr>
          <a:xfrm>
            <a:off x="6766560" y="1737360"/>
            <a:ext cx="4663440" cy="3310128"/>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2 TIMOTHY 2:2</a:t>
            </a:r>
          </a:p>
          <a:p>
            <a:pPr>
              <a:spcAft>
                <a:spcPts val="600"/>
              </a:spcAft>
            </a:pPr>
            <a:r>
              <a:rPr sz="1600" b="0" i="1">
                <a:solidFill>
                  <a:srgbClr val="222B22"/>
                </a:solidFill>
                <a:latin typeface="Cambria"/>
              </a:rPr>
              <a:t>“and what you have heard from me in the presence of many witnesses entrust to faithful men, who will be able to teach others also.”</a:t>
            </a:r>
          </a:p>
          <a:p>
            <a:pPr>
              <a:spcAft>
                <a:spcPts val="600"/>
              </a:spcAft>
            </a:pPr>
            <a:r>
              <a:rPr sz="1600" b="0" i="1">
                <a:solidFill>
                  <a:srgbClr val="222B22"/>
                </a:solidFill>
                <a:latin typeface="Cambria"/>
              </a:rPr>
              <a:t>Four generations in one sentence — Paul, Timothy, the faithful, and the others also. Tonight you are watching the third handoff happen.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and Split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Each cluster named — its families, its adult, its first-round Companion-in-Formation</a:t>
            </a:r>
          </a:p>
          <a:p>
            <a:pPr marL="274320" indent="-274320">
              <a:spcAft>
                <a:spcPts val="900"/>
              </a:spcAft>
            </a:pPr>
            <a:r>
              <a:rPr sz="1800" b="1" i="0">
                <a:solidFill>
                  <a:srgbClr val="97BC62"/>
                </a:solidFill>
                <a:latin typeface="Calibri"/>
              </a:rPr>
              <a:t>•  </a:t>
            </a:r>
            <a:r>
              <a:rPr sz="1800" b="0" i="0">
                <a:solidFill>
                  <a:srgbClr val="222B22"/>
                </a:solidFill>
                <a:latin typeface="Calibri"/>
              </a:rPr>
              <a:t>Pray — for the teachers by name, and for any dry ground in the room, unnamed</a:t>
            </a:r>
          </a:p>
          <a:p>
            <a:pPr marL="274320" indent="-274320">
              <a:spcAft>
                <a:spcPts val="900"/>
              </a:spcAft>
            </a:pPr>
            <a:r>
              <a:rPr sz="1800" b="1" i="0">
                <a:solidFill>
                  <a:srgbClr val="97BC62"/>
                </a:solidFill>
                <a:latin typeface="Calibri"/>
              </a:rPr>
              <a:t>•  </a:t>
            </a:r>
            <a:r>
              <a:rPr sz="1800" b="0" i="0">
                <a:solidFill>
                  <a:srgbClr val="222B22"/>
                </a:solidFill>
                <a:latin typeface="Calibri"/>
              </a:rPr>
              <a:t>Then split — receive your teacher, and work the cards with them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First Teaching Rep — Both Cards</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The Signs Card (~13 min) — the one question: “Which way does the desire point?” Then the four kinds of dry, from the card’s own table</a:t>
            </a:r>
          </a:p>
          <a:p>
            <a:pPr marL="685800" indent="-274320">
              <a:spcAft>
                <a:spcPts val="500"/>
              </a:spcAft>
            </a:pPr>
            <a:r>
              <a:rPr sz="1400" b="1" i="0">
                <a:solidFill>
                  <a:srgbClr val="97BC62"/>
                </a:solidFill>
                <a:latin typeface="Calibri"/>
              </a:rPr>
              <a:t>–  </a:t>
            </a:r>
            <a:r>
              <a:rPr sz="1400" b="0" i="1">
                <a:solidFill>
                  <a:srgbClr val="222B22"/>
                </a:solidFill>
                <a:latin typeface="Calibri"/>
              </a:rPr>
              <a:t>Cases 3 and 4 — one says resist, the other says receive; opposite motions. When you cannot tell which you are in, do not decide alone.</a:t>
            </a:r>
          </a:p>
          <a:p>
            <a:pPr marL="342900" indent="-342900">
              <a:spcAft>
                <a:spcPts val="650"/>
              </a:spcAft>
            </a:pPr>
            <a:r>
              <a:rPr sz="1500" b="1" i="0">
                <a:solidFill>
                  <a:srgbClr val="97BC62"/>
                </a:solidFill>
                <a:latin typeface="Calibri"/>
              </a:rPr>
              <a:t>2   </a:t>
            </a:r>
            <a:r>
              <a:rPr sz="1500" b="0" i="0">
                <a:solidFill>
                  <a:srgbClr val="222B22"/>
                </a:solidFill>
                <a:latin typeface="Calibri"/>
              </a:rPr>
              <a:t>The Path Home Card (~10 min) — the five steps, and the reception: it ends with a feast, not a hearing</a:t>
            </a:r>
          </a:p>
          <a:p>
            <a:pPr marL="685800" indent="-274320">
              <a:spcAft>
                <a:spcPts val="500"/>
              </a:spcAft>
            </a:pPr>
            <a:r>
              <a:rPr sz="1400" b="1" i="0">
                <a:solidFill>
                  <a:srgbClr val="97BC62"/>
                </a:solidFill>
                <a:latin typeface="Calibri"/>
              </a:rPr>
              <a:t>–  </a:t>
            </a:r>
            <a:r>
              <a:rPr sz="1400" b="0" i="1">
                <a:solidFill>
                  <a:srgbClr val="222B22"/>
                </a:solidFill>
                <a:latin typeface="Calibri"/>
              </a:rPr>
              <a:t>“The door is not locked. The light is on.”</a:t>
            </a:r>
          </a:p>
          <a:p>
            <a:pPr marL="342900" indent="-342900">
              <a:spcAft>
                <a:spcPts val="650"/>
              </a:spcAft>
            </a:pPr>
            <a:r>
              <a:rPr sz="1500" b="1" i="0">
                <a:solidFill>
                  <a:srgbClr val="97BC62"/>
                </a:solidFill>
                <a:latin typeface="Calibri"/>
              </a:rPr>
              <a:t>3   </a:t>
            </a:r>
            <a:r>
              <a:rPr sz="1500" b="0" i="0">
                <a:solidFill>
                  <a:srgbClr val="222B22"/>
                </a:solidFill>
                <a:latin typeface="Calibri"/>
              </a:rPr>
              <a:t>Close (~2 min) — both cards go home tonight; this week your family gives them a findable spot</a:t>
            </a:r>
          </a:p>
          <a:p>
            <a:pPr marL="274320" indent="-274320">
              <a:spcAft>
                <a:spcPts val="650"/>
              </a:spcAft>
            </a:pPr>
            <a:r>
              <a:rPr sz="1500" b="1" i="0">
                <a:solidFill>
                  <a:srgbClr val="97BC62"/>
                </a:solidFill>
                <a:latin typeface="Calibri"/>
              </a:rPr>
              <a:t>•  </a:t>
            </a:r>
            <a:r>
              <a:rPr sz="1500" b="0" i="0">
                <a:solidFill>
                  <a:srgbClr val="222B22"/>
                </a:solidFill>
                <a:latin typeface="Calibri"/>
              </a:rPr>
              <a:t>Questions of information are welcome — the teacher answers them. The adults hold every door that opens.</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LUKE 15:20</a:t>
            </a:r>
          </a:p>
          <a:p>
            <a:pPr>
              <a:spcAft>
                <a:spcPts val="600"/>
              </a:spcAft>
            </a:pPr>
            <a:r>
              <a:rPr sz="1600" b="0" i="1">
                <a:solidFill>
                  <a:srgbClr val="222B22"/>
                </a:solidFill>
                <a:latin typeface="Cambria"/>
              </a:rPr>
              <a:t>“while he was still a long way off, his father saw him and felt compassion, and ran”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Cluster Feedback — One Keep, One Adjust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adult models first — one specific keep, one specific adjust</a:t>
            </a:r>
          </a:p>
          <a:p>
            <a:pPr marL="685800" indent="-274320">
              <a:spcAft>
                <a:spcPts val="700"/>
              </a:spcAft>
            </a:pPr>
            <a:r>
              <a:rPr sz="1600" b="1" i="0">
                <a:solidFill>
                  <a:srgbClr val="97BC62"/>
                </a:solidFill>
                <a:latin typeface="Calibri"/>
              </a:rPr>
              <a:t>–  </a:t>
            </a:r>
            <a:r>
              <a:rPr sz="1600" b="0" i="1">
                <a:solidFill>
                  <a:srgbClr val="222B22"/>
                </a:solidFill>
                <a:latin typeface="Calibri"/>
              </a:rPr>
              <a:t>Specific means quotable: “keep the way you paused after the desire question” — not “you did great”</a:t>
            </a:r>
          </a:p>
          <a:p>
            <a:pPr marL="274320" indent="-274320">
              <a:spcAft>
                <a:spcPts val="900"/>
              </a:spcAft>
            </a:pPr>
            <a:r>
              <a:rPr sz="1800" b="1" i="0">
                <a:solidFill>
                  <a:srgbClr val="97BC62"/>
                </a:solidFill>
                <a:latin typeface="Calibri"/>
              </a:rPr>
              <a:t>•  </a:t>
            </a:r>
            <a:r>
              <a:rPr sz="1800" b="0" i="0">
                <a:solidFill>
                  <a:srgbClr val="222B22"/>
                </a:solidFill>
                <a:latin typeface="Calibri"/>
              </a:rPr>
              <a:t>Then a parent adds one; one or two more voices if brief — teens welcome</a:t>
            </a:r>
          </a:p>
          <a:p>
            <a:pPr marL="274320" indent="-274320">
              <a:spcAft>
                <a:spcPts val="900"/>
              </a:spcAft>
            </a:pPr>
            <a:r>
              <a:rPr sz="1800" b="1" i="0">
                <a:solidFill>
                  <a:srgbClr val="97BC62"/>
                </a:solidFill>
                <a:latin typeface="Calibri"/>
              </a:rPr>
              <a:t>•  </a:t>
            </a:r>
            <a:r>
              <a:rPr sz="1800" b="0" i="0">
                <a:solidFill>
                  <a:srgbClr val="222B22"/>
                </a:solidFill>
                <a:latin typeface="Calibri"/>
              </a:rPr>
              <a:t>The teacher receives without defending — “thank you” is the whole response</a:t>
            </a:r>
          </a:p>
          <a:p>
            <a:pPr marL="274320" indent="-274320">
              <a:spcAft>
                <a:spcPts val="900"/>
              </a:spcAft>
            </a:pPr>
            <a:r>
              <a:rPr sz="1800" b="1" i="0">
                <a:solidFill>
                  <a:srgbClr val="97BC62"/>
                </a:solidFill>
                <a:latin typeface="Calibri"/>
              </a:rPr>
              <a:t>•  </a:t>
            </a:r>
            <a:r>
              <a:rPr sz="1800" b="0" i="0">
                <a:solidFill>
                  <a:srgbClr val="222B22"/>
                </a:solidFill>
                <a:latin typeface="Calibri"/>
              </a:rPr>
              <a:t>Both gifts go on the note sheet — this block is the reason the evening exists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Second Teaching Rep — Both Cards, Tightened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“Teachers, travel.” Each teacher moves one cluster over, adjust in hand — the new cluster is a clean room</a:t>
            </a:r>
          </a:p>
          <a:p>
            <a:pPr marL="274320" indent="-274320">
              <a:spcAft>
                <a:spcPts val="900"/>
              </a:spcAft>
            </a:pPr>
            <a:r>
              <a:rPr sz="1800" b="1" i="0">
                <a:solidFill>
                  <a:srgbClr val="97BC62"/>
                </a:solidFill>
                <a:latin typeface="Calibri"/>
              </a:rPr>
              <a:t>•  </a:t>
            </a:r>
            <a:r>
              <a:rPr sz="1800" b="0" i="0">
                <a:solidFill>
                  <a:srgbClr val="222B22"/>
                </a:solidFill>
                <a:latin typeface="Calibri"/>
              </a:rPr>
              <a:t>The same arc, compressed — Signs ~11 min, Path Home ~8, close ~1</a:t>
            </a:r>
          </a:p>
          <a:p>
            <a:pPr marL="274320" indent="-274320">
              <a:spcAft>
                <a:spcPts val="900"/>
              </a:spcAft>
            </a:pPr>
            <a:r>
              <a:rPr sz="1800" b="1" i="0">
                <a:solidFill>
                  <a:srgbClr val="97BC62"/>
                </a:solidFill>
                <a:latin typeface="Calibri"/>
              </a:rPr>
              <a:t>•  </a:t>
            </a:r>
            <a:r>
              <a:rPr sz="1800" b="0" i="0">
                <a:solidFill>
                  <a:srgbClr val="222B22"/>
                </a:solidFill>
                <a:latin typeface="Calibri"/>
              </a:rPr>
              <a:t>The compression is the second rep’s own skill — same spine, fewer words, the load-bearing minutes untouched</a:t>
            </a:r>
          </a:p>
          <a:p>
            <a:pPr marL="685800" indent="-274320">
              <a:spcAft>
                <a:spcPts val="700"/>
              </a:spcAft>
            </a:pPr>
            <a:r>
              <a:rPr sz="1600" b="1" i="0">
                <a:solidFill>
                  <a:srgbClr val="97BC62"/>
                </a:solidFill>
                <a:latin typeface="Calibri"/>
              </a:rPr>
              <a:t>–  </a:t>
            </a:r>
            <a:r>
              <a:rPr sz="1600" b="0" i="1">
                <a:solidFill>
                  <a:srgbClr val="222B22"/>
                </a:solidFill>
                <a:latin typeface="Calibri"/>
              </a:rPr>
              <a:t>The desire question — resist versus receive — the father runs</a:t>
            </a:r>
          </a:p>
          <a:p>
            <a:pPr marL="274320" indent="-274320">
              <a:spcAft>
                <a:spcPts val="900"/>
              </a:spcAft>
            </a:pPr>
            <a:r>
              <a:rPr sz="1800" b="1" i="0">
                <a:solidFill>
                  <a:srgbClr val="97BC62"/>
                </a:solidFill>
                <a:latin typeface="Calibri"/>
              </a:rPr>
              <a:t>•  </a:t>
            </a:r>
            <a:r>
              <a:rPr sz="1800" b="0" i="0">
                <a:solidFill>
                  <a:srgbClr val="222B22"/>
                </a:solidFill>
                <a:latin typeface="Calibri"/>
              </a:rPr>
              <a:t>The adjust from Round 1 gets tried here, while it is warm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Second Cluster Feedback</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Same shape, briefer — the adult’s keep and adjust, then one cluster voice</a:t>
            </a:r>
          </a:p>
          <a:p>
            <a:pPr marL="274320" indent="-274320">
              <a:spcAft>
                <a:spcPts val="900"/>
              </a:spcAft>
            </a:pPr>
            <a:r>
              <a:rPr sz="1800" b="1" i="0">
                <a:solidFill>
                  <a:srgbClr val="97BC62"/>
                </a:solidFill>
                <a:latin typeface="Calibri"/>
              </a:rPr>
              <a:t>•  </a:t>
            </a:r>
            <a:r>
              <a:rPr sz="1800" b="0" i="0">
                <a:solidFill>
                  <a:srgbClr val="222B22"/>
                </a:solidFill>
                <a:latin typeface="Calibri"/>
              </a:rPr>
              <a:t>The keep, wherever honest, names the adjust that got tried</a:t>
            </a:r>
          </a:p>
          <a:p>
            <a:pPr marL="274320" indent="-274320">
              <a:spcAft>
                <a:spcPts val="900"/>
              </a:spcAft>
            </a:pPr>
            <a:r>
              <a:rPr sz="1800" b="1" i="0">
                <a:solidFill>
                  <a:srgbClr val="97BC62"/>
                </a:solidFill>
                <a:latin typeface="Calibri"/>
              </a:rPr>
              <a:t>•  </a:t>
            </a:r>
            <a:r>
              <a:rPr sz="1800" b="0" i="0">
                <a:solidFill>
                  <a:srgbClr val="222B22"/>
                </a:solidFill>
                <a:latin typeface="Calibri"/>
              </a:rPr>
              <a:t>Both recorded per teacher — these notes are next week’s prep meeting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and Between-Session</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One practice this week — the easiest assignment of the year: the two cards go home and get a spot</a:t>
            </a:r>
          </a:p>
          <a:p>
            <a:pPr marL="274320" indent="-274320">
              <a:spcAft>
                <a:spcPts val="900"/>
              </a:spcAft>
            </a:pPr>
            <a:r>
              <a:rPr sz="1800" b="1" i="0">
                <a:solidFill>
                  <a:srgbClr val="97BC62"/>
                </a:solidFill>
                <a:latin typeface="Calibri"/>
              </a:rPr>
              <a:t>•  </a:t>
            </a:r>
            <a:r>
              <a:rPr sz="1800" b="0" i="0">
                <a:solidFill>
                  <a:srgbClr val="222B22"/>
                </a:solidFill>
                <a:latin typeface="Calibri"/>
              </a:rPr>
              <a:t>Somewhere findable — a drawer everyone knows about, the kitchen cabinet door, inside the family Bible. Decide the spot together.</a:t>
            </a:r>
          </a:p>
          <a:p>
            <a:pPr marL="274320" indent="-274320">
              <a:spcAft>
                <a:spcPts val="900"/>
              </a:spcAft>
            </a:pPr>
            <a:r>
              <a:rPr sz="1800" b="1" i="0">
                <a:solidFill>
                  <a:srgbClr val="97BC62"/>
                </a:solidFill>
                <a:latin typeface="Calibri"/>
              </a:rPr>
              <a:t>•  </a:t>
            </a:r>
            <a:r>
              <a:rPr sz="1800" b="0" i="0">
                <a:solidFill>
                  <a:srgbClr val="222B22"/>
                </a:solidFill>
                <a:latin typeface="Calibri"/>
              </a:rPr>
              <a:t>If all goes well, they will sit there gathering dust for years. That is the job — the cards wait.</a:t>
            </a:r>
          </a:p>
          <a:p>
            <a:pPr marL="274320" indent="-274320">
              <a:spcAft>
                <a:spcPts val="900"/>
              </a:spcAft>
            </a:pPr>
            <a:r>
              <a:rPr sz="1800" b="1" i="0">
                <a:solidFill>
                  <a:srgbClr val="97BC62"/>
                </a:solidFill>
                <a:latin typeface="Calibri"/>
              </a:rPr>
              <a:t>•  </a:t>
            </a:r>
            <a:r>
              <a:rPr sz="1800" b="0" i="0">
                <a:solidFill>
                  <a:srgbClr val="222B22"/>
                </a:solidFill>
                <a:latin typeface="Calibri"/>
              </a:rPr>
              <a:t>Next Wednesday is The Long Walk — the whole room, the whole teaching, these same teachers. Come ready to receive them again.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1500" b="1" i="0">
                <a:solidFill>
                  <a:srgbClr val="97BC62"/>
                </a:solidFill>
                <a:latin typeface="Calibri"/>
              </a:rPr>
              <a:t>1   </a:t>
            </a:r>
            <a:r>
              <a:rPr sz="1500" b="0" i="0">
                <a:solidFill>
                  <a:srgbClr val="222B22"/>
                </a:solidFill>
                <a:latin typeface="Calibri"/>
              </a:rPr>
              <a:t>Welcome — five minutes to open the container</a:t>
            </a:r>
          </a:p>
          <a:p>
            <a:pPr marL="342900" indent="-342900">
              <a:spcAft>
                <a:spcPts val="650"/>
              </a:spcAft>
            </a:pPr>
            <a:r>
              <a:rPr sz="1500" b="1" i="0">
                <a:solidFill>
                  <a:srgbClr val="97BC62"/>
                </a:solidFill>
                <a:latin typeface="Calibri"/>
              </a:rPr>
              <a:t>2   </a:t>
            </a:r>
            <a:r>
              <a:rPr sz="1500" b="0" i="0">
                <a:solidFill>
                  <a:srgbClr val="222B22"/>
                </a:solidFill>
                <a:latin typeface="Calibri"/>
              </a:rPr>
              <a:t>Phones silenced and put away</a:t>
            </a:r>
          </a:p>
          <a:p>
            <a:pPr marL="342900" indent="-342900">
              <a:spcAft>
                <a:spcPts val="650"/>
              </a:spcAft>
            </a:pPr>
            <a:r>
              <a:rPr sz="1500" b="1" i="0">
                <a:solidFill>
                  <a:srgbClr val="97BC62"/>
                </a:solidFill>
                <a:latin typeface="Calibri"/>
              </a:rPr>
              <a:t>3   </a:t>
            </a:r>
            <a:r>
              <a:rPr sz="1500" b="0" i="0">
                <a:solidFill>
                  <a:srgbClr val="222B22"/>
                </a:solidFill>
                <a:latin typeface="Calibri"/>
              </a:rPr>
              <a:t>Stand in a circle</a:t>
            </a:r>
          </a:p>
          <a:p>
            <a:pPr marL="342900" indent="-342900">
              <a:spcAft>
                <a:spcPts val="650"/>
              </a:spcAft>
            </a:pPr>
            <a:r>
              <a:rPr sz="1500" b="1" i="0">
                <a:solidFill>
                  <a:srgbClr val="97BC62"/>
                </a:solidFill>
                <a:latin typeface="Calibri"/>
              </a:rPr>
              <a:t>4   </a:t>
            </a:r>
            <a:r>
              <a:rPr sz="1500" b="0" i="0">
                <a:solidFill>
                  <a:srgbClr val="222B22"/>
                </a:solidFill>
                <a:latin typeface="Calibri"/>
              </a:rPr>
              <a:t>One-word check-in — how you actually are, right now</a:t>
            </a:r>
          </a:p>
          <a:p>
            <a:pPr marL="342900" indent="-342900">
              <a:spcAft>
                <a:spcPts val="650"/>
              </a:spcAft>
            </a:pPr>
            <a:r>
              <a:rPr sz="1500" b="1" i="0">
                <a:solidFill>
                  <a:srgbClr val="97BC62"/>
                </a:solidFill>
                <a:latin typeface="Calibri"/>
              </a:rPr>
              <a:t>5   </a:t>
            </a:r>
            <a:r>
              <a:rPr sz="1500" b="0" i="0">
                <a:solidFill>
                  <a:srgbClr val="222B22"/>
                </a:solidFill>
                <a:latin typeface="Calibri"/>
              </a:rPr>
              <a:t>Put out / bring in — set something down; bring a blessing in</a:t>
            </a:r>
          </a:p>
          <a:p>
            <a:pPr marL="342900" indent="-342900">
              <a:spcAft>
                <a:spcPts val="650"/>
              </a:spcAft>
            </a:pPr>
            <a:r>
              <a:rPr sz="1500" b="1" i="0">
                <a:solidFill>
                  <a:srgbClr val="97BC62"/>
                </a:solidFill>
                <a:latin typeface="Calibri"/>
              </a:rPr>
              <a:t>6   </a:t>
            </a:r>
            <a:r>
              <a:rPr sz="1500" b="0" i="0">
                <a:solidFill>
                  <a:srgbClr val="222B22"/>
                </a:solidFill>
                <a:latin typeface="Calibri"/>
              </a:rPr>
              <a:t>Spoken commitment: “I am here. I am paying attention. I am willing to be moved.”</a:t>
            </a:r>
          </a:p>
          <a:p>
            <a:pPr marL="342900" indent="-342900">
              <a:spcAft>
                <a:spcPts val="650"/>
              </a:spcAft>
            </a:pPr>
            <a:r>
              <a:rPr sz="1500" b="1" i="0">
                <a:solidFill>
                  <a:srgbClr val="97BC62"/>
                </a:solidFill>
                <a:latin typeface="Calibri"/>
              </a:rPr>
              <a:t>7   </a:t>
            </a:r>
            <a:r>
              <a:rPr sz="1500" b="0" i="0">
                <a:solidFill>
                  <a:srgbClr val="222B22"/>
                </a:solidFill>
                <a:latin typeface="Calibri"/>
              </a:rPr>
              <a:t>Opening prayer — “Holy Spirit, you are welcome here. Speak. We are listening.”</a:t>
            </a:r>
          </a:p>
          <a:p>
            <a:pPr marL="342900" indent="-342900">
              <a:spcAft>
                <a:spcPts val="650"/>
              </a:spcAft>
            </a:pPr>
            <a:r>
              <a:rPr sz="1500" b="1" i="0">
                <a:solidFill>
                  <a:srgbClr val="97BC62"/>
                </a:solidFill>
                <a:latin typeface="Calibri"/>
              </a:rPr>
              <a:t>8   </a:t>
            </a:r>
            <a:r>
              <a:rPr sz="15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Why Tonight — Isaiah 50:10</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500" b="1" i="0">
                <a:solidFill>
                  <a:srgbClr val="97BC62"/>
                </a:solidFill>
                <a:latin typeface="Calibri"/>
              </a:rPr>
              <a:t>•  </a:t>
            </a:r>
            <a:r>
              <a:rPr sz="1500" b="0" i="0">
                <a:solidFill>
                  <a:srgbClr val="222B22"/>
                </a:solidFill>
                <a:latin typeface="Calibri"/>
              </a:rPr>
              <a:t>In two weeks this room stops meeting — the next two Wednesdays are sendings, not endings. On the other side: a summer with no Wednesday in it.</a:t>
            </a:r>
          </a:p>
          <a:p>
            <a:pPr marL="274320" indent="-274320">
              <a:spcAft>
                <a:spcPts val="650"/>
              </a:spcAft>
            </a:pPr>
            <a:r>
              <a:rPr sz="1500" b="1" i="0">
                <a:solidFill>
                  <a:srgbClr val="97BC62"/>
                </a:solidFill>
                <a:latin typeface="Calibri"/>
              </a:rPr>
              <a:t>•  </a:t>
            </a:r>
            <a:r>
              <a:rPr sz="1500" b="0" i="0">
                <a:solidFill>
                  <a:srgbClr val="222B22"/>
                </a:solidFill>
                <a:latin typeface="Calibri"/>
              </a:rPr>
              <a:t>Somewhere out there — this summer, or in twenty years — every person in this room will hit a season where the practices go gray</a:t>
            </a:r>
          </a:p>
          <a:p>
            <a:pPr marL="274320" indent="-274320">
              <a:spcAft>
                <a:spcPts val="650"/>
              </a:spcAft>
            </a:pPr>
            <a:r>
              <a:rPr sz="1500" b="1" i="0">
                <a:solidFill>
                  <a:srgbClr val="97BC62"/>
                </a:solidFill>
                <a:latin typeface="Calibri"/>
              </a:rPr>
              <a:t>•  </a:t>
            </a:r>
            <a:r>
              <a:rPr sz="1500" b="0" i="0">
                <a:solidFill>
                  <a:srgbClr val="222B22"/>
                </a:solidFill>
                <a:latin typeface="Calibri"/>
              </a:rPr>
              <a:t>The most dangerous thing on the long walk is not the dryness — it is the wrong diagnosis of the dryness</a:t>
            </a:r>
          </a:p>
          <a:p>
            <a:pPr marL="274320" indent="-274320">
              <a:spcAft>
                <a:spcPts val="650"/>
              </a:spcAft>
            </a:pPr>
            <a:r>
              <a:rPr sz="1500" b="1" i="0">
                <a:solidFill>
                  <a:srgbClr val="97BC62"/>
                </a:solidFill>
                <a:latin typeface="Calibri"/>
              </a:rPr>
              <a:t>•  </a:t>
            </a:r>
            <a:r>
              <a:rPr sz="1500" b="0" i="0">
                <a:solidFill>
                  <a:srgbClr val="222B22"/>
                </a:solidFill>
                <a:latin typeface="Calibri"/>
              </a:rPr>
              <a:t>So tonight we hand you the equipment for that season — on purpose, at the threshold, before anyone needs it</a:t>
            </a:r>
          </a:p>
          <a:p>
            <a:pPr marL="274320" indent="-274320">
              <a:spcAft>
                <a:spcPts val="650"/>
              </a:spcAft>
            </a:pPr>
            <a:r>
              <a:rPr sz="1500" b="1" i="0">
                <a:solidFill>
                  <a:srgbClr val="97BC62"/>
                </a:solidFill>
                <a:latin typeface="Calibri"/>
              </a:rPr>
              <a:t>•  </a:t>
            </a:r>
            <a:r>
              <a:rPr sz="1500" b="0" i="0">
                <a:solidFill>
                  <a:srgbClr val="222B22"/>
                </a:solidFill>
                <a:latin typeface="Calibri"/>
              </a:rPr>
              <a:t>Psalm 23:4 — “Even though I walk through the valley of the shadow of death, I will fear no evil, for you are with me.” The road goes through.</a:t>
            </a:r>
          </a:p>
          <a:p>
            <a:pPr marL="274320" indent="-274320">
              <a:spcAft>
                <a:spcPts val="650"/>
              </a:spcAft>
            </a:pPr>
            <a:r>
              <a:rPr sz="1500" b="1" i="0">
                <a:solidFill>
                  <a:srgbClr val="97BC62"/>
                </a:solidFill>
                <a:latin typeface="Calibri"/>
              </a:rPr>
              <a:t>•  </a:t>
            </a:r>
            <a:r>
              <a:rPr sz="1500" b="0" i="0">
                <a:solidFill>
                  <a:srgbClr val="222B22"/>
                </a:solidFill>
                <a:latin typeface="Calibri"/>
              </a:rPr>
              <a:t>Now the teaching — in the seniors’ voices, not ours</a:t>
            </a:r>
          </a:p>
        </p:txBody>
      </p:sp>
      <p:sp>
        <p:nvSpPr>
          <p:cNvPr id="6" name="TextBox 6"/>
          <p:cNvSpPr txBox="1"/>
          <p:nvPr/>
        </p:nvSpPr>
        <p:spPr>
          <a:xfrm>
            <a:off x="6766560" y="1737360"/>
            <a:ext cx="4663440" cy="2542032"/>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ISAIAH 50:10</a:t>
            </a:r>
          </a:p>
          <a:p>
            <a:pPr>
              <a:spcAft>
                <a:spcPts val="600"/>
              </a:spcAft>
            </a:pPr>
            <a:r>
              <a:rPr sz="1600" b="0" i="1">
                <a:solidFill>
                  <a:srgbClr val="222B22"/>
                </a:solidFill>
                <a:latin typeface="Cambria"/>
              </a:rPr>
              <a:t>“Who among you fears the LORD and obeys the voice of his servant? Let him who walks in darkness and has no light trust in the name of the LORD and rely on his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Signs Card — the Four Kinds of Dry</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500" b="1" i="0">
                <a:solidFill>
                  <a:srgbClr val="97BC62"/>
                </a:solidFill>
                <a:latin typeface="Calibri"/>
              </a:rPr>
              <a:t>•  </a:t>
            </a:r>
            <a:r>
              <a:rPr sz="1500" b="0" i="0">
                <a:solidFill>
                  <a:srgbClr val="222B22"/>
                </a:solidFill>
                <a:latin typeface="Calibri"/>
              </a:rPr>
              <a:t>The danger is not the dryness — it is the wrong diagnosis. One question sorts everything: “Which way does the desire point?”</a:t>
            </a:r>
          </a:p>
          <a:p>
            <a:pPr marL="342900" indent="-342900">
              <a:spcAft>
                <a:spcPts val="650"/>
              </a:spcAft>
            </a:pPr>
            <a:r>
              <a:rPr sz="1500" b="1" i="0">
                <a:solidFill>
                  <a:srgbClr val="97BC62"/>
                </a:solidFill>
                <a:latin typeface="Calibri"/>
              </a:rPr>
              <a:t>1   </a:t>
            </a:r>
            <a:r>
              <a:rPr sz="1500" b="0" i="0">
                <a:solidFill>
                  <a:srgbClr val="222B22"/>
                </a:solidFill>
                <a:latin typeface="Calibri"/>
              </a:rPr>
              <a:t>Neglect — the desire has faded and the distance doesn’t ache; the world tastes fine. First step: wake and turn — rebuild the rhythm</a:t>
            </a:r>
          </a:p>
          <a:p>
            <a:pPr marL="342900" indent="-342900">
              <a:spcAft>
                <a:spcPts val="650"/>
              </a:spcAft>
            </a:pPr>
            <a:r>
              <a:rPr sz="1500" b="1" i="0">
                <a:solidFill>
                  <a:srgbClr val="97BC62"/>
                </a:solidFill>
                <a:latin typeface="Calibri"/>
              </a:rPr>
              <a:t>2   </a:t>
            </a:r>
            <a:r>
              <a:rPr sz="1500" b="0" i="0">
                <a:solidFill>
                  <a:srgbClr val="222B22"/>
                </a:solidFill>
                <a:latin typeface="Calibri"/>
              </a:rPr>
              <a:t>Worn out — the desire is buried under duty; you want escape, not God. First step: rest — a lighter yoke, smaller faithful steps, stay put</a:t>
            </a:r>
          </a:p>
          <a:p>
            <a:pPr marL="342900" indent="-342900">
              <a:spcAft>
                <a:spcPts val="650"/>
              </a:spcAft>
            </a:pPr>
            <a:r>
              <a:rPr sz="1500" b="1" i="0">
                <a:solidFill>
                  <a:srgbClr val="97BC62"/>
                </a:solidFill>
                <a:latin typeface="Calibri"/>
              </a:rPr>
              <a:t>3   </a:t>
            </a:r>
            <a:r>
              <a:rPr sz="1500" b="0" i="0">
                <a:solidFill>
                  <a:srgbClr val="222B22"/>
                </a:solidFill>
                <a:latin typeface="Calibri"/>
              </a:rPr>
              <a:t>The enemy’s dry wind — accused, pressured, a voice counseling change: quit, undo, leave. First step: resist — change nothing, pray a little more, tell someone</a:t>
            </a:r>
          </a:p>
          <a:p>
            <a:pPr marL="342900" indent="-342900">
              <a:spcAft>
                <a:spcPts val="650"/>
              </a:spcAft>
            </a:pPr>
            <a:r>
              <a:rPr sz="1500" b="1" i="0">
                <a:solidFill>
                  <a:srgbClr val="97BC62"/>
                </a:solidFill>
                <a:latin typeface="Calibri"/>
              </a:rPr>
              <a:t>4   </a:t>
            </a:r>
            <a:r>
              <a:rPr sz="1500" b="0" i="0">
                <a:solidFill>
                  <a:srgbClr val="222B22"/>
                </a:solidFill>
                <a:latin typeface="Calibri"/>
              </a:rPr>
              <a:t>God’s own stripping — the desire intact and starving; the ache is the sign. First step: receive — wait, stay faithful, stay accompanied</a:t>
            </a:r>
          </a:p>
          <a:p>
            <a:pPr marL="274320" indent="-274320">
              <a:spcAft>
                <a:spcPts val="650"/>
              </a:spcAft>
            </a:pPr>
            <a:r>
              <a:rPr sz="1500" b="1" i="0">
                <a:solidFill>
                  <a:srgbClr val="97BC62"/>
                </a:solidFill>
                <a:latin typeface="Calibri"/>
              </a:rPr>
              <a:t>•  </a:t>
            </a:r>
            <a:r>
              <a:rPr sz="1500" b="0" i="0">
                <a:solidFill>
                  <a:srgbClr val="222B22"/>
                </a:solidFill>
                <a:latin typeface="Calibri"/>
              </a:rPr>
              <a:t>Three and four command opposite motions — one says fight, the other says yield. When you cannot tell which you are in, do not decide alone — that is what Companions are for.</a:t>
            </a:r>
          </a:p>
          <a:p>
            <a:pPr marL="685800" indent="-274320">
              <a:spcAft>
                <a:spcPts val="500"/>
              </a:spcAft>
            </a:pPr>
            <a:r>
              <a:rPr sz="1400" b="1" i="0">
                <a:solidFill>
                  <a:srgbClr val="97BC62"/>
                </a:solidFill>
                <a:latin typeface="Calibri"/>
              </a:rPr>
              <a:t>–  </a:t>
            </a:r>
            <a:r>
              <a:rPr sz="1400" b="0" i="1">
                <a:solidFill>
                  <a:srgbClr val="222B22"/>
                </a:solidFill>
                <a:latin typeface="Calibri"/>
              </a:rPr>
              <a:t>Four rules on the card — your own heart only; in every case, tell someone; no big decisions in the dark; know when to call the doctor</a:t>
            </a:r>
          </a:p>
        </p:txBody>
      </p:sp>
      <p:sp>
        <p:nvSpPr>
          <p:cNvPr id="6" name="TextBox 6"/>
          <p:cNvSpPr txBox="1"/>
          <p:nvPr/>
        </p:nvSpPr>
        <p:spPr>
          <a:xfrm>
            <a:off x="6766560" y="1737360"/>
            <a:ext cx="4663440" cy="2542032"/>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SENTENCE TO CARRY HOME</a:t>
            </a:r>
          </a:p>
          <a:p>
            <a:pPr>
              <a:spcAft>
                <a:spcPts val="600"/>
              </a:spcAft>
            </a:pPr>
            <a:r>
              <a:rPr sz="1600" b="0" i="1">
                <a:solidFill>
                  <a:srgbClr val="222B22"/>
                </a:solidFill>
                <a:latin typeface="Cambria"/>
              </a:rPr>
              <a:t>“The fact that His absence hurts you is the evidence that He has not gone. Drifting hearts do not ache. Abandoned fields do not thirst. A dry season is not a verdict.”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Path Home Card — the Written Door</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500" b="1" i="0">
                <a:solidFill>
                  <a:srgbClr val="97BC62"/>
                </a:solidFill>
                <a:latin typeface="Calibri"/>
              </a:rPr>
              <a:t>•  </a:t>
            </a:r>
            <a:r>
              <a:rPr sz="1500" b="0" i="0">
                <a:solidFill>
                  <a:srgbClr val="222B22"/>
                </a:solidFill>
                <a:latin typeface="Calibri"/>
              </a:rPr>
              <a:t>For the one who leaves and concludes a room like this would not want them back — most churches leave the way back unwritten. Not here.</a:t>
            </a:r>
          </a:p>
          <a:p>
            <a:pPr marL="342900" indent="-342900">
              <a:spcAft>
                <a:spcPts val="650"/>
              </a:spcAft>
            </a:pPr>
            <a:r>
              <a:rPr sz="1500" b="1" i="0">
                <a:solidFill>
                  <a:srgbClr val="97BC62"/>
                </a:solidFill>
                <a:latin typeface="Calibri"/>
              </a:rPr>
              <a:t>1   </a:t>
            </a:r>
            <a:r>
              <a:rPr sz="1500" b="0" i="0">
                <a:solidFill>
                  <a:srgbClr val="222B22"/>
                </a:solidFill>
                <a:latin typeface="Calibri"/>
              </a:rPr>
              <a:t>Come as you are — conviction is specific and hopeful and draws you toward home; shame is vague and hopeless and drives you away</a:t>
            </a:r>
          </a:p>
          <a:p>
            <a:pPr marL="342900" indent="-342900">
              <a:spcAft>
                <a:spcPts val="650"/>
              </a:spcAft>
            </a:pPr>
            <a:r>
              <a:rPr sz="1500" b="1" i="0">
                <a:solidFill>
                  <a:srgbClr val="97BC62"/>
                </a:solidFill>
                <a:latin typeface="Calibri"/>
              </a:rPr>
              <a:t>2   </a:t>
            </a:r>
            <a:r>
              <a:rPr sz="1500" b="0" i="0">
                <a:solidFill>
                  <a:srgbClr val="222B22"/>
                </a:solidFill>
                <a:latin typeface="Calibri"/>
              </a:rPr>
              <a:t>Tell it straight — to God in plain words, and to one trusted person; you choose the person and how much</a:t>
            </a:r>
          </a:p>
          <a:p>
            <a:pPr marL="342900" indent="-342900">
              <a:spcAft>
                <a:spcPts val="650"/>
              </a:spcAft>
            </a:pPr>
            <a:r>
              <a:rPr sz="1500" b="1" i="0">
                <a:solidFill>
                  <a:srgbClr val="97BC62"/>
                </a:solidFill>
                <a:latin typeface="Calibri"/>
              </a:rPr>
              <a:t>3   </a:t>
            </a:r>
            <a:r>
              <a:rPr sz="1500" b="0" i="0">
                <a:solidFill>
                  <a:srgbClr val="222B22"/>
                </a:solidFill>
                <a:latin typeface="Calibri"/>
              </a:rPr>
              <a:t>Grieve what needs grieving — lament is faith with tears in its voice</a:t>
            </a:r>
          </a:p>
          <a:p>
            <a:pPr marL="342900" indent="-342900">
              <a:spcAft>
                <a:spcPts val="650"/>
              </a:spcAft>
            </a:pPr>
            <a:r>
              <a:rPr sz="1500" b="1" i="0">
                <a:solidFill>
                  <a:srgbClr val="97BC62"/>
                </a:solidFill>
                <a:latin typeface="Calibri"/>
              </a:rPr>
              <a:t>4   </a:t>
            </a:r>
            <a:r>
              <a:rPr sz="1500" b="0" i="0">
                <a:solidFill>
                  <a:srgbClr val="222B22"/>
                </a:solidFill>
                <a:latin typeface="Calibri"/>
              </a:rPr>
              <a:t>Return to the table — small; do not start over, begin again on the next available day</a:t>
            </a:r>
          </a:p>
          <a:p>
            <a:pPr marL="342900" indent="-342900">
              <a:spcAft>
                <a:spcPts val="650"/>
              </a:spcAft>
            </a:pPr>
            <a:r>
              <a:rPr sz="1500" b="1" i="0">
                <a:solidFill>
                  <a:srgbClr val="97BC62"/>
                </a:solidFill>
                <a:latin typeface="Calibri"/>
              </a:rPr>
              <a:t>5   </a:t>
            </a:r>
            <a:r>
              <a:rPr sz="1500" b="0" i="0">
                <a:solidFill>
                  <a:srgbClr val="222B22"/>
                </a:solidFill>
                <a:latin typeface="Calibri"/>
              </a:rPr>
              <a:t>Let it be celebrated — in the Lord’s own story of return, the ending is not a probation meeting. It is a feast.</a:t>
            </a:r>
          </a:p>
          <a:p>
            <a:pPr marL="274320" indent="-274320">
              <a:spcAft>
                <a:spcPts val="650"/>
              </a:spcAft>
            </a:pPr>
            <a:r>
              <a:rPr sz="1500" b="1" i="0">
                <a:solidFill>
                  <a:srgbClr val="97BC62"/>
                </a:solidFill>
                <a:latin typeface="Calibri"/>
              </a:rPr>
              <a:t>•  </a:t>
            </a:r>
            <a:r>
              <a:rPr sz="1500" b="0" i="0">
                <a:solidFill>
                  <a:srgbClr val="222B22"/>
                </a:solidFill>
                <a:latin typeface="Calibri"/>
              </a:rPr>
              <a:t>The witnessed filing — everyone files the card now, while we watch each other do it: “The door is not locked. The light is on.”</a:t>
            </a:r>
          </a:p>
        </p:txBody>
      </p:sp>
      <p:sp>
        <p:nvSpPr>
          <p:cNvPr id="6" name="TextBox 6"/>
          <p:cNvSpPr txBox="1"/>
          <p:nvPr/>
        </p:nvSpPr>
        <p:spPr>
          <a:xfrm>
            <a:off x="6766560" y="1737360"/>
            <a:ext cx="4663440" cy="3310128"/>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LUKE 15:20</a:t>
            </a:r>
          </a:p>
          <a:p>
            <a:pPr>
              <a:spcAft>
                <a:spcPts val="600"/>
              </a:spcAft>
            </a:pPr>
            <a:r>
              <a:rPr sz="1600" b="0" i="1">
                <a:solidFill>
                  <a:srgbClr val="222B22"/>
                </a:solidFill>
                <a:latin typeface="Cambria"/>
              </a:rPr>
              <a:t>“But while he was still a long way off, his father saw him and felt compassion, and ran and embraced him and kissed him.”</a:t>
            </a:r>
          </a:p>
          <a:p>
            <a:pPr>
              <a:spcAft>
                <a:spcPts val="600"/>
              </a:spcAft>
            </a:pPr>
            <a:r>
              <a:rPr sz="1600" b="0" i="1">
                <a:solidFill>
                  <a:srgbClr val="222B22"/>
                </a:solidFill>
                <a:latin typeface="Cambria"/>
              </a:rPr>
              <a:t>The father was watching the road. He ran first, embraced first, and asked for no accounting before the robe.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Journal Arc Review</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Take out your journal — the one you have been writing in since September. If yours is missing, take paper and walk the year from memory.</a:t>
            </a:r>
          </a:p>
          <a:p>
            <a:pPr marL="274320" indent="-274320">
              <a:spcAft>
                <a:spcPts val="750"/>
              </a:spcAft>
            </a:pPr>
            <a:r>
              <a:rPr sz="1600" b="1" i="0">
                <a:solidFill>
                  <a:srgbClr val="97BC62"/>
                </a:solidFill>
                <a:latin typeface="Calibri"/>
              </a:rPr>
              <a:t>•  </a:t>
            </a:r>
            <a:r>
              <a:rPr sz="1600" b="0" i="0">
                <a:solidFill>
                  <a:srgbClr val="222B22"/>
                </a:solidFill>
                <a:latin typeface="Calibri"/>
              </a:rPr>
              <a:t>Go back to the beginning and read forward — you’re walking the road again, not re-taking the class</a:t>
            </a:r>
          </a:p>
          <a:p>
            <a:pPr marL="342900" indent="-342900">
              <a:spcAft>
                <a:spcPts val="750"/>
              </a:spcAft>
            </a:pPr>
            <a:r>
              <a:rPr sz="1600" b="1" i="0">
                <a:solidFill>
                  <a:srgbClr val="97BC62"/>
                </a:solidFill>
                <a:latin typeface="Calibri"/>
              </a:rPr>
              <a:t>1   </a:t>
            </a:r>
            <a:r>
              <a:rPr sz="1600" b="0" i="0">
                <a:solidFill>
                  <a:srgbClr val="222B22"/>
                </a:solidFill>
                <a:latin typeface="Calibri"/>
              </a:rPr>
              <a:t>Where did I begin?</a:t>
            </a:r>
          </a:p>
          <a:p>
            <a:pPr marL="342900" indent="-342900">
              <a:spcAft>
                <a:spcPts val="750"/>
              </a:spcAft>
            </a:pPr>
            <a:r>
              <a:rPr sz="1600" b="1" i="0">
                <a:solidFill>
                  <a:srgbClr val="97BC62"/>
                </a:solidFill>
                <a:latin typeface="Calibri"/>
              </a:rPr>
              <a:t>2   </a:t>
            </a:r>
            <a:r>
              <a:rPr sz="1600" b="0" i="0">
                <a:solidFill>
                  <a:srgbClr val="222B22"/>
                </a:solidFill>
                <a:latin typeface="Calibri"/>
              </a:rPr>
              <a:t>Where did He meet me? — mark those pages; fold a corner</a:t>
            </a:r>
          </a:p>
          <a:p>
            <a:pPr marL="342900" indent="-342900">
              <a:spcAft>
                <a:spcPts val="750"/>
              </a:spcAft>
            </a:pPr>
            <a:r>
              <a:rPr sz="1600" b="1" i="0">
                <a:solidFill>
                  <a:srgbClr val="97BC62"/>
                </a:solidFill>
                <a:latin typeface="Calibri"/>
              </a:rPr>
              <a:t>3   </a:t>
            </a:r>
            <a:r>
              <a:rPr sz="1600" b="0" i="0">
                <a:solidFill>
                  <a:srgbClr val="222B22"/>
                </a:solidFill>
                <a:latin typeface="Calibri"/>
              </a:rPr>
              <a:t>What do I not want to lose?</a:t>
            </a:r>
          </a:p>
          <a:p>
            <a:pPr marL="274320" indent="-274320">
              <a:spcAft>
                <a:spcPts val="750"/>
              </a:spcAft>
            </a:pPr>
            <a:r>
              <a:rPr sz="1600" b="1" i="0">
                <a:solidFill>
                  <a:srgbClr val="97BC62"/>
                </a:solidFill>
                <a:latin typeface="Calibri"/>
              </a:rPr>
              <a:t>•  </a:t>
            </a:r>
            <a:r>
              <a:rPr sz="1600" b="0" i="0">
                <a:solidFill>
                  <a:srgbClr val="222B22"/>
                </a:solidFill>
                <a:latin typeface="Calibri"/>
              </a:rPr>
              <a:t>Twelve minutes, in quiet — parents and teens both. Then find your one sentence.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One Sentence, and the Testimony Gathering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One sentence each — where He met you this year, or what you don’t want to lose. Just the sentence; no story around it. A parent starts.</a:t>
            </a:r>
          </a:p>
          <a:p>
            <a:pPr marL="274320" indent="-274320">
              <a:spcAft>
                <a:spcPts val="900"/>
              </a:spcAft>
            </a:pPr>
            <a:r>
              <a:rPr sz="1800" b="1" i="0">
                <a:solidFill>
                  <a:srgbClr val="97BC62"/>
                </a:solidFill>
                <a:latin typeface="Calibri"/>
              </a:rPr>
              <a:t>•  </a:t>
            </a:r>
            <a:r>
              <a:rPr sz="1800" b="0" i="0">
                <a:solidFill>
                  <a:srgbClr val="222B22"/>
                </a:solidFill>
                <a:latin typeface="Calibri"/>
              </a:rPr>
              <a:t>Pass-anytime holds — a pass gets the same nod a sentence gets</a:t>
            </a:r>
          </a:p>
          <a:p>
            <a:pPr marL="274320" indent="-274320">
              <a:spcAft>
                <a:spcPts val="900"/>
              </a:spcAft>
            </a:pPr>
            <a:r>
              <a:rPr sz="1800" b="1" i="0">
                <a:solidFill>
                  <a:srgbClr val="97BC62"/>
                </a:solidFill>
                <a:latin typeface="Calibri"/>
              </a:rPr>
              <a:t>•  </a:t>
            </a:r>
            <a:r>
              <a:rPr sz="1800" b="0" i="0">
                <a:solidFill>
                  <a:srgbClr val="222B22"/>
                </a:solidFill>
                <a:latin typeface="Calibri"/>
              </a:rPr>
              <a:t>Then one more invitation, genuinely optional: your sentence, read aloud at the sendings — Week 21 or Week 22</a:t>
            </a:r>
          </a:p>
          <a:p>
            <a:pPr marL="274320" indent="-274320">
              <a:spcAft>
                <a:spcPts val="900"/>
              </a:spcAft>
            </a:pPr>
            <a:r>
              <a:rPr sz="1800" b="1" i="0">
                <a:solidFill>
                  <a:srgbClr val="97BC62"/>
                </a:solidFill>
                <a:latin typeface="Calibri"/>
              </a:rPr>
              <a:t>•  </a:t>
            </a:r>
            <a:r>
              <a:rPr sz="1800" b="0" i="0">
                <a:solidFill>
                  <a:srgbClr val="222B22"/>
                </a:solidFill>
                <a:latin typeface="Calibri"/>
              </a:rPr>
              <a:t>Written down exactly as you say it, read back for your nod — signed or anonymous, your choice</a:t>
            </a:r>
          </a:p>
          <a:p>
            <a:pPr marL="274320" indent="-274320">
              <a:spcAft>
                <a:spcPts val="900"/>
              </a:spcAft>
            </a:pPr>
            <a:r>
              <a:rPr sz="1800" b="1" i="0">
                <a:solidFill>
                  <a:srgbClr val="97BC62"/>
                </a:solidFill>
                <a:latin typeface="Calibri"/>
              </a:rPr>
              <a:t>•  </a:t>
            </a:r>
            <a:r>
              <a:rPr sz="1800" b="0" i="0">
                <a:solidFill>
                  <a:srgbClr val="222B22"/>
                </a:solidFill>
                <a:latin typeface="Calibri"/>
              </a:rPr>
              <a:t>“An empty card is a complete answer.” Nothing written, nothing noted, and nobody will ask again.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Post-Series Survey</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bookend to orientation’s Pre-Series Survey. Home tonight; back in the bin at the Week 21 door.</a:t>
            </a:r>
          </a:p>
          <a:p>
            <a:pPr marL="274320" indent="-274320">
              <a:spcAft>
                <a:spcPts val="900"/>
              </a:spcAft>
            </a:pPr>
            <a:r>
              <a:rPr sz="1800" b="1" i="0">
                <a:solidFill>
                  <a:srgbClr val="97BC62"/>
                </a:solidFill>
                <a:latin typeface="Calibri"/>
              </a:rPr>
              <a:t>•  </a:t>
            </a:r>
            <a:r>
              <a:rPr sz="1800" b="0" i="0">
                <a:solidFill>
                  <a:srgbClr val="222B22"/>
                </a:solidFill>
                <a:latin typeface="Calibri"/>
              </a:rPr>
              <a:t>This is a pilot — the first year this has ever run, anywhere. Your honest answers — especially the critical ones — are a gift to families you will never meet.</a:t>
            </a:r>
          </a:p>
          <a:p>
            <a:pPr marL="274320" indent="-274320">
              <a:spcAft>
                <a:spcPts val="900"/>
              </a:spcAft>
            </a:pPr>
            <a:r>
              <a:rPr sz="1800" b="1" i="0">
                <a:solidFill>
                  <a:srgbClr val="97BC62"/>
                </a:solidFill>
                <a:latin typeface="Calibri"/>
              </a:rPr>
              <a:t>•  </a:t>
            </a:r>
            <a:r>
              <a:rPr sz="1800" b="0" i="0">
                <a:solidFill>
                  <a:srgbClr val="222B22"/>
                </a:solidFill>
                <a:latin typeface="Calibri"/>
              </a:rPr>
              <a:t>The same covenant covers it: no scores, no grades, mirrors not levers</a:t>
            </a:r>
          </a:p>
          <a:p>
            <a:pPr marL="274320" indent="-274320">
              <a:spcAft>
                <a:spcPts val="900"/>
              </a:spcAft>
            </a:pPr>
            <a:r>
              <a:rPr sz="1800" b="1" i="0">
                <a:solidFill>
                  <a:srgbClr val="97BC62"/>
                </a:solidFill>
                <a:latin typeface="Calibri"/>
              </a:rPr>
              <a:t>•  </a:t>
            </a:r>
            <a:r>
              <a:rPr sz="1800" b="0" i="0">
                <a:solidFill>
                  <a:srgbClr val="222B22"/>
                </a:solidFill>
                <a:latin typeface="Calibri"/>
              </a:rPr>
              <a:t>One per person — parents and teens each do their own. About twenty minutes. Signed or anonymous, your choice.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We close the way we opened — the container, six steps</a:t>
            </a:r>
          </a:p>
          <a:p>
            <a:pPr marL="274320" indent="-274320">
              <a:spcAft>
                <a:spcPts val="800"/>
              </a:spcAft>
            </a:pPr>
            <a:r>
              <a:rPr sz="1600" b="1" i="0">
                <a:solidFill>
                  <a:srgbClr val="97BC62"/>
                </a:solidFill>
                <a:latin typeface="Calibri"/>
              </a:rPr>
              <a:t>•  </a:t>
            </a:r>
            <a:r>
              <a:rPr sz="1600" b="0" i="0">
                <a:solidFill>
                  <a:srgbClr val="222B22"/>
                </a:solidFill>
                <a:latin typeface="Calibri"/>
              </a:rPr>
              <a:t>One-word landing · the one thing you are taking · the one practice</a:t>
            </a:r>
          </a:p>
          <a:p>
            <a:pPr marL="685800" indent="-274320">
              <a:spcAft>
                <a:spcPts val="600"/>
              </a:spcAft>
            </a:pPr>
            <a:r>
              <a:rPr sz="1500" b="1" i="0">
                <a:solidFill>
                  <a:srgbClr val="97BC62"/>
                </a:solidFill>
                <a:latin typeface="Calibri"/>
              </a:rPr>
              <a:t>–  </a:t>
            </a:r>
            <a:r>
              <a:rPr sz="1500" b="0" i="0">
                <a:solidFill>
                  <a:srgbClr val="222B22"/>
                </a:solidFill>
                <a:latin typeface="Calibri"/>
              </a:rPr>
              <a:t>Commit to the week’s practice aloud — or modify it to something you will actually do</a:t>
            </a:r>
          </a:p>
          <a:p>
            <a:pPr marL="274320" indent="-274320">
              <a:spcAft>
                <a:spcPts val="800"/>
              </a:spcAft>
            </a:pPr>
            <a:r>
              <a:rPr sz="1600" b="1" i="0">
                <a:solidFill>
                  <a:srgbClr val="97BC62"/>
                </a:solidFill>
                <a:latin typeface="Calibri"/>
              </a:rPr>
              <a:t>•  </a:t>
            </a:r>
            <a:r>
              <a:rPr sz="1600" b="0" i="0">
                <a:solidFill>
                  <a:srgbClr val="222B22"/>
                </a:solidFill>
                <a:latin typeface="Calibri"/>
              </a:rPr>
              <a:t>Blessings — specific, witnessed, short</a:t>
            </a:r>
          </a:p>
          <a:p>
            <a:pPr marL="274320" indent="-274320">
              <a:spcAft>
                <a:spcPts val="800"/>
              </a:spcAft>
            </a:pPr>
            <a:r>
              <a:rPr sz="1600" b="1" i="0">
                <a:solidFill>
                  <a:srgbClr val="97BC62"/>
                </a:solidFill>
                <a:latin typeface="Calibri"/>
              </a:rPr>
              <a:t>•  </a:t>
            </a:r>
            <a:r>
              <a:rPr sz="1600" b="0" i="0">
                <a:solidFill>
                  <a:srgbClr val="222B22"/>
                </a:solidFill>
                <a:latin typeface="Calibri"/>
              </a:rPr>
              <a:t>Then the Aaronic blessing —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Welcome and Integration Teaching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Fourteen Wednesdays — the soil of the heart, our stories, confession and restoration, hearing God in scripture, the gardens of our hearts, the quiet doubts, what was prepared for us</a:t>
            </a:r>
          </a:p>
          <a:p>
            <a:pPr marL="274320" indent="-274320">
              <a:spcAft>
                <a:spcPts val="900"/>
              </a:spcAft>
            </a:pPr>
            <a:r>
              <a:rPr sz="1800" b="1" i="0">
                <a:solidFill>
                  <a:srgbClr val="97BC62"/>
                </a:solidFill>
                <a:latin typeface="Calibri"/>
              </a:rPr>
              <a:t>•  </a:t>
            </a:r>
            <a:r>
              <a:rPr sz="1800" b="0" i="0">
                <a:solidFill>
                  <a:srgbClr val="222B22"/>
                </a:solidFill>
                <a:latin typeface="Calibri"/>
              </a:rPr>
              <a:t>Tonight is the integration. The four Connects are not separate disciplines — they are a sequence: Self, Others, God, Mission. Each one creates the conditions for the next.</a:t>
            </a:r>
          </a:p>
          <a:p>
            <a:pPr marL="274320" indent="-274320">
              <a:spcAft>
                <a:spcPts val="900"/>
              </a:spcAft>
            </a:pPr>
            <a:r>
              <a:rPr sz="1800" b="1" i="0">
                <a:solidFill>
                  <a:srgbClr val="97BC62"/>
                </a:solidFill>
                <a:latin typeface="Calibri"/>
              </a:rPr>
              <a:t>•  </a:t>
            </a:r>
            <a:r>
              <a:rPr sz="1800" b="0" i="0">
                <a:solidFill>
                  <a:srgbClr val="222B22"/>
                </a:solidFill>
                <a:latin typeface="Calibri"/>
              </a:rPr>
              <a:t>They are also a way of life — lived in family, witnessed in community</a:t>
            </a:r>
          </a:p>
          <a:p>
            <a:pPr marL="274320" indent="-274320">
              <a:spcAft>
                <a:spcPts val="900"/>
              </a:spcAft>
            </a:pPr>
            <a:r>
              <a:rPr sz="1800" b="1" i="0">
                <a:solidFill>
                  <a:srgbClr val="97BC62"/>
                </a:solidFill>
                <a:latin typeface="Calibri"/>
              </a:rPr>
              <a:t>•  </a:t>
            </a:r>
            <a:r>
              <a:rPr sz="1800" b="0" i="0">
                <a:solidFill>
                  <a:srgbClr val="222B22"/>
                </a:solidFill>
                <a:latin typeface="Calibri"/>
              </a:rPr>
              <a:t>Tonight: each parent-and-teen pair stands in the center; each speaks a specific witnessed blessing over the other; the whole community speaks the Aaronic blessing over each family</a:t>
            </a:r>
          </a:p>
          <a:p>
            <a:pPr marL="274320" indent="-274320">
              <a:spcAft>
                <a:spcPts val="900"/>
              </a:spcAft>
            </a:pPr>
            <a:r>
              <a:rPr sz="1800" b="1" i="0">
                <a:solidFill>
                  <a:srgbClr val="97BC62"/>
                </a:solidFill>
                <a:latin typeface="Calibri"/>
              </a:rPr>
              <a:t>•  </a:t>
            </a:r>
            <a:r>
              <a:rPr sz="1800" b="0" i="0">
                <a:solidFill>
                  <a:srgbClr val="222B22"/>
                </a:solidFill>
                <a:latin typeface="Calibri"/>
              </a:rPr>
              <a:t>If you are new tonight: your job is to bear witness. Your presence is the gift.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Brief Blessing Rehearsal — the Form</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Three sentences. Just three. The worksheet you got Friday has the form.</a:t>
            </a:r>
          </a:p>
          <a:p>
            <a:pPr marL="342900" indent="-342900">
              <a:spcAft>
                <a:spcPts val="750"/>
              </a:spcAft>
            </a:pPr>
            <a:r>
              <a:rPr sz="1600" b="1" i="0">
                <a:solidFill>
                  <a:srgbClr val="97BC62"/>
                </a:solidFill>
                <a:latin typeface="Calibri"/>
              </a:rPr>
              <a:t>1   </a:t>
            </a:r>
            <a:r>
              <a:rPr sz="1600" b="0" i="0">
                <a:solidFill>
                  <a:srgbClr val="222B22"/>
                </a:solidFill>
                <a:latin typeface="Calibri"/>
              </a:rPr>
              <a:t>“What I have specifically seen God doing in you across Getting Started is _____.” Something you actually noticed.</a:t>
            </a:r>
          </a:p>
          <a:p>
            <a:pPr marL="342900" indent="-342900">
              <a:spcAft>
                <a:spcPts val="750"/>
              </a:spcAft>
            </a:pPr>
            <a:r>
              <a:rPr sz="1600" b="1" i="0">
                <a:solidFill>
                  <a:srgbClr val="97BC62"/>
                </a:solidFill>
                <a:latin typeface="Calibri"/>
              </a:rPr>
              <a:t>2   </a:t>
            </a:r>
            <a:r>
              <a:rPr sz="1600" b="0" i="0">
                <a:solidFill>
                  <a:srgbClr val="222B22"/>
                </a:solidFill>
                <a:latin typeface="Calibri"/>
              </a:rPr>
              <a:t>“What I bless in you tonight is _____.” Something true about who they are.</a:t>
            </a:r>
          </a:p>
          <a:p>
            <a:pPr marL="342900" indent="-342900">
              <a:spcAft>
                <a:spcPts val="750"/>
              </a:spcAft>
            </a:pPr>
            <a:r>
              <a:rPr sz="1600" b="1" i="0">
                <a:solidFill>
                  <a:srgbClr val="97BC62"/>
                </a:solidFill>
                <a:latin typeface="Calibri"/>
              </a:rPr>
              <a:t>3   </a:t>
            </a:r>
            <a:r>
              <a:rPr sz="1600" b="0" i="0">
                <a:solidFill>
                  <a:srgbClr val="222B22"/>
                </a:solidFill>
                <a:latin typeface="Calibri"/>
              </a:rPr>
              <a:t>“What I commit to you in our relationship moving forward is _____.” Something you will actually do.</a:t>
            </a:r>
          </a:p>
          <a:p>
            <a:pPr marL="274320" indent="-274320">
              <a:spcAft>
                <a:spcPts val="750"/>
              </a:spcAft>
            </a:pPr>
            <a:r>
              <a:rPr sz="1600" b="1" i="0">
                <a:solidFill>
                  <a:srgbClr val="97BC62"/>
                </a:solidFill>
                <a:latin typeface="Calibri"/>
              </a:rPr>
              <a:t>•  </a:t>
            </a:r>
            <a:r>
              <a:rPr sz="1600" b="0" i="0">
                <a:solidFill>
                  <a:srgbClr val="222B22"/>
                </a:solidFill>
                <a:latin typeface="Calibri"/>
              </a:rPr>
              <a:t>The brevity is the discipline — we are not making speeches; we are speaking truth in front of witnesses</a:t>
            </a:r>
          </a:p>
          <a:p>
            <a:pPr marL="274320" indent="-274320">
              <a:spcAft>
                <a:spcPts val="750"/>
              </a:spcAft>
            </a:pPr>
            <a:r>
              <a:rPr sz="1600" b="1" i="0">
                <a:solidFill>
                  <a:srgbClr val="97BC62"/>
                </a:solidFill>
                <a:latin typeface="Calibri"/>
              </a:rPr>
              <a:t>•  </a:t>
            </a:r>
            <a:r>
              <a:rPr sz="1600" b="0" i="0">
                <a:solidFill>
                  <a:srgbClr val="222B22"/>
                </a:solidFill>
                <a:latin typeface="Calibri"/>
              </a:rPr>
              <a:t>Two Companions demo a real blessing, then brief questions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Reading and Prayer</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Two scriptures before we begin — the blessing itself, and what we are commissioning each other into</a:t>
            </a:r>
          </a:p>
          <a:p>
            <a:pPr marL="274320" indent="-274320">
              <a:spcAft>
                <a:spcPts val="800"/>
              </a:spcAft>
            </a:pPr>
            <a:r>
              <a:rPr sz="1600" b="1" i="0">
                <a:solidFill>
                  <a:srgbClr val="97BC62"/>
                </a:solidFill>
                <a:latin typeface="Calibri"/>
              </a:rPr>
              <a:t>•  </a:t>
            </a:r>
            <a:r>
              <a:rPr sz="1600" b="0" i="0">
                <a:solidFill>
                  <a:srgbClr val="222B22"/>
                </a:solidFill>
                <a:latin typeface="Calibri"/>
              </a:rPr>
              <a:t>The Aaronic blessing is not a generic prayer — it is the specific words God gave Aaron and his sons to speak over Israel. When we speak it over each other, we are not improvising.</a:t>
            </a:r>
          </a:p>
          <a:p>
            <a:pPr marL="274320" indent="-274320">
              <a:spcAft>
                <a:spcPts val="800"/>
              </a:spcAft>
            </a:pPr>
            <a:r>
              <a:rPr sz="1600" b="1" i="0">
                <a:solidFill>
                  <a:srgbClr val="97BC62"/>
                </a:solidFill>
                <a:latin typeface="Calibri"/>
              </a:rPr>
              <a:t>•  </a:t>
            </a:r>
            <a:r>
              <a:rPr sz="1600" b="0" i="0">
                <a:solidFill>
                  <a:srgbClr val="222B22"/>
                </a:solidFill>
                <a:latin typeface="Calibri"/>
              </a:rPr>
              <a:t>Philippians 1:6 — Getting Started is not the completion; it is part of the beginning. The next stretch is a longer work that is His to finish, not ours.</a:t>
            </a:r>
          </a:p>
          <a:p>
            <a:pPr marL="685800" indent="-274320">
              <a:spcAft>
                <a:spcPts val="600"/>
              </a:spcAft>
            </a:pPr>
            <a:r>
              <a:rPr sz="1500" b="1" i="0">
                <a:solidFill>
                  <a:srgbClr val="97BC62"/>
                </a:solidFill>
                <a:latin typeface="Calibri"/>
              </a:rPr>
              <a:t>–  </a:t>
            </a:r>
            <a:r>
              <a:rPr sz="1500" b="0" i="1">
                <a:solidFill>
                  <a:srgbClr val="222B22"/>
                </a:solidFill>
                <a:latin typeface="Calibri"/>
              </a:rPr>
              <a:t>“And I am sure of this, that he who began a good work in you will bring it to completion at the day of Jesus Christ.” — Philippians 1:6</a:t>
            </a:r>
          </a:p>
          <a:p>
            <a:pPr marL="274320" indent="-274320">
              <a:spcAft>
                <a:spcPts val="800"/>
              </a:spcAft>
            </a:pPr>
            <a:r>
              <a:rPr sz="1600" b="1" i="0">
                <a:solidFill>
                  <a:srgbClr val="97BC62"/>
                </a:solidFill>
                <a:latin typeface="Calibri"/>
              </a:rPr>
              <a:t>•  </a:t>
            </a:r>
            <a:r>
              <a:rPr sz="1600" b="0" i="0">
                <a:solidFill>
                  <a:srgbClr val="222B22"/>
                </a:solidFill>
                <a:latin typeface="Calibri"/>
              </a:rPr>
              <a:t>Then prayer over the commissioning to come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NUMBERS 6:24–26</a:t>
            </a:r>
          </a:p>
          <a:p>
            <a:pPr>
              <a:spcAft>
                <a:spcPts val="600"/>
              </a:spcAft>
            </a:pPr>
            <a:r>
              <a:rPr sz="1600" b="0" i="1">
                <a:solidFill>
                  <a:srgbClr val="222B22"/>
                </a:solidFill>
                <a:latin typeface="Cambria"/>
              </a:rPr>
              <a:t>“The Lord bless you and keep you;</a:t>
            </a:r>
          </a:p>
          <a:p>
            <a:pPr>
              <a:spcAft>
                <a:spcPts val="600"/>
              </a:spcAft>
            </a:pPr>
            <a:r>
              <a:rPr sz="1600" b="0" i="1">
                <a:solidFill>
                  <a:srgbClr val="222B22"/>
                </a:solidFill>
                <a:latin typeface="Cambria"/>
              </a:rPr>
              <a:t>the Lord make his face to shine upon you and be gracious to you;</a:t>
            </a:r>
          </a:p>
          <a:p>
            <a:pPr>
              <a:spcAft>
                <a:spcPts val="600"/>
              </a:spcAft>
            </a:pPr>
            <a:r>
              <a:rPr sz="16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Family Commissionings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Each family in turn — parent and teen stand in the center; the rest of the family stands behind them in support</a:t>
            </a:r>
          </a:p>
          <a:p>
            <a:pPr marL="342900" indent="-342900">
              <a:spcAft>
                <a:spcPts val="750"/>
              </a:spcAft>
            </a:pPr>
            <a:r>
              <a:rPr sz="1600" b="1" i="0">
                <a:solidFill>
                  <a:srgbClr val="97BC62"/>
                </a:solidFill>
                <a:latin typeface="Calibri"/>
              </a:rPr>
              <a:t>1   </a:t>
            </a:r>
            <a:r>
              <a:rPr sz="1600" b="0" i="0">
                <a:solidFill>
                  <a:srgbClr val="222B22"/>
                </a:solidFill>
                <a:latin typeface="Calibri"/>
              </a:rPr>
              <a:t>Brief framing — “We have walked with [name] through Getting Started; we have seen _____.”</a:t>
            </a:r>
          </a:p>
          <a:p>
            <a:pPr marL="342900" indent="-342900">
              <a:spcAft>
                <a:spcPts val="750"/>
              </a:spcAft>
            </a:pPr>
            <a:r>
              <a:rPr sz="1600" b="1" i="0">
                <a:solidFill>
                  <a:srgbClr val="97BC62"/>
                </a:solidFill>
                <a:latin typeface="Calibri"/>
              </a:rPr>
              <a:t>2   </a:t>
            </a:r>
            <a:r>
              <a:rPr sz="1600" b="0" i="0">
                <a:solidFill>
                  <a:srgbClr val="222B22"/>
                </a:solidFill>
                <a:latin typeface="Calibri"/>
              </a:rPr>
              <a:t>Teen blesses parent first — the three sentences</a:t>
            </a:r>
          </a:p>
          <a:p>
            <a:pPr marL="342900" indent="-342900">
              <a:spcAft>
                <a:spcPts val="750"/>
              </a:spcAft>
            </a:pPr>
            <a:r>
              <a:rPr sz="1600" b="1" i="0">
                <a:solidFill>
                  <a:srgbClr val="97BC62"/>
                </a:solidFill>
                <a:latin typeface="Calibri"/>
              </a:rPr>
              <a:t>3   </a:t>
            </a:r>
            <a:r>
              <a:rPr sz="1600" b="0" i="0">
                <a:solidFill>
                  <a:srgbClr val="222B22"/>
                </a:solidFill>
                <a:latin typeface="Calibri"/>
              </a:rPr>
              <a:t>Parent blesses teen — the three sentences</a:t>
            </a:r>
          </a:p>
          <a:p>
            <a:pPr marL="342900" indent="-342900">
              <a:spcAft>
                <a:spcPts val="750"/>
              </a:spcAft>
            </a:pPr>
            <a:r>
              <a:rPr sz="1600" b="1" i="0">
                <a:solidFill>
                  <a:srgbClr val="97BC62"/>
                </a:solidFill>
                <a:latin typeface="Calibri"/>
              </a:rPr>
              <a:t>4   </a:t>
            </a:r>
            <a:r>
              <a:rPr sz="1600" b="0" i="0">
                <a:solidFill>
                  <a:srgbClr val="222B22"/>
                </a:solidFill>
                <a:latin typeface="Calibri"/>
              </a:rPr>
              <a:t>“Family of [last name], the community now blesses you.” The whole room speaks the Aaronic blessing aloud together, slowly.</a:t>
            </a:r>
          </a:p>
          <a:p>
            <a:pPr marL="274320" indent="-274320">
              <a:spcAft>
                <a:spcPts val="750"/>
              </a:spcAft>
            </a:pPr>
            <a:r>
              <a:rPr sz="1600" b="1" i="0">
                <a:solidFill>
                  <a:srgbClr val="97BC62"/>
                </a:solidFill>
                <a:latin typeface="Calibri"/>
              </a:rPr>
              <a:t>•  </a:t>
            </a:r>
            <a:r>
              <a:rPr sz="1600" b="0" i="0">
                <a:solidFill>
                  <a:srgbClr val="222B22"/>
                </a:solidFill>
                <a:latin typeface="Calibri"/>
              </a:rPr>
              <a:t>If you freeze — take your time, or ask the other person to read your worksheet for you. If you cry, that is fine. The room can wait.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Final Reflection Circle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Around the circle, each person: one specific takeaway from Getting Started, and one specific next commitment — about thirty seconds each</a:t>
            </a:r>
          </a:p>
          <a:p>
            <a:pPr marL="685800" indent="-274320">
              <a:spcAft>
                <a:spcPts val="700"/>
              </a:spcAft>
            </a:pPr>
            <a:r>
              <a:rPr sz="1600" b="1" i="0">
                <a:solidFill>
                  <a:srgbClr val="97BC62"/>
                </a:solidFill>
                <a:latin typeface="Calibri"/>
              </a:rPr>
              <a:t>–  </a:t>
            </a:r>
            <a:r>
              <a:rPr sz="1600" b="0" i="1">
                <a:solidFill>
                  <a:srgbClr val="222B22"/>
                </a:solidFill>
                <a:latin typeface="Calibri"/>
              </a:rPr>
              <a:t>The takeaway can be small — “I learned that I can name a doubt without losing my faith.” “I learned that my dad sees me.”</a:t>
            </a:r>
          </a:p>
          <a:p>
            <a:pPr marL="685800" indent="-274320">
              <a:spcAft>
                <a:spcPts val="700"/>
              </a:spcAft>
            </a:pPr>
            <a:r>
              <a:rPr sz="1600" b="1" i="0">
                <a:solidFill>
                  <a:srgbClr val="97BC62"/>
                </a:solidFill>
                <a:latin typeface="Calibri"/>
              </a:rPr>
              <a:t>–  </a:t>
            </a:r>
            <a:r>
              <a:rPr sz="1600" b="0" i="1">
                <a:solidFill>
                  <a:srgbClr val="222B22"/>
                </a:solidFill>
                <a:latin typeface="Calibri"/>
              </a:rPr>
              <a:t>The commitment can be small too — “I will keep the morning question.” “I will tell my mom one true thing this week.”</a:t>
            </a:r>
          </a:p>
          <a:p>
            <a:pPr marL="274320" indent="-274320">
              <a:spcAft>
                <a:spcPts val="900"/>
              </a:spcAft>
            </a:pPr>
            <a:r>
              <a:rPr sz="1800" b="1" i="0">
                <a:solidFill>
                  <a:srgbClr val="97BC62"/>
                </a:solidFill>
                <a:latin typeface="Calibri"/>
              </a:rPr>
              <a:t>•  </a:t>
            </a:r>
            <a:r>
              <a:rPr sz="1800" b="0" i="0">
                <a:solidFill>
                  <a:srgbClr val="222B22"/>
                </a:solidFill>
                <a:latin typeface="Calibri"/>
              </a:rPr>
              <a:t>You can pass. Visiting family can pass — or share if you want to. The Cluster Companions go first; a parent opens for the families.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Rhythm Card and Going Deeper Bridge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900"/>
              </a:spcAft>
            </a:pPr>
            <a:r>
              <a:rPr sz="1800" b="1" i="0">
                <a:solidFill>
                  <a:srgbClr val="97BC62"/>
                </a:solidFill>
                <a:latin typeface="Calibri"/>
              </a:rPr>
              <a:t>1   </a:t>
            </a:r>
            <a:r>
              <a:rPr sz="1800" b="0" i="0">
                <a:solidFill>
                  <a:srgbClr val="222B22"/>
                </a:solidFill>
                <a:latin typeface="Calibri"/>
              </a:rPr>
              <a:t>The Daily / Weekly / Monthly Rhythm Card — daily: the morning question and an evening journal note; weekly: one person who knows what you are working on; monthly: a clearing time. It is your card, in your handwriting.</a:t>
            </a:r>
          </a:p>
          <a:p>
            <a:pPr marL="342900" indent="-342900">
              <a:spcAft>
                <a:spcPts val="900"/>
              </a:spcAft>
            </a:pPr>
            <a:r>
              <a:rPr sz="1800" b="1" i="0">
                <a:solidFill>
                  <a:srgbClr val="97BC62"/>
                </a:solidFill>
                <a:latin typeface="Calibri"/>
              </a:rPr>
              <a:t>2   </a:t>
            </a:r>
            <a:r>
              <a:rPr sz="1800" b="0" i="0">
                <a:solidFill>
                  <a:srgbClr val="222B22"/>
                </a:solidFill>
                <a:latin typeface="Calibri"/>
              </a:rPr>
              <a:t>The Going Deeper bridge — twelve Wednesdays. Decide on your own time. Tonight is not a recruiting pitch.</a:t>
            </a:r>
          </a:p>
          <a:p>
            <a:pPr marL="342900" indent="-342900">
              <a:spcAft>
                <a:spcPts val="900"/>
              </a:spcAft>
            </a:pPr>
            <a:r>
              <a:rPr sz="1800" b="1" i="0">
                <a:solidFill>
                  <a:srgbClr val="97BC62"/>
                </a:solidFill>
                <a:latin typeface="Calibri"/>
              </a:rPr>
              <a:t>3   </a:t>
            </a:r>
            <a:r>
              <a:rPr sz="1800" b="0" i="0">
                <a:solidFill>
                  <a:srgbClr val="222B22"/>
                </a:solidFill>
                <a:latin typeface="Calibri"/>
              </a:rPr>
              <a:t>The Post-Series Survey — the bin at the door tonight, or email it this week. The next group of families benefits from your honesty.</a:t>
            </a:r>
          </a:p>
          <a:p>
            <a:pPr marL="274320" indent="-274320">
              <a:spcAft>
                <a:spcPts val="900"/>
              </a:spcAft>
            </a:pPr>
            <a:r>
              <a:rPr sz="1800" b="1" i="0">
                <a:solidFill>
                  <a:srgbClr val="97BC62"/>
                </a:solidFill>
                <a:latin typeface="Calibri"/>
              </a:rPr>
              <a:t>•  </a:t>
            </a:r>
            <a:r>
              <a:rPr sz="1800" b="0" i="0">
                <a:solidFill>
                  <a:srgbClr val="222B22"/>
                </a:solidFill>
                <a:latin typeface="Calibri"/>
              </a:rPr>
              <a:t>If a daily practice slips — do not start over from scratch; start the next day. Streaks are not the point. Returning is the point.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Welcome and Framing — a Gate, Not a Graduation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Last week we commissioned the families. Tonight we commission the Companions — and this is not a graduation. Nobody is leaving; tonight opens a door further in.</a:t>
            </a:r>
          </a:p>
          <a:p>
            <a:pPr marL="274320" indent="-274320">
              <a:spcAft>
                <a:spcPts val="750"/>
              </a:spcAft>
            </a:pPr>
            <a:r>
              <a:rPr sz="1600" b="1" i="0">
                <a:solidFill>
                  <a:srgbClr val="97BC62"/>
                </a:solidFill>
                <a:latin typeface="Calibri"/>
              </a:rPr>
              <a:t>•  </a:t>
            </a:r>
            <a:r>
              <a:rPr sz="1600" b="0" i="0">
                <a:solidFill>
                  <a:srgbClr val="222B22"/>
                </a:solidFill>
                <a:latin typeface="Calibri"/>
              </a:rPr>
              <a:t>The seniors become FC1 — Formation Companion, Level One: a serving place in this body. Not finishing something — beginning something.</a:t>
            </a:r>
          </a:p>
          <a:p>
            <a:pPr marL="342900" indent="-342900">
              <a:spcAft>
                <a:spcPts val="750"/>
              </a:spcAft>
            </a:pPr>
            <a:r>
              <a:rPr sz="1600" b="1" i="0">
                <a:solidFill>
                  <a:srgbClr val="97BC62"/>
                </a:solidFill>
                <a:latin typeface="Calibri"/>
              </a:rPr>
              <a:t>1   </a:t>
            </a:r>
            <a:r>
              <a:rPr sz="1600" b="0" i="0">
                <a:solidFill>
                  <a:srgbClr val="222B22"/>
                </a:solidFill>
                <a:latin typeface="Calibri"/>
              </a:rPr>
              <a:t>The final rep — the container opened and closed from memory, no script</a:t>
            </a:r>
          </a:p>
          <a:p>
            <a:pPr marL="342900" indent="-342900">
              <a:spcAft>
                <a:spcPts val="750"/>
              </a:spcAft>
            </a:pPr>
            <a:r>
              <a:rPr sz="1600" b="1" i="0">
                <a:solidFill>
                  <a:srgbClr val="97BC62"/>
                </a:solidFill>
                <a:latin typeface="Calibri"/>
              </a:rPr>
              <a:t>2   </a:t>
            </a:r>
            <a:r>
              <a:rPr sz="1600" b="0" i="0">
                <a:solidFill>
                  <a:srgbClr val="222B22"/>
                </a:solidFill>
                <a:latin typeface="Calibri"/>
              </a:rPr>
              <a:t>The three rules that never bend, read aloud to the whole room</a:t>
            </a:r>
          </a:p>
          <a:p>
            <a:pPr marL="342900" indent="-342900">
              <a:spcAft>
                <a:spcPts val="750"/>
              </a:spcAft>
            </a:pPr>
            <a:r>
              <a:rPr sz="1600" b="1" i="0">
                <a:solidFill>
                  <a:srgbClr val="97BC62"/>
                </a:solidFill>
                <a:latin typeface="Calibri"/>
              </a:rPr>
              <a:t>3   </a:t>
            </a:r>
            <a:r>
              <a:rPr sz="1600" b="0" i="0">
                <a:solidFill>
                  <a:srgbClr val="222B22"/>
                </a:solidFill>
                <a:latin typeface="Calibri"/>
              </a:rPr>
              <a:t>The covering named — the adult each new FC1 calls when they are over their head</a:t>
            </a:r>
          </a:p>
          <a:p>
            <a:pPr marL="342900" indent="-342900">
              <a:spcAft>
                <a:spcPts val="750"/>
              </a:spcAft>
            </a:pPr>
            <a:r>
              <a:rPr sz="1600" b="1" i="0">
                <a:solidFill>
                  <a:srgbClr val="97BC62"/>
                </a:solidFill>
                <a:latin typeface="Calibri"/>
              </a:rPr>
              <a:t>4   </a:t>
            </a:r>
            <a:r>
              <a:rPr sz="1600" b="0" i="0">
                <a:solidFill>
                  <a:srgbClr val="222B22"/>
                </a:solidFill>
                <a:latin typeface="Calibri"/>
              </a:rPr>
              <a:t>The commissioning — blessing spoken over each one, and the first Leader Lab on the calendar before anyone leaves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4" name="Picture 34" descr="the open door - the same doorway the year began with"/>
          <p:cNvPicPr>
            <a:picLocks noChangeAspect="1"/>
          </p:cNvPicPr>
          <p:nvPr/>
        </p:nvPicPr>
        <p:blipFill>
          <a:blip r:embed="rId2"/>
          <a:stretch>
            <a:fillRect/>
          </a:stretch>
        </p:blipFill>
        <p:spPr>
          <a:xfrm>
            <a:off x="7693904" y="1463040"/>
            <a:ext cx="3672087" cy="4892040"/>
          </a:xfrm>
          <a:prstGeom prst="rect">
            <a:avLst/>
          </a:prstGeom>
        </p:spPr>
      </p:pic>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Final Rep — the Container Opened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1600" b="1" i="0">
                <a:solidFill>
                  <a:srgbClr val="97BC62"/>
                </a:solidFill>
                <a:latin typeface="Calibri"/>
              </a:rPr>
              <a:t>•  </a:t>
            </a:r>
            <a:r>
              <a:rPr sz="1600" b="0" i="0">
                <a:solidFill>
                  <a:srgbClr val="222B22"/>
                </a:solidFill>
                <a:latin typeface="Calibri"/>
              </a:rPr>
              <a:t>Container fluency is FC1’s spine competency — Safe, Present, Clear, Intentional, from memory, without a script. Tonight is the witness of it, not the exam.</a:t>
            </a:r>
          </a:p>
          <a:p>
            <a:pPr marL="274320" indent="-274320">
              <a:spcAft>
                <a:spcPts val="750"/>
              </a:spcAft>
            </a:pPr>
            <a:r>
              <a:rPr sz="1600" b="1" i="0">
                <a:solidFill>
                  <a:srgbClr val="97BC62"/>
                </a:solidFill>
                <a:latin typeface="Calibri"/>
              </a:rPr>
              <a:t>•  </a:t>
            </a:r>
            <a:r>
              <a:rPr sz="1600" b="0" i="0">
                <a:solidFill>
                  <a:srgbClr val="222B22"/>
                </a:solidFill>
                <a:latin typeface="Calibri"/>
              </a:rPr>
              <a:t>One senior opens the container whole — welcome, phones, the standing circle, one-word check-in, put out / bring in, the spoken commitment, opening prayer</a:t>
            </a:r>
          </a:p>
          <a:p>
            <a:pPr marL="685800" indent="-274320">
              <a:spcAft>
                <a:spcPts val="550"/>
              </a:spcAft>
            </a:pPr>
            <a:r>
              <a:rPr sz="1500" b="1" i="0">
                <a:solidFill>
                  <a:srgbClr val="97BC62"/>
                </a:solidFill>
                <a:latin typeface="Calibri"/>
              </a:rPr>
              <a:t>–  </a:t>
            </a:r>
            <a:r>
              <a:rPr sz="1500" b="0" i="1">
                <a:solidFill>
                  <a:srgbClr val="222B22"/>
                </a:solidFill>
                <a:latin typeface="Calibri"/>
              </a:rPr>
              <a:t>“I am here. I am paying attention. I am willing to be moved.”</a:t>
            </a:r>
          </a:p>
          <a:p>
            <a:pPr marL="274320" indent="-274320">
              <a:spcAft>
                <a:spcPts val="750"/>
              </a:spcAft>
            </a:pPr>
            <a:r>
              <a:rPr sz="1600" b="1" i="0">
                <a:solidFill>
                  <a:srgbClr val="97BC62"/>
                </a:solidFill>
                <a:latin typeface="Calibri"/>
              </a:rPr>
              <a:t>•  </a:t>
            </a:r>
            <a:r>
              <a:rPr sz="1600" b="0" i="0">
                <a:solidFill>
                  <a:srgbClr val="222B22"/>
                </a:solidFill>
                <a:latin typeface="Calibri"/>
              </a:rPr>
              <a:t>Every other senior speaks one condition from memory — in their own words, with one short true story of holding it while leading this year</a:t>
            </a:r>
          </a:p>
          <a:p>
            <a:pPr marL="274320" indent="-274320">
              <a:spcAft>
                <a:spcPts val="750"/>
              </a:spcAft>
            </a:pPr>
            <a:r>
              <a:rPr sz="1600" b="1" i="0">
                <a:solidFill>
                  <a:srgbClr val="97BC62"/>
                </a:solidFill>
                <a:latin typeface="Calibri"/>
              </a:rPr>
              <a:t>•  </a:t>
            </a:r>
            <a:r>
              <a:rPr sz="1600" b="0" i="0">
                <a:solidFill>
                  <a:srgbClr val="222B22"/>
                </a:solidFill>
                <a:latin typeface="Calibri"/>
              </a:rPr>
              <a:t>One senior is held in reserve — tonight’s close is theirs</a:t>
            </a:r>
          </a:p>
          <a:p>
            <a:pPr marL="274320" indent="-274320">
              <a:spcAft>
                <a:spcPts val="750"/>
              </a:spcAft>
            </a:pPr>
            <a:r>
              <a:rPr sz="1600" b="1" i="0">
                <a:solidFill>
                  <a:srgbClr val="97BC62"/>
                </a:solidFill>
                <a:latin typeface="Calibri"/>
              </a:rPr>
              <a:t>•  </a:t>
            </a:r>
            <a:r>
              <a:rPr sz="1600" b="0" i="0">
                <a:solidFill>
                  <a:srgbClr val="222B22"/>
                </a:solidFill>
                <a:latin typeface="Calibri"/>
              </a:rPr>
              <a:t>The gate is fluency across the arc, not perfection tonight. A stumble is not a fail.</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Word Over the Night</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1600" b="1" i="0">
                <a:solidFill>
                  <a:srgbClr val="97BC62"/>
                </a:solidFill>
                <a:latin typeface="Calibri"/>
              </a:rPr>
              <a:t>•  </a:t>
            </a:r>
            <a:r>
              <a:rPr sz="1600" b="0" i="0">
                <a:solidFill>
                  <a:srgbClr val="222B22"/>
                </a:solidFill>
                <a:latin typeface="Calibri"/>
              </a:rPr>
              <a:t>Count the generations: Paul. Timothy. Faithful ones. Others also. Four generations in a single sentence — and the handing happens “in the presence of many witnesses.” In a room like this one.</a:t>
            </a:r>
          </a:p>
          <a:p>
            <a:pPr marL="274320" indent="-274320">
              <a:spcAft>
                <a:spcPts val="800"/>
              </a:spcAft>
            </a:pPr>
            <a:r>
              <a:rPr sz="1600" b="1" i="0">
                <a:solidFill>
                  <a:srgbClr val="97BC62"/>
                </a:solidFill>
                <a:latin typeface="Calibri"/>
              </a:rPr>
              <a:t>•  </a:t>
            </a:r>
            <a:r>
              <a:rPr sz="1600" b="0" i="0">
                <a:solidFill>
                  <a:srgbClr val="222B22"/>
                </a:solidFill>
                <a:latin typeface="Calibri"/>
              </a:rPr>
              <a:t>Tonight the third generation stands up in front of the second — and the fourth is already sitting in the room</a:t>
            </a:r>
          </a:p>
          <a:p>
            <a:pPr marL="274320" indent="-274320">
              <a:spcAft>
                <a:spcPts val="800"/>
              </a:spcAft>
            </a:pPr>
            <a:r>
              <a:rPr sz="1600" b="1" i="0">
                <a:solidFill>
                  <a:srgbClr val="97BC62"/>
                </a:solidFill>
                <a:latin typeface="Calibri"/>
              </a:rPr>
              <a:t>•  </a:t>
            </a:r>
            <a:r>
              <a:rPr sz="1600" b="0" i="0">
                <a:solidFill>
                  <a:srgbClr val="222B22"/>
                </a:solidFill>
                <a:latin typeface="Calibri"/>
              </a:rPr>
              <a:t>1 Timothy 4:12 — “Let no one despise you for your youth, but set the believers an example in speech, in conduct, in love, in faith, in purity.”</a:t>
            </a:r>
          </a:p>
          <a:p>
            <a:pPr marL="274320" indent="-274320">
              <a:spcAft>
                <a:spcPts val="800"/>
              </a:spcAft>
            </a:pPr>
            <a:r>
              <a:rPr sz="1600" b="1" i="0">
                <a:solidFill>
                  <a:srgbClr val="97BC62"/>
                </a:solidFill>
                <a:latin typeface="Calibri"/>
              </a:rPr>
              <a:t>•  </a:t>
            </a:r>
            <a:r>
              <a:rPr sz="1600" b="0" i="0">
                <a:solidFill>
                  <a:srgbClr val="222B22"/>
                </a:solidFill>
                <a:latin typeface="Calibri"/>
              </a:rPr>
              <a:t>Tonight this room does the opposite of despising. Then prayer over the seniors.</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2 TIMOTHY 2:2</a:t>
            </a:r>
          </a:p>
          <a:p>
            <a:pPr>
              <a:spcAft>
                <a:spcPts val="600"/>
              </a:spcAft>
            </a:pPr>
            <a:r>
              <a:rPr sz="1600" b="0" i="1">
                <a:solidFill>
                  <a:srgbClr val="222B22"/>
                </a:solidFill>
                <a:latin typeface="Cambria"/>
              </a:rPr>
              <a:t>“and what you have heard from me in the presence of many witnesses entrust to faithful men, who will be able to teach others also.”</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Three Rules Read Aloud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bright line made public — the whole room hears the boundaries its young leaders keep. These rules protect you and your kids as much as they protect the leaders.</a:t>
            </a:r>
          </a:p>
          <a:p>
            <a:pPr marL="342900" indent="-342900">
              <a:spcAft>
                <a:spcPts val="900"/>
              </a:spcAft>
            </a:pPr>
            <a:r>
              <a:rPr sz="1800" b="1" i="0">
                <a:solidFill>
                  <a:srgbClr val="97BC62"/>
                </a:solidFill>
                <a:latin typeface="Calibri"/>
              </a:rPr>
              <a:t>1   </a:t>
            </a:r>
            <a:r>
              <a:rPr sz="1800" b="0" i="0">
                <a:solidFill>
                  <a:srgbClr val="222B22"/>
                </a:solidFill>
                <a:latin typeface="Calibri"/>
              </a:rPr>
              <a:t>A Companion-in-Formation never counts as one of the two adults. “Co-lead” means an adult Companion in the room — not nearby, in the room.</a:t>
            </a:r>
          </a:p>
          <a:p>
            <a:pPr marL="342900" indent="-342900">
              <a:spcAft>
                <a:spcPts val="900"/>
              </a:spcAft>
            </a:pPr>
            <a:r>
              <a:rPr sz="1800" b="1" i="0">
                <a:solidFill>
                  <a:srgbClr val="97BC62"/>
                </a:solidFill>
                <a:latin typeface="Calibri"/>
              </a:rPr>
              <a:t>2   </a:t>
            </a:r>
            <a:r>
              <a:rPr sz="1800" b="0" i="0">
                <a:solidFill>
                  <a:srgbClr val="222B22"/>
                </a:solidFill>
                <a:latin typeface="Calibri"/>
              </a:rPr>
              <a:t>A Companion-in-Formation never takes a disclosure. If something heavy surfaces, their only job is to hand it to the adult immediately. They are not a junior counselor.</a:t>
            </a:r>
          </a:p>
          <a:p>
            <a:pPr marL="342900" indent="-342900">
              <a:spcAft>
                <a:spcPts val="900"/>
              </a:spcAft>
            </a:pPr>
            <a:r>
              <a:rPr sz="1800" b="1" i="0">
                <a:solidFill>
                  <a:srgbClr val="97BC62"/>
                </a:solidFill>
                <a:latin typeface="Calibri"/>
              </a:rPr>
              <a:t>3   </a:t>
            </a:r>
            <a:r>
              <a:rPr sz="1800" b="0" i="0">
                <a:solidFill>
                  <a:srgbClr val="222B22"/>
                </a:solidFill>
                <a:latin typeface="Calibri"/>
              </a:rPr>
              <a:t>Lead only a block you have first received. See it, then lead it.</a:t>
            </a:r>
          </a:p>
          <a:p>
            <a:pPr marL="274320" indent="-274320">
              <a:spcAft>
                <a:spcPts val="900"/>
              </a:spcAft>
            </a:pPr>
            <a:r>
              <a:rPr sz="1800" b="1" i="0">
                <a:solidFill>
                  <a:srgbClr val="97BC62"/>
                </a:solidFill>
                <a:latin typeface="Calibri"/>
              </a:rPr>
              <a:t>•  </a:t>
            </a:r>
            <a:r>
              <a:rPr sz="1800" b="0" i="0">
                <a:solidFill>
                  <a:srgbClr val="222B22"/>
                </a:solidFill>
                <a:latin typeface="Calibri"/>
              </a:rPr>
              <a:t>These rules never bend — not for talent, not for maturity, not for a short-handed night. Handing the heavy thing to your adult is the strong, faithful move — never a failure.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Covering Named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An FC1 never leads uncovered — an adult with a name and a phone number, who has said yes</a:t>
            </a:r>
          </a:p>
          <a:p>
            <a:pPr marL="274320" indent="-274320">
              <a:spcAft>
                <a:spcPts val="900"/>
              </a:spcAft>
            </a:pPr>
            <a:r>
              <a:rPr sz="1800" b="1" i="0">
                <a:solidFill>
                  <a:srgbClr val="97BC62"/>
                </a:solidFill>
                <a:latin typeface="Calibri"/>
              </a:rPr>
              <a:t>•  </a:t>
            </a:r>
            <a:r>
              <a:rPr sz="1800" b="0" i="0">
                <a:solidFill>
                  <a:srgbClr val="222B22"/>
                </a:solidFill>
                <a:latin typeface="Calibri"/>
              </a:rPr>
              <a:t>A covering that is public is a covering that holds</a:t>
            </a:r>
          </a:p>
          <a:p>
            <a:pPr marL="342900" indent="-342900">
              <a:spcAft>
                <a:spcPts val="900"/>
              </a:spcAft>
            </a:pPr>
            <a:r>
              <a:rPr sz="1800" b="1" i="0">
                <a:solidFill>
                  <a:srgbClr val="97BC62"/>
                </a:solidFill>
                <a:latin typeface="Calibri"/>
              </a:rPr>
              <a:t>1   </a:t>
            </a:r>
            <a:r>
              <a:rPr sz="1800" b="0" i="0">
                <a:solidFill>
                  <a:srgbClr val="222B22"/>
                </a:solidFill>
                <a:latin typeface="Calibri"/>
              </a:rPr>
              <a:t>Each senior stands and says it plainly: “When I am over my head, I call _____.”</a:t>
            </a:r>
          </a:p>
          <a:p>
            <a:pPr marL="342900" indent="-342900">
              <a:spcAft>
                <a:spcPts val="900"/>
              </a:spcAft>
            </a:pPr>
            <a:r>
              <a:rPr sz="1800" b="1" i="0">
                <a:solidFill>
                  <a:srgbClr val="97BC62"/>
                </a:solidFill>
                <a:latin typeface="Calibri"/>
              </a:rPr>
              <a:t>2   </a:t>
            </a:r>
            <a:r>
              <a:rPr sz="1800" b="0" i="0">
                <a:solidFill>
                  <a:srgbClr val="222B22"/>
                </a:solidFill>
                <a:latin typeface="Calibri"/>
              </a:rPr>
              <a:t>The sign-off confirmed publicly — the parent: “I confirm it.” The Lead Companion: “And I confirm it.”</a:t>
            </a:r>
          </a:p>
          <a:p>
            <a:pPr marL="342900" indent="-342900">
              <a:spcAft>
                <a:spcPts val="900"/>
              </a:spcAft>
            </a:pPr>
            <a:r>
              <a:rPr sz="1800" b="1" i="0">
                <a:solidFill>
                  <a:srgbClr val="97BC62"/>
                </a:solidFill>
                <a:latin typeface="Calibri"/>
              </a:rPr>
              <a:t>3   </a:t>
            </a:r>
            <a:r>
              <a:rPr sz="1800" b="0" i="0">
                <a:solidFill>
                  <a:srgbClr val="222B22"/>
                </a:solidFill>
                <a:latin typeface="Calibri"/>
              </a:rPr>
              <a:t>The covering name goes onto the Commissioning Card, there in the circle — ink, not intention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Commissioning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1600" b="1" i="0">
                <a:solidFill>
                  <a:srgbClr val="97BC62"/>
                </a:solidFill>
                <a:latin typeface="Calibri"/>
              </a:rPr>
              <a:t>1   </a:t>
            </a:r>
            <a:r>
              <a:rPr sz="1600" b="0" i="0">
                <a:solidFill>
                  <a:srgbClr val="222B22"/>
                </a:solidFill>
                <a:latin typeface="Calibri"/>
              </a:rPr>
              <a:t>Each senior stands in the center; their family stands behind them</a:t>
            </a:r>
          </a:p>
          <a:p>
            <a:pPr marL="342900" indent="-342900">
              <a:spcAft>
                <a:spcPts val="750"/>
              </a:spcAft>
            </a:pPr>
            <a:r>
              <a:rPr sz="1600" b="1" i="0">
                <a:solidFill>
                  <a:srgbClr val="97BC62"/>
                </a:solidFill>
                <a:latin typeface="Calibri"/>
              </a:rPr>
              <a:t>2   </a:t>
            </a:r>
            <a:r>
              <a:rPr sz="1600" b="0" i="0">
                <a:solidFill>
                  <a:srgbClr val="222B22"/>
                </a:solidFill>
                <a:latin typeface="Calibri"/>
              </a:rPr>
              <a:t>Two Companions speak their prepared blessings — drawn from specific moments of leading: what we saw, what we bless, what we see coming</a:t>
            </a:r>
          </a:p>
          <a:p>
            <a:pPr marL="342900" indent="-342900">
              <a:spcAft>
                <a:spcPts val="750"/>
              </a:spcAft>
            </a:pPr>
            <a:r>
              <a:rPr sz="1600" b="1" i="0">
                <a:solidFill>
                  <a:srgbClr val="97BC62"/>
                </a:solidFill>
                <a:latin typeface="Calibri"/>
              </a:rPr>
              <a:t>3   </a:t>
            </a:r>
            <a:r>
              <a:rPr sz="1600" b="0" i="0">
                <a:solidFill>
                  <a:srgbClr val="222B22"/>
                </a:solidFill>
                <a:latin typeface="Calibri"/>
              </a:rPr>
              <a:t>The parent may add one sentence. One. It will be the one the teen remembers.</a:t>
            </a:r>
          </a:p>
          <a:p>
            <a:pPr marL="342900" indent="-342900">
              <a:spcAft>
                <a:spcPts val="750"/>
              </a:spcAft>
            </a:pPr>
            <a:r>
              <a:rPr sz="1600" b="1" i="0">
                <a:solidFill>
                  <a:srgbClr val="97BC62"/>
                </a:solidFill>
                <a:latin typeface="Calibri"/>
              </a:rPr>
              <a:t>4   </a:t>
            </a:r>
            <a:r>
              <a:rPr sz="1600" b="0" i="0">
                <a:solidFill>
                  <a:srgbClr val="222B22"/>
                </a:solidFill>
                <a:latin typeface="Calibri"/>
              </a:rPr>
              <a:t>The cohort speaks the Aaronic blessing over the new FC1 — the whole room, slowly, hands extended</a:t>
            </a:r>
          </a:p>
          <a:p>
            <a:pPr marL="342900" indent="-342900">
              <a:spcAft>
                <a:spcPts val="750"/>
              </a:spcAft>
            </a:pPr>
            <a:r>
              <a:rPr sz="1600" b="1" i="0">
                <a:solidFill>
                  <a:srgbClr val="97BC62"/>
                </a:solidFill>
                <a:latin typeface="Calibri"/>
              </a:rPr>
              <a:t>5   </a:t>
            </a:r>
            <a:r>
              <a:rPr sz="1600" b="0" i="0">
                <a:solidFill>
                  <a:srgbClr val="222B22"/>
                </a:solidFill>
                <a:latin typeface="Calibri"/>
              </a:rPr>
              <a:t>“[Name], the team commissions you as Formation Companion, Level One. Serve the body. Keep the rules. Call your covering. Watch the signs.”</a:t>
            </a:r>
          </a:p>
          <a:p>
            <a:pPr marL="274320" indent="-274320">
              <a:spcAft>
                <a:spcPts val="750"/>
              </a:spcAft>
            </a:pPr>
            <a:r>
              <a:rPr sz="1600" b="1" i="0">
                <a:solidFill>
                  <a:srgbClr val="97BC62"/>
                </a:solidFill>
                <a:latin typeface="Calibri"/>
              </a:rPr>
              <a:t>•  </a:t>
            </a:r>
            <a:r>
              <a:rPr sz="1600" b="0" i="0">
                <a:solidFill>
                  <a:srgbClr val="222B22"/>
                </a:solidFill>
                <a:latin typeface="Calibri"/>
              </a:rPr>
              <a:t>Then the charge, once, over all of them — keep your own walk first; keep the three rules when no one is checking; call your covering early, not late; watch the three signs. “FC1 is a real and honorable place to stand… Set the example.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First Lab Scheduled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Before anyone reaches for a coat — one piece of business, on purpose, in front of everyone</a:t>
            </a:r>
          </a:p>
          <a:p>
            <a:pPr marL="274320" indent="-274320">
              <a:spcAft>
                <a:spcPts val="900"/>
              </a:spcAft>
            </a:pPr>
            <a:r>
              <a:rPr sz="1800" b="1" i="0">
                <a:solidFill>
                  <a:srgbClr val="97BC62"/>
                </a:solidFill>
                <a:latin typeface="Calibri"/>
              </a:rPr>
              <a:t>•  </a:t>
            </a:r>
            <a:r>
              <a:rPr sz="1800" b="0" i="0">
                <a:solidFill>
                  <a:srgbClr val="222B22"/>
                </a:solidFill>
                <a:latin typeface="Calibri"/>
              </a:rPr>
              <a:t>The first Leader Lab of the spring serving cycle: [day], [date], [time], [place]. Write it down now.</a:t>
            </a:r>
          </a:p>
          <a:p>
            <a:pPr marL="274320" indent="-274320">
              <a:spcAft>
                <a:spcPts val="900"/>
              </a:spcAft>
            </a:pPr>
            <a:r>
              <a:rPr sz="1800" b="1" i="0">
                <a:solidFill>
                  <a:srgbClr val="97BC62"/>
                </a:solidFill>
                <a:latin typeface="Calibri"/>
              </a:rPr>
              <a:t>•  </a:t>
            </a:r>
            <a:r>
              <a:rPr sz="1800" b="0" i="0">
                <a:solidFill>
                  <a:srgbClr val="222B22"/>
                </a:solidFill>
                <a:latin typeface="Calibri"/>
              </a:rPr>
              <a:t>The Lab 1 assignment is already set: bring one vital-signs observation from this room, tonight</a:t>
            </a:r>
          </a:p>
          <a:p>
            <a:pPr marL="274320" indent="-274320">
              <a:spcAft>
                <a:spcPts val="900"/>
              </a:spcAft>
            </a:pPr>
            <a:r>
              <a:rPr sz="1800" b="1" i="0">
                <a:solidFill>
                  <a:srgbClr val="97BC62"/>
                </a:solidFill>
                <a:latin typeface="Calibri"/>
              </a:rPr>
              <a:t>•  </a:t>
            </a:r>
            <a:r>
              <a:rPr sz="1800" b="0" i="0">
                <a:solidFill>
                  <a:srgbClr val="222B22"/>
                </a:solidFill>
                <a:latin typeface="Calibri"/>
              </a:rPr>
              <a:t>“Anyone can hold a beautiful ceremony. The proof that tonight was a gate and not a ceremony is a date on a calendar.” The exit is an entrance.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evening’s leader goes first — three things, same as every week</a:t>
            </a:r>
          </a:p>
          <a:p>
            <a:pPr marL="685800" indent="-274320">
              <a:spcAft>
                <a:spcPts val="700"/>
              </a:spcAft>
            </a:pPr>
            <a:r>
              <a:rPr sz="1600" b="1" i="0">
                <a:solidFill>
                  <a:srgbClr val="97BC62"/>
                </a:solidFill>
                <a:latin typeface="Calibri"/>
              </a:rPr>
              <a:t>–  </a:t>
            </a:r>
            <a:r>
              <a:rPr sz="1600" b="0" i="1">
                <a:solidFill>
                  <a:srgbClr val="222B22"/>
                </a:solidFill>
                <a:latin typeface="Calibri"/>
              </a:rPr>
              <a:t>“What I think went well tonight: ______”</a:t>
            </a:r>
          </a:p>
          <a:p>
            <a:pPr marL="685800" indent="-274320">
              <a:spcAft>
                <a:spcPts val="700"/>
              </a:spcAft>
            </a:pPr>
            <a:r>
              <a:rPr sz="1600" b="1" i="0">
                <a:solidFill>
                  <a:srgbClr val="97BC62"/>
                </a:solidFill>
                <a:latin typeface="Calibri"/>
              </a:rPr>
              <a:t>–  </a:t>
            </a:r>
            <a:r>
              <a:rPr sz="1600" b="0" i="1">
                <a:solidFill>
                  <a:srgbClr val="222B22"/>
                </a:solidFill>
                <a:latin typeface="Calibri"/>
              </a:rPr>
              <a:t>“What I’d do differently next time: ______”</a:t>
            </a:r>
          </a:p>
          <a:p>
            <a:pPr marL="685800" indent="-274320">
              <a:spcAft>
                <a:spcPts val="700"/>
              </a:spcAft>
            </a:pPr>
            <a:r>
              <a:rPr sz="1600" b="1" i="0">
                <a:solidFill>
                  <a:srgbClr val="97BC62"/>
                </a:solidFill>
                <a:latin typeface="Calibri"/>
              </a:rPr>
              <a:t>–  </a:t>
            </a:r>
            <a:r>
              <a:rPr sz="1600" b="0" i="1">
                <a:solidFill>
                  <a:srgbClr val="222B22"/>
                </a:solidFill>
                <a:latin typeface="Calibri"/>
              </a:rPr>
              <a:t>“If I were to teach tonight’s process to someone, I would tell them: ______”</a:t>
            </a:r>
          </a:p>
          <a:p>
            <a:pPr marL="274320" indent="-274320">
              <a:spcAft>
                <a:spcPts val="900"/>
              </a:spcAft>
            </a:pPr>
            <a:r>
              <a:rPr sz="1800" b="1" i="0">
                <a:solidFill>
                  <a:srgbClr val="97BC62"/>
                </a:solidFill>
                <a:latin typeface="Calibri"/>
              </a:rPr>
              <a:t>•  </a:t>
            </a:r>
            <a:r>
              <a:rPr sz="1800" b="0" i="0">
                <a:solidFill>
                  <a:srgbClr val="222B22"/>
                </a:solidFill>
                <a:latin typeface="Calibri"/>
              </a:rPr>
              <a:t>Then the room — the same two questions about tonight</a:t>
            </a:r>
          </a:p>
          <a:p>
            <a:pPr marL="274320" indent="-274320">
              <a:spcAft>
                <a:spcPts val="900"/>
              </a:spcAft>
            </a:pPr>
            <a:r>
              <a:rPr sz="1800" b="1" i="0">
                <a:solidFill>
                  <a:srgbClr val="97BC62"/>
                </a:solidFill>
                <a:latin typeface="Calibri"/>
              </a:rPr>
              <a:t>•  </a:t>
            </a:r>
            <a:r>
              <a:rPr sz="1800" b="0" i="0">
                <a:solidFill>
                  <a:srgbClr val="222B22"/>
                </a:solidFill>
                <a:latin typeface="Calibri"/>
              </a:rPr>
              <a:t>The leader receives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33" name="Picture 33" descr="compass on the trail - the weekly bearing check"/>
          <p:cNvPicPr>
            <a:picLocks noChangeAspect="1"/>
          </p:cNvPicPr>
          <p:nvPr/>
        </p:nvPicPr>
        <p:blipFill>
          <a:blip r:embed="rId2"/>
          <a:stretch>
            <a:fillRect/>
          </a:stretch>
        </p:blipFill>
        <p:spPr>
          <a:xfrm>
            <a:off x="8106160" y="1463040"/>
            <a:ext cx="3259831" cy="4892040"/>
          </a:xfrm>
          <a:prstGeom prst="rect">
            <a:avLst/>
          </a:prstGeom>
        </p:spPr>
      </p:pic>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Final Rep — the Container Closed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1800" b="1" i="0">
                <a:solidFill>
                  <a:srgbClr val="97BC62"/>
                </a:solidFill>
                <a:latin typeface="Calibri"/>
              </a:rPr>
              <a:t>•  </a:t>
            </a:r>
            <a:r>
              <a:rPr sz="1800" b="0" i="0">
                <a:solidFill>
                  <a:srgbClr val="222B22"/>
                </a:solidFill>
                <a:latin typeface="Calibri"/>
              </a:rPr>
              <a:t>The reserved senior closes the container from memory — the standing circle, the one-word landing, the one thing, the one practice, the blessing round, the closing prayer and sending</a:t>
            </a:r>
          </a:p>
          <a:p>
            <a:pPr marL="274320" indent="-274320">
              <a:spcAft>
                <a:spcPts val="900"/>
              </a:spcAft>
            </a:pPr>
            <a:r>
              <a:rPr sz="1800" b="1" i="0">
                <a:solidFill>
                  <a:srgbClr val="97BC62"/>
                </a:solidFill>
                <a:latin typeface="Calibri"/>
              </a:rPr>
              <a:t>•  </a:t>
            </a:r>
            <a:r>
              <a:rPr sz="1800" b="0" i="0">
                <a:solidFill>
                  <a:srgbClr val="222B22"/>
                </a:solidFill>
                <a:latin typeface="Calibri"/>
              </a:rPr>
              <a:t>The rite that opened in a senior’s voice ends in a senior’s voice — the last words of Getting Started are spoken by the generation it raised</a:t>
            </a:r>
          </a:p>
          <a:p>
            <a:pPr marL="274320" indent="-274320">
              <a:spcAft>
                <a:spcPts val="900"/>
              </a:spcAft>
            </a:pPr>
            <a:r>
              <a:rPr sz="1800" b="1" i="0">
                <a:solidFill>
                  <a:srgbClr val="97BC62"/>
                </a:solidFill>
                <a:latin typeface="Calibri"/>
              </a:rPr>
              <a:t>•  </a:t>
            </a:r>
            <a:r>
              <a:rPr sz="1800" b="0" i="0">
                <a:solidFill>
                  <a:srgbClr val="222B22"/>
                </a:solidFill>
                <a:latin typeface="Calibri"/>
              </a:rPr>
              <a:t>If the senior sends the room, the room is sent — nothing is added after</a:t>
            </a:r>
          </a:p>
          <a:p>
            <a:pPr marL="274320" indent="-274320">
              <a:spcAft>
                <a:spcPts val="900"/>
              </a:spcAft>
            </a:pPr>
            <a:r>
              <a:rPr sz="1800" b="1" i="0">
                <a:solidFill>
                  <a:srgbClr val="97BC62"/>
                </a:solidFill>
                <a:latin typeface="Calibri"/>
              </a:rPr>
              <a:t>•  </a:t>
            </a:r>
            <a:r>
              <a:rPr sz="1800" b="0" i="0">
                <a:solidFill>
                  <a:srgbClr val="222B22"/>
                </a:solidFill>
                <a:latin typeface="Calibri"/>
              </a:rPr>
              <a:t>After: the signing — everyone signs each new FC1’s keepsake, the way you sign a Bible flyleaf. Then dessert. Stay.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A Rhythm You Can See — One Morning Flow</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fld id="{B1F00A3C-9A6E-4E85-9D4C-1A56F3D0A001}" type="slidenum">
              <a:rPr sz="1000" b="1">
                <a:solidFill>
                  <a:srgbClr val="7A8A6E"/>
                </a:solidFill>
                <a:latin typeface="Calibri"/>
              </a:rPr>
              <a:t>1</a:t>
            </a:fld>
          </a:p>
        </p:txBody>
      </p:sp>
      <p:pic>
        <p:nvPicPr>
          <p:cNvPr id="100" name="Flow 1" descr="a bench above an evening valley"/>
          <p:cNvPicPr>
            <a:picLocks noChangeAspect="1"/>
          </p:cNvPicPr>
          <p:nvPr/>
        </p:nvPicPr>
        <p:blipFill>
          <a:blip r:embed="rId10"/>
          <a:stretch>
            <a:fillRect/>
          </a:stretch>
        </p:blipFill>
        <p:spPr>
          <a:xfrm>
            <a:off x="822960" y="1691640"/>
            <a:ext cx="2450592" cy="3264408"/>
          </a:xfrm>
          <a:prstGeom prst="rect">
            <a:avLst/>
          </a:prstGeom>
        </p:spPr>
      </p:pic>
      <p:sp>
        <p:nvSpPr>
          <p:cNvPr id="110" name="Cap 1"/>
          <p:cNvSpPr txBox="1"/>
          <p:nvPr/>
        </p:nvSpPr>
        <p:spPr>
          <a:xfrm>
            <a:off x="822960" y="5047488"/>
            <a:ext cx="2450592" cy="365760"/>
          </a:xfrm>
          <a:prstGeom prst="rect">
            <a:avLst/>
          </a:prstGeom>
          <a:noFill/>
        </p:spPr>
        <p:txBody>
          <a:bodyPr wrap="square"/>
          <a:lstStyle/>
          <a:p>
            <a:pPr algn="ctr"/>
            <a:r>
              <a:rPr sz="1300" b="1">
                <a:solidFill>
                  <a:srgbClr val="97BC62"/>
                </a:solidFill>
                <a:latin typeface="Calibri"/>
              </a:rPr>
              <a:t>GROUNDED</a:t>
            </a:r>
          </a:p>
        </p:txBody>
      </p:sp>
      <p:pic>
        <p:nvPicPr>
          <p:cNvPr id="101" name="Flow 2" descr="an open Bible beside a quiet chair"/>
          <p:cNvPicPr>
            <a:picLocks noChangeAspect="1"/>
          </p:cNvPicPr>
          <p:nvPr/>
        </p:nvPicPr>
        <p:blipFill>
          <a:blip r:embed="rId11"/>
          <a:stretch>
            <a:fillRect/>
          </a:stretch>
        </p:blipFill>
        <p:spPr>
          <a:xfrm>
            <a:off x="3502152" y="1691640"/>
            <a:ext cx="2450592" cy="3264408"/>
          </a:xfrm>
          <a:prstGeom prst="rect">
            <a:avLst/>
          </a:prstGeom>
        </p:spPr>
      </p:pic>
      <p:sp>
        <p:nvSpPr>
          <p:cNvPr id="111" name="Cap 2"/>
          <p:cNvSpPr txBox="1"/>
          <p:nvPr/>
        </p:nvSpPr>
        <p:spPr>
          <a:xfrm>
            <a:off x="3502152" y="5047488"/>
            <a:ext cx="2450592" cy="365760"/>
          </a:xfrm>
          <a:prstGeom prst="rect">
            <a:avLst/>
          </a:prstGeom>
          <a:noFill/>
        </p:spPr>
        <p:txBody>
          <a:bodyPr wrap="square"/>
          <a:lstStyle/>
          <a:p>
            <a:pPr algn="ctr"/>
            <a:r>
              <a:rPr sz="1300" b="1">
                <a:solidFill>
                  <a:srgbClr val="97BC62"/>
                </a:solidFill>
                <a:latin typeface="Calibri"/>
              </a:rPr>
              <a:t>LISTENING</a:t>
            </a:r>
          </a:p>
        </p:txBody>
      </p:sp>
      <p:pic>
        <p:nvPicPr>
          <p:cNvPr id="102" name="Flow 3" descr="rings widening on still water"/>
          <p:cNvPicPr>
            <a:picLocks noChangeAspect="1"/>
          </p:cNvPicPr>
          <p:nvPr/>
        </p:nvPicPr>
        <p:blipFill>
          <a:blip r:embed="rId12"/>
          <a:stretch>
            <a:fillRect/>
          </a:stretch>
        </p:blipFill>
        <p:spPr>
          <a:xfrm>
            <a:off x="6181344" y="1691640"/>
            <a:ext cx="2450592" cy="3264408"/>
          </a:xfrm>
          <a:prstGeom prst="rect">
            <a:avLst/>
          </a:prstGeom>
        </p:spPr>
      </p:pic>
      <p:sp>
        <p:nvSpPr>
          <p:cNvPr id="112" name="Cap 3"/>
          <p:cNvSpPr txBox="1"/>
          <p:nvPr/>
        </p:nvSpPr>
        <p:spPr>
          <a:xfrm>
            <a:off x="6181344" y="5047488"/>
            <a:ext cx="2450592" cy="365760"/>
          </a:xfrm>
          <a:prstGeom prst="rect">
            <a:avLst/>
          </a:prstGeom>
          <a:noFill/>
        </p:spPr>
        <p:txBody>
          <a:bodyPr wrap="square"/>
          <a:lstStyle/>
          <a:p>
            <a:pPr algn="ctr"/>
            <a:r>
              <a:rPr sz="1300" b="1">
                <a:solidFill>
                  <a:srgbClr val="97BC62"/>
                </a:solidFill>
                <a:latin typeface="Calibri"/>
              </a:rPr>
              <a:t>CHANGED, RIPPLING</a:t>
            </a:r>
          </a:p>
        </p:txBody>
      </p:sp>
      <p:pic>
        <p:nvPicPr>
          <p:cNvPr id="103" name="Flow 4" descr="a hiker leaping between two rocks"/>
          <p:cNvPicPr>
            <a:picLocks noChangeAspect="1"/>
          </p:cNvPicPr>
          <p:nvPr/>
        </p:nvPicPr>
        <p:blipFill>
          <a:blip r:embed="rId13"/>
          <a:stretch>
            <a:fillRect/>
          </a:stretch>
        </p:blipFill>
        <p:spPr>
          <a:xfrm>
            <a:off x="8860536" y="1691640"/>
            <a:ext cx="2450592" cy="3264408"/>
          </a:xfrm>
          <a:prstGeom prst="rect">
            <a:avLst/>
          </a:prstGeom>
        </p:spPr>
      </p:pic>
      <p:sp>
        <p:nvSpPr>
          <p:cNvPr id="113" name="Cap 4"/>
          <p:cNvSpPr txBox="1"/>
          <p:nvPr/>
        </p:nvSpPr>
        <p:spPr>
          <a:xfrm>
            <a:off x="8860536" y="5047488"/>
            <a:ext cx="2450592" cy="365760"/>
          </a:xfrm>
          <a:prstGeom prst="rect">
            <a:avLst/>
          </a:prstGeom>
          <a:noFill/>
        </p:spPr>
        <p:txBody>
          <a:bodyPr wrap="square"/>
          <a:lstStyle/>
          <a:p>
            <a:pPr algn="ctr"/>
            <a:r>
              <a:rPr sz="1300" b="1">
                <a:solidFill>
                  <a:srgbClr val="97BC62"/>
                </a:solidFill>
                <a:latin typeface="Calibri"/>
              </a:rPr>
              <a:t>LEAPING</a:t>
            </a:r>
          </a:p>
        </p:txBody>
      </p:sp>
      <p:sp>
        <p:nvSpPr>
          <p:cNvPr id="120" name="FlowLine"/>
          <p:cNvSpPr txBox="1"/>
          <p:nvPr/>
        </p:nvSpPr>
        <p:spPr>
          <a:xfrm>
            <a:off x="822960" y="5623560"/>
            <a:ext cx="10515600" cy="731520"/>
          </a:xfrm>
          <a:prstGeom prst="rect">
            <a:avLst/>
          </a:prstGeom>
          <a:noFill/>
        </p:spPr>
        <p:txBody>
          <a:bodyPr wrap="square"/>
          <a:lstStyle/>
          <a:p>
            <a:pPr algn="l"/>
            <a:r>
              <a:rPr sz="1500" i="1">
                <a:solidFill>
                  <a:srgbClr val="222B22"/>
                </a:solidFill>
                <a:latin typeface="Calibri"/>
              </a:rPr>
              <a:t>The founder’s own morning flow — four images, one motto, kept for years. Yours will look different. The journal has a page waiting for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